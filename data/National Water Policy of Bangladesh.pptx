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71" r:id="rId14"/>
    <p:sldId id="267" r:id="rId15"/>
    <p:sldId id="270" r:id="rId16"/>
    <p:sldId id="272" r:id="rId17"/>
    <p:sldId id="273" r:id="rId18"/>
    <p:sldId id="274"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B857E-A75C-4726-A80B-09BE1F4EF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529F39-95EE-4980-9CCC-2B3A15D10F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606CF8-2FCB-49C3-A83D-165BD3F80372}"/>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5" name="Footer Placeholder 4">
            <a:extLst>
              <a:ext uri="{FF2B5EF4-FFF2-40B4-BE49-F238E27FC236}">
                <a16:creationId xmlns:a16="http://schemas.microsoft.com/office/drawing/2014/main" id="{8A50622B-0772-49C4-8C71-31984278FF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140829-096A-4FF1-A105-774EDD6AD814}"/>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1199963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5C498-AB1B-482F-A75A-11279DDB5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817134-F432-44F8-B0B4-F6956A4872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B034D8-0446-4FB8-80EB-C215F0B7BCDA}"/>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5" name="Footer Placeholder 4">
            <a:extLst>
              <a:ext uri="{FF2B5EF4-FFF2-40B4-BE49-F238E27FC236}">
                <a16:creationId xmlns:a16="http://schemas.microsoft.com/office/drawing/2014/main" id="{F4DA17EB-591E-4CC6-97DA-E9C32E679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157EA4-20B5-4CAD-AD88-578F4F311EE9}"/>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3070924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6D087-E814-4C73-9231-671F2555A2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67F652-14A4-4716-A9D1-21104729B0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AE016B-152D-40B9-904C-70901B8AE335}"/>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5" name="Footer Placeholder 4">
            <a:extLst>
              <a:ext uri="{FF2B5EF4-FFF2-40B4-BE49-F238E27FC236}">
                <a16:creationId xmlns:a16="http://schemas.microsoft.com/office/drawing/2014/main" id="{B5AECB76-22DB-4CFE-8C0B-3BEFCDAF5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5E21A0-59D4-42F2-846E-900F52D5FFD0}"/>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892448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5DD9-1C24-4CA1-909A-36A3419221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4FF1E6-9CE9-437F-B7BF-9D761634DF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A95B90-ED12-4299-A2DC-D2D33742FB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DD06DD-E8D9-4E0C-B5D2-61176B53C05F}"/>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6" name="Footer Placeholder 5">
            <a:extLst>
              <a:ext uri="{FF2B5EF4-FFF2-40B4-BE49-F238E27FC236}">
                <a16:creationId xmlns:a16="http://schemas.microsoft.com/office/drawing/2014/main" id="{B108890E-70E1-444A-92A6-E37D0A021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83478C-4747-496B-9022-1C6150DA05AE}"/>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3273340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1F4B0-D742-4BEB-9D23-766279562E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A1BD5B-F570-4678-A41D-7C48D864AE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42E792-B218-4B97-9FF3-98A35326A8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75B033-3DEA-470E-9DB0-C01A6C9FDC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3133B8-EF4D-47D2-8D83-0E52F60287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96E62C-FA99-4308-AEA3-ED646DF5F1D1}"/>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8" name="Footer Placeholder 7">
            <a:extLst>
              <a:ext uri="{FF2B5EF4-FFF2-40B4-BE49-F238E27FC236}">
                <a16:creationId xmlns:a16="http://schemas.microsoft.com/office/drawing/2014/main" id="{A2D8EE6D-A58D-46C6-A7F0-56BBC8CCDE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C6344C-2761-4B26-B2E6-B218002CCA70}"/>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952715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9388F-F6F7-4B06-933C-A20B4B7797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8EC18-0F6F-4E79-A11A-FC22B826C9B7}"/>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4" name="Footer Placeholder 3">
            <a:extLst>
              <a:ext uri="{FF2B5EF4-FFF2-40B4-BE49-F238E27FC236}">
                <a16:creationId xmlns:a16="http://schemas.microsoft.com/office/drawing/2014/main" id="{74D10F73-D6DF-4EE1-ADEB-645C8AACC8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587AED-75C8-4D91-A341-E444CA708DF0}"/>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2122419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3D5DAA-AD1C-4A4B-BF9A-1960377BDF53}"/>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3" name="Footer Placeholder 2">
            <a:extLst>
              <a:ext uri="{FF2B5EF4-FFF2-40B4-BE49-F238E27FC236}">
                <a16:creationId xmlns:a16="http://schemas.microsoft.com/office/drawing/2014/main" id="{4F46779E-640A-440A-83B9-819A5B3D44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5989B0-687D-449F-9F27-C95E070BBFD2}"/>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1213321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45F6D-6AD1-4CA5-88ED-C2858676C2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F098E2-B8CF-4EA8-BAD6-69FE56BBCD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32590-DAB8-4897-99C8-4BD68AC908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406864-BC1B-4BD0-8EAC-62D4739071D0}"/>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6" name="Footer Placeholder 5">
            <a:extLst>
              <a:ext uri="{FF2B5EF4-FFF2-40B4-BE49-F238E27FC236}">
                <a16:creationId xmlns:a16="http://schemas.microsoft.com/office/drawing/2014/main" id="{2060C6B2-BB57-4356-9FB8-B26F6C2AC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0ECFB9-6F87-4D78-B077-0BBD7D05090C}"/>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1225852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102D-8607-4D31-9CFA-9FEA50E1DB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032A98-F857-40B8-89A6-4F61A9670A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6CFDC8-3FF2-46B3-AF20-34390BA3B2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7065C-F0AF-4290-8F2A-4577D00DA752}"/>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6" name="Footer Placeholder 5">
            <a:extLst>
              <a:ext uri="{FF2B5EF4-FFF2-40B4-BE49-F238E27FC236}">
                <a16:creationId xmlns:a16="http://schemas.microsoft.com/office/drawing/2014/main" id="{902240BC-AA4B-4AA2-BD0D-CC80158924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0B1209-BD9D-4FBE-8BA5-AA07017C98BD}"/>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1086901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35E46-45BA-4022-8C61-CCE4B689BE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A2B3A6-0E02-4DB4-9FAF-8942BAA1B8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0E107-852C-40F6-9B0F-11C3A1A31508}"/>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5" name="Footer Placeholder 4">
            <a:extLst>
              <a:ext uri="{FF2B5EF4-FFF2-40B4-BE49-F238E27FC236}">
                <a16:creationId xmlns:a16="http://schemas.microsoft.com/office/drawing/2014/main" id="{7BF44A67-124C-46C8-9E04-63260714C2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3D499E-6B33-4BF6-9CB8-7F3C4898C0E7}"/>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18485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CC4331-AE64-4492-8F65-86CFBA8647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18C530-9C93-4778-8B76-09995B7557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D18EE2-41D9-4DF6-8C9A-34F9D36D85F7}"/>
              </a:ext>
            </a:extLst>
          </p:cNvPr>
          <p:cNvSpPr>
            <a:spLocks noGrp="1"/>
          </p:cNvSpPr>
          <p:nvPr>
            <p:ph type="dt" sz="half" idx="10"/>
          </p:nvPr>
        </p:nvSpPr>
        <p:spPr/>
        <p:txBody>
          <a:bodyPr/>
          <a:lstStyle/>
          <a:p>
            <a:fld id="{D8C62C6E-7A49-4B84-B67B-9461FEBA18E8}" type="datetimeFigureOut">
              <a:rPr lang="en-US" smtClean="0"/>
              <a:t>11/24/2025</a:t>
            </a:fld>
            <a:endParaRPr lang="en-US"/>
          </a:p>
        </p:txBody>
      </p:sp>
      <p:sp>
        <p:nvSpPr>
          <p:cNvPr id="5" name="Footer Placeholder 4">
            <a:extLst>
              <a:ext uri="{FF2B5EF4-FFF2-40B4-BE49-F238E27FC236}">
                <a16:creationId xmlns:a16="http://schemas.microsoft.com/office/drawing/2014/main" id="{25477C55-3909-4D10-9AC4-50B4403C2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5F5BBB-55AF-472B-926E-B008856D82A2}"/>
              </a:ext>
            </a:extLst>
          </p:cNvPr>
          <p:cNvSpPr>
            <a:spLocks noGrp="1"/>
          </p:cNvSpPr>
          <p:nvPr>
            <p:ph type="sldNum" sz="quarter" idx="12"/>
          </p:nvPr>
        </p:nvSpPr>
        <p:spPr/>
        <p:txBody>
          <a:bodyPr/>
          <a:lstStyle/>
          <a:p>
            <a:fld id="{0007540B-97AE-47E1-ADC2-32EC8BFC79C2}" type="slidenum">
              <a:rPr lang="en-US" smtClean="0"/>
              <a:t>‹#›</a:t>
            </a:fld>
            <a:endParaRPr lang="en-US"/>
          </a:p>
        </p:txBody>
      </p:sp>
    </p:spTree>
    <p:extLst>
      <p:ext uri="{BB962C8B-B14F-4D97-AF65-F5344CB8AC3E}">
        <p14:creationId xmlns:p14="http://schemas.microsoft.com/office/powerpoint/2010/main" val="2161059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0842FB-5D22-41A6-A0D1-D3DAB567D2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FCCD23-05BA-4FA3-9A53-664D5A62B8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761CF4-7569-4DC9-A9D2-A9DC765BC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C62C6E-7A49-4B84-B67B-9461FEBA18E8}" type="datetimeFigureOut">
              <a:rPr lang="en-US" smtClean="0"/>
              <a:t>11/24/2025</a:t>
            </a:fld>
            <a:endParaRPr lang="en-US"/>
          </a:p>
        </p:txBody>
      </p:sp>
      <p:sp>
        <p:nvSpPr>
          <p:cNvPr id="5" name="Footer Placeholder 4">
            <a:extLst>
              <a:ext uri="{FF2B5EF4-FFF2-40B4-BE49-F238E27FC236}">
                <a16:creationId xmlns:a16="http://schemas.microsoft.com/office/drawing/2014/main" id="{99B3192E-78AA-465F-BBA4-3A6FDB4173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88C1257-CB36-42EA-8C3F-34961B824C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07540B-97AE-47E1-ADC2-32EC8BFC79C2}" type="slidenum">
              <a:rPr lang="en-US" smtClean="0"/>
              <a:t>‹#›</a:t>
            </a:fld>
            <a:endParaRPr lang="en-US"/>
          </a:p>
        </p:txBody>
      </p:sp>
    </p:spTree>
    <p:extLst>
      <p:ext uri="{BB962C8B-B14F-4D97-AF65-F5344CB8AC3E}">
        <p14:creationId xmlns:p14="http://schemas.microsoft.com/office/powerpoint/2010/main" val="3093795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D911C-2EE3-4646-9A9C-E4AE81FD9507}"/>
              </a:ext>
            </a:extLst>
          </p:cNvPr>
          <p:cNvSpPr>
            <a:spLocks noGrp="1"/>
          </p:cNvSpPr>
          <p:nvPr>
            <p:ph type="ctrTitle"/>
          </p:nvPr>
        </p:nvSpPr>
        <p:spPr>
          <a:xfrm>
            <a:off x="1524000" y="1122363"/>
            <a:ext cx="9144000" cy="1310119"/>
          </a:xfrm>
        </p:spPr>
        <p:txBody>
          <a:bodyPr>
            <a:normAutofit/>
          </a:bodyPr>
          <a:lstStyle/>
          <a:p>
            <a:r>
              <a:rPr lang="en-US" sz="4000" b="1" dirty="0">
                <a:latin typeface="Times New Roman" panose="02020603050405020304" pitchFamily="18" charset="0"/>
                <a:cs typeface="Times New Roman" panose="02020603050405020304" pitchFamily="18" charset="0"/>
              </a:rPr>
              <a:t>National Water Policy of Bangladesh</a:t>
            </a:r>
          </a:p>
        </p:txBody>
      </p:sp>
      <p:sp>
        <p:nvSpPr>
          <p:cNvPr id="3" name="Subtitle 2">
            <a:extLst>
              <a:ext uri="{FF2B5EF4-FFF2-40B4-BE49-F238E27FC236}">
                <a16:creationId xmlns:a16="http://schemas.microsoft.com/office/drawing/2014/main" id="{207A775D-DA45-4379-B1C3-0528C424FB6B}"/>
              </a:ext>
            </a:extLst>
          </p:cNvPr>
          <p:cNvSpPr>
            <a:spLocks noGrp="1"/>
          </p:cNvSpPr>
          <p:nvPr>
            <p:ph type="subTitle" idx="1"/>
          </p:nvPr>
        </p:nvSpPr>
        <p:spPr>
          <a:xfrm>
            <a:off x="1524000" y="3602038"/>
            <a:ext cx="9144000" cy="534956"/>
          </a:xfrm>
        </p:spPr>
        <p:txBody>
          <a:bodyPr/>
          <a:lstStyle/>
          <a:p>
            <a:r>
              <a:rPr lang="en-US" dirty="0"/>
              <a:t>Course: GEST-5102</a:t>
            </a:r>
          </a:p>
        </p:txBody>
      </p:sp>
    </p:spTree>
    <p:extLst>
      <p:ext uri="{BB962C8B-B14F-4D97-AF65-F5344CB8AC3E}">
        <p14:creationId xmlns:p14="http://schemas.microsoft.com/office/powerpoint/2010/main" val="1207475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EDC27-21E5-409C-A5C7-604C909E2CBB}"/>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Introduction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4DEE87-6824-41EB-9505-12B681744FC8}"/>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Water is one of the most vital natural resources for Bangladesh — a country crisscrossed by hundreds of rivers and heavily dependent on agriculture and fisheries. However, increasing population, pollution, climate change, and transboundary water issues have made water management a major challenge.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address these challenges, the </a:t>
            </a:r>
            <a:r>
              <a:rPr lang="en-US" b="1" dirty="0">
                <a:latin typeface="Times New Roman" panose="02020603050405020304" pitchFamily="18" charset="0"/>
                <a:cs typeface="Times New Roman" panose="02020603050405020304" pitchFamily="18" charset="0"/>
              </a:rPr>
              <a:t>Government of Bangladesh adopted the National Water Policy (NWP)</a:t>
            </a:r>
            <a:r>
              <a:rPr lang="en-US" dirty="0">
                <a:latin typeface="Times New Roman" panose="02020603050405020304" pitchFamily="18" charset="0"/>
                <a:cs typeface="Times New Roman" panose="02020603050405020304" pitchFamily="18" charset="0"/>
              </a:rPr>
              <a:t> in </a:t>
            </a:r>
            <a:r>
              <a:rPr lang="en-US" b="1" dirty="0">
                <a:latin typeface="Times New Roman" panose="02020603050405020304" pitchFamily="18" charset="0"/>
                <a:cs typeface="Times New Roman" panose="02020603050405020304" pitchFamily="18" charset="0"/>
              </a:rPr>
              <a:t>1999</a:t>
            </a:r>
            <a:r>
              <a:rPr lang="en-US" dirty="0">
                <a:latin typeface="Times New Roman" panose="02020603050405020304" pitchFamily="18" charset="0"/>
                <a:cs typeface="Times New Roman" panose="02020603050405020304" pitchFamily="18" charset="0"/>
              </a:rPr>
              <a:t> — a landmark framework for the </a:t>
            </a:r>
            <a:r>
              <a:rPr lang="en-US" b="1" dirty="0">
                <a:latin typeface="Times New Roman" panose="02020603050405020304" pitchFamily="18" charset="0"/>
                <a:cs typeface="Times New Roman" panose="02020603050405020304" pitchFamily="18" charset="0"/>
              </a:rPr>
              <a:t>management, development, and equitable distribution</a:t>
            </a:r>
            <a:r>
              <a:rPr lang="en-US" dirty="0">
                <a:latin typeface="Times New Roman" panose="02020603050405020304" pitchFamily="18" charset="0"/>
                <a:cs typeface="Times New Roman" panose="02020603050405020304" pitchFamily="18" charset="0"/>
              </a:rPr>
              <a:t> of the country's water resources.</a:t>
            </a:r>
          </a:p>
          <a:p>
            <a:pPr marL="0" indent="0">
              <a:buNone/>
            </a:pPr>
            <a:endParaRPr lang="en-US" dirty="0"/>
          </a:p>
        </p:txBody>
      </p:sp>
    </p:spTree>
    <p:extLst>
      <p:ext uri="{BB962C8B-B14F-4D97-AF65-F5344CB8AC3E}">
        <p14:creationId xmlns:p14="http://schemas.microsoft.com/office/powerpoint/2010/main" val="3359262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F1A81-145E-4E46-94BC-C73DD5FFBBD1}"/>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Objectives of the National Water Policy</a:t>
            </a:r>
          </a:p>
        </p:txBody>
      </p:sp>
      <p:sp>
        <p:nvSpPr>
          <p:cNvPr id="3" name="Content Placeholder 2">
            <a:extLst>
              <a:ext uri="{FF2B5EF4-FFF2-40B4-BE49-F238E27FC236}">
                <a16:creationId xmlns:a16="http://schemas.microsoft.com/office/drawing/2014/main" id="{09744927-4346-4952-917E-2E6C3AB11706}"/>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To address issues related to </a:t>
            </a:r>
            <a:r>
              <a:rPr lang="en-US" b="1" dirty="0">
                <a:latin typeface="Times New Roman" panose="02020603050405020304" pitchFamily="18" charset="0"/>
                <a:cs typeface="Times New Roman" panose="02020603050405020304" pitchFamily="18" charset="0"/>
              </a:rPr>
              <a:t>development</a:t>
            </a:r>
            <a:r>
              <a:rPr lang="en-US" dirty="0">
                <a:latin typeface="Times New Roman" panose="02020603050405020304" pitchFamily="18" charset="0"/>
                <a:cs typeface="Times New Roman" panose="02020603050405020304" pitchFamily="18" charset="0"/>
              </a:rPr>
              <a:t> of all forms of surface water and ground water and management of these resources in an efficient and equitable manner </a:t>
            </a:r>
          </a:p>
          <a:p>
            <a:pPr algn="just"/>
            <a:r>
              <a:rPr lang="en-US" dirty="0">
                <a:latin typeface="Times New Roman" panose="02020603050405020304" pitchFamily="18" charset="0"/>
                <a:cs typeface="Times New Roman" panose="02020603050405020304" pitchFamily="18" charset="0"/>
              </a:rPr>
              <a:t>b. To ensure the </a:t>
            </a:r>
            <a:r>
              <a:rPr lang="en-US" b="1" dirty="0">
                <a:latin typeface="Times New Roman" panose="02020603050405020304" pitchFamily="18" charset="0"/>
                <a:cs typeface="Times New Roman" panose="02020603050405020304" pitchFamily="18" charset="0"/>
              </a:rPr>
              <a:t>availability</a:t>
            </a:r>
            <a:r>
              <a:rPr lang="en-US" dirty="0">
                <a:latin typeface="Times New Roman" panose="02020603050405020304" pitchFamily="18" charset="0"/>
                <a:cs typeface="Times New Roman" panose="02020603050405020304" pitchFamily="18" charset="0"/>
              </a:rPr>
              <a:t> of water to all elements of the society including the poor and the underprivileged, and to take into account the particular needs of women and children </a:t>
            </a:r>
          </a:p>
          <a:p>
            <a:pPr algn="just"/>
            <a:r>
              <a:rPr lang="en-US" dirty="0">
                <a:latin typeface="Times New Roman" panose="02020603050405020304" pitchFamily="18" charset="0"/>
                <a:cs typeface="Times New Roman" panose="02020603050405020304" pitchFamily="18" charset="0"/>
              </a:rPr>
              <a:t>c. To accelerate the development of </a:t>
            </a:r>
            <a:r>
              <a:rPr lang="en-US" b="1" dirty="0">
                <a:latin typeface="Times New Roman" panose="02020603050405020304" pitchFamily="18" charset="0"/>
                <a:cs typeface="Times New Roman" panose="02020603050405020304" pitchFamily="18" charset="0"/>
              </a:rPr>
              <a:t>sustainable</a:t>
            </a:r>
            <a:r>
              <a:rPr lang="en-US" dirty="0">
                <a:latin typeface="Times New Roman" panose="02020603050405020304" pitchFamily="18" charset="0"/>
                <a:cs typeface="Times New Roman" panose="02020603050405020304" pitchFamily="18" charset="0"/>
              </a:rPr>
              <a:t> public and private water delivery systems with appropriate legal and financial measures and incentives, including delineation of water rights and water pricing</a:t>
            </a:r>
          </a:p>
        </p:txBody>
      </p:sp>
    </p:spTree>
    <p:extLst>
      <p:ext uri="{BB962C8B-B14F-4D97-AF65-F5344CB8AC3E}">
        <p14:creationId xmlns:p14="http://schemas.microsoft.com/office/powerpoint/2010/main" val="3133544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7831D-21FF-4CFB-A271-BFBD28DEABFE}"/>
              </a:ext>
            </a:extLst>
          </p:cNvPr>
          <p:cNvSpPr>
            <a:spLocks noGrp="1"/>
          </p:cNvSpPr>
          <p:nvPr>
            <p:ph type="title"/>
          </p:nvPr>
        </p:nvSpPr>
        <p:spPr>
          <a:xfrm>
            <a:off x="838200" y="365125"/>
            <a:ext cx="10515600" cy="66468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Conti…………..</a:t>
            </a:r>
          </a:p>
        </p:txBody>
      </p:sp>
      <p:sp>
        <p:nvSpPr>
          <p:cNvPr id="3" name="Content Placeholder 2">
            <a:extLst>
              <a:ext uri="{FF2B5EF4-FFF2-40B4-BE49-F238E27FC236}">
                <a16:creationId xmlns:a16="http://schemas.microsoft.com/office/drawing/2014/main" id="{92538140-D6C2-416E-9FD0-CF2EA875F7CC}"/>
              </a:ext>
            </a:extLst>
          </p:cNvPr>
          <p:cNvSpPr>
            <a:spLocks noGrp="1"/>
          </p:cNvSpPr>
          <p:nvPr>
            <p:ph idx="1"/>
          </p:nvPr>
        </p:nvSpPr>
        <p:spPr>
          <a:xfrm>
            <a:off x="838200" y="1322773"/>
            <a:ext cx="10515600" cy="485419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d. To bring institutional changes that will help </a:t>
            </a:r>
            <a:r>
              <a:rPr lang="en-US" b="1" dirty="0">
                <a:latin typeface="Times New Roman" panose="02020603050405020304" pitchFamily="18" charset="0"/>
                <a:cs typeface="Times New Roman" panose="02020603050405020304" pitchFamily="18" charset="0"/>
              </a:rPr>
              <a:t>decentralize</a:t>
            </a:r>
            <a:r>
              <a:rPr lang="en-US" dirty="0">
                <a:latin typeface="Times New Roman" panose="02020603050405020304" pitchFamily="18" charset="0"/>
                <a:cs typeface="Times New Roman" panose="02020603050405020304" pitchFamily="18" charset="0"/>
              </a:rPr>
              <a:t> the management of water resources and enhance the role of women in water management </a:t>
            </a:r>
          </a:p>
          <a:p>
            <a:pPr algn="just"/>
            <a:r>
              <a:rPr lang="en-US" dirty="0">
                <a:latin typeface="Times New Roman" panose="02020603050405020304" pitchFamily="18" charset="0"/>
                <a:cs typeface="Times New Roman" panose="02020603050405020304" pitchFamily="18" charset="0"/>
              </a:rPr>
              <a:t>e. To develop a </a:t>
            </a:r>
            <a:r>
              <a:rPr lang="en-US" b="1" dirty="0">
                <a:latin typeface="Times New Roman" panose="02020603050405020304" pitchFamily="18" charset="0"/>
                <a:cs typeface="Times New Roman" panose="02020603050405020304" pitchFamily="18" charset="0"/>
              </a:rPr>
              <a:t>legal and regulatory </a:t>
            </a:r>
            <a:r>
              <a:rPr lang="en-US" dirty="0">
                <a:latin typeface="Times New Roman" panose="02020603050405020304" pitchFamily="18" charset="0"/>
                <a:cs typeface="Times New Roman" panose="02020603050405020304" pitchFamily="18" charset="0"/>
              </a:rPr>
              <a:t>environment that will help the process of decentralization, sound environmental management, and improve the investment climate for the private sector in water development and management </a:t>
            </a:r>
          </a:p>
          <a:p>
            <a:pPr algn="just"/>
            <a:r>
              <a:rPr lang="en-US" dirty="0">
                <a:latin typeface="Times New Roman" panose="02020603050405020304" pitchFamily="18" charset="0"/>
                <a:cs typeface="Times New Roman" panose="02020603050405020304" pitchFamily="18" charset="0"/>
              </a:rPr>
              <a:t>f. To develop a state of </a:t>
            </a:r>
            <a:r>
              <a:rPr lang="en-US" b="1" dirty="0">
                <a:latin typeface="Times New Roman" panose="02020603050405020304" pitchFamily="18" charset="0"/>
                <a:cs typeface="Times New Roman" panose="02020603050405020304" pitchFamily="18" charset="0"/>
              </a:rPr>
              <a:t>knowledge and capability</a:t>
            </a:r>
            <a:r>
              <a:rPr lang="en-US" dirty="0">
                <a:latin typeface="Times New Roman" panose="02020603050405020304" pitchFamily="18" charset="0"/>
                <a:cs typeface="Times New Roman" panose="02020603050405020304" pitchFamily="18" charset="0"/>
              </a:rPr>
              <a:t> that will enable the country to design future water resources management plans by itself with economic efficiency, gender equity, social justice and environmental awareness to facilitate achievement of the water management objectives through broad public participation </a:t>
            </a:r>
          </a:p>
        </p:txBody>
      </p:sp>
    </p:spTree>
    <p:extLst>
      <p:ext uri="{BB962C8B-B14F-4D97-AF65-F5344CB8AC3E}">
        <p14:creationId xmlns:p14="http://schemas.microsoft.com/office/powerpoint/2010/main" val="103019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B27B2-B456-4083-8A5C-7A6DBAB4B68C}"/>
              </a:ext>
            </a:extLst>
          </p:cNvPr>
          <p:cNvSpPr>
            <a:spLocks noGrp="1"/>
          </p:cNvSpPr>
          <p:nvPr>
            <p:ph type="title"/>
          </p:nvPr>
        </p:nvSpPr>
        <p:spPr>
          <a:xfrm>
            <a:off x="838200" y="365125"/>
            <a:ext cx="10515600" cy="806727"/>
          </a:xfrm>
        </p:spPr>
        <p:txBody>
          <a:bodyPr>
            <a:normAutofit/>
          </a:bodyPr>
          <a:lstStyle/>
          <a:p>
            <a:pPr algn="ctr"/>
            <a:r>
              <a:rPr lang="en-US" sz="3600" b="1" dirty="0">
                <a:latin typeface="Times New Roman" panose="02020603050405020304" pitchFamily="18" charset="0"/>
                <a:cs typeface="Times New Roman" panose="02020603050405020304" pitchFamily="18" charset="0"/>
              </a:rPr>
              <a:t>River Basin Management</a:t>
            </a:r>
          </a:p>
        </p:txBody>
      </p:sp>
      <p:sp>
        <p:nvSpPr>
          <p:cNvPr id="3" name="Content Placeholder 2">
            <a:extLst>
              <a:ext uri="{FF2B5EF4-FFF2-40B4-BE49-F238E27FC236}">
                <a16:creationId xmlns:a16="http://schemas.microsoft.com/office/drawing/2014/main" id="{580F212F-8486-4A55-8664-F18393C09EB6}"/>
              </a:ext>
            </a:extLst>
          </p:cNvPr>
          <p:cNvSpPr>
            <a:spLocks noGrp="1"/>
          </p:cNvSpPr>
          <p:nvPr>
            <p:ph idx="1"/>
          </p:nvPr>
        </p:nvSpPr>
        <p:spPr>
          <a:xfrm>
            <a:off x="838200" y="1402672"/>
            <a:ext cx="10515600" cy="4774291"/>
          </a:xfrm>
        </p:spPr>
        <p:txBody>
          <a:bodyPr>
            <a:normAutofit/>
          </a:bodyPr>
          <a:lstStyle/>
          <a:p>
            <a:pPr algn="just"/>
            <a:r>
              <a:rPr lang="en-US" sz="2400" dirty="0">
                <a:latin typeface="Times New Roman" panose="02020603050405020304" pitchFamily="18" charset="0"/>
                <a:cs typeface="Times New Roman" panose="02020603050405020304" pitchFamily="18" charset="0"/>
              </a:rPr>
              <a:t>a. Work with co-riparian countries to establish a system for </a:t>
            </a:r>
            <a:r>
              <a:rPr lang="en-US" sz="2400" b="1" dirty="0">
                <a:latin typeface="Times New Roman" panose="02020603050405020304" pitchFamily="18" charset="0"/>
                <a:cs typeface="Times New Roman" panose="02020603050405020304" pitchFamily="18" charset="0"/>
              </a:rPr>
              <a:t>exchange</a:t>
            </a:r>
            <a:r>
              <a:rPr lang="en-US" sz="2400" dirty="0">
                <a:latin typeface="Times New Roman" panose="02020603050405020304" pitchFamily="18" charset="0"/>
                <a:cs typeface="Times New Roman" panose="02020603050405020304" pitchFamily="18" charset="0"/>
              </a:rPr>
              <a:t> of information and data </a:t>
            </a:r>
          </a:p>
          <a:p>
            <a:pPr algn="just"/>
            <a:r>
              <a:rPr lang="en-US" sz="2400" dirty="0">
                <a:latin typeface="Times New Roman" panose="02020603050405020304" pitchFamily="18" charset="0"/>
                <a:cs typeface="Times New Roman" panose="02020603050405020304" pitchFamily="18" charset="0"/>
              </a:rPr>
              <a:t>b. Work with co-riparian countries for a </a:t>
            </a:r>
            <a:r>
              <a:rPr lang="en-US" sz="2400" b="1" dirty="0">
                <a:latin typeface="Times New Roman" panose="02020603050405020304" pitchFamily="18" charset="0"/>
                <a:cs typeface="Times New Roman" panose="02020603050405020304" pitchFamily="18" charset="0"/>
              </a:rPr>
              <a:t>joint assessment </a:t>
            </a:r>
            <a:r>
              <a:rPr lang="en-US" sz="2400" dirty="0">
                <a:latin typeface="Times New Roman" panose="02020603050405020304" pitchFamily="18" charset="0"/>
                <a:cs typeface="Times New Roman" panose="02020603050405020304" pitchFamily="18" charset="0"/>
              </a:rPr>
              <a:t>of all the international rivers</a:t>
            </a:r>
          </a:p>
          <a:p>
            <a:pPr algn="just"/>
            <a:r>
              <a:rPr lang="en-US" sz="2400" dirty="0">
                <a:latin typeface="Times New Roman" panose="02020603050405020304" pitchFamily="18" charset="0"/>
                <a:cs typeface="Times New Roman" panose="02020603050405020304" pitchFamily="18" charset="0"/>
              </a:rPr>
              <a:t>c. Work jointly with co-riparian countries to </a:t>
            </a:r>
            <a:r>
              <a:rPr lang="en-US" sz="2400" b="1" dirty="0">
                <a:latin typeface="Times New Roman" panose="02020603050405020304" pitchFamily="18" charset="0"/>
                <a:cs typeface="Times New Roman" panose="02020603050405020304" pitchFamily="18" charset="0"/>
              </a:rPr>
              <a:t>share</a:t>
            </a:r>
            <a:r>
              <a:rPr lang="en-US" sz="2400" dirty="0">
                <a:latin typeface="Times New Roman" panose="02020603050405020304" pitchFamily="18" charset="0"/>
                <a:cs typeface="Times New Roman" panose="02020603050405020304" pitchFamily="18" charset="0"/>
              </a:rPr>
              <a:t> the water resources</a:t>
            </a:r>
          </a:p>
          <a:p>
            <a:pPr algn="just"/>
            <a:r>
              <a:rPr lang="en-US" sz="2400" dirty="0">
                <a:latin typeface="Times New Roman" panose="02020603050405020304" pitchFamily="18" charset="0"/>
                <a:cs typeface="Times New Roman" panose="02020603050405020304" pitchFamily="18" charset="0"/>
              </a:rPr>
              <a:t>d. Make concerted efforts, in collaboration with co-riparian countries, for watershed </a:t>
            </a:r>
            <a:r>
              <a:rPr lang="en-US" sz="2400" b="1" dirty="0">
                <a:latin typeface="Times New Roman" panose="02020603050405020304" pitchFamily="18" charset="0"/>
                <a:cs typeface="Times New Roman" panose="02020603050405020304" pitchFamily="18" charset="0"/>
              </a:rPr>
              <a:t>preservation and reduction </a:t>
            </a:r>
            <a:r>
              <a:rPr lang="en-US" sz="2400" dirty="0">
                <a:latin typeface="Times New Roman" panose="02020603050405020304" pitchFamily="18" charset="0"/>
                <a:cs typeface="Times New Roman" panose="02020603050405020304" pitchFamily="18" charset="0"/>
              </a:rPr>
              <a:t>of land degradation </a:t>
            </a:r>
          </a:p>
          <a:p>
            <a:pPr algn="just"/>
            <a:r>
              <a:rPr lang="en-US" sz="2400" dirty="0">
                <a:latin typeface="Times New Roman" panose="02020603050405020304" pitchFamily="18" charset="0"/>
                <a:cs typeface="Times New Roman" panose="02020603050405020304" pitchFamily="18" charset="0"/>
              </a:rPr>
              <a:t>e. Work jointly with co-riparian countries for the </a:t>
            </a:r>
            <a:r>
              <a:rPr lang="en-US" sz="2400" b="1" dirty="0">
                <a:latin typeface="Times New Roman" panose="02020603050405020304" pitchFamily="18" charset="0"/>
                <a:cs typeface="Times New Roman" panose="02020603050405020304" pitchFamily="18" charset="0"/>
              </a:rPr>
              <a:t>prevention</a:t>
            </a:r>
            <a:r>
              <a:rPr lang="en-US" sz="2400" dirty="0">
                <a:latin typeface="Times New Roman" panose="02020603050405020304" pitchFamily="18" charset="0"/>
                <a:cs typeface="Times New Roman" panose="02020603050405020304" pitchFamily="18" charset="0"/>
              </a:rPr>
              <a:t> of chemical and biological pollution </a:t>
            </a:r>
          </a:p>
          <a:p>
            <a:pPr algn="just"/>
            <a:r>
              <a:rPr lang="en-US" sz="2400" dirty="0">
                <a:latin typeface="Times New Roman" panose="02020603050405020304" pitchFamily="18" charset="0"/>
                <a:cs typeface="Times New Roman" panose="02020603050405020304" pitchFamily="18" charset="0"/>
              </a:rPr>
              <a:t>f. Seek international and regional cooperation for education, training, and research in basin </a:t>
            </a:r>
            <a:r>
              <a:rPr lang="en-US" sz="2400" b="1" dirty="0">
                <a:latin typeface="Times New Roman" panose="02020603050405020304" pitchFamily="18" charset="0"/>
                <a:cs typeface="Times New Roman" panose="02020603050405020304" pitchFamily="18" charset="0"/>
              </a:rPr>
              <a:t>management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76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1BC87-0803-4DD3-9204-198EE59087E9}"/>
              </a:ext>
            </a:extLst>
          </p:cNvPr>
          <p:cNvSpPr>
            <a:spLocks noGrp="1"/>
          </p:cNvSpPr>
          <p:nvPr>
            <p:ph type="title"/>
          </p:nvPr>
        </p:nvSpPr>
        <p:spPr>
          <a:xfrm>
            <a:off x="838200" y="365126"/>
            <a:ext cx="10515600" cy="691318"/>
          </a:xfrm>
        </p:spPr>
        <p:txBody>
          <a:bodyPr>
            <a:normAutofit/>
          </a:bodyPr>
          <a:lstStyle/>
          <a:p>
            <a:pPr algn="ctr"/>
            <a:r>
              <a:rPr lang="en-US" sz="3600" b="1" dirty="0">
                <a:latin typeface="Times New Roman" panose="02020603050405020304" pitchFamily="18" charset="0"/>
                <a:cs typeface="Times New Roman" panose="02020603050405020304" pitchFamily="18" charset="0"/>
              </a:rPr>
              <a:t>Water Rights and Allocation</a:t>
            </a:r>
          </a:p>
        </p:txBody>
      </p:sp>
      <p:sp>
        <p:nvSpPr>
          <p:cNvPr id="3" name="Content Placeholder 2">
            <a:extLst>
              <a:ext uri="{FF2B5EF4-FFF2-40B4-BE49-F238E27FC236}">
                <a16:creationId xmlns:a16="http://schemas.microsoft.com/office/drawing/2014/main" id="{59AA43AB-A5A8-4F18-B598-867E32AA238C}"/>
              </a:ext>
            </a:extLst>
          </p:cNvPr>
          <p:cNvSpPr>
            <a:spLocks noGrp="1"/>
          </p:cNvSpPr>
          <p:nvPr>
            <p:ph idx="1"/>
          </p:nvPr>
        </p:nvSpPr>
        <p:spPr>
          <a:xfrm>
            <a:off x="838200" y="1247775"/>
            <a:ext cx="10515600" cy="4929188"/>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a. The government will </a:t>
            </a:r>
            <a:r>
              <a:rPr lang="en-US" b="1" dirty="0">
                <a:latin typeface="Times New Roman" panose="02020603050405020304" pitchFamily="18" charset="0"/>
                <a:cs typeface="Times New Roman" panose="02020603050405020304" pitchFamily="18" charset="0"/>
              </a:rPr>
              <a:t>exercise</a:t>
            </a:r>
            <a:r>
              <a:rPr lang="en-US" dirty="0">
                <a:latin typeface="Times New Roman" panose="02020603050405020304" pitchFamily="18" charset="0"/>
                <a:cs typeface="Times New Roman" panose="02020603050405020304" pitchFamily="18" charset="0"/>
              </a:rPr>
              <a:t> its water allocation power in identified scarcity zones on the basis of specified priorities </a:t>
            </a:r>
          </a:p>
          <a:p>
            <a:pPr algn="just"/>
            <a:r>
              <a:rPr lang="en-US" dirty="0">
                <a:latin typeface="Times New Roman" panose="02020603050405020304" pitchFamily="18" charset="0"/>
                <a:cs typeface="Times New Roman" panose="02020603050405020304" pitchFamily="18" charset="0"/>
              </a:rPr>
              <a:t>b. For sustaining rechargeable shallow groundwater aquifers, the Government will </a:t>
            </a:r>
            <a:r>
              <a:rPr lang="en-US" b="1" dirty="0">
                <a:latin typeface="Times New Roman" panose="02020603050405020304" pitchFamily="18" charset="0"/>
                <a:cs typeface="Times New Roman" panose="02020603050405020304" pitchFamily="18" charset="0"/>
              </a:rPr>
              <a:t>regulate</a:t>
            </a:r>
            <a:r>
              <a:rPr lang="en-US" dirty="0">
                <a:latin typeface="Times New Roman" panose="02020603050405020304" pitchFamily="18" charset="0"/>
                <a:cs typeface="Times New Roman" panose="02020603050405020304" pitchFamily="18" charset="0"/>
              </a:rPr>
              <a:t> the extraction of water in the identified scarcity zones with full public knowledge</a:t>
            </a:r>
          </a:p>
          <a:p>
            <a:pPr algn="just"/>
            <a:r>
              <a:rPr lang="en-US" dirty="0">
                <a:latin typeface="Times New Roman" panose="02020603050405020304" pitchFamily="18" charset="0"/>
                <a:cs typeface="Times New Roman" panose="02020603050405020304" pitchFamily="18" charset="0"/>
              </a:rPr>
              <a:t>c. Specific drought </a:t>
            </a:r>
            <a:r>
              <a:rPr lang="en-US" b="1" dirty="0">
                <a:latin typeface="Times New Roman" panose="02020603050405020304" pitchFamily="18" charset="0"/>
                <a:cs typeface="Times New Roman" panose="02020603050405020304" pitchFamily="18" charset="0"/>
              </a:rPr>
              <a:t>monitoring</a:t>
            </a:r>
            <a:r>
              <a:rPr lang="en-US" dirty="0">
                <a:latin typeface="Times New Roman" panose="02020603050405020304" pitchFamily="18" charset="0"/>
                <a:cs typeface="Times New Roman" panose="02020603050405020304" pitchFamily="18" charset="0"/>
              </a:rPr>
              <a:t> and contingency plans will be prepared for each region experiencing recurrent seasonal shortages of water </a:t>
            </a:r>
          </a:p>
          <a:p>
            <a:pPr algn="just"/>
            <a:r>
              <a:rPr lang="en-US" dirty="0">
                <a:latin typeface="Times New Roman" panose="02020603050405020304" pitchFamily="18" charset="0"/>
                <a:cs typeface="Times New Roman" panose="02020603050405020304" pitchFamily="18" charset="0"/>
              </a:rPr>
              <a:t>d. The Government may </a:t>
            </a:r>
            <a:r>
              <a:rPr lang="en-US" b="1" dirty="0">
                <a:latin typeface="Times New Roman" panose="02020603050405020304" pitchFamily="18" charset="0"/>
                <a:cs typeface="Times New Roman" panose="02020603050405020304" pitchFamily="18" charset="0"/>
              </a:rPr>
              <a:t>empower</a:t>
            </a:r>
            <a:r>
              <a:rPr lang="en-US" dirty="0">
                <a:latin typeface="Times New Roman" panose="02020603050405020304" pitchFamily="18" charset="0"/>
                <a:cs typeface="Times New Roman" panose="02020603050405020304" pitchFamily="18" charset="0"/>
              </a:rPr>
              <a:t> the local government to exercise its right to allocate water in scarcity zones</a:t>
            </a:r>
          </a:p>
          <a:p>
            <a:pPr algn="just"/>
            <a:r>
              <a:rPr lang="en-US" dirty="0">
                <a:latin typeface="Times New Roman" panose="02020603050405020304" pitchFamily="18" charset="0"/>
                <a:cs typeface="Times New Roman" panose="02020603050405020304" pitchFamily="18" charset="0"/>
              </a:rPr>
              <a:t>e. The Government may confer water </a:t>
            </a:r>
            <a:r>
              <a:rPr lang="en-US" b="1" dirty="0">
                <a:latin typeface="Times New Roman" panose="02020603050405020304" pitchFamily="18" charset="0"/>
                <a:cs typeface="Times New Roman" panose="02020603050405020304" pitchFamily="18" charset="0"/>
              </a:rPr>
              <a:t>rights</a:t>
            </a:r>
            <a:r>
              <a:rPr lang="en-US" dirty="0">
                <a:latin typeface="Times New Roman" panose="02020603050405020304" pitchFamily="18" charset="0"/>
                <a:cs typeface="Times New Roman" panose="02020603050405020304" pitchFamily="18" charset="0"/>
              </a:rPr>
              <a:t> on private and community bodies.</a:t>
            </a:r>
          </a:p>
          <a:p>
            <a:pPr algn="just"/>
            <a:r>
              <a:rPr lang="en-US" dirty="0">
                <a:latin typeface="Times New Roman" panose="02020603050405020304" pitchFamily="18" charset="0"/>
                <a:cs typeface="Times New Roman" panose="02020603050405020304" pitchFamily="18" charset="0"/>
              </a:rPr>
              <a:t>f. In specifying surface water rights, the minimum requirement of stream-flow for maintaining the conveyance channel will be </a:t>
            </a:r>
            <a:r>
              <a:rPr lang="en-US" b="1" dirty="0">
                <a:latin typeface="Times New Roman" panose="02020603050405020304" pitchFamily="18" charset="0"/>
                <a:cs typeface="Times New Roman" panose="02020603050405020304" pitchFamily="18" charset="0"/>
              </a:rPr>
              <a:t>ensured</a:t>
            </a:r>
          </a:p>
        </p:txBody>
      </p:sp>
    </p:spTree>
    <p:extLst>
      <p:ext uri="{BB962C8B-B14F-4D97-AF65-F5344CB8AC3E}">
        <p14:creationId xmlns:p14="http://schemas.microsoft.com/office/powerpoint/2010/main" val="3010419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0833B-DAEB-44D9-A763-786D39B2ED52}"/>
              </a:ext>
            </a:extLst>
          </p:cNvPr>
          <p:cNvSpPr>
            <a:spLocks noGrp="1"/>
          </p:cNvSpPr>
          <p:nvPr>
            <p:ph type="title"/>
          </p:nvPr>
        </p:nvSpPr>
        <p:spPr>
          <a:xfrm>
            <a:off x="838200" y="365126"/>
            <a:ext cx="10515600" cy="567030"/>
          </a:xfrm>
        </p:spPr>
        <p:txBody>
          <a:bodyPr>
            <a:noAutofit/>
          </a:bodyPr>
          <a:lstStyle/>
          <a:p>
            <a:pPr algn="ctr"/>
            <a:r>
              <a:rPr lang="en-US" sz="3600" b="1" dirty="0">
                <a:latin typeface="Times New Roman" panose="02020603050405020304" pitchFamily="18" charset="0"/>
                <a:cs typeface="Times New Roman" panose="02020603050405020304" pitchFamily="18" charset="0"/>
              </a:rPr>
              <a:t>Water Supply and Sanitation</a:t>
            </a:r>
          </a:p>
        </p:txBody>
      </p:sp>
      <p:sp>
        <p:nvSpPr>
          <p:cNvPr id="3" name="Content Placeholder 2">
            <a:extLst>
              <a:ext uri="{FF2B5EF4-FFF2-40B4-BE49-F238E27FC236}">
                <a16:creationId xmlns:a16="http://schemas.microsoft.com/office/drawing/2014/main" id="{57C48317-7A27-465B-9EA6-39A570EB6FFB}"/>
              </a:ext>
            </a:extLst>
          </p:cNvPr>
          <p:cNvSpPr>
            <a:spLocks noGrp="1"/>
          </p:cNvSpPr>
          <p:nvPr>
            <p:ph idx="1"/>
          </p:nvPr>
        </p:nvSpPr>
        <p:spPr>
          <a:xfrm>
            <a:off x="838200" y="1352549"/>
            <a:ext cx="10515600" cy="5140325"/>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a. Facilitate availability of </a:t>
            </a:r>
            <a:r>
              <a:rPr lang="en-US" b="1" dirty="0">
                <a:latin typeface="Times New Roman" panose="02020603050405020304" pitchFamily="18" charset="0"/>
                <a:cs typeface="Times New Roman" panose="02020603050405020304" pitchFamily="18" charset="0"/>
              </a:rPr>
              <a:t>safe and affordable drinking water</a:t>
            </a:r>
            <a:r>
              <a:rPr lang="en-US" dirty="0">
                <a:latin typeface="Times New Roman" panose="02020603050405020304" pitchFamily="18" charset="0"/>
                <a:cs typeface="Times New Roman" panose="02020603050405020304" pitchFamily="18" charset="0"/>
              </a:rPr>
              <a:t> supplies through various means, including rainwater harvesting and conservation. </a:t>
            </a:r>
          </a:p>
          <a:p>
            <a:pPr algn="just"/>
            <a:r>
              <a:rPr lang="en-US" dirty="0">
                <a:latin typeface="Times New Roman" panose="02020603050405020304" pitchFamily="18" charset="0"/>
                <a:cs typeface="Times New Roman" panose="02020603050405020304" pitchFamily="18" charset="0"/>
              </a:rPr>
              <a:t>b. </a:t>
            </a:r>
            <a:r>
              <a:rPr lang="en-US" b="1" dirty="0">
                <a:latin typeface="Times New Roman" panose="02020603050405020304" pitchFamily="18" charset="0"/>
                <a:cs typeface="Times New Roman" panose="02020603050405020304" pitchFamily="18" charset="0"/>
              </a:rPr>
              <a:t>Preserve natural depressions and water bodies </a:t>
            </a:r>
            <a:r>
              <a:rPr lang="en-US" dirty="0">
                <a:latin typeface="Times New Roman" panose="02020603050405020304" pitchFamily="18" charset="0"/>
                <a:cs typeface="Times New Roman" panose="02020603050405020304" pitchFamily="18" charset="0"/>
              </a:rPr>
              <a:t>in major urban areas for recharge of underground aquifers and rainwater management. </a:t>
            </a:r>
          </a:p>
          <a:p>
            <a:pPr algn="just"/>
            <a:r>
              <a:rPr lang="en-US" dirty="0">
                <a:latin typeface="Times New Roman" panose="02020603050405020304" pitchFamily="18" charset="0"/>
                <a:cs typeface="Times New Roman" panose="02020603050405020304" pitchFamily="18" charset="0"/>
              </a:rPr>
              <a:t>c. Mandate relevant public water and sewerage institutions </a:t>
            </a:r>
            <a:r>
              <a:rPr lang="en-US" b="1" dirty="0">
                <a:latin typeface="Times New Roman" panose="02020603050405020304" pitchFamily="18" charset="0"/>
                <a:cs typeface="Times New Roman" panose="02020603050405020304" pitchFamily="18" charset="0"/>
              </a:rPr>
              <a:t>to provide necessary drainage and sanitation</a:t>
            </a:r>
            <a:r>
              <a:rPr lang="en-US" dirty="0">
                <a:latin typeface="Times New Roman" panose="02020603050405020304" pitchFamily="18" charset="0"/>
                <a:cs typeface="Times New Roman" panose="02020603050405020304" pitchFamily="18" charset="0"/>
              </a:rPr>
              <a:t>, including treatment of domestic wastewater and sewage and replacement of open drains and construction of sewers, in the interest of public health. </a:t>
            </a:r>
          </a:p>
          <a:p>
            <a:pPr algn="just"/>
            <a:r>
              <a:rPr lang="en-US" dirty="0">
                <a:latin typeface="Times New Roman" panose="02020603050405020304" pitchFamily="18" charset="0"/>
                <a:cs typeface="Times New Roman" panose="02020603050405020304" pitchFamily="18" charset="0"/>
              </a:rPr>
              <a:t>d. </a:t>
            </a:r>
            <a:r>
              <a:rPr lang="en-US" b="1" dirty="0">
                <a:latin typeface="Times New Roman" panose="02020603050405020304" pitchFamily="18" charset="0"/>
                <a:cs typeface="Times New Roman" panose="02020603050405020304" pitchFamily="18" charset="0"/>
              </a:rPr>
              <a:t>Empower,</a:t>
            </a:r>
            <a:r>
              <a:rPr lang="en-US" dirty="0">
                <a:latin typeface="Times New Roman" panose="02020603050405020304" pitchFamily="18" charset="0"/>
                <a:cs typeface="Times New Roman" panose="02020603050405020304" pitchFamily="18" charset="0"/>
              </a:rPr>
              <a:t> and hold responsible, municipalities and urban water and sewerage institutions to regulate the use of water for preventing wastage and pollution by human action. </a:t>
            </a:r>
          </a:p>
          <a:p>
            <a:pPr algn="just"/>
            <a:r>
              <a:rPr lang="en-US" dirty="0">
                <a:latin typeface="Times New Roman" panose="02020603050405020304" pitchFamily="18" charset="0"/>
                <a:cs typeface="Times New Roman" panose="02020603050405020304" pitchFamily="18" charset="0"/>
              </a:rPr>
              <a:t>e. Mandate local governments to create </a:t>
            </a:r>
            <a:r>
              <a:rPr lang="en-US" b="1" dirty="0">
                <a:latin typeface="Times New Roman" panose="02020603050405020304" pitchFamily="18" charset="0"/>
                <a:cs typeface="Times New Roman" panose="02020603050405020304" pitchFamily="18" charset="0"/>
              </a:rPr>
              <a:t>awareness</a:t>
            </a:r>
            <a:r>
              <a:rPr lang="en-US" dirty="0">
                <a:latin typeface="Times New Roman" panose="02020603050405020304" pitchFamily="18" charset="0"/>
                <a:cs typeface="Times New Roman" panose="02020603050405020304" pitchFamily="18" charset="0"/>
              </a:rPr>
              <a:t> among the people in checking water pollution and wastage.</a:t>
            </a:r>
          </a:p>
          <a:p>
            <a:pPr algn="just"/>
            <a:r>
              <a:rPr lang="en-US" dirty="0">
                <a:latin typeface="Times New Roman" panose="02020603050405020304" pitchFamily="18" charset="0"/>
                <a:cs typeface="Times New Roman" panose="02020603050405020304" pitchFamily="18" charset="0"/>
              </a:rPr>
              <a:t>Promotes </a:t>
            </a:r>
            <a:r>
              <a:rPr lang="en-US" b="1" dirty="0">
                <a:latin typeface="Times New Roman" panose="02020603050405020304" pitchFamily="18" charset="0"/>
                <a:cs typeface="Times New Roman" panose="02020603050405020304" pitchFamily="18" charset="0"/>
              </a:rPr>
              <a:t>monitoring and regulation</a:t>
            </a:r>
            <a:r>
              <a:rPr lang="en-US" dirty="0">
                <a:latin typeface="Times New Roman" panose="02020603050405020304" pitchFamily="18" charset="0"/>
                <a:cs typeface="Times New Roman" panose="02020603050405020304" pitchFamily="18" charset="0"/>
              </a:rPr>
              <a:t> of water quality by the DoE.</a:t>
            </a:r>
          </a:p>
        </p:txBody>
      </p:sp>
    </p:spTree>
    <p:extLst>
      <p:ext uri="{BB962C8B-B14F-4D97-AF65-F5344CB8AC3E}">
        <p14:creationId xmlns:p14="http://schemas.microsoft.com/office/powerpoint/2010/main" val="46126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A4840-ED67-4DBE-857F-3A777230F2E1}"/>
              </a:ext>
            </a:extLst>
          </p:cNvPr>
          <p:cNvSpPr>
            <a:spLocks noGrp="1"/>
          </p:cNvSpPr>
          <p:nvPr>
            <p:ph type="title"/>
          </p:nvPr>
        </p:nvSpPr>
        <p:spPr>
          <a:xfrm>
            <a:off x="838200" y="365125"/>
            <a:ext cx="10515600" cy="496009"/>
          </a:xfrm>
        </p:spPr>
        <p:txBody>
          <a:bodyPr>
            <a:noAutofit/>
          </a:bodyPr>
          <a:lstStyle/>
          <a:p>
            <a:pPr algn="ctr"/>
            <a:r>
              <a:rPr lang="en-US" sz="3600" b="1" dirty="0">
                <a:latin typeface="Times New Roman" panose="02020603050405020304" pitchFamily="18" charset="0"/>
                <a:cs typeface="Times New Roman" panose="02020603050405020304" pitchFamily="18" charset="0"/>
              </a:rPr>
              <a:t>Water and Agriculture</a:t>
            </a:r>
          </a:p>
        </p:txBody>
      </p:sp>
      <p:sp>
        <p:nvSpPr>
          <p:cNvPr id="3" name="Content Placeholder 2">
            <a:extLst>
              <a:ext uri="{FF2B5EF4-FFF2-40B4-BE49-F238E27FC236}">
                <a16:creationId xmlns:a16="http://schemas.microsoft.com/office/drawing/2014/main" id="{1E26156D-052A-45FC-A0E2-78917410D005}"/>
              </a:ext>
            </a:extLst>
          </p:cNvPr>
          <p:cNvSpPr>
            <a:spLocks noGrp="1"/>
          </p:cNvSpPr>
          <p:nvPr>
            <p:ph idx="1"/>
          </p:nvPr>
        </p:nvSpPr>
        <p:spPr>
          <a:xfrm>
            <a:off x="838200" y="1352550"/>
            <a:ext cx="10515600" cy="5048250"/>
          </a:xfrm>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Encourage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promote</a:t>
            </a:r>
            <a:r>
              <a:rPr lang="en-US" dirty="0">
                <a:latin typeface="Times New Roman" panose="02020603050405020304" pitchFamily="18" charset="0"/>
                <a:cs typeface="Times New Roman" panose="02020603050405020304" pitchFamily="18" charset="0"/>
              </a:rPr>
              <a:t> continued development of minor irrigation, where feasible, without affecting drinking water supplies </a:t>
            </a:r>
          </a:p>
          <a:p>
            <a:pPr algn="just"/>
            <a:r>
              <a:rPr lang="en-US" dirty="0">
                <a:latin typeface="Times New Roman" panose="02020603050405020304" pitchFamily="18" charset="0"/>
                <a:cs typeface="Times New Roman" panose="02020603050405020304" pitchFamily="18" charset="0"/>
              </a:rPr>
              <a:t>b. </a:t>
            </a:r>
            <a:r>
              <a:rPr lang="en-US" b="1" dirty="0">
                <a:latin typeface="Times New Roman" panose="02020603050405020304" pitchFamily="18" charset="0"/>
                <a:cs typeface="Times New Roman" panose="02020603050405020304" pitchFamily="18" charset="0"/>
              </a:rPr>
              <a:t>Encourage future groundwater development</a:t>
            </a:r>
            <a:r>
              <a:rPr lang="en-US" dirty="0">
                <a:latin typeface="Times New Roman" panose="02020603050405020304" pitchFamily="18" charset="0"/>
                <a:cs typeface="Times New Roman" panose="02020603050405020304" pitchFamily="18" charset="0"/>
              </a:rPr>
              <a:t> for irrigation by both the public and the private sectors, subject to regulations that may be prescribed by Government from time to time. </a:t>
            </a:r>
          </a:p>
          <a:p>
            <a:pPr algn="just"/>
            <a:r>
              <a:rPr lang="en-US" dirty="0">
                <a:latin typeface="Times New Roman" panose="02020603050405020304" pitchFamily="18" charset="0"/>
                <a:cs typeface="Times New Roman" panose="02020603050405020304" pitchFamily="18" charset="0"/>
              </a:rPr>
              <a:t>c. </a:t>
            </a:r>
            <a:r>
              <a:rPr lang="en-US" b="1" dirty="0">
                <a:latin typeface="Times New Roman" panose="02020603050405020304" pitchFamily="18" charset="0"/>
                <a:cs typeface="Times New Roman" panose="02020603050405020304" pitchFamily="18" charset="0"/>
              </a:rPr>
              <a:t>Improve efficiency of resource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utilisation</a:t>
            </a:r>
            <a:r>
              <a:rPr lang="en-US" dirty="0">
                <a:latin typeface="Times New Roman" panose="02020603050405020304" pitchFamily="18" charset="0"/>
                <a:cs typeface="Times New Roman" panose="02020603050405020304" pitchFamily="18" charset="0"/>
              </a:rPr>
              <a:t> through conjunctive use of all forms of surface water and groundwater for irrigation and urban water supply. </a:t>
            </a:r>
          </a:p>
          <a:p>
            <a:pPr algn="just"/>
            <a:r>
              <a:rPr lang="en-US" dirty="0">
                <a:latin typeface="Times New Roman" panose="02020603050405020304" pitchFamily="18" charset="0"/>
                <a:cs typeface="Times New Roman" panose="02020603050405020304" pitchFamily="18" charset="0"/>
              </a:rPr>
              <a:t>d. </a:t>
            </a:r>
            <a:r>
              <a:rPr lang="en-US" b="1" dirty="0">
                <a:latin typeface="Times New Roman" panose="02020603050405020304" pitchFamily="18" charset="0"/>
                <a:cs typeface="Times New Roman" panose="02020603050405020304" pitchFamily="18" charset="0"/>
              </a:rPr>
              <a:t>Strengthen crop diversification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programmes</a:t>
            </a:r>
            <a:r>
              <a:rPr lang="en-US" dirty="0">
                <a:latin typeface="Times New Roman" panose="02020603050405020304" pitchFamily="18" charset="0"/>
                <a:cs typeface="Times New Roman" panose="02020603050405020304" pitchFamily="18" charset="0"/>
              </a:rPr>
              <a:t> for efficient water </a:t>
            </a:r>
            <a:r>
              <a:rPr lang="en-US" dirty="0" err="1">
                <a:latin typeface="Times New Roman" panose="02020603050405020304" pitchFamily="18" charset="0"/>
                <a:cs typeface="Times New Roman" panose="02020603050405020304" pitchFamily="18" charset="0"/>
              </a:rPr>
              <a:t>utilisation</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e. </a:t>
            </a:r>
            <a:r>
              <a:rPr lang="en-US" b="1" dirty="0">
                <a:latin typeface="Times New Roman" panose="02020603050405020304" pitchFamily="18" charset="0"/>
                <a:cs typeface="Times New Roman" panose="02020603050405020304" pitchFamily="18" charset="0"/>
              </a:rPr>
              <a:t>Strengthen the regulatory system </a:t>
            </a:r>
            <a:r>
              <a:rPr lang="en-US" dirty="0">
                <a:latin typeface="Times New Roman" panose="02020603050405020304" pitchFamily="18" charset="0"/>
                <a:cs typeface="Times New Roman" panose="02020603050405020304" pitchFamily="18" charset="0"/>
              </a:rPr>
              <a:t>for agricultural chemicals that pollute ground and surface water, and </a:t>
            </a:r>
            <a:r>
              <a:rPr lang="en-US" b="1" dirty="0">
                <a:latin typeface="Times New Roman" panose="02020603050405020304" pitchFamily="18" charset="0"/>
                <a:cs typeface="Times New Roman" panose="02020603050405020304" pitchFamily="18" charset="0"/>
              </a:rPr>
              <a:t>develop</a:t>
            </a:r>
            <a:r>
              <a:rPr lang="en-US" dirty="0">
                <a:latin typeface="Times New Roman" panose="02020603050405020304" pitchFamily="18" charset="0"/>
                <a:cs typeface="Times New Roman" panose="02020603050405020304" pitchFamily="18" charset="0"/>
              </a:rPr>
              <a:t> control mechanism for reducing non-point pollution from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-chemicals. </a:t>
            </a:r>
          </a:p>
          <a:p>
            <a:pPr algn="just"/>
            <a:r>
              <a:rPr lang="en-US" dirty="0">
                <a:latin typeface="Times New Roman" panose="02020603050405020304" pitchFamily="18" charset="0"/>
                <a:cs typeface="Times New Roman" panose="02020603050405020304" pitchFamily="18" charset="0"/>
              </a:rPr>
              <a:t>f. </a:t>
            </a:r>
            <a:r>
              <a:rPr lang="en-US" b="1" dirty="0">
                <a:latin typeface="Times New Roman" panose="02020603050405020304" pitchFamily="18" charset="0"/>
                <a:cs typeface="Times New Roman" panose="02020603050405020304" pitchFamily="18" charset="0"/>
              </a:rPr>
              <a:t>Strengthen appropriate monitoring </a:t>
            </a:r>
            <a:r>
              <a:rPr lang="en-US" b="1"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for tracking groundwater recharge, surface and groundwater use, and changes in surface and groundwater quality</a:t>
            </a:r>
          </a:p>
        </p:txBody>
      </p:sp>
    </p:spTree>
    <p:extLst>
      <p:ext uri="{BB962C8B-B14F-4D97-AF65-F5344CB8AC3E}">
        <p14:creationId xmlns:p14="http://schemas.microsoft.com/office/powerpoint/2010/main" val="3420263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33A1-79A1-4922-9274-B9BA258A201A}"/>
              </a:ext>
            </a:extLst>
          </p:cNvPr>
          <p:cNvSpPr>
            <a:spLocks noGrp="1"/>
          </p:cNvSpPr>
          <p:nvPr>
            <p:ph type="title"/>
          </p:nvPr>
        </p:nvSpPr>
        <p:spPr>
          <a:xfrm>
            <a:off x="838200" y="365126"/>
            <a:ext cx="10515600" cy="575908"/>
          </a:xfrm>
        </p:spPr>
        <p:txBody>
          <a:bodyPr>
            <a:noAutofit/>
          </a:bodyPr>
          <a:lstStyle/>
          <a:p>
            <a:pPr algn="ctr"/>
            <a:r>
              <a:rPr lang="en-US" sz="3600" b="1" dirty="0">
                <a:latin typeface="Times New Roman" panose="02020603050405020304" pitchFamily="18" charset="0"/>
                <a:cs typeface="Times New Roman" panose="02020603050405020304" pitchFamily="18" charset="0"/>
              </a:rPr>
              <a:t>Water and Industry</a:t>
            </a:r>
          </a:p>
        </p:txBody>
      </p:sp>
      <p:sp>
        <p:nvSpPr>
          <p:cNvPr id="3" name="Content Placeholder 2">
            <a:extLst>
              <a:ext uri="{FF2B5EF4-FFF2-40B4-BE49-F238E27FC236}">
                <a16:creationId xmlns:a16="http://schemas.microsoft.com/office/drawing/2014/main" id="{1A771392-290A-4DF8-941A-2ABA44BEC7FA}"/>
              </a:ext>
            </a:extLst>
          </p:cNvPr>
          <p:cNvSpPr>
            <a:spLocks noGrp="1"/>
          </p:cNvSpPr>
          <p:nvPr>
            <p:ph idx="1"/>
          </p:nvPr>
        </p:nvSpPr>
        <p:spPr>
          <a:xfrm>
            <a:off x="838200" y="1473693"/>
            <a:ext cx="10515600" cy="4703270"/>
          </a:xfrm>
        </p:spPr>
        <p: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Zoning regulations will be established</a:t>
            </a:r>
            <a:r>
              <a:rPr lang="en-US" dirty="0">
                <a:latin typeface="Times New Roman" panose="02020603050405020304" pitchFamily="18" charset="0"/>
                <a:cs typeface="Times New Roman" panose="02020603050405020304" pitchFamily="18" charset="0"/>
              </a:rPr>
              <a:t> for location of new industries in consideration of fresh and safe water availability and effluent discharge possibilities. </a:t>
            </a:r>
          </a:p>
          <a:p>
            <a:pPr algn="just"/>
            <a:r>
              <a:rPr lang="en-US" dirty="0">
                <a:latin typeface="Times New Roman" panose="02020603050405020304" pitchFamily="18" charset="0"/>
                <a:cs typeface="Times New Roman" panose="02020603050405020304" pitchFamily="18" charset="0"/>
              </a:rPr>
              <a:t>b. </a:t>
            </a:r>
            <a:r>
              <a:rPr lang="en-US" b="1" dirty="0">
                <a:latin typeface="Times New Roman" panose="02020603050405020304" pitchFamily="18" charset="0"/>
                <a:cs typeface="Times New Roman" panose="02020603050405020304" pitchFamily="18" charset="0"/>
              </a:rPr>
              <a:t>Effluent disposal will be monitored</a:t>
            </a:r>
            <a:r>
              <a:rPr lang="en-US" dirty="0">
                <a:latin typeface="Times New Roman" panose="02020603050405020304" pitchFamily="18" charset="0"/>
                <a:cs typeface="Times New Roman" panose="02020603050405020304" pitchFamily="18" charset="0"/>
              </a:rPr>
              <a:t> by relevant Government agencies to prevent water pollution. </a:t>
            </a:r>
          </a:p>
          <a:p>
            <a:pPr algn="just"/>
            <a:r>
              <a:rPr lang="en-US" dirty="0">
                <a:latin typeface="Times New Roman" panose="02020603050405020304" pitchFamily="18" charset="0"/>
                <a:cs typeface="Times New Roman" panose="02020603050405020304" pitchFamily="18" charset="0"/>
              </a:rPr>
              <a:t>c. </a:t>
            </a:r>
            <a:r>
              <a:rPr lang="en-US" b="1" dirty="0">
                <a:latin typeface="Times New Roman" panose="02020603050405020304" pitchFamily="18" charset="0"/>
                <a:cs typeface="Times New Roman" panose="02020603050405020304" pitchFamily="18" charset="0"/>
              </a:rPr>
              <a:t>Standards of effluent disposal into common watercourses</a:t>
            </a:r>
            <a:r>
              <a:rPr lang="en-US" dirty="0">
                <a:latin typeface="Times New Roman" panose="02020603050405020304" pitchFamily="18" charset="0"/>
                <a:cs typeface="Times New Roman" panose="02020603050405020304" pitchFamily="18" charset="0"/>
              </a:rPr>
              <a:t> will be set by WARPO in consultation with DOE. </a:t>
            </a:r>
          </a:p>
          <a:p>
            <a:pPr algn="just"/>
            <a:r>
              <a:rPr lang="en-US" dirty="0">
                <a:latin typeface="Times New Roman" panose="02020603050405020304" pitchFamily="18" charset="0"/>
                <a:cs typeface="Times New Roman" panose="02020603050405020304" pitchFamily="18" charset="0"/>
              </a:rPr>
              <a:t>d. Industrial polluters will be </a:t>
            </a:r>
            <a:r>
              <a:rPr lang="en-US" b="1" dirty="0">
                <a:latin typeface="Times New Roman" panose="02020603050405020304" pitchFamily="18" charset="0"/>
                <a:cs typeface="Times New Roman" panose="02020603050405020304" pitchFamily="18" charset="0"/>
              </a:rPr>
              <a:t>required under law </a:t>
            </a:r>
            <a:r>
              <a:rPr lang="en-US" dirty="0">
                <a:latin typeface="Times New Roman" panose="02020603050405020304" pitchFamily="18" charset="0"/>
                <a:cs typeface="Times New Roman" panose="02020603050405020304" pitchFamily="18" charset="0"/>
              </a:rPr>
              <a:t>to pay for the cleanup of water- body polluted by them</a:t>
            </a:r>
          </a:p>
        </p:txBody>
      </p:sp>
    </p:spTree>
    <p:extLst>
      <p:ext uri="{BB962C8B-B14F-4D97-AF65-F5344CB8AC3E}">
        <p14:creationId xmlns:p14="http://schemas.microsoft.com/office/powerpoint/2010/main" val="1914302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84A65-D633-4AAE-AAAC-2DA64BD78EFE}"/>
              </a:ext>
            </a:extLst>
          </p:cNvPr>
          <p:cNvSpPr>
            <a:spLocks noGrp="1"/>
          </p:cNvSpPr>
          <p:nvPr>
            <p:ph type="title"/>
          </p:nvPr>
        </p:nvSpPr>
        <p:spPr>
          <a:xfrm>
            <a:off x="838200" y="365126"/>
            <a:ext cx="10515600" cy="575908"/>
          </a:xfrm>
        </p:spPr>
        <p:txBody>
          <a:bodyPr>
            <a:noAutofit/>
          </a:bodyPr>
          <a:lstStyle/>
          <a:p>
            <a:pPr algn="ctr"/>
            <a:r>
              <a:rPr lang="en-US" sz="3600" b="1" dirty="0">
                <a:latin typeface="Times New Roman" panose="02020603050405020304" pitchFamily="18" charset="0"/>
                <a:cs typeface="Times New Roman" panose="02020603050405020304" pitchFamily="18" charset="0"/>
              </a:rPr>
              <a:t>Water for Fisheries and Wildlife</a:t>
            </a:r>
          </a:p>
        </p:txBody>
      </p:sp>
      <p:sp>
        <p:nvSpPr>
          <p:cNvPr id="3" name="Content Placeholder 2">
            <a:extLst>
              <a:ext uri="{FF2B5EF4-FFF2-40B4-BE49-F238E27FC236}">
                <a16:creationId xmlns:a16="http://schemas.microsoft.com/office/drawing/2014/main" id="{BA5F4570-8EBA-4C57-9C91-570FB62C8AF4}"/>
              </a:ext>
            </a:extLst>
          </p:cNvPr>
          <p:cNvSpPr>
            <a:spLocks noGrp="1"/>
          </p:cNvSpPr>
          <p:nvPr>
            <p:ph idx="1"/>
          </p:nvPr>
        </p:nvSpPr>
        <p:spPr>
          <a:xfrm>
            <a:off x="838200" y="1189607"/>
            <a:ext cx="10515600" cy="4987355"/>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a. Fisheries and wildlife will </a:t>
            </a:r>
            <a:r>
              <a:rPr lang="en-US" b="1" dirty="0">
                <a:latin typeface="Times New Roman" panose="02020603050405020304" pitchFamily="18" charset="0"/>
                <a:cs typeface="Times New Roman" panose="02020603050405020304" pitchFamily="18" charset="0"/>
              </a:rPr>
              <a:t>receive due emphasis </a:t>
            </a:r>
            <a:r>
              <a:rPr lang="en-US" dirty="0">
                <a:latin typeface="Times New Roman" panose="02020603050405020304" pitchFamily="18" charset="0"/>
                <a:cs typeface="Times New Roman" panose="02020603050405020304" pitchFamily="18" charset="0"/>
              </a:rPr>
              <a:t>in water resource planning in areas where their social impact is high. </a:t>
            </a:r>
          </a:p>
          <a:p>
            <a:pPr algn="just"/>
            <a:r>
              <a:rPr lang="en-US" dirty="0">
                <a:latin typeface="Times New Roman" panose="02020603050405020304" pitchFamily="18" charset="0"/>
                <a:cs typeface="Times New Roman" panose="02020603050405020304" pitchFamily="18" charset="0"/>
              </a:rPr>
              <a:t>b. Measures will be taken to </a:t>
            </a:r>
            <a:r>
              <a:rPr lang="en-US" b="1" dirty="0">
                <a:latin typeface="Times New Roman" panose="02020603050405020304" pitchFamily="18" charset="0"/>
                <a:cs typeface="Times New Roman" panose="02020603050405020304" pitchFamily="18" charset="0"/>
              </a:rPr>
              <a:t>minimize disruption</a:t>
            </a:r>
            <a:r>
              <a:rPr lang="en-US" dirty="0">
                <a:latin typeface="Times New Roman" panose="02020603050405020304" pitchFamily="18" charset="0"/>
                <a:cs typeface="Times New Roman" panose="02020603050405020304" pitchFamily="18" charset="0"/>
              </a:rPr>
              <a:t> to the natural aquatic environment in streams and water channels. </a:t>
            </a:r>
          </a:p>
          <a:p>
            <a:pPr algn="just"/>
            <a:r>
              <a:rPr lang="en-US" dirty="0">
                <a:latin typeface="Times New Roman" panose="02020603050405020304" pitchFamily="18" charset="0"/>
                <a:cs typeface="Times New Roman" panose="02020603050405020304" pitchFamily="18" charset="0"/>
              </a:rPr>
              <a:t>c. Drainage schemes, </a:t>
            </a:r>
            <a:r>
              <a:rPr lang="en-US" b="1" dirty="0">
                <a:latin typeface="Times New Roman" panose="02020603050405020304" pitchFamily="18" charset="0"/>
                <a:cs typeface="Times New Roman" panose="02020603050405020304" pitchFamily="18" charset="0"/>
              </a:rPr>
              <a:t>will avoid state-owned swamps and marshes </a:t>
            </a:r>
            <a:r>
              <a:rPr lang="en-US" dirty="0">
                <a:latin typeface="Times New Roman" panose="02020603050405020304" pitchFamily="18" charset="0"/>
                <a:cs typeface="Times New Roman" panose="02020603050405020304" pitchFamily="18" charset="0"/>
              </a:rPr>
              <a:t>that have primary value for waterfowl or other wildlife. </a:t>
            </a:r>
          </a:p>
          <a:p>
            <a:pPr algn="just"/>
            <a:r>
              <a:rPr lang="en-US" dirty="0">
                <a:latin typeface="Times New Roman" panose="02020603050405020304" pitchFamily="18" charset="0"/>
                <a:cs typeface="Times New Roman" panose="02020603050405020304" pitchFamily="18" charset="0"/>
              </a:rPr>
              <a:t>d. Water bodies like </a:t>
            </a:r>
            <a:r>
              <a:rPr lang="en-US" dirty="0" err="1">
                <a:latin typeface="Times New Roman" panose="02020603050405020304" pitchFamily="18" charset="0"/>
                <a:cs typeface="Times New Roman" panose="02020603050405020304" pitchFamily="18" charset="0"/>
              </a:rPr>
              <a:t>baors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haors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beels</a:t>
            </a:r>
            <a:r>
              <a:rPr lang="en-US" dirty="0">
                <a:latin typeface="Times New Roman" panose="02020603050405020304" pitchFamily="18" charset="0"/>
                <a:cs typeface="Times New Roman" panose="02020603050405020304" pitchFamily="18" charset="0"/>
              </a:rPr>
              <a:t>, roadside borrow pits, etc. will, as far as possible, </a:t>
            </a:r>
            <a:r>
              <a:rPr lang="en-US" b="1" dirty="0">
                <a:latin typeface="Times New Roman" panose="02020603050405020304" pitchFamily="18" charset="0"/>
                <a:cs typeface="Times New Roman" panose="02020603050405020304" pitchFamily="18" charset="0"/>
              </a:rPr>
              <a:t>be reserved for fish</a:t>
            </a:r>
            <a:r>
              <a:rPr lang="en-US" dirty="0">
                <a:latin typeface="Times New Roman" panose="02020603050405020304" pitchFamily="18" charset="0"/>
                <a:cs typeface="Times New Roman" panose="02020603050405020304" pitchFamily="18" charset="0"/>
              </a:rPr>
              <a:t> production and development. </a:t>
            </a:r>
          </a:p>
          <a:p>
            <a:pPr algn="just"/>
            <a:r>
              <a:rPr lang="en-US" dirty="0">
                <a:latin typeface="Times New Roman" panose="02020603050405020304" pitchFamily="18" charset="0"/>
                <a:cs typeface="Times New Roman" panose="02020603050405020304" pitchFamily="18" charset="0"/>
              </a:rPr>
              <a:t>e. Water development </a:t>
            </a:r>
            <a:r>
              <a:rPr lang="en-US" b="1" dirty="0">
                <a:latin typeface="Times New Roman" panose="02020603050405020304" pitchFamily="18" charset="0"/>
                <a:cs typeface="Times New Roman" panose="02020603050405020304" pitchFamily="18" charset="0"/>
              </a:rPr>
              <a:t>plans will not interrupt fish movement </a:t>
            </a:r>
            <a:r>
              <a:rPr lang="en-US" dirty="0">
                <a:latin typeface="Times New Roman" panose="02020603050405020304" pitchFamily="18" charset="0"/>
                <a:cs typeface="Times New Roman" panose="02020603050405020304" pitchFamily="18" charset="0"/>
              </a:rPr>
              <a:t>and will make adequate provisions in control structures for allowing fish migration and breeding. </a:t>
            </a:r>
          </a:p>
          <a:p>
            <a:pPr algn="just"/>
            <a:r>
              <a:rPr lang="en-US" dirty="0">
                <a:latin typeface="Times New Roman" panose="02020603050405020304" pitchFamily="18" charset="0"/>
                <a:cs typeface="Times New Roman" panose="02020603050405020304" pitchFamily="18" charset="0"/>
              </a:rPr>
              <a:t>f. Brackish aquaculture will be </a:t>
            </a:r>
            <a:r>
              <a:rPr lang="en-US" b="1" dirty="0">
                <a:latin typeface="Times New Roman" panose="02020603050405020304" pitchFamily="18" charset="0"/>
                <a:cs typeface="Times New Roman" panose="02020603050405020304" pitchFamily="18" charset="0"/>
              </a:rPr>
              <a:t>confined to specific zones</a:t>
            </a:r>
            <a:r>
              <a:rPr lang="en-US" dirty="0">
                <a:latin typeface="Times New Roman" panose="02020603050405020304" pitchFamily="18" charset="0"/>
                <a:cs typeface="Times New Roman" panose="02020603050405020304" pitchFamily="18" charset="0"/>
              </a:rPr>
              <a:t> designated by the Government for this purpose.</a:t>
            </a:r>
          </a:p>
        </p:txBody>
      </p:sp>
    </p:spTree>
    <p:extLst>
      <p:ext uri="{BB962C8B-B14F-4D97-AF65-F5344CB8AC3E}">
        <p14:creationId xmlns:p14="http://schemas.microsoft.com/office/powerpoint/2010/main" val="3277111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3CD1-3854-40ED-8CEB-48C43609B4DD}"/>
              </a:ext>
            </a:extLst>
          </p:cNvPr>
          <p:cNvSpPr>
            <a:spLocks noGrp="1"/>
          </p:cNvSpPr>
          <p:nvPr>
            <p:ph type="title"/>
          </p:nvPr>
        </p:nvSpPr>
        <p:spPr>
          <a:xfrm>
            <a:off x="838200" y="365125"/>
            <a:ext cx="10515600" cy="558153"/>
          </a:xfrm>
        </p:spPr>
        <p:txBody>
          <a:bodyPr>
            <a:noAutofit/>
          </a:bodyPr>
          <a:lstStyle/>
          <a:p>
            <a:pPr algn="ctr"/>
            <a:r>
              <a:rPr lang="en-US" sz="3600" b="1" dirty="0">
                <a:latin typeface="Times New Roman" panose="02020603050405020304" pitchFamily="18" charset="0"/>
                <a:cs typeface="Times New Roman" panose="02020603050405020304" pitchFamily="18" charset="0"/>
              </a:rPr>
              <a:t>Water and Navigation</a:t>
            </a:r>
          </a:p>
        </p:txBody>
      </p:sp>
      <p:sp>
        <p:nvSpPr>
          <p:cNvPr id="3" name="Content Placeholder 2">
            <a:extLst>
              <a:ext uri="{FF2B5EF4-FFF2-40B4-BE49-F238E27FC236}">
                <a16:creationId xmlns:a16="http://schemas.microsoft.com/office/drawing/2014/main" id="{AC7C0F2B-6CC6-4039-AEE9-9F0CD371B616}"/>
              </a:ext>
            </a:extLst>
          </p:cNvPr>
          <p:cNvSpPr>
            <a:spLocks noGrp="1"/>
          </p:cNvSpPr>
          <p:nvPr>
            <p:ph idx="1"/>
          </p:nvPr>
        </p:nvSpPr>
        <p:spPr>
          <a:xfrm>
            <a:off x="838200" y="1491449"/>
            <a:ext cx="10515600" cy="4685514"/>
          </a:xfrm>
        </p:spPr>
        <p:txBody>
          <a:bodyPr/>
          <a:lstStyle/>
          <a:p>
            <a:pPr algn="just"/>
            <a:r>
              <a:rPr lang="en-US" dirty="0">
                <a:latin typeface="Times New Roman" panose="02020603050405020304" pitchFamily="18" charset="0"/>
                <a:cs typeface="Times New Roman" panose="02020603050405020304" pitchFamily="18" charset="0"/>
              </a:rPr>
              <a:t>a. Water development projects should cause </a:t>
            </a:r>
            <a:r>
              <a:rPr lang="en-US" b="1" dirty="0">
                <a:latin typeface="Times New Roman" panose="02020603050405020304" pitchFamily="18" charset="0"/>
                <a:cs typeface="Times New Roman" panose="02020603050405020304" pitchFamily="18" charset="0"/>
              </a:rPr>
              <a:t>minimal disruption</a:t>
            </a:r>
            <a:r>
              <a:rPr lang="en-US" dirty="0">
                <a:latin typeface="Times New Roman" panose="02020603050405020304" pitchFamily="18" charset="0"/>
                <a:cs typeface="Times New Roman" panose="02020603050405020304" pitchFamily="18" charset="0"/>
              </a:rPr>
              <a:t> to navigation and, where necessary, adequate mitigation measures should be taken. </a:t>
            </a:r>
          </a:p>
          <a:p>
            <a:pPr algn="just"/>
            <a:r>
              <a:rPr lang="en-US" dirty="0">
                <a:latin typeface="Times New Roman" panose="02020603050405020304" pitchFamily="18" charset="0"/>
                <a:cs typeface="Times New Roman" panose="02020603050405020304" pitchFamily="18" charset="0"/>
              </a:rPr>
              <a:t>b. Minimum stream-flows in designated rivers and streams will be </a:t>
            </a:r>
            <a:r>
              <a:rPr lang="en-US" b="1" dirty="0">
                <a:latin typeface="Times New Roman" panose="02020603050405020304" pitchFamily="18" charset="0"/>
                <a:cs typeface="Times New Roman" panose="02020603050405020304" pitchFamily="18" charset="0"/>
              </a:rPr>
              <a:t>maintained for navigation</a:t>
            </a:r>
            <a:r>
              <a:rPr lang="en-US" dirty="0">
                <a:latin typeface="Times New Roman" panose="02020603050405020304" pitchFamily="18" charset="0"/>
                <a:cs typeface="Times New Roman" panose="02020603050405020304" pitchFamily="18" charset="0"/>
              </a:rPr>
              <a:t> after diversion of water for drinking and municipal purposes. </a:t>
            </a:r>
          </a:p>
          <a:p>
            <a:pPr algn="just"/>
            <a:r>
              <a:rPr lang="en-US" dirty="0">
                <a:latin typeface="Times New Roman" panose="02020603050405020304" pitchFamily="18" charset="0"/>
                <a:cs typeface="Times New Roman" panose="02020603050405020304" pitchFamily="18" charset="0"/>
              </a:rPr>
              <a:t>c. </a:t>
            </a:r>
            <a:r>
              <a:rPr lang="en-US" b="1" dirty="0">
                <a:latin typeface="Times New Roman" panose="02020603050405020304" pitchFamily="18" charset="0"/>
                <a:cs typeface="Times New Roman" panose="02020603050405020304" pitchFamily="18" charset="0"/>
              </a:rPr>
              <a:t>Dredging and other suitable measures</a:t>
            </a:r>
            <a:r>
              <a:rPr lang="en-US" dirty="0">
                <a:latin typeface="Times New Roman" panose="02020603050405020304" pitchFamily="18" charset="0"/>
                <a:cs typeface="Times New Roman" panose="02020603050405020304" pitchFamily="18" charset="0"/>
              </a:rPr>
              <a:t> would be undertaken, wherever needed, to maintain navigational capability of designated waterways.</a:t>
            </a:r>
          </a:p>
        </p:txBody>
      </p:sp>
    </p:spTree>
    <p:extLst>
      <p:ext uri="{BB962C8B-B14F-4D97-AF65-F5344CB8AC3E}">
        <p14:creationId xmlns:p14="http://schemas.microsoft.com/office/powerpoint/2010/main" val="176349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852D7-4FB4-43BE-8294-6E45DD673A72}"/>
              </a:ext>
            </a:extLst>
          </p:cNvPr>
          <p:cNvSpPr>
            <a:spLocks noGrp="1"/>
          </p:cNvSpPr>
          <p:nvPr>
            <p:ph type="title"/>
          </p:nvPr>
        </p:nvSpPr>
        <p:spPr>
          <a:xfrm>
            <a:off x="838200" y="365125"/>
            <a:ext cx="10515600" cy="753461"/>
          </a:xfrm>
        </p:spPr>
        <p:txBody>
          <a:bodyPr>
            <a:normAutofit/>
          </a:bodyPr>
          <a:lstStyle/>
          <a:p>
            <a:pPr algn="ctr"/>
            <a:r>
              <a:rPr lang="en-US" sz="3600" b="1" dirty="0">
                <a:latin typeface="Times New Roman" panose="02020603050405020304" pitchFamily="18" charset="0"/>
                <a:cs typeface="Times New Roman" panose="02020603050405020304" pitchFamily="18" charset="0"/>
              </a:rPr>
              <a:t>Water for Hydropower and Recreation </a:t>
            </a:r>
          </a:p>
        </p:txBody>
      </p:sp>
      <p:sp>
        <p:nvSpPr>
          <p:cNvPr id="3" name="Content Placeholder 2">
            <a:extLst>
              <a:ext uri="{FF2B5EF4-FFF2-40B4-BE49-F238E27FC236}">
                <a16:creationId xmlns:a16="http://schemas.microsoft.com/office/drawing/2014/main" id="{B91F6BCA-08F8-469B-AF98-48C2F33F7AA8}"/>
              </a:ext>
            </a:extLst>
          </p:cNvPr>
          <p:cNvSpPr>
            <a:spLocks noGrp="1"/>
          </p:cNvSpPr>
          <p:nvPr>
            <p:ph idx="1"/>
          </p:nvPr>
        </p:nvSpPr>
        <p:spPr>
          <a:xfrm>
            <a:off x="838200" y="2006353"/>
            <a:ext cx="10515600" cy="3151573"/>
          </a:xfrm>
        </p:spPr>
        <p:txBody>
          <a:bodyPr/>
          <a:lstStyle/>
          <a:p>
            <a:pPr algn="just"/>
            <a:r>
              <a:rPr lang="en-US" dirty="0">
                <a:latin typeface="Times New Roman" panose="02020603050405020304" pitchFamily="18" charset="0"/>
                <a:cs typeface="Times New Roman" panose="02020603050405020304" pitchFamily="18" charset="0"/>
              </a:rPr>
              <a:t>a. Mini-hydropower development schemes may be undertaken provided </a:t>
            </a:r>
            <a:r>
              <a:rPr lang="en-US" b="1" dirty="0">
                <a:latin typeface="Times New Roman" panose="02020603050405020304" pitchFamily="18" charset="0"/>
                <a:cs typeface="Times New Roman" panose="02020603050405020304" pitchFamily="18" charset="0"/>
              </a:rPr>
              <a:t>they are economically viable and environmentally safe. </a:t>
            </a:r>
          </a:p>
          <a:p>
            <a:pPr algn="just"/>
            <a:r>
              <a:rPr lang="en-US" dirty="0">
                <a:latin typeface="Times New Roman" panose="02020603050405020304" pitchFamily="18" charset="0"/>
                <a:cs typeface="Times New Roman" panose="02020603050405020304" pitchFamily="18" charset="0"/>
              </a:rPr>
              <a:t>b. Recreational activities at or around water bodies will be allowed </a:t>
            </a:r>
            <a:r>
              <a:rPr lang="en-US" b="1" dirty="0">
                <a:latin typeface="Times New Roman" panose="02020603050405020304" pitchFamily="18" charset="0"/>
                <a:cs typeface="Times New Roman" panose="02020603050405020304" pitchFamily="18" charset="0"/>
              </a:rPr>
              <a:t>provided it is not damaging </a:t>
            </a:r>
            <a:r>
              <a:rPr lang="en-US" dirty="0">
                <a:latin typeface="Times New Roman" panose="02020603050405020304" pitchFamily="18" charset="0"/>
                <a:cs typeface="Times New Roman" panose="02020603050405020304" pitchFamily="18" charset="0"/>
              </a:rPr>
              <a:t>to the environment.</a:t>
            </a:r>
          </a:p>
        </p:txBody>
      </p:sp>
    </p:spTree>
    <p:extLst>
      <p:ext uri="{BB962C8B-B14F-4D97-AF65-F5344CB8AC3E}">
        <p14:creationId xmlns:p14="http://schemas.microsoft.com/office/powerpoint/2010/main" val="2367383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4D9F-F2DD-47C6-BE5F-DE012A02778C}"/>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Water and flood management</a:t>
            </a:r>
          </a:p>
        </p:txBody>
      </p:sp>
      <p:sp>
        <p:nvSpPr>
          <p:cNvPr id="3" name="Content Placeholder 2">
            <a:extLst>
              <a:ext uri="{FF2B5EF4-FFF2-40B4-BE49-F238E27FC236}">
                <a16:creationId xmlns:a16="http://schemas.microsoft.com/office/drawing/2014/main" id="{3E56C367-C25A-43EC-99B0-1857A6C751CF}"/>
              </a:ext>
            </a:extLst>
          </p:cNvPr>
          <p:cNvSpPr>
            <a:spLocks noGrp="1"/>
          </p:cNvSpPr>
          <p:nvPr>
            <p:ph idx="1"/>
          </p:nvPr>
        </p:nvSpPr>
        <p:spPr>
          <a:xfrm>
            <a:off x="838200" y="2600325"/>
            <a:ext cx="10515600" cy="3038475"/>
          </a:xfrm>
        </p:spPr>
        <p: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Emphasizes </a:t>
            </a:r>
            <a:r>
              <a:rPr lang="en-US" b="1" dirty="0">
                <a:latin typeface="Times New Roman" panose="02020603050405020304" pitchFamily="18" charset="0"/>
                <a:cs typeface="Times New Roman" panose="02020603050405020304" pitchFamily="18" charset="0"/>
              </a:rPr>
              <a:t>non-structural measures</a:t>
            </a:r>
            <a:r>
              <a:rPr lang="en-US" dirty="0">
                <a:latin typeface="Times New Roman" panose="02020603050405020304" pitchFamily="18" charset="0"/>
                <a:cs typeface="Times New Roman" panose="02020603050405020304" pitchFamily="18" charset="0"/>
              </a:rPr>
              <a:t> like floodplain zoning and community-based disaster management.</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Promotes </a:t>
            </a:r>
            <a:r>
              <a:rPr lang="en-US" b="1" dirty="0">
                <a:latin typeface="Times New Roman" panose="02020603050405020304" pitchFamily="18" charset="0"/>
                <a:cs typeface="Times New Roman" panose="02020603050405020304" pitchFamily="18" charset="0"/>
              </a:rPr>
              <a:t>early warning systems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flood-proofing</a:t>
            </a:r>
            <a:r>
              <a:rPr lang="en-US" dirty="0">
                <a:latin typeface="Times New Roman" panose="02020603050405020304" pitchFamily="18" charset="0"/>
                <a:cs typeface="Times New Roman" panose="02020603050405020304" pitchFamily="18" charset="0"/>
              </a:rPr>
              <a:t> strategies.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Reduces reliance </a:t>
            </a:r>
            <a:r>
              <a:rPr lang="en-US" dirty="0">
                <a:latin typeface="Times New Roman" panose="02020603050405020304" pitchFamily="18" charset="0"/>
                <a:cs typeface="Times New Roman" panose="02020603050405020304" pitchFamily="18" charset="0"/>
              </a:rPr>
              <a:t>on embankments and large-scale engineering alone.</a:t>
            </a:r>
          </a:p>
          <a:p>
            <a:endParaRPr lang="en-US" dirty="0"/>
          </a:p>
        </p:txBody>
      </p:sp>
    </p:spTree>
    <p:extLst>
      <p:ext uri="{BB962C8B-B14F-4D97-AF65-F5344CB8AC3E}">
        <p14:creationId xmlns:p14="http://schemas.microsoft.com/office/powerpoint/2010/main" val="770049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56B99-9517-4FFB-81BF-5972DF924A7E}"/>
              </a:ext>
            </a:extLst>
          </p:cNvPr>
          <p:cNvSpPr>
            <a:spLocks noGrp="1"/>
          </p:cNvSpPr>
          <p:nvPr>
            <p:ph type="title"/>
          </p:nvPr>
        </p:nvSpPr>
        <p:spPr>
          <a:xfrm>
            <a:off x="838200" y="365125"/>
            <a:ext cx="10515600" cy="487131"/>
          </a:xfrm>
        </p:spPr>
        <p:txBody>
          <a:bodyPr>
            <a:noAutofit/>
          </a:bodyPr>
          <a:lstStyle/>
          <a:p>
            <a:pPr algn="ctr"/>
            <a:r>
              <a:rPr lang="en-US" sz="3600" b="1" dirty="0">
                <a:latin typeface="Times New Roman" panose="02020603050405020304" pitchFamily="18" charset="0"/>
                <a:cs typeface="Times New Roman" panose="02020603050405020304" pitchFamily="18" charset="0"/>
              </a:rPr>
              <a:t>Water for the Environment</a:t>
            </a:r>
          </a:p>
        </p:txBody>
      </p:sp>
      <p:sp>
        <p:nvSpPr>
          <p:cNvPr id="3" name="Content Placeholder 2">
            <a:extLst>
              <a:ext uri="{FF2B5EF4-FFF2-40B4-BE49-F238E27FC236}">
                <a16:creationId xmlns:a16="http://schemas.microsoft.com/office/drawing/2014/main" id="{D11C43AB-90FD-481C-991C-589508A741F7}"/>
              </a:ext>
            </a:extLst>
          </p:cNvPr>
          <p:cNvSpPr>
            <a:spLocks noGrp="1"/>
          </p:cNvSpPr>
          <p:nvPr>
            <p:ph idx="1"/>
          </p:nvPr>
        </p:nvSpPr>
        <p:spPr>
          <a:xfrm>
            <a:off x="838200" y="1029810"/>
            <a:ext cx="10515600" cy="5713890"/>
          </a:xfrm>
        </p:spPr>
        <p:txBody>
          <a:bodyPr>
            <a:noAutofit/>
          </a:bodyPr>
          <a:lstStyle/>
          <a:p>
            <a:pPr algn="just"/>
            <a:r>
              <a:rPr lang="en-US" sz="1800" dirty="0">
                <a:latin typeface="Times New Roman" panose="02020603050405020304" pitchFamily="18" charset="0"/>
                <a:cs typeface="Times New Roman" panose="02020603050405020304" pitchFamily="18" charset="0"/>
              </a:rPr>
              <a:t>a. Give </a:t>
            </a:r>
            <a:r>
              <a:rPr lang="en-US" sz="1800" b="1" dirty="0">
                <a:latin typeface="Times New Roman" panose="02020603050405020304" pitchFamily="18" charset="0"/>
                <a:cs typeface="Times New Roman" panose="02020603050405020304" pitchFamily="18" charset="0"/>
              </a:rPr>
              <a:t>full consideration </a:t>
            </a:r>
            <a:r>
              <a:rPr lang="en-US" sz="1800" dirty="0">
                <a:latin typeface="Times New Roman" panose="02020603050405020304" pitchFamily="18" charset="0"/>
                <a:cs typeface="Times New Roman" panose="02020603050405020304" pitchFamily="18" charset="0"/>
              </a:rPr>
              <a:t>to environmental protection, restoration and enhancement measures consistent with the National Environmental Management Action Plan (NEMAP) and the National Water Management Plan (NWMP) </a:t>
            </a:r>
          </a:p>
          <a:p>
            <a:pPr algn="just"/>
            <a:r>
              <a:rPr lang="en-US" sz="1800" dirty="0">
                <a:latin typeface="Times New Roman" panose="02020603050405020304" pitchFamily="18" charset="0"/>
                <a:cs typeface="Times New Roman" panose="02020603050405020304" pitchFamily="18" charset="0"/>
              </a:rPr>
              <a:t>b. </a:t>
            </a:r>
            <a:r>
              <a:rPr lang="en-US" sz="1800" b="1" dirty="0">
                <a:latin typeface="Times New Roman" panose="02020603050405020304" pitchFamily="18" charset="0"/>
                <a:cs typeface="Times New Roman" panose="02020603050405020304" pitchFamily="18" charset="0"/>
              </a:rPr>
              <a:t>Adhere to</a:t>
            </a:r>
            <a:r>
              <a:rPr lang="en-US" sz="1800" dirty="0">
                <a:latin typeface="Times New Roman" panose="02020603050405020304" pitchFamily="18" charset="0"/>
                <a:cs typeface="Times New Roman" panose="02020603050405020304" pitchFamily="18" charset="0"/>
              </a:rPr>
              <a:t> a formal environmental impact assessment (EIA) process, as set out in EIA guidelines and manuals for water sector projects, in each water resources development project or rehabilitation </a:t>
            </a:r>
            <a:r>
              <a:rPr lang="en-US" sz="1800" dirty="0" err="1">
                <a:latin typeface="Times New Roman" panose="02020603050405020304" pitchFamily="18" charset="0"/>
                <a:cs typeface="Times New Roman" panose="02020603050405020304" pitchFamily="18" charset="0"/>
              </a:rPr>
              <a:t>programme</a:t>
            </a:r>
            <a:r>
              <a:rPr lang="en-US" sz="1800" dirty="0">
                <a:latin typeface="Times New Roman" panose="02020603050405020304" pitchFamily="18" charset="0"/>
                <a:cs typeface="Times New Roman" panose="02020603050405020304" pitchFamily="18" charset="0"/>
              </a:rPr>
              <a:t> of size and scope specified by the Government from time to time </a:t>
            </a:r>
          </a:p>
          <a:p>
            <a:pPr algn="just"/>
            <a:r>
              <a:rPr lang="en-US" sz="1800" dirty="0">
                <a:latin typeface="Times New Roman" panose="02020603050405020304" pitchFamily="18" charset="0"/>
                <a:cs typeface="Times New Roman" panose="02020603050405020304" pitchFamily="18" charset="0"/>
              </a:rPr>
              <a:t>c. </a:t>
            </a:r>
            <a:r>
              <a:rPr lang="en-US" sz="1800" b="1" dirty="0">
                <a:latin typeface="Times New Roman" panose="02020603050405020304" pitchFamily="18" charset="0"/>
                <a:cs typeface="Times New Roman" panose="02020603050405020304" pitchFamily="18" charset="0"/>
              </a:rPr>
              <a:t>Ensure adequate upland flow </a:t>
            </a:r>
            <a:r>
              <a:rPr lang="en-US" sz="1800" dirty="0">
                <a:latin typeface="Times New Roman" panose="02020603050405020304" pitchFamily="18" charset="0"/>
                <a:cs typeface="Times New Roman" panose="02020603050405020304" pitchFamily="18" charset="0"/>
              </a:rPr>
              <a:t>in water channels to preserve the coastal estuary eco-system threatened by intrusion of salinity from the sea </a:t>
            </a:r>
          </a:p>
          <a:p>
            <a:pPr algn="just"/>
            <a:r>
              <a:rPr lang="en-US" sz="1800" dirty="0">
                <a:latin typeface="Times New Roman" panose="02020603050405020304" pitchFamily="18" charset="0"/>
                <a:cs typeface="Times New Roman" panose="02020603050405020304" pitchFamily="18" charset="0"/>
              </a:rPr>
              <a:t>d. </a:t>
            </a:r>
            <a:r>
              <a:rPr lang="en-US" sz="1800" b="1" dirty="0">
                <a:latin typeface="Times New Roman" panose="02020603050405020304" pitchFamily="18" charset="0"/>
                <a:cs typeface="Times New Roman" panose="02020603050405020304" pitchFamily="18" charset="0"/>
              </a:rPr>
              <a:t>Protec</a:t>
            </a:r>
            <a:r>
              <a:rPr lang="en-US" sz="1800" dirty="0">
                <a:latin typeface="Times New Roman" panose="02020603050405020304" pitchFamily="18" charset="0"/>
                <a:cs typeface="Times New Roman" panose="02020603050405020304" pitchFamily="18" charset="0"/>
              </a:rPr>
              <a:t>t against degradation and resuscitate natural water-bodies such as lakes, ponds, </a:t>
            </a:r>
            <a:r>
              <a:rPr lang="en-US" sz="1800" dirty="0" err="1">
                <a:latin typeface="Times New Roman" panose="02020603050405020304" pitchFamily="18" charset="0"/>
                <a:cs typeface="Times New Roman" panose="02020603050405020304" pitchFamily="18" charset="0"/>
              </a:rPr>
              <a:t>beels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khals</a:t>
            </a:r>
            <a:r>
              <a:rPr lang="en-US" sz="1800" dirty="0">
                <a:latin typeface="Times New Roman" panose="02020603050405020304" pitchFamily="18" charset="0"/>
                <a:cs typeface="Times New Roman" panose="02020603050405020304" pitchFamily="18" charset="0"/>
              </a:rPr>
              <a:t>, tanks, etc. affected by man-made interventions or other causes </a:t>
            </a:r>
          </a:p>
          <a:p>
            <a:pPr algn="just"/>
            <a:r>
              <a:rPr lang="en-US" sz="1800" dirty="0">
                <a:latin typeface="Times New Roman" panose="02020603050405020304" pitchFamily="18" charset="0"/>
                <a:cs typeface="Times New Roman" panose="02020603050405020304" pitchFamily="18" charset="0"/>
              </a:rPr>
              <a:t>e. </a:t>
            </a:r>
            <a:r>
              <a:rPr lang="en-US" sz="1800" b="1" dirty="0">
                <a:latin typeface="Times New Roman" panose="02020603050405020304" pitchFamily="18" charset="0"/>
                <a:cs typeface="Times New Roman" panose="02020603050405020304" pitchFamily="18" charset="0"/>
              </a:rPr>
              <a:t>Completely stop the filling </a:t>
            </a:r>
            <a:r>
              <a:rPr lang="en-US" sz="1800" dirty="0">
                <a:latin typeface="Times New Roman" panose="02020603050405020304" pitchFamily="18" charset="0"/>
                <a:cs typeface="Times New Roman" panose="02020603050405020304" pitchFamily="18" charset="0"/>
              </a:rPr>
              <a:t>of publicly-owned water bodies and depressions in urban areas for preservation of the natural aquifers and environment </a:t>
            </a:r>
          </a:p>
          <a:p>
            <a:pPr algn="just"/>
            <a:r>
              <a:rPr lang="en-US" sz="1800" dirty="0">
                <a:latin typeface="Times New Roman" panose="02020603050405020304" pitchFamily="18" charset="0"/>
                <a:cs typeface="Times New Roman" panose="02020603050405020304" pitchFamily="18" charset="0"/>
              </a:rPr>
              <a:t>f. Take necessary steps to </a:t>
            </a:r>
            <a:r>
              <a:rPr lang="en-US" sz="1800" b="1" dirty="0">
                <a:latin typeface="Times New Roman" panose="02020603050405020304" pitchFamily="18" charset="0"/>
                <a:cs typeface="Times New Roman" panose="02020603050405020304" pitchFamily="18" charset="0"/>
              </a:rPr>
              <a:t>remove</a:t>
            </a:r>
            <a:r>
              <a:rPr lang="en-US" sz="1800" dirty="0">
                <a:latin typeface="Times New Roman" panose="02020603050405020304" pitchFamily="18" charset="0"/>
                <a:cs typeface="Times New Roman" panose="02020603050405020304" pitchFamily="18" charset="0"/>
              </a:rPr>
              <a:t> all existing unauthorized encroachments on rivers and watercourses</a:t>
            </a:r>
          </a:p>
          <a:p>
            <a:pPr algn="just"/>
            <a:r>
              <a:rPr lang="en-US" sz="1800" dirty="0">
                <a:latin typeface="Times New Roman" panose="02020603050405020304" pitchFamily="18" charset="0"/>
                <a:cs typeface="Times New Roman" panose="02020603050405020304" pitchFamily="18" charset="0"/>
              </a:rPr>
              <a:t>g. </a:t>
            </a:r>
            <a:r>
              <a:rPr lang="en-US" sz="1800" b="1" dirty="0">
                <a:latin typeface="Times New Roman" panose="02020603050405020304" pitchFamily="18" charset="0"/>
                <a:cs typeface="Times New Roman" panose="02020603050405020304" pitchFamily="18" charset="0"/>
              </a:rPr>
              <a:t>Stop unplanned construction</a:t>
            </a:r>
            <a:r>
              <a:rPr lang="en-US" sz="1800" dirty="0">
                <a:latin typeface="Times New Roman" panose="02020603050405020304" pitchFamily="18" charset="0"/>
                <a:cs typeface="Times New Roman" panose="02020603050405020304" pitchFamily="18" charset="0"/>
              </a:rPr>
              <a:t> on riverbanks</a:t>
            </a:r>
          </a:p>
          <a:p>
            <a:pPr algn="just"/>
            <a:r>
              <a:rPr lang="en-US" sz="1800" dirty="0">
                <a:latin typeface="Times New Roman" panose="02020603050405020304" pitchFamily="18" charset="0"/>
                <a:cs typeface="Times New Roman" panose="02020603050405020304" pitchFamily="18" charset="0"/>
              </a:rPr>
              <a:t>h. </a:t>
            </a:r>
            <a:r>
              <a:rPr lang="en-US" sz="1800" b="1" dirty="0">
                <a:latin typeface="Times New Roman" panose="02020603050405020304" pitchFamily="18" charset="0"/>
                <a:cs typeface="Times New Roman" panose="02020603050405020304" pitchFamily="18" charset="0"/>
              </a:rPr>
              <a:t>Encourage</a:t>
            </a:r>
            <a:r>
              <a:rPr lang="en-US" sz="1800" dirty="0">
                <a:latin typeface="Times New Roman" panose="02020603050405020304" pitchFamily="18" charset="0"/>
                <a:cs typeface="Times New Roman" panose="02020603050405020304" pitchFamily="18" charset="0"/>
              </a:rPr>
              <a:t> massive afforestation and tree coverage specifically in areas with declining water table </a:t>
            </a:r>
          </a:p>
          <a:p>
            <a:pPr algn="just"/>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Enforce the "polluter pay</a:t>
            </a:r>
            <a:r>
              <a:rPr lang="en-US" sz="1800" dirty="0">
                <a:latin typeface="Times New Roman" panose="02020603050405020304" pitchFamily="18" charset="0"/>
                <a:cs typeface="Times New Roman" panose="02020603050405020304" pitchFamily="18" charset="0"/>
              </a:rPr>
              <a:t>" principle in the development of regulatory guidelines for all regulatory actions designed to protect public health and the environment</a:t>
            </a:r>
          </a:p>
        </p:txBody>
      </p:sp>
    </p:spTree>
    <p:extLst>
      <p:ext uri="{BB962C8B-B14F-4D97-AF65-F5344CB8AC3E}">
        <p14:creationId xmlns:p14="http://schemas.microsoft.com/office/powerpoint/2010/main" val="1913788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F2BC9-9FD4-4716-962D-8AE1AF7D9D23}"/>
              </a:ext>
            </a:extLst>
          </p:cNvPr>
          <p:cNvSpPr>
            <a:spLocks noGrp="1"/>
          </p:cNvSpPr>
          <p:nvPr>
            <p:ph type="title"/>
          </p:nvPr>
        </p:nvSpPr>
        <p:spPr>
          <a:xfrm>
            <a:off x="838200" y="365125"/>
            <a:ext cx="10515600" cy="504887"/>
          </a:xfrm>
        </p:spPr>
        <p:txBody>
          <a:bodyPr>
            <a:noAutofit/>
          </a:bodyPr>
          <a:lstStyle/>
          <a:p>
            <a:pPr algn="ctr"/>
            <a:r>
              <a:rPr lang="en-US" sz="3600" b="1" dirty="0">
                <a:latin typeface="Times New Roman" panose="02020603050405020304" pitchFamily="18" charset="0"/>
                <a:cs typeface="Times New Roman" panose="02020603050405020304" pitchFamily="18" charset="0"/>
              </a:rPr>
              <a:t>Preservation of </a:t>
            </a:r>
            <a:r>
              <a:rPr lang="en-US" sz="3600" b="1" dirty="0" err="1">
                <a:latin typeface="Times New Roman" panose="02020603050405020304" pitchFamily="18" charset="0"/>
                <a:cs typeface="Times New Roman" panose="02020603050405020304" pitchFamily="18" charset="0"/>
              </a:rPr>
              <a:t>Haors</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Baors</a:t>
            </a:r>
            <a:r>
              <a:rPr lang="en-US" sz="3600" b="1" dirty="0">
                <a:latin typeface="Times New Roman" panose="02020603050405020304" pitchFamily="18" charset="0"/>
                <a:cs typeface="Times New Roman" panose="02020603050405020304" pitchFamily="18" charset="0"/>
              </a:rPr>
              <a:t>, and </a:t>
            </a:r>
            <a:r>
              <a:rPr lang="en-US" sz="3600" b="1" dirty="0" err="1">
                <a:latin typeface="Times New Roman" panose="02020603050405020304" pitchFamily="18" charset="0"/>
                <a:cs typeface="Times New Roman" panose="02020603050405020304" pitchFamily="18" charset="0"/>
              </a:rPr>
              <a:t>Beels</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68D12B-818F-43C0-B6EB-1D2D723B3FA5}"/>
              </a:ext>
            </a:extLst>
          </p:cNvPr>
          <p:cNvSpPr>
            <a:spLocks noGrp="1"/>
          </p:cNvSpPr>
          <p:nvPr>
            <p:ph idx="1"/>
          </p:nvPr>
        </p:nvSpPr>
        <p:spPr>
          <a:xfrm>
            <a:off x="838200" y="1331650"/>
            <a:ext cx="10515600" cy="4845313"/>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a. Natural water bodies such as </a:t>
            </a:r>
            <a:r>
              <a:rPr lang="en-US" dirty="0" err="1">
                <a:latin typeface="Times New Roman" panose="02020603050405020304" pitchFamily="18" charset="0"/>
                <a:cs typeface="Times New Roman" panose="02020603050405020304" pitchFamily="18" charset="0"/>
              </a:rPr>
              <a:t>beels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haors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baors</a:t>
            </a:r>
            <a:r>
              <a:rPr lang="en-US" dirty="0">
                <a:latin typeface="Times New Roman" panose="02020603050405020304" pitchFamily="18" charset="0"/>
                <a:cs typeface="Times New Roman" panose="02020603050405020304" pitchFamily="18" charset="0"/>
              </a:rPr>
              <a:t> will be </a:t>
            </a:r>
            <a:r>
              <a:rPr lang="en-US" b="1" dirty="0">
                <a:latin typeface="Times New Roman" panose="02020603050405020304" pitchFamily="18" charset="0"/>
                <a:cs typeface="Times New Roman" panose="02020603050405020304" pitchFamily="18" charset="0"/>
              </a:rPr>
              <a:t>preserved for maintaining</a:t>
            </a:r>
            <a:r>
              <a:rPr lang="en-US" dirty="0">
                <a:latin typeface="Times New Roman" panose="02020603050405020304" pitchFamily="18" charset="0"/>
                <a:cs typeface="Times New Roman" panose="02020603050405020304" pitchFamily="18" charset="0"/>
              </a:rPr>
              <a:t> the aquatic environment and facilitating drainage. </a:t>
            </a:r>
          </a:p>
          <a:p>
            <a:pPr algn="just"/>
            <a:r>
              <a:rPr lang="en-US" dirty="0">
                <a:latin typeface="Times New Roman" panose="02020603050405020304" pitchFamily="18" charset="0"/>
                <a:cs typeface="Times New Roman" panose="02020603050405020304" pitchFamily="18" charset="0"/>
              </a:rPr>
              <a:t>b. Only those water related projects will be taken up for execution that </a:t>
            </a:r>
            <a:r>
              <a:rPr lang="en-US" b="1" dirty="0">
                <a:latin typeface="Times New Roman" panose="02020603050405020304" pitchFamily="18" charset="0"/>
                <a:cs typeface="Times New Roman" panose="02020603050405020304" pitchFamily="18" charset="0"/>
              </a:rPr>
              <a:t>will not interfere </a:t>
            </a:r>
            <a:r>
              <a:rPr lang="en-US" dirty="0">
                <a:latin typeface="Times New Roman" panose="02020603050405020304" pitchFamily="18" charset="0"/>
                <a:cs typeface="Times New Roman" panose="02020603050405020304" pitchFamily="18" charset="0"/>
              </a:rPr>
              <a:t>with the aquatic characteristics of those water bodies. </a:t>
            </a:r>
          </a:p>
          <a:p>
            <a:pPr algn="just"/>
            <a:r>
              <a:rPr lang="en-US" dirty="0">
                <a:latin typeface="Times New Roman" panose="02020603050405020304" pitchFamily="18" charset="0"/>
                <a:cs typeface="Times New Roman" panose="02020603050405020304" pitchFamily="18" charset="0"/>
              </a:rPr>
              <a:t>c. </a:t>
            </a:r>
            <a:r>
              <a:rPr lang="en-US" dirty="0" err="1">
                <a:latin typeface="Times New Roman" panose="02020603050405020304" pitchFamily="18" charset="0"/>
                <a:cs typeface="Times New Roman" panose="02020603050405020304" pitchFamily="18" charset="0"/>
              </a:rPr>
              <a:t>Haors</a:t>
            </a:r>
            <a:r>
              <a:rPr lang="en-US" dirty="0">
                <a:latin typeface="Times New Roman" panose="02020603050405020304" pitchFamily="18" charset="0"/>
                <a:cs typeface="Times New Roman" panose="02020603050405020304" pitchFamily="18" charset="0"/>
              </a:rPr>
              <a:t> that naturally dry up during the winter will be </a:t>
            </a:r>
            <a:r>
              <a:rPr lang="en-US" b="1" dirty="0">
                <a:latin typeface="Times New Roman" panose="02020603050405020304" pitchFamily="18" charset="0"/>
                <a:cs typeface="Times New Roman" panose="02020603050405020304" pitchFamily="18" charset="0"/>
              </a:rPr>
              <a:t>developed for dry season agriculture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d. Take up integrated projects in those water bodies for </a:t>
            </a:r>
            <a:r>
              <a:rPr lang="en-US" b="1" dirty="0">
                <a:latin typeface="Times New Roman" panose="02020603050405020304" pitchFamily="18" charset="0"/>
                <a:cs typeface="Times New Roman" panose="02020603050405020304" pitchFamily="18" charset="0"/>
              </a:rPr>
              <a:t>increasing fish production. </a:t>
            </a:r>
          </a:p>
          <a:p>
            <a:pPr algn="just"/>
            <a:r>
              <a:rPr lang="en-US" dirty="0">
                <a:latin typeface="Times New Roman" panose="02020603050405020304" pitchFamily="18" charset="0"/>
                <a:cs typeface="Times New Roman" panose="02020603050405020304" pitchFamily="18" charset="0"/>
              </a:rPr>
              <a:t>e. Natural water bodies will be developed, where possible, for </a:t>
            </a:r>
            <a:r>
              <a:rPr lang="en-US" b="1" dirty="0">
                <a:latin typeface="Times New Roman" panose="02020603050405020304" pitchFamily="18" charset="0"/>
                <a:cs typeface="Times New Roman" panose="02020603050405020304" pitchFamily="18" charset="0"/>
              </a:rPr>
              <a:t>recreational use in support of tourism</a:t>
            </a:r>
          </a:p>
        </p:txBody>
      </p:sp>
    </p:spTree>
    <p:extLst>
      <p:ext uri="{BB962C8B-B14F-4D97-AF65-F5344CB8AC3E}">
        <p14:creationId xmlns:p14="http://schemas.microsoft.com/office/powerpoint/2010/main" val="3634781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7EE04-FEBC-4BFA-B096-E6F7A079337E}"/>
              </a:ext>
            </a:extLst>
          </p:cNvPr>
          <p:cNvSpPr>
            <a:spLocks noGrp="1"/>
          </p:cNvSpPr>
          <p:nvPr>
            <p:ph type="title"/>
          </p:nvPr>
        </p:nvSpPr>
        <p:spPr>
          <a:xfrm>
            <a:off x="838200" y="365125"/>
            <a:ext cx="10515600" cy="930275"/>
          </a:xfrm>
        </p:spPr>
        <p:txBody>
          <a:bodyPr>
            <a:normAutofit/>
          </a:bodyPr>
          <a:lstStyle/>
          <a:p>
            <a:pPr algn="ctr"/>
            <a:r>
              <a:rPr lang="en-US" sz="4000" b="1" dirty="0">
                <a:latin typeface="Times New Roman" panose="02020603050405020304" pitchFamily="18" charset="0"/>
                <a:cs typeface="Times New Roman" panose="02020603050405020304" pitchFamily="18" charset="0"/>
              </a:rPr>
              <a:t>Institutional Framework</a:t>
            </a:r>
          </a:p>
        </p:txBody>
      </p:sp>
      <p:sp>
        <p:nvSpPr>
          <p:cNvPr id="3" name="Content Placeholder 2">
            <a:extLst>
              <a:ext uri="{FF2B5EF4-FFF2-40B4-BE49-F238E27FC236}">
                <a16:creationId xmlns:a16="http://schemas.microsoft.com/office/drawing/2014/main" id="{4D28798B-FA35-47C3-9B64-462825A4E0D7}"/>
              </a:ext>
            </a:extLst>
          </p:cNvPr>
          <p:cNvSpPr>
            <a:spLocks noGrp="1"/>
          </p:cNvSpPr>
          <p:nvPr>
            <p:ph idx="1"/>
          </p:nvPr>
        </p:nvSpPr>
        <p:spPr>
          <a:xfrm>
            <a:off x="838200" y="1825625"/>
            <a:ext cx="10515600" cy="3965575"/>
          </a:xfrm>
        </p:spPr>
        <p:txBody>
          <a:bodyPr/>
          <a:lstStyle/>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Ministry of Water Resources (</a:t>
            </a:r>
            <a:r>
              <a:rPr lang="en-US" b="1" dirty="0" err="1">
                <a:latin typeface="Times New Roman" panose="02020603050405020304" pitchFamily="18" charset="0"/>
                <a:cs typeface="Times New Roman" panose="02020603050405020304" pitchFamily="18" charset="0"/>
              </a:rPr>
              <a:t>MoWR</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main policymaking body.</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Water Resources Planning Organization (WARPO)</a:t>
            </a:r>
            <a:r>
              <a:rPr lang="en-US" dirty="0">
                <a:latin typeface="Times New Roman" panose="02020603050405020304" pitchFamily="18" charset="0"/>
                <a:cs typeface="Times New Roman" panose="02020603050405020304" pitchFamily="18" charset="0"/>
              </a:rPr>
              <a:t> – responsible for planning and coordination.</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Bangladesh Water Development Board (BWDB)</a:t>
            </a:r>
            <a:r>
              <a:rPr lang="en-US" dirty="0">
                <a:latin typeface="Times New Roman" panose="02020603050405020304" pitchFamily="18" charset="0"/>
                <a:cs typeface="Times New Roman" panose="02020603050405020304" pitchFamily="18" charset="0"/>
              </a:rPr>
              <a:t> – implements flood control, irrigation, and drainage projects.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Local Government Institutions (LGIs)</a:t>
            </a:r>
            <a:r>
              <a:rPr lang="en-US" dirty="0">
                <a:latin typeface="Times New Roman" panose="02020603050405020304" pitchFamily="18" charset="0"/>
                <a:cs typeface="Times New Roman" panose="02020603050405020304" pitchFamily="18" charset="0"/>
              </a:rPr>
              <a:t> – engage in small-scale water resource management and maintenance.</a:t>
            </a:r>
          </a:p>
          <a:p>
            <a:endParaRPr lang="en-US" dirty="0"/>
          </a:p>
        </p:txBody>
      </p:sp>
    </p:spTree>
    <p:extLst>
      <p:ext uri="{BB962C8B-B14F-4D97-AF65-F5344CB8AC3E}">
        <p14:creationId xmlns:p14="http://schemas.microsoft.com/office/powerpoint/2010/main" val="3508081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C07D-70F1-458B-A0F1-87C92CB0A108}"/>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Future directions and updates</a:t>
            </a:r>
          </a:p>
        </p:txBody>
      </p:sp>
      <p:sp>
        <p:nvSpPr>
          <p:cNvPr id="3" name="Content Placeholder 2">
            <a:extLst>
              <a:ext uri="{FF2B5EF4-FFF2-40B4-BE49-F238E27FC236}">
                <a16:creationId xmlns:a16="http://schemas.microsoft.com/office/drawing/2014/main" id="{BEF9F9D9-1153-4B08-831D-94E836D5C714}"/>
              </a:ext>
            </a:extLst>
          </p:cNvPr>
          <p:cNvSpPr>
            <a:spLocks noGrp="1"/>
          </p:cNvSpPr>
          <p:nvPr>
            <p:ph idx="1"/>
          </p:nvPr>
        </p:nvSpPr>
        <p:spPr>
          <a:xfrm>
            <a:off x="838200" y="2200275"/>
            <a:ext cx="10515600" cy="3976688"/>
          </a:xfrm>
        </p:spPr>
        <p: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policy calls for </a:t>
            </a:r>
            <a:r>
              <a:rPr lang="en-US" b="1" dirty="0">
                <a:latin typeface="Times New Roman" panose="02020603050405020304" pitchFamily="18" charset="0"/>
                <a:cs typeface="Times New Roman" panose="02020603050405020304" pitchFamily="18" charset="0"/>
              </a:rPr>
              <a:t>periodic review and updating</a:t>
            </a:r>
            <a:r>
              <a:rPr lang="en-US" dirty="0">
                <a:latin typeface="Times New Roman" panose="02020603050405020304" pitchFamily="18" charset="0"/>
                <a:cs typeface="Times New Roman" panose="02020603050405020304" pitchFamily="18" charset="0"/>
              </a:rPr>
              <a:t> to reflect new realities.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with the </a:t>
            </a:r>
            <a:r>
              <a:rPr lang="en-US" b="1" dirty="0">
                <a:latin typeface="Times New Roman" panose="02020603050405020304" pitchFamily="18" charset="0"/>
                <a:cs typeface="Times New Roman" panose="02020603050405020304" pitchFamily="18" charset="0"/>
              </a:rPr>
              <a:t>Bangladesh Delta Plan 2100 (BDP 2100)</a:t>
            </a:r>
            <a:r>
              <a:rPr lang="en-US"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Promotion of </a:t>
            </a:r>
            <a:r>
              <a:rPr lang="en-US" b="1" dirty="0">
                <a:latin typeface="Times New Roman" panose="02020603050405020304" pitchFamily="18" charset="0"/>
                <a:cs typeface="Times New Roman" panose="02020603050405020304" pitchFamily="18" charset="0"/>
              </a:rPr>
              <a:t>climate-resilient water infrastructure</a:t>
            </a:r>
            <a:r>
              <a:rPr lang="en-US"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Digitalization</a:t>
            </a:r>
            <a:r>
              <a:rPr lang="en-US" dirty="0">
                <a:latin typeface="Times New Roman" panose="02020603050405020304" pitchFamily="18" charset="0"/>
                <a:cs typeface="Times New Roman" panose="02020603050405020304" pitchFamily="18" charset="0"/>
              </a:rPr>
              <a:t> of water data and mapping for better planning.</a:t>
            </a:r>
          </a:p>
          <a:p>
            <a:endParaRPr lang="en-US" dirty="0"/>
          </a:p>
        </p:txBody>
      </p:sp>
    </p:spTree>
    <p:extLst>
      <p:ext uri="{BB962C8B-B14F-4D97-AF65-F5344CB8AC3E}">
        <p14:creationId xmlns:p14="http://schemas.microsoft.com/office/powerpoint/2010/main" val="3808506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315C2-2F50-4052-8D84-5EE1814CC446}"/>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100B307-61C5-452E-AD73-4101668B3680}"/>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National Water Policy of 1999</a:t>
            </a:r>
            <a:r>
              <a:rPr lang="en-US" dirty="0">
                <a:latin typeface="Times New Roman" panose="02020603050405020304" pitchFamily="18" charset="0"/>
                <a:cs typeface="Times New Roman" panose="02020603050405020304" pitchFamily="18" charset="0"/>
              </a:rPr>
              <a:t> remains a cornerstone of water governance in Bangladesh. It provides a comprehensive framework for managing water resources in a way that is sustainable, participatory, and environmentally sound.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However, its effectiveness depends on </a:t>
            </a:r>
            <a:r>
              <a:rPr lang="en-US" b="1" dirty="0">
                <a:latin typeface="Times New Roman" panose="02020603050405020304" pitchFamily="18" charset="0"/>
                <a:cs typeface="Times New Roman" panose="02020603050405020304" pitchFamily="18" charset="0"/>
              </a:rPr>
              <a:t>institutional coordination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technological innovation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public awareness</a:t>
            </a:r>
            <a:r>
              <a:rPr lang="en-US" dirty="0">
                <a:latin typeface="Times New Roman" panose="02020603050405020304" pitchFamily="18" charset="0"/>
                <a:cs typeface="Times New Roman" panose="02020603050405020304" pitchFamily="18" charset="0"/>
              </a:rPr>
              <a:t> to ensure that every citizen of Bangladesh can benefit from safe, reliable, and sustainable water resources.</a:t>
            </a:r>
          </a:p>
          <a:p>
            <a:endParaRPr lang="en-US" dirty="0"/>
          </a:p>
        </p:txBody>
      </p:sp>
    </p:spTree>
    <p:extLst>
      <p:ext uri="{BB962C8B-B14F-4D97-AF65-F5344CB8AC3E}">
        <p14:creationId xmlns:p14="http://schemas.microsoft.com/office/powerpoint/2010/main" val="1324657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49A4-FD5F-4116-A9F1-9CA0EE9E280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99CF8B2-E133-4BC4-A352-52DCCF63F563}"/>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2E6FDD5F-E73D-406F-8B23-1277D66CE479}"/>
              </a:ext>
            </a:extLst>
          </p:cNvPr>
          <p:cNvSpPr/>
          <p:nvPr/>
        </p:nvSpPr>
        <p:spPr>
          <a:xfrm>
            <a:off x="4988645" y="2052935"/>
            <a:ext cx="2214710"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Thanks</a:t>
            </a:r>
          </a:p>
        </p:txBody>
      </p:sp>
    </p:spTree>
    <p:extLst>
      <p:ext uri="{BB962C8B-B14F-4D97-AF65-F5344CB8AC3E}">
        <p14:creationId xmlns:p14="http://schemas.microsoft.com/office/powerpoint/2010/main" val="3713455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TotalTime>
  <Words>1699</Words>
  <Application>Microsoft Office PowerPoint</Application>
  <PresentationFormat>Widescreen</PresentationFormat>
  <Paragraphs>92</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National Water Policy of Bangladesh</vt:lpstr>
      <vt:lpstr>Introduction</vt:lpstr>
      <vt:lpstr>Objectives of the National Water Policy</vt:lpstr>
      <vt:lpstr>Conti…………..</vt:lpstr>
      <vt:lpstr>River Basin Management</vt:lpstr>
      <vt:lpstr>Water Rights and Allocation</vt:lpstr>
      <vt:lpstr>Water Supply and Sanitation</vt:lpstr>
      <vt:lpstr>Water and Agriculture</vt:lpstr>
      <vt:lpstr>Water and Industry</vt:lpstr>
      <vt:lpstr>Water for Fisheries and Wildlife</vt:lpstr>
      <vt:lpstr>Water and Navigation</vt:lpstr>
      <vt:lpstr>Water for Hydropower and Recreation </vt:lpstr>
      <vt:lpstr>Water and flood management</vt:lpstr>
      <vt:lpstr>Water for the Environment</vt:lpstr>
      <vt:lpstr>Preservation of Haors, Baors, and Beels</vt:lpstr>
      <vt:lpstr>Institutional Framework</vt:lpstr>
      <vt:lpstr>Future directions and updates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Water Policy of Bangladesh</dc:title>
  <dc:creator>HP</dc:creator>
  <cp:lastModifiedBy>HP</cp:lastModifiedBy>
  <cp:revision>27</cp:revision>
  <dcterms:created xsi:type="dcterms:W3CDTF">2025-10-21T13:55:49Z</dcterms:created>
  <dcterms:modified xsi:type="dcterms:W3CDTF">2025-11-24T16:05:29Z</dcterms:modified>
</cp:coreProperties>
</file>