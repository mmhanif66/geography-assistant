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slideLayouts/_rels/slideLayout1.xml.rels" ContentType="application/vnd.openxmlformats-package.relationships+xml"/>
  <Override PartName="/ppt/slideLayouts/slideLayout1.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1.png" ContentType="image/png"/>
  <Override PartName="/ppt/media/image2.png" ContentType="image/png"/>
  <Override PartName="/ppt/slides/_rels/slide15.xml.rels" ContentType="application/vnd.openxmlformats-package.relationships+xml"/>
  <Override PartName="/ppt/slides/_rels/slide7.xml.rels" ContentType="application/vnd.openxmlformats-package.relationships+xml"/>
  <Override PartName="/ppt/slides/_rels/slide24.xml.rels" ContentType="application/vnd.openxmlformats-package.relationships+xml"/>
  <Override PartName="/ppt/slides/_rels/slide1.xml.rels" ContentType="application/vnd.openxmlformats-package.relationships+xml"/>
  <Override PartName="/ppt/slides/_rels/slide16.xml.rels" ContentType="application/vnd.openxmlformats-package.relationships+xml"/>
  <Override PartName="/ppt/slides/_rels/slide2.xml.rels" ContentType="application/vnd.openxmlformats-package.relationships+xml"/>
  <Override PartName="/ppt/slides/_rels/slide34.xml.rels" ContentType="application/vnd.openxmlformats-package.relationships+xml"/>
  <Override PartName="/ppt/slides/_rels/slide33.xml.rels" ContentType="application/vnd.openxmlformats-package.relationships+xml"/>
  <Override PartName="/ppt/slides/_rels/slide32.xml.rels" ContentType="application/vnd.openxmlformats-package.relationships+xml"/>
  <Override PartName="/ppt/slides/_rels/slide22.xml.rels" ContentType="application/vnd.openxmlformats-package.relationships+xml"/>
  <Override PartName="/ppt/slides/_rels/slide5.xml.rels" ContentType="application/vnd.openxmlformats-package.relationships+xml"/>
  <Override PartName="/ppt/slides/_rels/slide31.xml.rels" ContentType="application/vnd.openxmlformats-package.relationships+xml"/>
  <Override PartName="/ppt/slides/_rels/slide29.xml.rels" ContentType="application/vnd.openxmlformats-package.relationships+xml"/>
  <Override PartName="/ppt/slides/_rels/slide30.xml.rels" ContentType="application/vnd.openxmlformats-package.relationships+xml"/>
  <Override PartName="/ppt/slides/_rels/slide28.xml.rels" ContentType="application/vnd.openxmlformats-package.relationships+xml"/>
  <Override PartName="/ppt/slides/_rels/slide19.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27.xml.rels" ContentType="application/vnd.openxmlformats-package.relationships+xml"/>
  <Override PartName="/ppt/slides/_rels/slide6.xml.rels" ContentType="application/vnd.openxmlformats-package.relationships+xml"/>
  <Override PartName="/ppt/slides/_rels/slide23.xml.rels" ContentType="application/vnd.openxmlformats-package.relationships+xml"/>
  <Override PartName="/ppt/slides/_rels/slide35.xml.rels" ContentType="application/vnd.openxmlformats-package.relationships+xml"/>
  <Override PartName="/ppt/slides/_rels/slide12.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18.xml.rels" ContentType="application/vnd.openxmlformats-package.relationships+xml"/>
  <Override PartName="/ppt/slides/_rels/slide11.xml.rels" ContentType="application/vnd.openxmlformats-package.relationships+xml"/>
  <Override PartName="/ppt/slides/_rels/slide9.xml.rels" ContentType="application/vnd.openxmlformats-package.relationships+xml"/>
  <Override PartName="/ppt/slides/_rels/slide26.xml.rels" ContentType="application/vnd.openxmlformats-package.relationships+xml"/>
  <Override PartName="/ppt/slides/_rels/slide20.xml.rels" ContentType="application/vnd.openxmlformats-package.relationships+xml"/>
  <Override PartName="/ppt/slides/_rels/slide3.xml.rels" ContentType="application/vnd.openxmlformats-package.relationships+xml"/>
  <Override PartName="/ppt/slides/_rels/slide17.xml.rels" ContentType="application/vnd.openxmlformats-package.relationships+xml"/>
  <Override PartName="/ppt/slides/_rels/slide10.xml.rels" ContentType="application/vnd.openxmlformats-package.relationships+xml"/>
  <Override PartName="/ppt/slides/_rels/slide8.xml.rels" ContentType="application/vnd.openxmlformats-package.relationships+xml"/>
  <Override PartName="/ppt/slides/_rels/slide25.xml.rels" ContentType="application/vnd.openxmlformats-package.relationships+xml"/>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19.xml" ContentType="application/vnd.openxmlformats-officedocument.presentationml.slide+xml"/>
  <Override PartName="/ppt/slides/slide13.xml" ContentType="application/vnd.openxmlformats-officedocument.presentationml.slide+xml"/>
  <Override PartName="/ppt/slides/slide5.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22.xml" ContentType="application/vnd.openxmlformats-officedocument.presentationml.slide+xml"/>
  <Override PartName="/ppt/slides/slide34.xml" ContentType="application/vnd.openxmlformats-officedocument.presentationml.slide+xml"/>
  <Override PartName="/ppt/slides/slide23.xml" ContentType="application/vnd.openxmlformats-officedocument.presentationml.slide+xml"/>
  <Override PartName="/ppt/slides/slide35.xml" ContentType="application/vnd.openxmlformats-officedocument.presentationml.slide+xml"/>
  <Override PartName="/ppt/slides/slide12.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11.xml" ContentType="application/vnd.openxmlformats-officedocument.presentationml.slide+xml"/>
  <Override PartName="/ppt/slides/slide3.xml" ContentType="application/vnd.openxmlformats-officedocument.presentationml.slide+xml"/>
  <Override PartName="/ppt/slides/slide9.xml" ContentType="application/vnd.openxmlformats-officedocument.presentationml.slide+xml"/>
  <Override PartName="/ppt/slides/slide17.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8.xml" ContentType="application/vnd.openxmlformats-officedocument.presentationml.slide+xml"/>
  <Override PartName="/ppt/slides/slide16.xml" ContentType="application/vnd.openxmlformats-officedocument.presentationml.slide+xml"/>
  <Override PartName="/ppt/slides/slide1.xml" ContentType="application/vnd.openxmlformats-officedocument.presentationml.slide+xml"/>
  <Override PartName="/ppt/slides/slide7.xml" ContentType="application/vnd.openxmlformats-officedocument.presentationml.slide+xml"/>
  <Override PartName="/ppt/slides/slide15.xml" ContentType="application/vnd.openxmlformats-officedocument.presentationml.slide+xml"/>
  <Override PartName="/ppt/notesSlides/_rels/notesSlide23.xml.rels" ContentType="application/vnd.openxmlformats-package.relationships+xml"/>
  <Override PartName="/ppt/notesSlides/_rels/notesSlide22.xml.rels" ContentType="application/vnd.openxmlformats-package.relationships+xml"/>
  <Override PartName="/ppt/notesSlides/_rels/notesSlide6.xml.rels" ContentType="application/vnd.openxmlformats-package.relationships+xml"/>
  <Override PartName="/ppt/notesSlides/_rels/notesSlide15.xml.rels" ContentType="application/vnd.openxmlformats-package.relationships+xml"/>
  <Override PartName="/ppt/notesSlides/_rels/notesSlide21.xml.rels" ContentType="application/vnd.openxmlformats-package.relationships+xml"/>
  <Override PartName="/ppt/notesSlides/_rels/notesSlide19.xml.rels" ContentType="application/vnd.openxmlformats-package.relationships+xml"/>
  <Override PartName="/ppt/notesSlides/_rels/notesSlide35.xml.rels" ContentType="application/vnd.openxmlformats-package.relationships+xml"/>
  <Override PartName="/ppt/notesSlides/_rels/notesSlide34.xml.rels" ContentType="application/vnd.openxmlformats-package.relationships+xml"/>
  <Override PartName="/ppt/notesSlides/_rels/notesSlide11.xml.rels" ContentType="application/vnd.openxmlformats-package.relationships+xml"/>
  <Override PartName="/ppt/notesSlides/_rels/notesSlide2.xml.rels" ContentType="application/vnd.openxmlformats-package.relationships+xml"/>
  <Override PartName="/ppt/notesSlides/_rels/notesSlide33.xml.rels" ContentType="application/vnd.openxmlformats-package.relationships+xml"/>
  <Override PartName="/ppt/notesSlides/_rels/notesSlide32.xml.rels" ContentType="application/vnd.openxmlformats-package.relationships+xml"/>
  <Override PartName="/ppt/notesSlides/_rels/notesSlide31.xml.rels" ContentType="application/vnd.openxmlformats-package.relationships+xml"/>
  <Override PartName="/ppt/notesSlides/_rels/notesSlide29.xml.rels" ContentType="application/vnd.openxmlformats-package.relationships+xml"/>
  <Override PartName="/ppt/notesSlides/_rels/notesSlide30.xml.rels" ContentType="application/vnd.openxmlformats-package.relationships+xml"/>
  <Override PartName="/ppt/notesSlides/_rels/notesSlide28.xml.rels" ContentType="application/vnd.openxmlformats-package.relationships+xml"/>
  <Override PartName="/ppt/notesSlides/_rels/notesSlide24.xml.rels" ContentType="application/vnd.openxmlformats-package.relationships+xml"/>
  <Override PartName="/ppt/notesSlides/_rels/notesSlide25.xml.rels" ContentType="application/vnd.openxmlformats-package.relationships+xml"/>
  <Override PartName="/ppt/notesSlides/_rels/notesSlide26.xml.rels" ContentType="application/vnd.openxmlformats-package.relationships+xml"/>
  <Override PartName="/ppt/notesSlides/_rels/notesSlide10.xml.rels" ContentType="application/vnd.openxmlformats-package.relationships+xml"/>
  <Override PartName="/ppt/notesSlides/_rels/notesSlide1.xml.rels" ContentType="application/vnd.openxmlformats-package.relationships+xml"/>
  <Override PartName="/ppt/notesSlides/_rels/notesSlide27.xml.rels" ContentType="application/vnd.openxmlformats-package.relationships+xml"/>
  <Override PartName="/ppt/notesSlides/_rels/notesSlide7.xml.rels" ContentType="application/vnd.openxmlformats-package.relationships+xml"/>
  <Override PartName="/ppt/notesSlides/_rels/notesSlide16.xml.rels" ContentType="application/vnd.openxmlformats-package.relationships+xml"/>
  <Override PartName="/ppt/notesSlides/_rels/notesSlide3.xml.rels" ContentType="application/vnd.openxmlformats-package.relationships+xml"/>
  <Override PartName="/ppt/notesSlides/_rels/notesSlide12.xml.rels" ContentType="application/vnd.openxmlformats-package.relationships+xml"/>
  <Override PartName="/ppt/notesSlides/_rels/notesSlide8.xml.rels" ContentType="application/vnd.openxmlformats-package.relationships+xml"/>
  <Override PartName="/ppt/notesSlides/_rels/notesSlide17.xml.rels" ContentType="application/vnd.openxmlformats-package.relationships+xml"/>
  <Override PartName="/ppt/notesSlides/_rels/notesSlide4.xml.rels" ContentType="application/vnd.openxmlformats-package.relationships+xml"/>
  <Override PartName="/ppt/notesSlides/_rels/notesSlide13.xml.rels" ContentType="application/vnd.openxmlformats-package.relationships+xml"/>
  <Override PartName="/ppt/notesSlides/_rels/notesSlide9.xml.rels" ContentType="application/vnd.openxmlformats-package.relationships+xml"/>
  <Override PartName="/ppt/notesSlides/_rels/notesSlide18.xml.rels" ContentType="application/vnd.openxmlformats-package.relationships+xml"/>
  <Override PartName="/ppt/notesSlides/_rels/notesSlide20.xml.rels" ContentType="application/vnd.openxmlformats-package.relationships+xml"/>
  <Override PartName="/ppt/notesSlides/_rels/notesSlide14.xml.rels" ContentType="application/vnd.openxmlformats-package.relationships+xml"/>
  <Override PartName="/ppt/notesSlides/_rels/notesSlide5.xml.rels" ContentType="application/vnd.openxmlformats-package.relationships+xml"/>
  <Override PartName="/ppt/notesSlides/notesSlide26.xml" ContentType="application/vnd.openxmlformats-officedocument.presentationml.notesSlide+xml"/>
  <Override PartName="/ppt/notesSlides/notesSlide9.xml" ContentType="application/vnd.openxmlformats-officedocument.presentationml.notesSlide+xml"/>
  <Override PartName="/ppt/notesSlides/notesSlide25.xml" ContentType="application/vnd.openxmlformats-officedocument.presentationml.notesSlide+xml"/>
  <Override PartName="/ppt/notesSlides/notesSlide8.xml" ContentType="application/vnd.openxmlformats-officedocument.presentationml.notesSlide+xml"/>
  <Override PartName="/ppt/notesSlides/notesSlide24.xml" ContentType="application/vnd.openxmlformats-officedocument.presentationml.notesSlide+xml"/>
  <Override PartName="/ppt/notesSlides/notesSlide7.xml" ContentType="application/vnd.openxmlformats-officedocument.presentationml.notesSlide+xml"/>
  <Override PartName="/ppt/notesSlides/notesSlide28.xml" ContentType="application/vnd.openxmlformats-officedocument.presentationml.notesSlide+xml"/>
  <Override PartName="/ppt/notesSlides/notesSlide2.xml" ContentType="application/vnd.openxmlformats-officedocument.presentationml.notesSlide+xml"/>
  <Override PartName="/ppt/notesSlides/notesSlide30.xml" ContentType="application/vnd.openxmlformats-officedocument.presentationml.notesSlide+xml"/>
  <Override PartName="/ppt/notesSlides/notesSlide29.xml" ContentType="application/vnd.openxmlformats-officedocument.presentationml.notesSlide+xml"/>
  <Override PartName="/ppt/notesSlides/notesSlide3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10.xml" ContentType="application/vnd.openxmlformats-officedocument.presentationml.notesSlide+xml"/>
  <Override PartName="/ppt/notesSlides/notesSlide34.xml" ContentType="application/vnd.openxmlformats-officedocument.presentationml.notesSlide+xml"/>
  <Override PartName="/ppt/notesSlides/notesSlide11.xml" ContentType="application/vnd.openxmlformats-officedocument.presentationml.notesSlide+xml"/>
  <Override PartName="/ppt/notesSlides/notesSlide35.xml" ContentType="application/vnd.openxmlformats-officedocument.presentationml.notesSlide+xml"/>
  <Override PartName="/ppt/notesSlides/notesSlide1.xml" ContentType="application/vnd.openxmlformats-officedocument.presentationml.notesSlide+xml"/>
  <Override PartName="/ppt/notesSlides/notesSlide27.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3.xml" ContentType="application/vnd.openxmlformats-officedocument.presentationml.notesSlide+xml"/>
  <Override PartName="/ppt/notesSlides/notesSlide20.xml" ContentType="application/vnd.openxmlformats-officedocument.presentationml.notesSlide+xml"/>
  <Override PartName="/ppt/notesSlides/notesSlide19.xml" ContentType="application/vnd.openxmlformats-officedocument.presentationml.notesSlide+xml"/>
  <Override PartName="/ppt/notesSlides/notesSlide4.xml" ContentType="application/vnd.openxmlformats-officedocument.presentationml.notesSlide+xml"/>
  <Override PartName="/ppt/notesSlides/notesSlide21.xml" ContentType="application/vnd.openxmlformats-officedocument.presentationml.notesSlide+xml"/>
  <Override PartName="/ppt/notesSlides/notesSlide5.xml" ContentType="application/vnd.openxmlformats-officedocument.presentationml.notesSlide+xml"/>
  <Override PartName="/ppt/notesSlides/notesSlide22.xml" ContentType="application/vnd.openxmlformats-officedocument.presentationml.notesSlide+xml"/>
  <Override PartName="/ppt/notesSlides/notesSlide6.xml" ContentType="application/vnd.openxmlformats-officedocument.presentationml.notesSlide+xml"/>
  <Override PartName="/ppt/notesSlides/notesSlide23.xml" ContentType="application/vnd.openxmlformats-officedocument.presentationml.notesSlide+xml"/>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Lst>
  <p:sldSz cx="12192000" cy="6858000"/>
  <p:notesSz cx="6858000" cy="12192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en-US" sz="1800" strike="noStrike" u="none">
                <a:solidFill>
                  <a:schemeClr val="dk1"/>
                </a:solidFill>
                <a:effectLst/>
                <a:uFillTx/>
                <a:latin typeface="Aptos"/>
              </a:rPr>
              <a:t>Click to move the slide</a:t>
            </a:r>
            <a:endParaRPr b="0" lang="en-US" sz="1800" strike="noStrike" u="none">
              <a:solidFill>
                <a:schemeClr val="dk1"/>
              </a:solidFill>
              <a:effectLst/>
              <a:uFillTx/>
              <a:latin typeface="Aptos"/>
            </a:endParaRPr>
          </a:p>
        </p:txBody>
      </p:sp>
      <p:sp>
        <p:nvSpPr>
          <p:cNvPr id="3"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indent="0">
              <a:buNone/>
            </a:pPr>
            <a:r>
              <a:rPr b="0" lang="en-US" sz="2000" strike="noStrike" u="none">
                <a:solidFill>
                  <a:srgbClr val="000000"/>
                </a:solidFill>
                <a:effectLst/>
                <a:uFillTx/>
                <a:latin typeface="Arial"/>
              </a:rPr>
              <a:t>Click to edit the notes format</a:t>
            </a:r>
            <a:endParaRPr b="0" lang="en-US" sz="2000" strike="noStrike" u="none">
              <a:solidFill>
                <a:srgbClr val="000000"/>
              </a:solidFill>
              <a:effectLst/>
              <a:uFillTx/>
              <a:latin typeface="Arial"/>
            </a:endParaRPr>
          </a:p>
        </p:txBody>
      </p:sp>
      <p:sp>
        <p:nvSpPr>
          <p:cNvPr id="4"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5"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indent="0" algn="r">
              <a:buNone/>
              <a:defRPr b="0" lang="en-US" sz="1400" strike="noStrike" u="none">
                <a:solidFill>
                  <a:srgbClr val="000000"/>
                </a:solidFill>
                <a:effectLst/>
                <a:uFillTx/>
                <a:latin typeface="Times New Roman"/>
              </a:defRPr>
            </a:lvl1pPr>
          </a:lstStyle>
          <a:p>
            <a:pPr indent="0" algn="r">
              <a:buNone/>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6"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7"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trike="noStrike" u="none">
                <a:solidFill>
                  <a:srgbClr val="000000"/>
                </a:solidFill>
                <a:effectLst/>
                <a:uFillTx/>
                <a:latin typeface="Times New Roman"/>
              </a:defRPr>
            </a:lvl1pPr>
          </a:lstStyle>
          <a:p>
            <a:pPr indent="0" algn="r">
              <a:buNone/>
            </a:pPr>
            <a:fld id="{0079130F-59E6-4C15-990C-1226112712B6}" type="slidenum">
              <a:rPr b="0" lang="en-US" sz="1400" strike="noStrike" u="none">
                <a:solidFill>
                  <a:srgbClr val="000000"/>
                </a:solidFill>
                <a:effectLst/>
                <a:uFillTx/>
                <a:latin typeface="Times New Roman"/>
              </a:rPr>
              <a:t>1</a:t>
            </a:fld>
            <a:endParaRPr b="0" lang="en-US" sz="1400" strike="noStrike" u="non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_rels/notesSlide33.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
</Relationships>
</file>

<file path=ppt/notesSlides/_rels/notesSlide34.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
</Relationships>
</file>

<file path=ppt/notesSlides/_rels/notesSlide35.xml.rels><?xml version="1.0" encoding="UTF-8"?>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9" name="PlaceHolder 1"/>
          <p:cNvSpPr>
            <a:spLocks noGrp="1"/>
          </p:cNvSpPr>
          <p:nvPr>
            <p:ph type="sldImg"/>
          </p:nvPr>
        </p:nvSpPr>
        <p:spPr>
          <a:xfrm>
            <a:off x="685800" y="1143000"/>
            <a:ext cx="5486040" cy="3085920"/>
          </a:xfrm>
          <a:prstGeom prst="rect">
            <a:avLst/>
          </a:prstGeom>
          <a:ln w="0">
            <a:noFill/>
          </a:ln>
        </p:spPr>
      </p:sp>
      <p:sp>
        <p:nvSpPr>
          <p:cNvPr id="100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Presenter 1: Open with the title and explain that the deck evaluates RNPP through environmental benefits, environmental challenges and management strategies.</a:t>
            </a:r>
            <a:endParaRPr b="0" lang="en-US" sz="2000" strike="noStrike" u="none">
              <a:solidFill>
                <a:srgbClr val="000000"/>
              </a:solidFill>
              <a:effectLst/>
              <a:uFillTx/>
              <a:latin typeface="Arial"/>
            </a:endParaRPr>
          </a:p>
        </p:txBody>
      </p:sp>
      <p:sp>
        <p:nvSpPr>
          <p:cNvPr id="1001" name="PlaceHolder 3"/>
          <p:cNvSpPr>
            <a:spLocks noGrp="1"/>
          </p:cNvSpPr>
          <p:nvPr>
            <p:ph type="sldNum" idx="4"/>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73881D0A-DFEA-4042-83E3-B0D6C5AD9151}"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2" name="PlaceHolder 1"/>
          <p:cNvSpPr>
            <a:spLocks noGrp="1"/>
          </p:cNvSpPr>
          <p:nvPr>
            <p:ph type="sldImg"/>
          </p:nvPr>
        </p:nvSpPr>
        <p:spPr>
          <a:xfrm>
            <a:off x="685800" y="1143000"/>
            <a:ext cx="5486040" cy="3085920"/>
          </a:xfrm>
          <a:prstGeom prst="rect">
            <a:avLst/>
          </a:prstGeom>
          <a:ln w="0">
            <a:noFill/>
          </a:ln>
        </p:spPr>
      </p:sp>
      <p:sp>
        <p:nvSpPr>
          <p:cNvPr id="1003"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Presenter 1: Briefly describe the flow. Do not spend long here. Tell the audience each presenter covers a specific thematic block.</a:t>
            </a:r>
            <a:endParaRPr b="0" lang="en-US" sz="2000" strike="noStrike" u="none">
              <a:solidFill>
                <a:srgbClr val="000000"/>
              </a:solidFill>
              <a:effectLst/>
              <a:uFillTx/>
              <a:latin typeface="Arial"/>
            </a:endParaRPr>
          </a:p>
        </p:txBody>
      </p:sp>
      <p:sp>
        <p:nvSpPr>
          <p:cNvPr id="1004" name="PlaceHolder 3"/>
          <p:cNvSpPr>
            <a:spLocks noGrp="1"/>
          </p:cNvSpPr>
          <p:nvPr>
            <p:ph type="sldNum" idx="5"/>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F66FCC23-630B-4C3E-AC1F-75B418D722E9}"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5" name="PlaceHolder 1"/>
          <p:cNvSpPr>
            <a:spLocks noGrp="1"/>
          </p:cNvSpPr>
          <p:nvPr>
            <p:ph type="sldImg"/>
          </p:nvPr>
        </p:nvSpPr>
        <p:spPr>
          <a:xfrm>
            <a:off x="685800" y="1143000"/>
            <a:ext cx="5486040" cy="3085920"/>
          </a:xfrm>
          <a:prstGeom prst="rect">
            <a:avLst/>
          </a:prstGeom>
          <a:ln w="0">
            <a:noFill/>
          </a:ln>
        </p:spPr>
      </p:sp>
      <p:sp>
        <p:nvSpPr>
          <p:cNvPr id="1006"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Presenter 1: Explain RNPP as a major energy intervention. Stress that nuclear power can produce large baseload electricity but requires rigorous EIA and safety governance.</a:t>
            </a:r>
            <a:endParaRPr b="0" lang="en-US" sz="2000" strike="noStrike" u="none">
              <a:solidFill>
                <a:srgbClr val="000000"/>
              </a:solidFill>
              <a:effectLst/>
              <a:uFillTx/>
              <a:latin typeface="Arial"/>
            </a:endParaRPr>
          </a:p>
        </p:txBody>
      </p:sp>
      <p:sp>
        <p:nvSpPr>
          <p:cNvPr id="1007" name="PlaceHolder 3"/>
          <p:cNvSpPr>
            <a:spLocks noGrp="1"/>
          </p:cNvSpPr>
          <p:nvPr>
            <p:ph type="sldNum" idx="6"/>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55168DDD-63CD-4F22-97A0-314AFDAE32E9}"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8" name="PlaceHolder 1"/>
          <p:cNvSpPr>
            <a:spLocks noGrp="1"/>
          </p:cNvSpPr>
          <p:nvPr>
            <p:ph type="sldImg"/>
          </p:nvPr>
        </p:nvSpPr>
        <p:spPr>
          <a:xfrm>
            <a:off x="685800" y="1143000"/>
            <a:ext cx="5486040" cy="3085920"/>
          </a:xfrm>
          <a:prstGeom prst="rect">
            <a:avLst/>
          </a:prstGeom>
          <a:ln w="0">
            <a:noFill/>
          </a:ln>
        </p:spPr>
      </p:sp>
      <p:sp>
        <p:nvSpPr>
          <p:cNvPr id="1009"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Presenter 1: Use the flowchart to explain how energy demand leads to interest in nuclear power and how RNPP is linked to electricity generation and development.</a:t>
            </a:r>
            <a:endParaRPr b="0" lang="en-US" sz="2000" strike="noStrike" u="none">
              <a:solidFill>
                <a:srgbClr val="000000"/>
              </a:solidFill>
              <a:effectLst/>
              <a:uFillTx/>
              <a:latin typeface="Arial"/>
            </a:endParaRPr>
          </a:p>
        </p:txBody>
      </p:sp>
      <p:sp>
        <p:nvSpPr>
          <p:cNvPr id="1010" name="PlaceHolder 3"/>
          <p:cNvSpPr>
            <a:spLocks noGrp="1"/>
          </p:cNvSpPr>
          <p:nvPr>
            <p:ph type="sldNum" idx="7"/>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E4B3421A-B2C7-4389-B4E6-839667B30191}"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1" name="PlaceHolder 1"/>
          <p:cNvSpPr>
            <a:spLocks noGrp="1"/>
          </p:cNvSpPr>
          <p:nvPr>
            <p:ph type="sldImg"/>
          </p:nvPr>
        </p:nvSpPr>
        <p:spPr>
          <a:xfrm>
            <a:off x="685800" y="1143000"/>
            <a:ext cx="5486040" cy="3085920"/>
          </a:xfrm>
          <a:prstGeom prst="rect">
            <a:avLst/>
          </a:prstGeom>
          <a:ln w="0">
            <a:noFill/>
          </a:ln>
        </p:spPr>
      </p:sp>
      <p:sp>
        <p:nvSpPr>
          <p:cNvPr id="101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Presenter 2: Explain that RNPP is historically important because it turns Bangladesh’s nuclear energy ambition into a concrete power project.</a:t>
            </a:r>
            <a:endParaRPr b="0" lang="en-US" sz="2000" strike="noStrike" u="none">
              <a:solidFill>
                <a:srgbClr val="000000"/>
              </a:solidFill>
              <a:effectLst/>
              <a:uFillTx/>
              <a:latin typeface="Arial"/>
            </a:endParaRPr>
          </a:p>
        </p:txBody>
      </p:sp>
      <p:sp>
        <p:nvSpPr>
          <p:cNvPr id="1013" name="PlaceHolder 3"/>
          <p:cNvSpPr>
            <a:spLocks noGrp="1"/>
          </p:cNvSpPr>
          <p:nvPr>
            <p:ph type="sldNum" idx="8"/>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3324475F-BCB8-4B54-A80A-CA53E257510E}"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4" name="PlaceHolder 1"/>
          <p:cNvSpPr>
            <a:spLocks noGrp="1"/>
          </p:cNvSpPr>
          <p:nvPr>
            <p:ph type="sldImg"/>
          </p:nvPr>
        </p:nvSpPr>
        <p:spPr>
          <a:xfrm>
            <a:off x="685800" y="1143000"/>
            <a:ext cx="5486040" cy="3085920"/>
          </a:xfrm>
          <a:prstGeom prst="rect">
            <a:avLst/>
          </a:prstGeom>
          <a:ln w="0">
            <a:noFill/>
          </a:ln>
        </p:spPr>
      </p:sp>
      <p:sp>
        <p:nvSpPr>
          <p:cNvPr id="101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Presenter 2: Present the timeline as life-cycle thinking. Emphasise that EIA is not finished after construction; it must continue during operation.</a:t>
            </a:r>
            <a:endParaRPr b="0" lang="en-US" sz="2000" strike="noStrike" u="none">
              <a:solidFill>
                <a:srgbClr val="000000"/>
              </a:solidFill>
              <a:effectLst/>
              <a:uFillTx/>
              <a:latin typeface="Arial"/>
            </a:endParaRPr>
          </a:p>
        </p:txBody>
      </p:sp>
      <p:sp>
        <p:nvSpPr>
          <p:cNvPr id="1016" name="PlaceHolder 3"/>
          <p:cNvSpPr>
            <a:spLocks noGrp="1"/>
          </p:cNvSpPr>
          <p:nvPr>
            <p:ph type="sldNum" idx="9"/>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6DB14053-ED42-4067-8BF3-AB183500971F}"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7" name="PlaceHolder 1"/>
          <p:cNvSpPr>
            <a:spLocks noGrp="1"/>
          </p:cNvSpPr>
          <p:nvPr>
            <p:ph type="sldImg"/>
          </p:nvPr>
        </p:nvSpPr>
        <p:spPr>
          <a:xfrm>
            <a:off x="685800" y="1143000"/>
            <a:ext cx="5486040" cy="3085920"/>
          </a:xfrm>
          <a:prstGeom prst="rect">
            <a:avLst/>
          </a:prstGeom>
          <a:ln w="0">
            <a:noFill/>
          </a:ln>
        </p:spPr>
      </p:sp>
      <p:sp>
        <p:nvSpPr>
          <p:cNvPr id="101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Presenter 2: Explain why site selection matters for EIA: river cooling water, land footprint, settlement context and environmental safeguards.</a:t>
            </a:r>
            <a:endParaRPr b="0" lang="en-US" sz="2000" strike="noStrike" u="none">
              <a:solidFill>
                <a:srgbClr val="000000"/>
              </a:solidFill>
              <a:effectLst/>
              <a:uFillTx/>
              <a:latin typeface="Arial"/>
            </a:endParaRPr>
          </a:p>
        </p:txBody>
      </p:sp>
      <p:sp>
        <p:nvSpPr>
          <p:cNvPr id="1019" name="PlaceHolder 3"/>
          <p:cNvSpPr>
            <a:spLocks noGrp="1"/>
          </p:cNvSpPr>
          <p:nvPr>
            <p:ph type="sldNum" idx="10"/>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CD1A5000-BBD9-47B1-A667-7C9D14C15DDE}"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0" name="PlaceHolder 1"/>
          <p:cNvSpPr>
            <a:spLocks noGrp="1"/>
          </p:cNvSpPr>
          <p:nvPr>
            <p:ph type="sldImg"/>
          </p:nvPr>
        </p:nvSpPr>
        <p:spPr>
          <a:xfrm>
            <a:off x="685800" y="1143000"/>
            <a:ext cx="5486040" cy="3085920"/>
          </a:xfrm>
          <a:prstGeom prst="rect">
            <a:avLst/>
          </a:prstGeom>
          <a:ln w="0">
            <a:noFill/>
          </a:ln>
        </p:spPr>
      </p:sp>
      <p:sp>
        <p:nvSpPr>
          <p:cNvPr id="102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Presenter 3: Define the VVER-1200 as the central technical feature. Link reactor type to safety and environmental management.</a:t>
            </a:r>
            <a:endParaRPr b="0" lang="en-US" sz="2000" strike="noStrike" u="none">
              <a:solidFill>
                <a:srgbClr val="000000"/>
              </a:solidFill>
              <a:effectLst/>
              <a:uFillTx/>
              <a:latin typeface="Arial"/>
            </a:endParaRPr>
          </a:p>
        </p:txBody>
      </p:sp>
      <p:sp>
        <p:nvSpPr>
          <p:cNvPr id="1022" name="PlaceHolder 3"/>
          <p:cNvSpPr>
            <a:spLocks noGrp="1"/>
          </p:cNvSpPr>
          <p:nvPr>
            <p:ph type="sldNum" idx="11"/>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9593979B-7AD7-4117-9088-9806A81A0354}"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3" name="PlaceHolder 1"/>
          <p:cNvSpPr>
            <a:spLocks noGrp="1"/>
          </p:cNvSpPr>
          <p:nvPr>
            <p:ph type="sldImg"/>
          </p:nvPr>
        </p:nvSpPr>
        <p:spPr>
          <a:xfrm>
            <a:off x="685800" y="1143000"/>
            <a:ext cx="5486040" cy="3085920"/>
          </a:xfrm>
          <a:prstGeom prst="rect">
            <a:avLst/>
          </a:prstGeom>
          <a:ln w="0">
            <a:noFill/>
          </a:ln>
        </p:spPr>
      </p:sp>
      <p:sp>
        <p:nvSpPr>
          <p:cNvPr id="102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Presenter 3: Walk through the PWR flow from uranium fuel to electricity. Explain that this diagram connects engineering with EIA.</a:t>
            </a:r>
            <a:endParaRPr b="0" lang="en-US" sz="2000" strike="noStrike" u="none">
              <a:solidFill>
                <a:srgbClr val="000000"/>
              </a:solidFill>
              <a:effectLst/>
              <a:uFillTx/>
              <a:latin typeface="Arial"/>
            </a:endParaRPr>
          </a:p>
        </p:txBody>
      </p:sp>
      <p:sp>
        <p:nvSpPr>
          <p:cNvPr id="1025" name="PlaceHolder 3"/>
          <p:cNvSpPr>
            <a:spLocks noGrp="1"/>
          </p:cNvSpPr>
          <p:nvPr>
            <p:ph type="sldNum" idx="12"/>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8F0202A1-FF04-4F98-8608-6B3B3874A6BA}"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6" name="PlaceHolder 1"/>
          <p:cNvSpPr>
            <a:spLocks noGrp="1"/>
          </p:cNvSpPr>
          <p:nvPr>
            <p:ph type="sldImg"/>
          </p:nvPr>
        </p:nvSpPr>
        <p:spPr>
          <a:xfrm>
            <a:off x="685800" y="1143000"/>
            <a:ext cx="5486040" cy="3085920"/>
          </a:xfrm>
          <a:prstGeom prst="rect">
            <a:avLst/>
          </a:prstGeom>
          <a:ln w="0">
            <a:noFill/>
          </a:ln>
        </p:spPr>
      </p:sp>
      <p:sp>
        <p:nvSpPr>
          <p:cNvPr id="102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Presenter 3: Explain the reactor core in simple terms: fuel assemblies produce heat and must be cooled and controlled safely.</a:t>
            </a:r>
            <a:endParaRPr b="0" lang="en-US" sz="2000" strike="noStrike" u="none">
              <a:solidFill>
                <a:srgbClr val="000000"/>
              </a:solidFill>
              <a:effectLst/>
              <a:uFillTx/>
              <a:latin typeface="Arial"/>
            </a:endParaRPr>
          </a:p>
        </p:txBody>
      </p:sp>
      <p:sp>
        <p:nvSpPr>
          <p:cNvPr id="1028" name="PlaceHolder 3"/>
          <p:cNvSpPr>
            <a:spLocks noGrp="1"/>
          </p:cNvSpPr>
          <p:nvPr>
            <p:ph type="sldNum" idx="13"/>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521656C7-B556-4A31-A7F7-AAFBF31C4FC9}"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9" name="PlaceHolder 1"/>
          <p:cNvSpPr>
            <a:spLocks noGrp="1"/>
          </p:cNvSpPr>
          <p:nvPr>
            <p:ph type="sldImg"/>
          </p:nvPr>
        </p:nvSpPr>
        <p:spPr>
          <a:xfrm>
            <a:off x="685800" y="1143000"/>
            <a:ext cx="5486040" cy="3085920"/>
          </a:xfrm>
          <a:prstGeom prst="rect">
            <a:avLst/>
          </a:prstGeom>
          <a:ln w="0">
            <a:noFill/>
          </a:ln>
        </p:spPr>
      </p:sp>
      <p:sp>
        <p:nvSpPr>
          <p:cNvPr id="103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Presenter 4: Introduce the EIA methodology. Emphasise that EIA is a structured process, not only a list of impacts.</a:t>
            </a:r>
            <a:endParaRPr b="0" lang="en-US" sz="2000" strike="noStrike" u="none">
              <a:solidFill>
                <a:srgbClr val="000000"/>
              </a:solidFill>
              <a:effectLst/>
              <a:uFillTx/>
              <a:latin typeface="Arial"/>
            </a:endParaRPr>
          </a:p>
        </p:txBody>
      </p:sp>
      <p:sp>
        <p:nvSpPr>
          <p:cNvPr id="1031" name="PlaceHolder 3"/>
          <p:cNvSpPr>
            <a:spLocks noGrp="1"/>
          </p:cNvSpPr>
          <p:nvPr>
            <p:ph type="sldNum" idx="14"/>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19B0DCB4-7421-4074-BE50-1664EB413943}"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2" name="PlaceHolder 1"/>
          <p:cNvSpPr>
            <a:spLocks noGrp="1"/>
          </p:cNvSpPr>
          <p:nvPr>
            <p:ph type="sldImg"/>
          </p:nvPr>
        </p:nvSpPr>
        <p:spPr>
          <a:xfrm>
            <a:off x="685800" y="1143000"/>
            <a:ext cx="5486040" cy="3085920"/>
          </a:xfrm>
          <a:prstGeom prst="rect">
            <a:avLst/>
          </a:prstGeom>
          <a:ln w="0">
            <a:noFill/>
          </a:ln>
        </p:spPr>
      </p:sp>
      <p:sp>
        <p:nvSpPr>
          <p:cNvPr id="1033"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Presenter 4: Explain coolant system relevance. Focus on how cooling water connects nuclear technology to Padma River environmental monitoring.</a:t>
            </a:r>
            <a:endParaRPr b="0" lang="en-US" sz="2000" strike="noStrike" u="none">
              <a:solidFill>
                <a:srgbClr val="000000"/>
              </a:solidFill>
              <a:effectLst/>
              <a:uFillTx/>
              <a:latin typeface="Arial"/>
            </a:endParaRPr>
          </a:p>
        </p:txBody>
      </p:sp>
      <p:sp>
        <p:nvSpPr>
          <p:cNvPr id="1034" name="PlaceHolder 3"/>
          <p:cNvSpPr>
            <a:spLocks noGrp="1"/>
          </p:cNvSpPr>
          <p:nvPr>
            <p:ph type="sldNum" idx="15"/>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B37D51D0-2D55-450F-89DD-1D881FCE5C55}"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5" name="PlaceHolder 1"/>
          <p:cNvSpPr>
            <a:spLocks noGrp="1"/>
          </p:cNvSpPr>
          <p:nvPr>
            <p:ph type="sldImg"/>
          </p:nvPr>
        </p:nvSpPr>
        <p:spPr>
          <a:xfrm>
            <a:off x="685800" y="1143000"/>
            <a:ext cx="5486040" cy="3085920"/>
          </a:xfrm>
          <a:prstGeom prst="rect">
            <a:avLst/>
          </a:prstGeom>
          <a:ln w="0">
            <a:noFill/>
          </a:ln>
        </p:spPr>
      </p:sp>
      <p:sp>
        <p:nvSpPr>
          <p:cNvPr id="1036"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Presenter 4: Explain the fuel handling chain. Stress spent fuel as the most important long-term waste concern.</a:t>
            </a:r>
            <a:endParaRPr b="0" lang="en-US" sz="2000" strike="noStrike" u="none">
              <a:solidFill>
                <a:srgbClr val="000000"/>
              </a:solidFill>
              <a:effectLst/>
              <a:uFillTx/>
              <a:latin typeface="Arial"/>
            </a:endParaRPr>
          </a:p>
        </p:txBody>
      </p:sp>
      <p:sp>
        <p:nvSpPr>
          <p:cNvPr id="1037" name="PlaceHolder 3"/>
          <p:cNvSpPr>
            <a:spLocks noGrp="1"/>
          </p:cNvSpPr>
          <p:nvPr>
            <p:ph type="sldNum" idx="16"/>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2C3E1A75-1D2D-4857-B560-F3137BE1874A}"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8" name="PlaceHolder 1"/>
          <p:cNvSpPr>
            <a:spLocks noGrp="1"/>
          </p:cNvSpPr>
          <p:nvPr>
            <p:ph type="sldImg"/>
          </p:nvPr>
        </p:nvSpPr>
        <p:spPr>
          <a:xfrm>
            <a:off x="685800" y="1143000"/>
            <a:ext cx="5486040" cy="3085920"/>
          </a:xfrm>
          <a:prstGeom prst="rect">
            <a:avLst/>
          </a:prstGeom>
          <a:ln w="0">
            <a:noFill/>
          </a:ln>
        </p:spPr>
      </p:sp>
      <p:sp>
        <p:nvSpPr>
          <p:cNvPr id="1039"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Presenter 5: Explain the turbine-generator simply: steam to rotation to electricity. Link it to cooling and heat discharge.</a:t>
            </a:r>
            <a:endParaRPr b="0" lang="en-US" sz="2000" strike="noStrike" u="none">
              <a:solidFill>
                <a:srgbClr val="000000"/>
              </a:solidFill>
              <a:effectLst/>
              <a:uFillTx/>
              <a:latin typeface="Arial"/>
            </a:endParaRPr>
          </a:p>
        </p:txBody>
      </p:sp>
      <p:sp>
        <p:nvSpPr>
          <p:cNvPr id="1040" name="PlaceHolder 3"/>
          <p:cNvSpPr>
            <a:spLocks noGrp="1"/>
          </p:cNvSpPr>
          <p:nvPr>
            <p:ph type="sldNum" idx="17"/>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C8643026-AEE0-4BBF-866C-6C87C3CE9491}"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1" name="PlaceHolder 1"/>
          <p:cNvSpPr>
            <a:spLocks noGrp="1"/>
          </p:cNvSpPr>
          <p:nvPr>
            <p:ph type="sldImg"/>
          </p:nvPr>
        </p:nvSpPr>
        <p:spPr>
          <a:xfrm>
            <a:off x="685800" y="1143000"/>
            <a:ext cx="5486040" cy="3085920"/>
          </a:xfrm>
          <a:prstGeom prst="rect">
            <a:avLst/>
          </a:prstGeom>
          <a:ln w="0">
            <a:noFill/>
          </a:ln>
        </p:spPr>
      </p:sp>
      <p:sp>
        <p:nvSpPr>
          <p:cNvPr id="104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Presenter 5: Explain the feed-water cycle and why it matters for cooling, efficiency and environmental monitoring.</a:t>
            </a:r>
            <a:endParaRPr b="0" lang="en-US" sz="2000" strike="noStrike" u="none">
              <a:solidFill>
                <a:srgbClr val="000000"/>
              </a:solidFill>
              <a:effectLst/>
              <a:uFillTx/>
              <a:latin typeface="Arial"/>
            </a:endParaRPr>
          </a:p>
        </p:txBody>
      </p:sp>
      <p:sp>
        <p:nvSpPr>
          <p:cNvPr id="1043" name="PlaceHolder 3"/>
          <p:cNvSpPr>
            <a:spLocks noGrp="1"/>
          </p:cNvSpPr>
          <p:nvPr>
            <p:ph type="sldNum" idx="18"/>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88703639-5739-4FF9-A56C-0790E35B7331}"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4" name="PlaceHolder 1"/>
          <p:cNvSpPr>
            <a:spLocks noGrp="1"/>
          </p:cNvSpPr>
          <p:nvPr>
            <p:ph type="sldImg"/>
          </p:nvPr>
        </p:nvSpPr>
        <p:spPr>
          <a:xfrm>
            <a:off x="685800" y="1143000"/>
            <a:ext cx="5486040" cy="3085920"/>
          </a:xfrm>
          <a:prstGeom prst="rect">
            <a:avLst/>
          </a:prstGeom>
          <a:ln w="0">
            <a:noFill/>
          </a:ln>
        </p:spPr>
      </p:sp>
      <p:sp>
        <p:nvSpPr>
          <p:cNvPr id="104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Presenter 5: Summarise the complete electricity generation process and connect technical steps with environmental concerns.</a:t>
            </a:r>
            <a:endParaRPr b="0" lang="en-US" sz="2000" strike="noStrike" u="none">
              <a:solidFill>
                <a:srgbClr val="000000"/>
              </a:solidFill>
              <a:effectLst/>
              <a:uFillTx/>
              <a:latin typeface="Arial"/>
            </a:endParaRPr>
          </a:p>
        </p:txBody>
      </p:sp>
      <p:sp>
        <p:nvSpPr>
          <p:cNvPr id="1046" name="PlaceHolder 3"/>
          <p:cNvSpPr>
            <a:spLocks noGrp="1"/>
          </p:cNvSpPr>
          <p:nvPr>
            <p:ph type="sldNum" idx="19"/>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D9B8ADB0-C682-4D78-A598-CFA91AA7C45A}"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7" name="PlaceHolder 1"/>
          <p:cNvSpPr>
            <a:spLocks noGrp="1"/>
          </p:cNvSpPr>
          <p:nvPr>
            <p:ph type="sldImg"/>
          </p:nvPr>
        </p:nvSpPr>
        <p:spPr>
          <a:xfrm>
            <a:off x="685800" y="1143000"/>
            <a:ext cx="5486040" cy="3085920"/>
          </a:xfrm>
          <a:prstGeom prst="rect">
            <a:avLst/>
          </a:prstGeom>
          <a:ln w="0">
            <a:noFill/>
          </a:ln>
        </p:spPr>
      </p:sp>
      <p:sp>
        <p:nvSpPr>
          <p:cNvPr id="104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Presenter 6: Explain EIA as a structured cycle. Relate each step to RNPP environmental issues.</a:t>
            </a:r>
            <a:endParaRPr b="0" lang="en-US" sz="2000" strike="noStrike" u="none">
              <a:solidFill>
                <a:srgbClr val="000000"/>
              </a:solidFill>
              <a:effectLst/>
              <a:uFillTx/>
              <a:latin typeface="Arial"/>
            </a:endParaRPr>
          </a:p>
        </p:txBody>
      </p:sp>
      <p:sp>
        <p:nvSpPr>
          <p:cNvPr id="1049" name="PlaceHolder 3"/>
          <p:cNvSpPr>
            <a:spLocks noGrp="1"/>
          </p:cNvSpPr>
          <p:nvPr>
            <p:ph type="sldNum" idx="20"/>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3467D567-A862-48A3-9DAD-1E98F58B382F}"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0" name="PlaceHolder 1"/>
          <p:cNvSpPr>
            <a:spLocks noGrp="1"/>
          </p:cNvSpPr>
          <p:nvPr>
            <p:ph type="sldImg"/>
          </p:nvPr>
        </p:nvSpPr>
        <p:spPr>
          <a:xfrm>
            <a:off x="685800" y="1143000"/>
            <a:ext cx="5486040" cy="3085920"/>
          </a:xfrm>
          <a:prstGeom prst="rect">
            <a:avLst/>
          </a:prstGeom>
          <a:ln w="0">
            <a:noFill/>
          </a:ln>
        </p:spPr>
      </p:sp>
      <p:sp>
        <p:nvSpPr>
          <p:cNvPr id="105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Presenter 6: Clarify that population density is important for safety planning, emergency communication and exposure assessment.</a:t>
            </a:r>
            <a:endParaRPr b="0" lang="en-US" sz="2000" strike="noStrike" u="none">
              <a:solidFill>
                <a:srgbClr val="000000"/>
              </a:solidFill>
              <a:effectLst/>
              <a:uFillTx/>
              <a:latin typeface="Arial"/>
            </a:endParaRPr>
          </a:p>
        </p:txBody>
      </p:sp>
      <p:sp>
        <p:nvSpPr>
          <p:cNvPr id="1052" name="PlaceHolder 3"/>
          <p:cNvSpPr>
            <a:spLocks noGrp="1"/>
          </p:cNvSpPr>
          <p:nvPr>
            <p:ph type="sldNum" idx="21"/>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3C96B72B-D3A6-429A-A585-9B2DE3C131BA}"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3" name="PlaceHolder 1"/>
          <p:cNvSpPr>
            <a:spLocks noGrp="1"/>
          </p:cNvSpPr>
          <p:nvPr>
            <p:ph type="sldImg"/>
          </p:nvPr>
        </p:nvSpPr>
        <p:spPr>
          <a:xfrm>
            <a:off x="685800" y="1143000"/>
            <a:ext cx="5486040" cy="3085920"/>
          </a:xfrm>
          <a:prstGeom prst="rect">
            <a:avLst/>
          </a:prstGeom>
          <a:ln w="0">
            <a:noFill/>
          </a:ln>
        </p:spPr>
      </p:sp>
      <p:sp>
        <p:nvSpPr>
          <p:cNvPr id="105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Presenter 6: Describe planning-zone importance for safety, monitoring, infrastructure and land-use control.</a:t>
            </a:r>
            <a:endParaRPr b="0" lang="en-US" sz="2000" strike="noStrike" u="none">
              <a:solidFill>
                <a:srgbClr val="000000"/>
              </a:solidFill>
              <a:effectLst/>
              <a:uFillTx/>
              <a:latin typeface="Arial"/>
            </a:endParaRPr>
          </a:p>
        </p:txBody>
      </p:sp>
      <p:sp>
        <p:nvSpPr>
          <p:cNvPr id="1055" name="PlaceHolder 3"/>
          <p:cNvSpPr>
            <a:spLocks noGrp="1"/>
          </p:cNvSpPr>
          <p:nvPr>
            <p:ph type="sldNum" idx="22"/>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98BC5508-CA21-404D-B0DA-9C3D9F169DD5}"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6" name="PlaceHolder 1"/>
          <p:cNvSpPr>
            <a:spLocks noGrp="1"/>
          </p:cNvSpPr>
          <p:nvPr>
            <p:ph type="sldImg"/>
          </p:nvPr>
        </p:nvSpPr>
        <p:spPr>
          <a:xfrm>
            <a:off x="685800" y="1143000"/>
            <a:ext cx="5486040" cy="3085920"/>
          </a:xfrm>
          <a:prstGeom prst="rect">
            <a:avLst/>
          </a:prstGeom>
          <a:ln w="0">
            <a:noFill/>
          </a:ln>
        </p:spPr>
      </p:sp>
      <p:sp>
        <p:nvSpPr>
          <p:cNvPr id="105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Presenter 7: Discuss earthquake risk as a design and emergency-planning issue. Avoid unsupported numbers and focus on the safety design statement in the source deck.</a:t>
            </a:r>
            <a:endParaRPr b="0" lang="en-US" sz="2000" strike="noStrike" u="none">
              <a:solidFill>
                <a:srgbClr val="000000"/>
              </a:solidFill>
              <a:effectLst/>
              <a:uFillTx/>
              <a:latin typeface="Arial"/>
            </a:endParaRPr>
          </a:p>
        </p:txBody>
      </p:sp>
      <p:sp>
        <p:nvSpPr>
          <p:cNvPr id="1058" name="PlaceHolder 3"/>
          <p:cNvSpPr>
            <a:spLocks noGrp="1"/>
          </p:cNvSpPr>
          <p:nvPr>
            <p:ph type="sldNum" idx="23"/>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9673F80D-2AD8-428C-A37C-94D1ED1B7BEB}"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9" name="PlaceHolder 1"/>
          <p:cNvSpPr>
            <a:spLocks noGrp="1"/>
          </p:cNvSpPr>
          <p:nvPr>
            <p:ph type="sldImg"/>
          </p:nvPr>
        </p:nvSpPr>
        <p:spPr>
          <a:xfrm>
            <a:off x="685800" y="1143000"/>
            <a:ext cx="5486040" cy="3085920"/>
          </a:xfrm>
          <a:prstGeom prst="rect">
            <a:avLst/>
          </a:prstGeom>
          <a:ln w="0">
            <a:noFill/>
          </a:ln>
        </p:spPr>
      </p:sp>
      <p:sp>
        <p:nvSpPr>
          <p:cNvPr id="106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Presenter 7: Explain natural disasters as multi-hazard stressors that require resilience planning and monitoring.</a:t>
            </a:r>
            <a:endParaRPr b="0" lang="en-US" sz="2000" strike="noStrike" u="none">
              <a:solidFill>
                <a:srgbClr val="000000"/>
              </a:solidFill>
              <a:effectLst/>
              <a:uFillTx/>
              <a:latin typeface="Arial"/>
            </a:endParaRPr>
          </a:p>
        </p:txBody>
      </p:sp>
      <p:sp>
        <p:nvSpPr>
          <p:cNvPr id="1061" name="PlaceHolder 3"/>
          <p:cNvSpPr>
            <a:spLocks noGrp="1"/>
          </p:cNvSpPr>
          <p:nvPr>
            <p:ph type="sldNum" idx="24"/>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3FA13305-411F-4957-8972-C299BF4526AE}"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2" name="PlaceHolder 1"/>
          <p:cNvSpPr>
            <a:spLocks noGrp="1"/>
          </p:cNvSpPr>
          <p:nvPr>
            <p:ph type="sldImg"/>
          </p:nvPr>
        </p:nvSpPr>
        <p:spPr>
          <a:xfrm>
            <a:off x="685800" y="1143000"/>
            <a:ext cx="5486040" cy="3085920"/>
          </a:xfrm>
          <a:prstGeom prst="rect">
            <a:avLst/>
          </a:prstGeom>
          <a:ln w="0">
            <a:noFill/>
          </a:ln>
        </p:spPr>
      </p:sp>
      <p:sp>
        <p:nvSpPr>
          <p:cNvPr id="1063"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Presenter 7: Frame Fukushima as a lesson for safety culture. Do not overgeneralise; connect the lesson to cooling continuity, emergency power and defense-in-depth.</a:t>
            </a:r>
            <a:endParaRPr b="0" lang="en-US" sz="2000" strike="noStrike" u="none">
              <a:solidFill>
                <a:srgbClr val="000000"/>
              </a:solidFill>
              <a:effectLst/>
              <a:uFillTx/>
              <a:latin typeface="Arial"/>
            </a:endParaRPr>
          </a:p>
        </p:txBody>
      </p:sp>
      <p:sp>
        <p:nvSpPr>
          <p:cNvPr id="1064" name="PlaceHolder 3"/>
          <p:cNvSpPr>
            <a:spLocks noGrp="1"/>
          </p:cNvSpPr>
          <p:nvPr>
            <p:ph type="sldNum" idx="25"/>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0E493CEE-277D-4609-AEAB-EEE7562094E3}"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5" name="PlaceHolder 1"/>
          <p:cNvSpPr>
            <a:spLocks noGrp="1"/>
          </p:cNvSpPr>
          <p:nvPr>
            <p:ph type="sldImg"/>
          </p:nvPr>
        </p:nvSpPr>
        <p:spPr>
          <a:xfrm>
            <a:off x="685800" y="1143000"/>
            <a:ext cx="5486040" cy="3085920"/>
          </a:xfrm>
          <a:prstGeom prst="rect">
            <a:avLst/>
          </a:prstGeom>
          <a:ln w="0">
            <a:noFill/>
          </a:ln>
        </p:spPr>
      </p:sp>
      <p:sp>
        <p:nvSpPr>
          <p:cNvPr id="1066"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Presenter 8: Explain the waste categories and why spent fuel is the most sensitive long-term environmental issue.</a:t>
            </a:r>
            <a:endParaRPr b="0" lang="en-US" sz="2000" strike="noStrike" u="none">
              <a:solidFill>
                <a:srgbClr val="000000"/>
              </a:solidFill>
              <a:effectLst/>
              <a:uFillTx/>
              <a:latin typeface="Arial"/>
            </a:endParaRPr>
          </a:p>
        </p:txBody>
      </p:sp>
      <p:sp>
        <p:nvSpPr>
          <p:cNvPr id="1067" name="PlaceHolder 3"/>
          <p:cNvSpPr>
            <a:spLocks noGrp="1"/>
          </p:cNvSpPr>
          <p:nvPr>
            <p:ph type="sldNum" idx="26"/>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86F80C03-52F0-431F-9475-15A46CB80D3A}"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8" name="PlaceHolder 1"/>
          <p:cNvSpPr>
            <a:spLocks noGrp="1"/>
          </p:cNvSpPr>
          <p:nvPr>
            <p:ph type="sldImg"/>
          </p:nvPr>
        </p:nvSpPr>
        <p:spPr>
          <a:xfrm>
            <a:off x="685800" y="1143000"/>
            <a:ext cx="5486040" cy="3085920"/>
          </a:xfrm>
          <a:prstGeom prst="rect">
            <a:avLst/>
          </a:prstGeom>
          <a:ln w="0">
            <a:noFill/>
          </a:ln>
        </p:spPr>
      </p:sp>
      <p:sp>
        <p:nvSpPr>
          <p:cNvPr id="1069"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Presenter 8: Explain waste management as a chain of control: classify, treat, store, transport and monitor.</a:t>
            </a:r>
            <a:endParaRPr b="0" lang="en-US" sz="2000" strike="noStrike" u="none">
              <a:solidFill>
                <a:srgbClr val="000000"/>
              </a:solidFill>
              <a:effectLst/>
              <a:uFillTx/>
              <a:latin typeface="Arial"/>
            </a:endParaRPr>
          </a:p>
        </p:txBody>
      </p:sp>
      <p:sp>
        <p:nvSpPr>
          <p:cNvPr id="1070" name="PlaceHolder 3"/>
          <p:cNvSpPr>
            <a:spLocks noGrp="1"/>
          </p:cNvSpPr>
          <p:nvPr>
            <p:ph type="sldNum" idx="27"/>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F04749CF-3E16-4368-B45B-D79AA392EEEC}"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1" name="PlaceHolder 1"/>
          <p:cNvSpPr>
            <a:spLocks noGrp="1"/>
          </p:cNvSpPr>
          <p:nvPr>
            <p:ph type="sldImg"/>
          </p:nvPr>
        </p:nvSpPr>
        <p:spPr>
          <a:xfrm>
            <a:off x="685800" y="1143000"/>
            <a:ext cx="5486040" cy="3085920"/>
          </a:xfrm>
          <a:prstGeom prst="rect">
            <a:avLst/>
          </a:prstGeom>
          <a:ln w="0">
            <a:noFill/>
          </a:ln>
        </p:spPr>
      </p:sp>
      <p:sp>
        <p:nvSpPr>
          <p:cNvPr id="107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Presenter 8: Explain why spent fuel goes to cooling pools and why this is one of the most important nuclear EIA issues.</a:t>
            </a:r>
            <a:endParaRPr b="0" lang="en-US" sz="2000" strike="noStrike" u="none">
              <a:solidFill>
                <a:srgbClr val="000000"/>
              </a:solidFill>
              <a:effectLst/>
              <a:uFillTx/>
              <a:latin typeface="Arial"/>
            </a:endParaRPr>
          </a:p>
        </p:txBody>
      </p:sp>
      <p:sp>
        <p:nvSpPr>
          <p:cNvPr id="1073" name="PlaceHolder 3"/>
          <p:cNvSpPr>
            <a:spLocks noGrp="1"/>
          </p:cNvSpPr>
          <p:nvPr>
            <p:ph type="sldNum" idx="28"/>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FA46778B-5E36-4D0F-8434-6E245AB97966}"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4" name="PlaceHolder 1"/>
          <p:cNvSpPr>
            <a:spLocks noGrp="1"/>
          </p:cNvSpPr>
          <p:nvPr>
            <p:ph type="sldImg"/>
          </p:nvPr>
        </p:nvSpPr>
        <p:spPr>
          <a:xfrm>
            <a:off x="685800" y="1143000"/>
            <a:ext cx="5486040" cy="3085920"/>
          </a:xfrm>
          <a:prstGeom prst="rect">
            <a:avLst/>
          </a:prstGeom>
          <a:ln w="0">
            <a:noFill/>
          </a:ln>
        </p:spPr>
      </p:sp>
      <p:sp>
        <p:nvSpPr>
          <p:cNvPr id="107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Presenter 9: Explain safety management as a combination of technology, people, institutions and monitoring.</a:t>
            </a:r>
            <a:endParaRPr b="0" lang="en-US" sz="2000" strike="noStrike" u="none">
              <a:solidFill>
                <a:srgbClr val="000000"/>
              </a:solidFill>
              <a:effectLst/>
              <a:uFillTx/>
              <a:latin typeface="Arial"/>
            </a:endParaRPr>
          </a:p>
        </p:txBody>
      </p:sp>
      <p:sp>
        <p:nvSpPr>
          <p:cNvPr id="1076" name="PlaceHolder 3"/>
          <p:cNvSpPr>
            <a:spLocks noGrp="1"/>
          </p:cNvSpPr>
          <p:nvPr>
            <p:ph type="sldNum" idx="29"/>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6A471D19-B06A-48F9-AB2A-19B5442CDC50}"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7" name="PlaceHolder 1"/>
          <p:cNvSpPr>
            <a:spLocks noGrp="1"/>
          </p:cNvSpPr>
          <p:nvPr>
            <p:ph type="sldImg"/>
          </p:nvPr>
        </p:nvSpPr>
        <p:spPr>
          <a:xfrm>
            <a:off x="685800" y="1143000"/>
            <a:ext cx="5486040" cy="3085920"/>
          </a:xfrm>
          <a:prstGeom prst="rect">
            <a:avLst/>
          </a:prstGeom>
          <a:ln w="0">
            <a:noFill/>
          </a:ln>
        </p:spPr>
      </p:sp>
      <p:sp>
        <p:nvSpPr>
          <p:cNvPr id="107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Presenter 9: Use the layered figure to explain the idea of defense in depth: multiple barriers, not a single safety feature.</a:t>
            </a:r>
            <a:endParaRPr b="0" lang="en-US" sz="2000" strike="noStrike" u="none">
              <a:solidFill>
                <a:srgbClr val="000000"/>
              </a:solidFill>
              <a:effectLst/>
              <a:uFillTx/>
              <a:latin typeface="Arial"/>
            </a:endParaRPr>
          </a:p>
        </p:txBody>
      </p:sp>
      <p:sp>
        <p:nvSpPr>
          <p:cNvPr id="1079" name="PlaceHolder 3"/>
          <p:cNvSpPr>
            <a:spLocks noGrp="1"/>
          </p:cNvSpPr>
          <p:nvPr>
            <p:ph type="sldNum" idx="30"/>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0F21F6F3-C4CD-4162-974F-8CC855E9746F}"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0" name="PlaceHolder 1"/>
          <p:cNvSpPr>
            <a:spLocks noGrp="1"/>
          </p:cNvSpPr>
          <p:nvPr>
            <p:ph type="sldImg"/>
          </p:nvPr>
        </p:nvSpPr>
        <p:spPr>
          <a:xfrm>
            <a:off x="685800" y="1143000"/>
            <a:ext cx="5486040" cy="3085920"/>
          </a:xfrm>
          <a:prstGeom prst="rect">
            <a:avLst/>
          </a:prstGeom>
          <a:ln w="0">
            <a:noFill/>
          </a:ln>
        </p:spPr>
      </p:sp>
      <p:sp>
        <p:nvSpPr>
          <p:cNvPr id="108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Presenter 9: Explain core catcher and containment in simple terms. Connect passive safety with environmental protection.</a:t>
            </a:r>
            <a:endParaRPr b="0" lang="en-US" sz="2000" strike="noStrike" u="none">
              <a:solidFill>
                <a:srgbClr val="000000"/>
              </a:solidFill>
              <a:effectLst/>
              <a:uFillTx/>
              <a:latin typeface="Arial"/>
            </a:endParaRPr>
          </a:p>
        </p:txBody>
      </p:sp>
      <p:sp>
        <p:nvSpPr>
          <p:cNvPr id="1082" name="PlaceHolder 3"/>
          <p:cNvSpPr>
            <a:spLocks noGrp="1"/>
          </p:cNvSpPr>
          <p:nvPr>
            <p:ph type="sldNum" idx="31"/>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182CE755-0053-4A6C-B31A-80060349F58D}"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3" name="PlaceHolder 1"/>
          <p:cNvSpPr>
            <a:spLocks noGrp="1"/>
          </p:cNvSpPr>
          <p:nvPr>
            <p:ph type="sldImg"/>
          </p:nvPr>
        </p:nvSpPr>
        <p:spPr>
          <a:xfrm>
            <a:off x="685800" y="1143000"/>
            <a:ext cx="5486040" cy="3085920"/>
          </a:xfrm>
          <a:prstGeom prst="rect">
            <a:avLst/>
          </a:prstGeom>
          <a:ln w="0">
            <a:noFill/>
          </a:ln>
        </p:spPr>
      </p:sp>
      <p:sp>
        <p:nvSpPr>
          <p:cNvPr id="108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Presenter 10: Summarise advantages using the table. Emphasise clean air, stable baseload power and energy diversification.</a:t>
            </a:r>
            <a:endParaRPr b="0" lang="en-US" sz="2000" strike="noStrike" u="none">
              <a:solidFill>
                <a:srgbClr val="000000"/>
              </a:solidFill>
              <a:effectLst/>
              <a:uFillTx/>
              <a:latin typeface="Arial"/>
            </a:endParaRPr>
          </a:p>
        </p:txBody>
      </p:sp>
      <p:sp>
        <p:nvSpPr>
          <p:cNvPr id="1085" name="PlaceHolder 3"/>
          <p:cNvSpPr>
            <a:spLocks noGrp="1"/>
          </p:cNvSpPr>
          <p:nvPr>
            <p:ph type="sldNum" idx="32"/>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DAE47529-75AC-47C6-A996-CEDB0004B4B9}"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6" name="PlaceHolder 1"/>
          <p:cNvSpPr>
            <a:spLocks noGrp="1"/>
          </p:cNvSpPr>
          <p:nvPr>
            <p:ph type="sldImg"/>
          </p:nvPr>
        </p:nvSpPr>
        <p:spPr>
          <a:xfrm>
            <a:off x="685800" y="1143000"/>
            <a:ext cx="5486040" cy="3085920"/>
          </a:xfrm>
          <a:prstGeom prst="rect">
            <a:avLst/>
          </a:prstGeom>
          <a:ln w="0">
            <a:noFill/>
          </a:ln>
        </p:spPr>
      </p:sp>
      <p:sp>
        <p:nvSpPr>
          <p:cNvPr id="108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Presenter 10: Explain that challenges do not mean the project cannot proceed, but they require strict mitigation and monitoring.</a:t>
            </a:r>
            <a:endParaRPr b="0" lang="en-US" sz="2000" strike="noStrike" u="none">
              <a:solidFill>
                <a:srgbClr val="000000"/>
              </a:solidFill>
              <a:effectLst/>
              <a:uFillTx/>
              <a:latin typeface="Arial"/>
            </a:endParaRPr>
          </a:p>
        </p:txBody>
      </p:sp>
      <p:sp>
        <p:nvSpPr>
          <p:cNvPr id="1088" name="PlaceHolder 3"/>
          <p:cNvSpPr>
            <a:spLocks noGrp="1"/>
          </p:cNvSpPr>
          <p:nvPr>
            <p:ph type="sldNum" idx="33"/>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1CB9AD61-2B51-47DC-9BA2-4DD5E0E87A0D}"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9" name="PlaceHolder 1"/>
          <p:cNvSpPr>
            <a:spLocks noGrp="1"/>
          </p:cNvSpPr>
          <p:nvPr>
            <p:ph type="sldImg"/>
          </p:nvPr>
        </p:nvSpPr>
        <p:spPr>
          <a:xfrm>
            <a:off x="685800" y="1143000"/>
            <a:ext cx="5486040" cy="3085920"/>
          </a:xfrm>
          <a:prstGeom prst="rect">
            <a:avLst/>
          </a:prstGeom>
          <a:ln w="0">
            <a:noFill/>
          </a:ln>
        </p:spPr>
      </p:sp>
      <p:sp>
        <p:nvSpPr>
          <p:cNvPr id="109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Presenter 10: Present recommendations as practical actions for safer and more sustainable RNPP operation.</a:t>
            </a:r>
            <a:endParaRPr b="0" lang="en-US" sz="2000" strike="noStrike" u="none">
              <a:solidFill>
                <a:srgbClr val="000000"/>
              </a:solidFill>
              <a:effectLst/>
              <a:uFillTx/>
              <a:latin typeface="Arial"/>
            </a:endParaRPr>
          </a:p>
        </p:txBody>
      </p:sp>
      <p:sp>
        <p:nvSpPr>
          <p:cNvPr id="1091" name="PlaceHolder 3"/>
          <p:cNvSpPr>
            <a:spLocks noGrp="1"/>
          </p:cNvSpPr>
          <p:nvPr>
            <p:ph type="sldNum" idx="34"/>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36D3F6F7-13B2-4B45-BCB8-7C078804A171}"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2" name="PlaceHolder 1"/>
          <p:cNvSpPr>
            <a:spLocks noGrp="1"/>
          </p:cNvSpPr>
          <p:nvPr>
            <p:ph type="sldImg"/>
          </p:nvPr>
        </p:nvSpPr>
        <p:spPr>
          <a:xfrm>
            <a:off x="685800" y="1143000"/>
            <a:ext cx="5486040" cy="3085920"/>
          </a:xfrm>
          <a:prstGeom prst="rect">
            <a:avLst/>
          </a:prstGeom>
          <a:ln w="0">
            <a:noFill/>
          </a:ln>
        </p:spPr>
      </p:sp>
      <p:sp>
        <p:nvSpPr>
          <p:cNvPr id="1093"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Presenter 10: Conclude by balancing benefits and risks. Emphasise continuous governance.</a:t>
            </a:r>
            <a:endParaRPr b="0" lang="en-US" sz="2000" strike="noStrike" u="none">
              <a:solidFill>
                <a:srgbClr val="000000"/>
              </a:solidFill>
              <a:effectLst/>
              <a:uFillTx/>
              <a:latin typeface="Arial"/>
            </a:endParaRPr>
          </a:p>
        </p:txBody>
      </p:sp>
      <p:sp>
        <p:nvSpPr>
          <p:cNvPr id="1094" name="PlaceHolder 3"/>
          <p:cNvSpPr>
            <a:spLocks noGrp="1"/>
          </p:cNvSpPr>
          <p:nvPr>
            <p:ph type="sldNum" idx="35"/>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65A71A65-55C1-4E37-98CB-003EE511B41F}"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5" name="PlaceHolder 1"/>
          <p:cNvSpPr>
            <a:spLocks noGrp="1"/>
          </p:cNvSpPr>
          <p:nvPr>
            <p:ph type="sldImg"/>
          </p:nvPr>
        </p:nvSpPr>
        <p:spPr>
          <a:xfrm>
            <a:off x="685800" y="1143000"/>
            <a:ext cx="5486040" cy="3085920"/>
          </a:xfrm>
          <a:prstGeom prst="rect">
            <a:avLst/>
          </a:prstGeom>
          <a:ln w="0">
            <a:noFill/>
          </a:ln>
        </p:spPr>
      </p:sp>
      <p:sp>
        <p:nvSpPr>
          <p:cNvPr id="1096"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Presenter 10: Explain future research gaps and show how they extend the EIA agenda.</a:t>
            </a:r>
            <a:endParaRPr b="0" lang="en-US" sz="2000" strike="noStrike" u="none">
              <a:solidFill>
                <a:srgbClr val="000000"/>
              </a:solidFill>
              <a:effectLst/>
              <a:uFillTx/>
              <a:latin typeface="Arial"/>
            </a:endParaRPr>
          </a:p>
        </p:txBody>
      </p:sp>
      <p:sp>
        <p:nvSpPr>
          <p:cNvPr id="1097" name="PlaceHolder 3"/>
          <p:cNvSpPr>
            <a:spLocks noGrp="1"/>
          </p:cNvSpPr>
          <p:nvPr>
            <p:ph type="sldNum" idx="36"/>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26689596-B081-4999-A136-CD4E0354C246}"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8" name="PlaceHolder 1"/>
          <p:cNvSpPr>
            <a:spLocks noGrp="1"/>
          </p:cNvSpPr>
          <p:nvPr>
            <p:ph type="sldImg"/>
          </p:nvPr>
        </p:nvSpPr>
        <p:spPr>
          <a:xfrm>
            <a:off x="685800" y="1143000"/>
            <a:ext cx="5486040" cy="3085920"/>
          </a:xfrm>
          <a:prstGeom prst="rect">
            <a:avLst/>
          </a:prstGeom>
          <a:ln w="0">
            <a:noFill/>
          </a:ln>
        </p:spPr>
      </p:sp>
      <p:sp>
        <p:nvSpPr>
          <p:cNvPr id="1099"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Presenter 10: Mention the source limitation honestly if asked. The provided deck content was used as the available source.</a:t>
            </a:r>
            <a:endParaRPr b="0" lang="en-US" sz="2000" strike="noStrike" u="none">
              <a:solidFill>
                <a:srgbClr val="000000"/>
              </a:solidFill>
              <a:effectLst/>
              <a:uFillTx/>
              <a:latin typeface="Arial"/>
            </a:endParaRPr>
          </a:p>
        </p:txBody>
      </p:sp>
      <p:sp>
        <p:nvSpPr>
          <p:cNvPr id="1100" name="PlaceHolder 3"/>
          <p:cNvSpPr>
            <a:spLocks noGrp="1"/>
          </p:cNvSpPr>
          <p:nvPr>
            <p:ph type="sldNum" idx="37"/>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BA2B0034-340F-4944-9093-3B0F819434E8}"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1" name="PlaceHolder 1"/>
          <p:cNvSpPr>
            <a:spLocks noGrp="1"/>
          </p:cNvSpPr>
          <p:nvPr>
            <p:ph type="sldImg"/>
          </p:nvPr>
        </p:nvSpPr>
        <p:spPr>
          <a:xfrm>
            <a:off x="685800" y="1143000"/>
            <a:ext cx="5486040" cy="3085920"/>
          </a:xfrm>
          <a:prstGeom prst="rect">
            <a:avLst/>
          </a:prstGeom>
          <a:ln w="0">
            <a:noFill/>
          </a:ln>
        </p:spPr>
      </p:sp>
      <p:sp>
        <p:nvSpPr>
          <p:cNvPr id="110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Presenter 10: Close the seminar and invite questions from the audience.</a:t>
            </a:r>
            <a:endParaRPr b="0" lang="en-US" sz="2000" strike="noStrike" u="none">
              <a:solidFill>
                <a:srgbClr val="000000"/>
              </a:solidFill>
              <a:effectLst/>
              <a:uFillTx/>
              <a:latin typeface="Arial"/>
            </a:endParaRPr>
          </a:p>
        </p:txBody>
      </p:sp>
      <p:sp>
        <p:nvSpPr>
          <p:cNvPr id="1103" name="PlaceHolder 3"/>
          <p:cNvSpPr>
            <a:spLocks noGrp="1"/>
          </p:cNvSpPr>
          <p:nvPr>
            <p:ph type="sldNum" idx="38"/>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1B420324-C758-4E63-BEC4-EA3B3A2F5076}"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r>
              <a:rPr b="0" lang="en-US" sz="1800" strike="noStrike" u="none">
                <a:solidFill>
                  <a:schemeClr val="dk1"/>
                </a:solidFill>
                <a:effectLst/>
                <a:uFillTx/>
                <a:latin typeface="Aptos"/>
              </a:rPr>
              <a:t>Click to edit the title text format</a:t>
            </a:r>
            <a:endParaRPr b="0" lang="en-US" sz="1800" strike="noStrike" u="none">
              <a:solidFill>
                <a:schemeClr val="dk1"/>
              </a:solidFill>
              <a:effectLst/>
              <a:uFillTx/>
              <a:latin typeface="Aptos"/>
            </a:endParaRPr>
          </a:p>
        </p:txBody>
      </p:sp>
      <p:sp>
        <p:nvSpPr>
          <p:cNvPr id="1" name="PlaceHolder 2"/>
          <p:cNvSpPr>
            <a:spLocks noGrp="1"/>
          </p:cNvSpPr>
          <p:nvPr>
            <p:ph type="body"/>
          </p:nvPr>
        </p:nvSpPr>
        <p:spPr>
          <a:xfrm>
            <a:off x="609480" y="1604520"/>
            <a:ext cx="1097208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chemeClr val="dk1"/>
                </a:solidFill>
                <a:effectLst/>
                <a:uFillTx/>
                <a:latin typeface="Aptos"/>
              </a:rPr>
              <a:t>Click to edit the outline text format</a:t>
            </a:r>
            <a:endParaRPr b="0" lang="en-US" sz="3200" strike="noStrike" u="none">
              <a:solidFill>
                <a:schemeClr val="dk1"/>
              </a:solidFill>
              <a:effectLst/>
              <a:uFillTx/>
              <a:latin typeface="Aptos"/>
            </a:endParaRPr>
          </a:p>
          <a:p>
            <a:pPr lvl="1" marL="864000" indent="-324000">
              <a:spcBef>
                <a:spcPts val="1134"/>
              </a:spcBef>
              <a:buClr>
                <a:srgbClr val="000000"/>
              </a:buClr>
              <a:buSzPct val="75000"/>
              <a:buFont typeface="Symbol" charset="2"/>
              <a:buChar char=""/>
            </a:pPr>
            <a:r>
              <a:rPr b="0" lang="en-US" sz="2400" strike="noStrike" u="none">
                <a:solidFill>
                  <a:schemeClr val="dk1"/>
                </a:solidFill>
                <a:effectLst/>
                <a:uFillTx/>
                <a:latin typeface="Aptos"/>
              </a:rPr>
              <a:t>Second Outline Level</a:t>
            </a:r>
            <a:endParaRPr b="0" lang="en-US" sz="2400" strike="noStrike" u="none">
              <a:solidFill>
                <a:schemeClr val="dk1"/>
              </a:solidFill>
              <a:effectLst/>
              <a:uFillTx/>
              <a:latin typeface="Aptos"/>
            </a:endParaRPr>
          </a:p>
          <a:p>
            <a:pPr lvl="2" marL="1296000" indent="-288000">
              <a:spcBef>
                <a:spcPts val="850"/>
              </a:spcBef>
              <a:buClr>
                <a:srgbClr val="000000"/>
              </a:buClr>
              <a:buSzPct val="45000"/>
              <a:buFont typeface="Wingdings" charset="2"/>
              <a:buChar char=""/>
            </a:pPr>
            <a:r>
              <a:rPr b="0" lang="en-US" sz="2000" strike="noStrike" u="none">
                <a:solidFill>
                  <a:schemeClr val="dk1"/>
                </a:solidFill>
                <a:effectLst/>
                <a:uFillTx/>
                <a:latin typeface="Aptos"/>
              </a:rPr>
              <a:t>Third Outline Level</a:t>
            </a:r>
            <a:endParaRPr b="0" lang="en-US" sz="2000" strike="noStrike" u="none">
              <a:solidFill>
                <a:schemeClr val="dk1"/>
              </a:solidFill>
              <a:effectLst/>
              <a:uFillTx/>
              <a:latin typeface="Aptos"/>
            </a:endParaRPr>
          </a:p>
          <a:p>
            <a:pPr lvl="3" marL="1728000" indent="-216000">
              <a:spcBef>
                <a:spcPts val="567"/>
              </a:spcBef>
              <a:buClr>
                <a:srgbClr val="000000"/>
              </a:buClr>
              <a:buSzPct val="75000"/>
              <a:buFont typeface="Symbol" charset="2"/>
              <a:buChar char=""/>
            </a:pPr>
            <a:r>
              <a:rPr b="0" lang="en-US" sz="2000" strike="noStrike" u="none">
                <a:solidFill>
                  <a:schemeClr val="dk1"/>
                </a:solidFill>
                <a:effectLst/>
                <a:uFillTx/>
                <a:latin typeface="Aptos"/>
              </a:rPr>
              <a:t>Fourth Outline Level</a:t>
            </a:r>
            <a:endParaRPr b="0" lang="en-US" sz="2000" strike="noStrike" u="none">
              <a:solidFill>
                <a:schemeClr val="dk1"/>
              </a:solidFill>
              <a:effectLst/>
              <a:uFillTx/>
              <a:latin typeface="Aptos"/>
            </a:endParaRPr>
          </a:p>
          <a:p>
            <a:pPr lvl="4" marL="2160000" indent="-216000">
              <a:spcBef>
                <a:spcPts val="283"/>
              </a:spcBef>
              <a:buClr>
                <a:srgbClr val="000000"/>
              </a:buClr>
              <a:buSzPct val="45000"/>
              <a:buFont typeface="Wingdings" charset="2"/>
              <a:buChar char=""/>
            </a:pPr>
            <a:r>
              <a:rPr b="0" lang="en-US" sz="2000" strike="noStrike" u="none">
                <a:solidFill>
                  <a:schemeClr val="dk1"/>
                </a:solidFill>
                <a:effectLst/>
                <a:uFillTx/>
                <a:latin typeface="Aptos"/>
              </a:rPr>
              <a:t>Fifth Outline Level</a:t>
            </a:r>
            <a:endParaRPr b="0" lang="en-US" sz="2000" strike="noStrike" u="none">
              <a:solidFill>
                <a:schemeClr val="dk1"/>
              </a:solidFill>
              <a:effectLst/>
              <a:uFillTx/>
              <a:latin typeface="Aptos"/>
            </a:endParaRPr>
          </a:p>
          <a:p>
            <a:pPr lvl="5" marL="2592000" indent="-216000">
              <a:spcBef>
                <a:spcPts val="283"/>
              </a:spcBef>
              <a:buClr>
                <a:srgbClr val="000000"/>
              </a:buClr>
              <a:buSzPct val="45000"/>
              <a:buFont typeface="Wingdings" charset="2"/>
              <a:buChar char=""/>
            </a:pPr>
            <a:r>
              <a:rPr b="0" lang="en-US" sz="2000" strike="noStrike" u="none">
                <a:solidFill>
                  <a:schemeClr val="dk1"/>
                </a:solidFill>
                <a:effectLst/>
                <a:uFillTx/>
                <a:latin typeface="Aptos"/>
              </a:rPr>
              <a:t>Sixth Outline Level</a:t>
            </a:r>
            <a:endParaRPr b="0" lang="en-US" sz="2000" strike="noStrike" u="none">
              <a:solidFill>
                <a:schemeClr val="dk1"/>
              </a:solidFill>
              <a:effectLst/>
              <a:uFillTx/>
              <a:latin typeface="Aptos"/>
            </a:endParaRPr>
          </a:p>
          <a:p>
            <a:pPr lvl="6" marL="3024000" indent="-216000">
              <a:spcBef>
                <a:spcPts val="283"/>
              </a:spcBef>
              <a:buClr>
                <a:srgbClr val="000000"/>
              </a:buClr>
              <a:buSzPct val="45000"/>
              <a:buFont typeface="Wingdings" charset="2"/>
              <a:buChar char=""/>
            </a:pPr>
            <a:r>
              <a:rPr b="0" lang="en-US" sz="2000" strike="noStrike" u="none">
                <a:solidFill>
                  <a:schemeClr val="dk1"/>
                </a:solidFill>
                <a:effectLst/>
                <a:uFillTx/>
                <a:latin typeface="Aptos"/>
              </a:rPr>
              <a:t>Seventh Outline Level</a:t>
            </a:r>
            <a:endParaRPr b="0" lang="en-US" sz="2000" strike="noStrike" u="none">
              <a:solidFill>
                <a:schemeClr val="dk1"/>
              </a:solidFill>
              <a:effectLst/>
              <a:uFillTx/>
              <a:latin typeface="Aptos"/>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
</Relationships>
</file>

<file path=ppt/slides/_rels/slide3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35.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6172f"/>
        </a:solidFill>
      </p:bgPr>
    </p:bg>
    <p:spTree>
      <p:nvGrpSpPr>
        <p:cNvPr id="1" name=""/>
        <p:cNvGrpSpPr/>
        <p:nvPr/>
      </p:nvGrpSpPr>
      <p:grpSpPr>
        <a:xfrm>
          <a:off x="0" y="0"/>
          <a:ext cx="0" cy="0"/>
          <a:chOff x="0" y="0"/>
          <a:chExt cx="0" cy="0"/>
        </a:xfrm>
      </p:grpSpPr>
      <p:sp>
        <p:nvSpPr>
          <p:cNvPr id="8" name="Shape 0"/>
          <p:cNvSpPr/>
          <p:nvPr/>
        </p:nvSpPr>
        <p:spPr>
          <a:xfrm>
            <a:off x="0" y="0"/>
            <a:ext cx="12191400" cy="6857640"/>
          </a:xfrm>
          <a:prstGeom prst="rect">
            <a:avLst/>
          </a:prstGeom>
          <a:solidFill>
            <a:srgbClr val="06172f"/>
          </a:solidFill>
          <a:ln w="12700">
            <a:solidFill>
              <a:srgbClr val="06172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9" name="Shape 1"/>
          <p:cNvSpPr/>
          <p:nvPr/>
        </p:nvSpPr>
        <p:spPr>
          <a:xfrm>
            <a:off x="7680960" y="-1005840"/>
            <a:ext cx="4388760" cy="2925720"/>
          </a:xfrm>
          <a:prstGeom prst="arc">
            <a:avLst>
              <a:gd name="adj1" fmla="val 16200000"/>
              <a:gd name="adj2" fmla="val 0"/>
            </a:avLst>
          </a:prstGeom>
          <a:solidFill>
            <a:srgbClr val="0e3a68">
              <a:alpha val="75000"/>
            </a:srgbClr>
          </a:solidFill>
          <a:ln w="12700">
            <a:solidFill>
              <a:srgbClr val="0e3a68">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0" name="Shape 2"/>
          <p:cNvSpPr/>
          <p:nvPr/>
        </p:nvSpPr>
        <p:spPr>
          <a:xfrm>
            <a:off x="8778240" y="-777240"/>
            <a:ext cx="3474360" cy="2285640"/>
          </a:xfrm>
          <a:prstGeom prst="arc">
            <a:avLst>
              <a:gd name="adj1" fmla="val 16200000"/>
              <a:gd name="adj2" fmla="val 0"/>
            </a:avLst>
          </a:prstGeom>
          <a:solidFill>
            <a:srgbClr val="0b4d5e">
              <a:alpha val="65000"/>
            </a:srgbClr>
          </a:solidFill>
          <a:ln w="12700">
            <a:solidFill>
              <a:srgbClr val="0b4d5e">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1" name="Shape 3"/>
          <p:cNvSpPr/>
          <p:nvPr/>
        </p:nvSpPr>
        <p:spPr>
          <a:xfrm>
            <a:off x="0" y="0"/>
            <a:ext cx="109440" cy="6857640"/>
          </a:xfrm>
          <a:prstGeom prst="rect">
            <a:avLst/>
          </a:prstGeom>
          <a:solidFill>
            <a:srgbClr val="00b078"/>
          </a:solidFill>
          <a:ln w="12700">
            <a:solidFill>
              <a:srgbClr val="00b078">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2" name="Shape 4"/>
          <p:cNvSpPr/>
          <p:nvPr/>
        </p:nvSpPr>
        <p:spPr>
          <a:xfrm>
            <a:off x="320040" y="6565320"/>
            <a:ext cx="11521080" cy="16200"/>
          </a:xfrm>
          <a:prstGeom prst="rect">
            <a:avLst/>
          </a:prstGeom>
          <a:solidFill>
            <a:srgbClr val="435d78"/>
          </a:solidFill>
          <a:ln w="12700">
            <a:solidFill>
              <a:srgbClr val="435d78">
                <a:alpha val="0"/>
              </a:srgbClr>
            </a:solidFill>
            <a:round/>
          </a:ln>
        </p:spPr>
        <p:style>
          <a:lnRef idx="0"/>
          <a:fillRef idx="0"/>
          <a:effectRef idx="0"/>
          <a:fontRef idx="minor"/>
        </p:style>
        <p:txBody>
          <a:bodyPr lIns="90000" rIns="90000" tIns="-28440" bIns="-28440" anchor="t">
            <a:noAutofit/>
          </a:bodyPr>
          <a:p>
            <a:endParaRPr b="0" lang="en-US" sz="1800" strike="noStrike" u="none">
              <a:solidFill>
                <a:srgbClr val="ffffff"/>
              </a:solidFill>
              <a:effectLst/>
              <a:uFillTx/>
              <a:latin typeface="Arial"/>
            </a:endParaRPr>
          </a:p>
        </p:txBody>
      </p:sp>
      <p:sp>
        <p:nvSpPr>
          <p:cNvPr id="13" name="Text 5"/>
          <p:cNvSpPr/>
          <p:nvPr/>
        </p:nvSpPr>
        <p:spPr>
          <a:xfrm>
            <a:off x="11356920" y="6602040"/>
            <a:ext cx="502560" cy="13680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50" strike="noStrike" u="none">
                <a:solidFill>
                  <a:srgbClr val="b0c1d5"/>
                </a:solidFill>
                <a:effectLst/>
                <a:uFillTx/>
                <a:latin typeface="Aptos"/>
                <a:ea typeface="Aptos"/>
              </a:rPr>
              <a:t>01</a:t>
            </a:r>
            <a:endParaRPr b="0" lang="en-US" sz="950" strike="noStrike" u="none">
              <a:solidFill>
                <a:srgbClr val="ffffff"/>
              </a:solidFill>
              <a:effectLst/>
              <a:uFillTx/>
              <a:latin typeface="Arial"/>
            </a:endParaRPr>
          </a:p>
        </p:txBody>
      </p:sp>
      <p:sp>
        <p:nvSpPr>
          <p:cNvPr id="14" name="Text 6"/>
          <p:cNvSpPr/>
          <p:nvPr/>
        </p:nvSpPr>
        <p:spPr>
          <a:xfrm>
            <a:off x="475560" y="228600"/>
            <a:ext cx="10972440" cy="383760"/>
          </a:xfrm>
          <a:prstGeom prst="rect">
            <a:avLst/>
          </a:prstGeom>
          <a:noFill/>
          <a:ln w="0">
            <a:noFill/>
          </a:ln>
        </p:spPr>
        <p:style>
          <a:lnRef idx="0"/>
          <a:fillRef idx="0"/>
          <a:effectRef idx="0"/>
          <a:fontRef idx="minor"/>
        </p:style>
        <p:txBody>
          <a:bodyPr lIns="0" rIns="0" tIns="0" bIns="0" anchor="ctr">
            <a:normAutofit fontScale="92500" lnSpcReduction="9999"/>
          </a:bodyPr>
          <a:p>
            <a:pPr defTabSz="914400">
              <a:lnSpc>
                <a:spcPct val="100000"/>
              </a:lnSpc>
              <a:tabLst>
                <a:tab algn="l" pos="0"/>
              </a:tabLst>
            </a:pPr>
            <a:r>
              <a:rPr b="1" lang="en-US" sz="2500" strike="noStrike" u="none">
                <a:solidFill>
                  <a:srgbClr val="f5f8fc"/>
                </a:solidFill>
                <a:effectLst/>
                <a:uFillTx/>
                <a:latin typeface="Aptos Display"/>
                <a:ea typeface="Aptos Display"/>
              </a:rPr>
              <a:t>Environmental Impact Assessment (EIA) of Rooppur Nuclear Power Plant</a:t>
            </a:r>
            <a:endParaRPr b="0" lang="en-US" sz="2500" strike="noStrike" u="none">
              <a:solidFill>
                <a:srgbClr val="ffffff"/>
              </a:solidFill>
              <a:effectLst/>
              <a:uFillTx/>
              <a:latin typeface="Arial"/>
            </a:endParaRPr>
          </a:p>
        </p:txBody>
      </p:sp>
      <p:sp>
        <p:nvSpPr>
          <p:cNvPr id="15" name="Text 7"/>
          <p:cNvSpPr/>
          <p:nvPr/>
        </p:nvSpPr>
        <p:spPr>
          <a:xfrm>
            <a:off x="502920" y="704160"/>
            <a:ext cx="10835280" cy="255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50" strike="noStrike" u="none">
                <a:solidFill>
                  <a:srgbClr val="b0c1d5"/>
                </a:solidFill>
                <a:effectLst/>
                <a:uFillTx/>
                <a:latin typeface="Aptos"/>
              </a:rPr>
              <a:t>Rooppur Nuclear Power Plant (RNPP), Bangladesh | 10-presenter academic seminar</a:t>
            </a:r>
            <a:endParaRPr b="0" lang="en-US" sz="1250" strike="noStrike" u="none">
              <a:solidFill>
                <a:srgbClr val="ffffff"/>
              </a:solidFill>
              <a:effectLst/>
              <a:uFillTx/>
              <a:latin typeface="Arial"/>
            </a:endParaRPr>
          </a:p>
        </p:txBody>
      </p:sp>
      <p:pic>
        <p:nvPicPr>
          <p:cNvPr id="16" name="Image 0" descr="/mnt/data/wide_panoramic_landscape_scene_of_a_modern_industr.png"/>
          <p:cNvPicPr/>
          <p:nvPr/>
        </p:nvPicPr>
        <p:blipFill>
          <a:blip r:embed="rId1"/>
          <a:srcRect l="0" t="10351" r="0" b="10351"/>
          <a:stretch/>
        </p:blipFill>
        <p:spPr>
          <a:xfrm>
            <a:off x="0" y="987480"/>
            <a:ext cx="12191400" cy="5440320"/>
          </a:xfrm>
          <a:prstGeom prst="rect">
            <a:avLst/>
          </a:prstGeom>
          <a:noFill/>
          <a:ln w="0">
            <a:noFill/>
          </a:ln>
        </p:spPr>
      </p:pic>
      <p:sp>
        <p:nvSpPr>
          <p:cNvPr id="17" name="Shape 8"/>
          <p:cNvSpPr/>
          <p:nvPr/>
        </p:nvSpPr>
        <p:spPr>
          <a:xfrm>
            <a:off x="0" y="987480"/>
            <a:ext cx="12191400" cy="5440320"/>
          </a:xfrm>
          <a:prstGeom prst="rect">
            <a:avLst/>
          </a:prstGeom>
          <a:solidFill>
            <a:srgbClr val="06172f">
              <a:alpha val="62000"/>
            </a:srgbClr>
          </a:solidFill>
          <a:ln w="12700">
            <a:solidFill>
              <a:srgbClr val="06172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8" name="Text 9"/>
          <p:cNvSpPr/>
          <p:nvPr/>
        </p:nvSpPr>
        <p:spPr>
          <a:xfrm>
            <a:off x="731520" y="2212920"/>
            <a:ext cx="9875160" cy="6397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800" strike="noStrike" u="none">
                <a:solidFill>
                  <a:srgbClr val="f5f8fc"/>
                </a:solidFill>
                <a:effectLst/>
                <a:uFillTx/>
                <a:latin typeface="Aptos"/>
              </a:rPr>
              <a:t>Rooppur Nuclear Power Plant</a:t>
            </a:r>
            <a:endParaRPr b="0" lang="en-US" sz="3800" strike="noStrike" u="none">
              <a:solidFill>
                <a:srgbClr val="ffffff"/>
              </a:solidFill>
              <a:effectLst/>
              <a:uFillTx/>
              <a:latin typeface="Arial"/>
            </a:endParaRPr>
          </a:p>
        </p:txBody>
      </p:sp>
      <p:sp>
        <p:nvSpPr>
          <p:cNvPr id="19" name="Text 10"/>
          <p:cNvSpPr/>
          <p:nvPr/>
        </p:nvSpPr>
        <p:spPr>
          <a:xfrm>
            <a:off x="768240" y="3017520"/>
            <a:ext cx="9692280" cy="3470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800" strike="noStrike" u="none">
                <a:solidFill>
                  <a:srgbClr val="50d69b"/>
                </a:solidFill>
                <a:effectLst/>
                <a:uFillTx/>
                <a:latin typeface="Aptos"/>
              </a:rPr>
              <a:t>Environmental benefits, risks, safety systems and sustainability governance</a:t>
            </a:r>
            <a:endParaRPr b="0" lang="en-US" sz="1800" strike="noStrike" u="none">
              <a:solidFill>
                <a:srgbClr val="ffffff"/>
              </a:solidFill>
              <a:effectLst/>
              <a:uFillTx/>
              <a:latin typeface="Arial"/>
            </a:endParaRPr>
          </a:p>
        </p:txBody>
      </p:sp>
      <p:sp>
        <p:nvSpPr>
          <p:cNvPr id="20" name="Shape 11"/>
          <p:cNvSpPr/>
          <p:nvPr/>
        </p:nvSpPr>
        <p:spPr>
          <a:xfrm>
            <a:off x="777240" y="3657600"/>
            <a:ext cx="1508400" cy="255600"/>
          </a:xfrm>
          <a:prstGeom prst="roundRect">
            <a:avLst>
              <a:gd name="adj" fmla="val 28571"/>
            </a:avLst>
          </a:prstGeom>
          <a:solidFill>
            <a:srgbClr val="50d69b"/>
          </a:solidFill>
          <a:ln w="12700">
            <a:solidFill>
              <a:srgbClr val="50d69b">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1" name="Text 12"/>
          <p:cNvSpPr/>
          <p:nvPr/>
        </p:nvSpPr>
        <p:spPr>
          <a:xfrm>
            <a:off x="777240" y="3698640"/>
            <a:ext cx="1508400" cy="910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950" strike="noStrike" u="none">
                <a:solidFill>
                  <a:srgbClr val="06172f"/>
                </a:solidFill>
                <a:effectLst/>
                <a:uFillTx/>
                <a:latin typeface="Aptos"/>
              </a:rPr>
              <a:t>University Seminar</a:t>
            </a:r>
            <a:endParaRPr b="0" lang="en-US" sz="950" strike="noStrike" u="none">
              <a:solidFill>
                <a:srgbClr val="ffffff"/>
              </a:solidFill>
              <a:effectLst/>
              <a:uFillTx/>
              <a:latin typeface="Arial"/>
            </a:endParaRPr>
          </a:p>
        </p:txBody>
      </p:sp>
      <p:sp>
        <p:nvSpPr>
          <p:cNvPr id="22" name="Shape 13"/>
          <p:cNvSpPr/>
          <p:nvPr/>
        </p:nvSpPr>
        <p:spPr>
          <a:xfrm>
            <a:off x="2487240" y="3657600"/>
            <a:ext cx="1279800" cy="255600"/>
          </a:xfrm>
          <a:prstGeom prst="roundRect">
            <a:avLst>
              <a:gd name="adj" fmla="val 28571"/>
            </a:avLst>
          </a:prstGeom>
          <a:solidFill>
            <a:srgbClr val="5bd2ff"/>
          </a:solidFill>
          <a:ln w="12700">
            <a:solidFill>
              <a:srgbClr val="5bd2f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3" name="Text 14"/>
          <p:cNvSpPr/>
          <p:nvPr/>
        </p:nvSpPr>
        <p:spPr>
          <a:xfrm>
            <a:off x="2487240" y="3698640"/>
            <a:ext cx="1279800" cy="910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950" strike="noStrike" u="none">
                <a:solidFill>
                  <a:srgbClr val="06172f"/>
                </a:solidFill>
                <a:effectLst/>
                <a:uFillTx/>
                <a:latin typeface="Aptos"/>
              </a:rPr>
              <a:t>30–35 minutes</a:t>
            </a:r>
            <a:endParaRPr b="0" lang="en-US" sz="950" strike="noStrike" u="none">
              <a:solidFill>
                <a:srgbClr val="ffffff"/>
              </a:solidFill>
              <a:effectLst/>
              <a:uFillTx/>
              <a:latin typeface="Arial"/>
            </a:endParaRPr>
          </a:p>
        </p:txBody>
      </p:sp>
      <p:sp>
        <p:nvSpPr>
          <p:cNvPr id="24" name="Shape 15"/>
          <p:cNvSpPr/>
          <p:nvPr/>
        </p:nvSpPr>
        <p:spPr>
          <a:xfrm>
            <a:off x="3950280" y="3657600"/>
            <a:ext cx="1142640" cy="255600"/>
          </a:xfrm>
          <a:prstGeom prst="roundRect">
            <a:avLst>
              <a:gd name="adj" fmla="val 28571"/>
            </a:avLst>
          </a:prstGeom>
          <a:solidFill>
            <a:srgbClr val="f0be49"/>
          </a:solidFill>
          <a:ln w="12700">
            <a:solidFill>
              <a:srgbClr val="f0be49">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5" name="Text 16"/>
          <p:cNvSpPr/>
          <p:nvPr/>
        </p:nvSpPr>
        <p:spPr>
          <a:xfrm>
            <a:off x="3950280" y="3698640"/>
            <a:ext cx="1142640" cy="910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950" strike="noStrike" u="none">
                <a:solidFill>
                  <a:srgbClr val="06172f"/>
                </a:solidFill>
                <a:effectLst/>
                <a:uFillTx/>
                <a:latin typeface="Aptos"/>
              </a:rPr>
              <a:t>10 presenters</a:t>
            </a:r>
            <a:endParaRPr b="0" lang="en-US" sz="950" strike="noStrike" u="none">
              <a:solidFill>
                <a:srgbClr val="ffffff"/>
              </a:solidFill>
              <a:effectLst/>
              <a:uFillTx/>
              <a:latin typeface="Arial"/>
            </a:endParaRPr>
          </a:p>
        </p:txBody>
      </p:sp>
    </p:spTree>
  </p:cSld>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6172f"/>
        </a:solidFill>
      </p:bgPr>
    </p:bg>
    <p:spTree>
      <p:nvGrpSpPr>
        <p:cNvPr id="1" name=""/>
        <p:cNvGrpSpPr/>
        <p:nvPr/>
      </p:nvGrpSpPr>
      <p:grpSpPr>
        <a:xfrm>
          <a:off x="0" y="0"/>
          <a:ext cx="0" cy="0"/>
          <a:chOff x="0" y="0"/>
          <a:chExt cx="0" cy="0"/>
        </a:xfrm>
      </p:grpSpPr>
      <p:sp>
        <p:nvSpPr>
          <p:cNvPr id="26" name="Shape 0"/>
          <p:cNvSpPr/>
          <p:nvPr/>
        </p:nvSpPr>
        <p:spPr>
          <a:xfrm>
            <a:off x="0" y="0"/>
            <a:ext cx="12191400" cy="6857640"/>
          </a:xfrm>
          <a:prstGeom prst="rect">
            <a:avLst/>
          </a:prstGeom>
          <a:solidFill>
            <a:srgbClr val="06172f"/>
          </a:solidFill>
          <a:ln w="12700">
            <a:solidFill>
              <a:srgbClr val="06172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7" name="Shape 1"/>
          <p:cNvSpPr/>
          <p:nvPr/>
        </p:nvSpPr>
        <p:spPr>
          <a:xfrm>
            <a:off x="7680960" y="-1005840"/>
            <a:ext cx="4388760" cy="2925720"/>
          </a:xfrm>
          <a:prstGeom prst="arc">
            <a:avLst>
              <a:gd name="adj1" fmla="val 16200000"/>
              <a:gd name="adj2" fmla="val 0"/>
            </a:avLst>
          </a:prstGeom>
          <a:solidFill>
            <a:srgbClr val="0e3a68">
              <a:alpha val="75000"/>
            </a:srgbClr>
          </a:solidFill>
          <a:ln w="12700">
            <a:solidFill>
              <a:srgbClr val="0e3a68">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8" name="Shape 2"/>
          <p:cNvSpPr/>
          <p:nvPr/>
        </p:nvSpPr>
        <p:spPr>
          <a:xfrm>
            <a:off x="8778240" y="-777240"/>
            <a:ext cx="3474360" cy="2285640"/>
          </a:xfrm>
          <a:prstGeom prst="arc">
            <a:avLst>
              <a:gd name="adj1" fmla="val 16200000"/>
              <a:gd name="adj2" fmla="val 0"/>
            </a:avLst>
          </a:prstGeom>
          <a:solidFill>
            <a:srgbClr val="0b4d5e">
              <a:alpha val="65000"/>
            </a:srgbClr>
          </a:solidFill>
          <a:ln w="12700">
            <a:solidFill>
              <a:srgbClr val="0b4d5e">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9" name="Shape 3"/>
          <p:cNvSpPr/>
          <p:nvPr/>
        </p:nvSpPr>
        <p:spPr>
          <a:xfrm>
            <a:off x="0" y="0"/>
            <a:ext cx="109440" cy="6857640"/>
          </a:xfrm>
          <a:prstGeom prst="rect">
            <a:avLst/>
          </a:prstGeom>
          <a:solidFill>
            <a:srgbClr val="00b078"/>
          </a:solidFill>
          <a:ln w="12700">
            <a:solidFill>
              <a:srgbClr val="00b078">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0" name="Shape 4"/>
          <p:cNvSpPr/>
          <p:nvPr/>
        </p:nvSpPr>
        <p:spPr>
          <a:xfrm>
            <a:off x="320040" y="6565320"/>
            <a:ext cx="11521080" cy="16200"/>
          </a:xfrm>
          <a:prstGeom prst="rect">
            <a:avLst/>
          </a:prstGeom>
          <a:solidFill>
            <a:srgbClr val="435d78"/>
          </a:solidFill>
          <a:ln w="12700">
            <a:solidFill>
              <a:srgbClr val="435d78">
                <a:alpha val="0"/>
              </a:srgbClr>
            </a:solidFill>
            <a:round/>
          </a:ln>
        </p:spPr>
        <p:style>
          <a:lnRef idx="0"/>
          <a:fillRef idx="0"/>
          <a:effectRef idx="0"/>
          <a:fontRef idx="minor"/>
        </p:style>
        <p:txBody>
          <a:bodyPr lIns="90000" rIns="90000" tIns="-28440" bIns="-28440" anchor="t">
            <a:noAutofit/>
          </a:bodyPr>
          <a:p>
            <a:endParaRPr b="0" lang="en-US" sz="1800" strike="noStrike" u="none">
              <a:solidFill>
                <a:srgbClr val="ffffff"/>
              </a:solidFill>
              <a:effectLst/>
              <a:uFillTx/>
              <a:latin typeface="Arial"/>
            </a:endParaRPr>
          </a:p>
        </p:txBody>
      </p:sp>
      <p:sp>
        <p:nvSpPr>
          <p:cNvPr id="31" name="Text 5"/>
          <p:cNvSpPr/>
          <p:nvPr/>
        </p:nvSpPr>
        <p:spPr>
          <a:xfrm>
            <a:off x="11356920" y="6602040"/>
            <a:ext cx="502560" cy="13680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50" strike="noStrike" u="none">
                <a:solidFill>
                  <a:srgbClr val="b0c1d5"/>
                </a:solidFill>
                <a:effectLst/>
                <a:uFillTx/>
                <a:latin typeface="Aptos"/>
                <a:ea typeface="Aptos"/>
              </a:rPr>
              <a:t>02</a:t>
            </a:r>
            <a:endParaRPr b="0" lang="en-US" sz="950" strike="noStrike" u="none">
              <a:solidFill>
                <a:srgbClr val="ffffff"/>
              </a:solidFill>
              <a:effectLst/>
              <a:uFillTx/>
              <a:latin typeface="Arial"/>
            </a:endParaRPr>
          </a:p>
        </p:txBody>
      </p:sp>
      <p:sp>
        <p:nvSpPr>
          <p:cNvPr id="32" name="Text 6"/>
          <p:cNvSpPr/>
          <p:nvPr/>
        </p:nvSpPr>
        <p:spPr>
          <a:xfrm>
            <a:off x="475560" y="228600"/>
            <a:ext cx="10972440" cy="383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500" strike="noStrike" u="none">
                <a:solidFill>
                  <a:srgbClr val="f5f8fc"/>
                </a:solidFill>
                <a:effectLst/>
                <a:uFillTx/>
                <a:latin typeface="Aptos Display"/>
                <a:ea typeface="Aptos Display"/>
              </a:rPr>
              <a:t>Presentation Outline</a:t>
            </a:r>
            <a:endParaRPr b="0" lang="en-US" sz="2500" strike="noStrike" u="none">
              <a:solidFill>
                <a:srgbClr val="ffffff"/>
              </a:solidFill>
              <a:effectLst/>
              <a:uFillTx/>
              <a:latin typeface="Arial"/>
            </a:endParaRPr>
          </a:p>
        </p:txBody>
      </p:sp>
      <p:sp>
        <p:nvSpPr>
          <p:cNvPr id="33" name="Text 7"/>
          <p:cNvSpPr/>
          <p:nvPr/>
        </p:nvSpPr>
        <p:spPr>
          <a:xfrm>
            <a:off x="502920" y="704160"/>
            <a:ext cx="10835280" cy="255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50" strike="noStrike" u="none">
                <a:solidFill>
                  <a:srgbClr val="b0c1d5"/>
                </a:solidFill>
                <a:effectLst/>
                <a:uFillTx/>
                <a:latin typeface="Aptos"/>
              </a:rPr>
              <a:t>Presenter allocation and flow of discussion</a:t>
            </a:r>
            <a:endParaRPr b="0" lang="en-US" sz="1250" strike="noStrike" u="none">
              <a:solidFill>
                <a:srgbClr val="ffffff"/>
              </a:solidFill>
              <a:effectLst/>
              <a:uFillTx/>
              <a:latin typeface="Arial"/>
            </a:endParaRPr>
          </a:p>
        </p:txBody>
      </p:sp>
      <p:sp>
        <p:nvSpPr>
          <p:cNvPr id="34" name="Shape 8"/>
          <p:cNvSpPr/>
          <p:nvPr/>
        </p:nvSpPr>
        <p:spPr>
          <a:xfrm>
            <a:off x="685800" y="1280160"/>
            <a:ext cx="4891680" cy="1416960"/>
          </a:xfrm>
          <a:prstGeom prst="roundRect">
            <a:avLst>
              <a:gd name="adj" fmla="val 7742"/>
            </a:avLst>
          </a:prstGeom>
          <a:solidFill>
            <a:srgbClr val="0e2d4f">
              <a:alpha val="93000"/>
            </a:srgbClr>
          </a:solidFill>
          <a:ln w="12700">
            <a:solidFill>
              <a:srgbClr val="00b078">
                <a:alpha val="7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5" name="Text 9"/>
          <p:cNvSpPr/>
          <p:nvPr/>
        </p:nvSpPr>
        <p:spPr>
          <a:xfrm>
            <a:off x="850320" y="1398960"/>
            <a:ext cx="456264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50d69b"/>
                </a:solidFill>
                <a:effectLst/>
                <a:uFillTx/>
                <a:latin typeface="Aptos"/>
              </a:rPr>
              <a:t>Context</a:t>
            </a:r>
            <a:endParaRPr b="0" lang="en-US" sz="1600" strike="noStrike" u="none">
              <a:solidFill>
                <a:srgbClr val="ffffff"/>
              </a:solidFill>
              <a:effectLst/>
              <a:uFillTx/>
              <a:latin typeface="Arial"/>
            </a:endParaRPr>
          </a:p>
        </p:txBody>
      </p:sp>
      <p:sp>
        <p:nvSpPr>
          <p:cNvPr id="36" name="Text 10"/>
          <p:cNvSpPr/>
          <p:nvPr/>
        </p:nvSpPr>
        <p:spPr>
          <a:xfrm>
            <a:off x="905400" y="1783080"/>
            <a:ext cx="4452840" cy="849960"/>
          </a:xfrm>
          <a:prstGeom prst="rect">
            <a:avLst/>
          </a:prstGeom>
          <a:noFill/>
          <a:ln w="0">
            <a:noFill/>
          </a:ln>
        </p:spPr>
        <p:style>
          <a:lnRef idx="0"/>
          <a:fillRef idx="0"/>
          <a:effectRef idx="0"/>
          <a:fontRef idx="minor"/>
        </p:style>
        <p:txBody>
          <a:bodyPr lIns="1080" rIns="1080" tIns="1080" bIns="1080" anchor="t">
            <a:normAutofit/>
          </a:bodyPr>
          <a:p>
            <a:pPr defTabSz="914400">
              <a:lnSpc>
                <a:spcPct val="100000"/>
              </a:lnSpc>
            </a:pPr>
            <a:r>
              <a:rPr b="0" lang="en-US" sz="1300" strike="noStrike" u="none">
                <a:solidFill>
                  <a:srgbClr val="f5f8fc"/>
                </a:solidFill>
                <a:effectLst/>
                <a:uFillTx/>
                <a:latin typeface="Aptos"/>
                <a:ea typeface="Aptos"/>
              </a:rPr>
              <a:t>Introduction, energy crisis, history, site selection</a:t>
            </a:r>
            <a:endParaRPr b="0" lang="en-US" sz="1300" strike="noStrike" u="none">
              <a:solidFill>
                <a:srgbClr val="ffffff"/>
              </a:solidFill>
              <a:effectLst/>
              <a:uFillTx/>
              <a:latin typeface="Arial"/>
            </a:endParaRPr>
          </a:p>
        </p:txBody>
      </p:sp>
      <p:sp>
        <p:nvSpPr>
          <p:cNvPr id="37" name="Shape 11"/>
          <p:cNvSpPr/>
          <p:nvPr/>
        </p:nvSpPr>
        <p:spPr>
          <a:xfrm>
            <a:off x="6217920" y="1280160"/>
            <a:ext cx="4891680" cy="1416960"/>
          </a:xfrm>
          <a:prstGeom prst="roundRect">
            <a:avLst>
              <a:gd name="adj" fmla="val 7742"/>
            </a:avLst>
          </a:prstGeom>
          <a:solidFill>
            <a:srgbClr val="0e2d4f">
              <a:alpha val="93000"/>
            </a:srgbClr>
          </a:solidFill>
          <a:ln w="12700">
            <a:solidFill>
              <a:srgbClr val="5bd2ff">
                <a:alpha val="7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8" name="Text 12"/>
          <p:cNvSpPr/>
          <p:nvPr/>
        </p:nvSpPr>
        <p:spPr>
          <a:xfrm>
            <a:off x="6382440" y="1398960"/>
            <a:ext cx="456264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50d69b"/>
                </a:solidFill>
                <a:effectLst/>
                <a:uFillTx/>
                <a:latin typeface="Aptos"/>
              </a:rPr>
              <a:t>Technology</a:t>
            </a:r>
            <a:endParaRPr b="0" lang="en-US" sz="1600" strike="noStrike" u="none">
              <a:solidFill>
                <a:srgbClr val="ffffff"/>
              </a:solidFill>
              <a:effectLst/>
              <a:uFillTx/>
              <a:latin typeface="Arial"/>
            </a:endParaRPr>
          </a:p>
        </p:txBody>
      </p:sp>
      <p:sp>
        <p:nvSpPr>
          <p:cNvPr id="39" name="Text 13"/>
          <p:cNvSpPr/>
          <p:nvPr/>
        </p:nvSpPr>
        <p:spPr>
          <a:xfrm>
            <a:off x="6437520" y="1783080"/>
            <a:ext cx="4452840" cy="849960"/>
          </a:xfrm>
          <a:prstGeom prst="rect">
            <a:avLst/>
          </a:prstGeom>
          <a:noFill/>
          <a:ln w="0">
            <a:noFill/>
          </a:ln>
        </p:spPr>
        <p:style>
          <a:lnRef idx="0"/>
          <a:fillRef idx="0"/>
          <a:effectRef idx="0"/>
          <a:fontRef idx="minor"/>
        </p:style>
        <p:txBody>
          <a:bodyPr lIns="1080" rIns="1080" tIns="1080" bIns="1080" anchor="t">
            <a:normAutofit/>
          </a:bodyPr>
          <a:p>
            <a:pPr defTabSz="914400">
              <a:lnSpc>
                <a:spcPct val="100000"/>
              </a:lnSpc>
            </a:pPr>
            <a:r>
              <a:rPr b="0" lang="en-US" sz="1300" strike="noStrike" u="none">
                <a:solidFill>
                  <a:srgbClr val="f5f8fc"/>
                </a:solidFill>
                <a:effectLst/>
                <a:uFillTx/>
                <a:latin typeface="Aptos"/>
                <a:ea typeface="Aptos"/>
              </a:rPr>
              <a:t>Reactor type, PWR, core, coolant, turbine systems</a:t>
            </a:r>
            <a:endParaRPr b="0" lang="en-US" sz="1300" strike="noStrike" u="none">
              <a:solidFill>
                <a:srgbClr val="ffffff"/>
              </a:solidFill>
              <a:effectLst/>
              <a:uFillTx/>
              <a:latin typeface="Arial"/>
            </a:endParaRPr>
          </a:p>
        </p:txBody>
      </p:sp>
      <p:sp>
        <p:nvSpPr>
          <p:cNvPr id="40" name="Shape 14"/>
          <p:cNvSpPr/>
          <p:nvPr/>
        </p:nvSpPr>
        <p:spPr>
          <a:xfrm>
            <a:off x="685800" y="3337560"/>
            <a:ext cx="4891680" cy="1416960"/>
          </a:xfrm>
          <a:prstGeom prst="roundRect">
            <a:avLst>
              <a:gd name="adj" fmla="val 7742"/>
            </a:avLst>
          </a:prstGeom>
          <a:solidFill>
            <a:srgbClr val="0e2d4f">
              <a:alpha val="93000"/>
            </a:srgbClr>
          </a:solidFill>
          <a:ln w="12700">
            <a:solidFill>
              <a:srgbClr val="f0be49">
                <a:alpha val="7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41" name="Text 15"/>
          <p:cNvSpPr/>
          <p:nvPr/>
        </p:nvSpPr>
        <p:spPr>
          <a:xfrm>
            <a:off x="850320" y="3456360"/>
            <a:ext cx="456264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50d69b"/>
                </a:solidFill>
                <a:effectLst/>
                <a:uFillTx/>
                <a:latin typeface="Aptos"/>
              </a:rPr>
              <a:t>EIA Focus</a:t>
            </a:r>
            <a:endParaRPr b="0" lang="en-US" sz="1600" strike="noStrike" u="none">
              <a:solidFill>
                <a:srgbClr val="ffffff"/>
              </a:solidFill>
              <a:effectLst/>
              <a:uFillTx/>
              <a:latin typeface="Arial"/>
            </a:endParaRPr>
          </a:p>
        </p:txBody>
      </p:sp>
      <p:sp>
        <p:nvSpPr>
          <p:cNvPr id="42" name="Text 16"/>
          <p:cNvSpPr/>
          <p:nvPr/>
        </p:nvSpPr>
        <p:spPr>
          <a:xfrm>
            <a:off x="905400" y="3840480"/>
            <a:ext cx="4452840" cy="849960"/>
          </a:xfrm>
          <a:prstGeom prst="rect">
            <a:avLst/>
          </a:prstGeom>
          <a:noFill/>
          <a:ln w="0">
            <a:noFill/>
          </a:ln>
        </p:spPr>
        <p:style>
          <a:lnRef idx="0"/>
          <a:fillRef idx="0"/>
          <a:effectRef idx="0"/>
          <a:fontRef idx="minor"/>
        </p:style>
        <p:txBody>
          <a:bodyPr lIns="1080" rIns="1080" tIns="1080" bIns="1080" anchor="t">
            <a:normAutofit/>
          </a:bodyPr>
          <a:p>
            <a:pPr defTabSz="914400">
              <a:lnSpc>
                <a:spcPct val="100000"/>
              </a:lnSpc>
            </a:pPr>
            <a:r>
              <a:rPr b="0" lang="en-US" sz="1300" strike="noStrike" u="none">
                <a:solidFill>
                  <a:srgbClr val="f5f8fc"/>
                </a:solidFill>
                <a:effectLst/>
                <a:uFillTx/>
                <a:latin typeface="Aptos"/>
                <a:ea typeface="Aptos"/>
              </a:rPr>
              <a:t>Population, land use, earthquake risk, disasters</a:t>
            </a:r>
            <a:endParaRPr b="0" lang="en-US" sz="1300" strike="noStrike" u="none">
              <a:solidFill>
                <a:srgbClr val="ffffff"/>
              </a:solidFill>
              <a:effectLst/>
              <a:uFillTx/>
              <a:latin typeface="Arial"/>
            </a:endParaRPr>
          </a:p>
        </p:txBody>
      </p:sp>
      <p:sp>
        <p:nvSpPr>
          <p:cNvPr id="43" name="Shape 17"/>
          <p:cNvSpPr/>
          <p:nvPr/>
        </p:nvSpPr>
        <p:spPr>
          <a:xfrm>
            <a:off x="6217920" y="3337560"/>
            <a:ext cx="4891680" cy="1416960"/>
          </a:xfrm>
          <a:prstGeom prst="roundRect">
            <a:avLst>
              <a:gd name="adj" fmla="val 7742"/>
            </a:avLst>
          </a:prstGeom>
          <a:solidFill>
            <a:srgbClr val="0e2d4f">
              <a:alpha val="93000"/>
            </a:srgbClr>
          </a:solidFill>
          <a:ln w="12700">
            <a:solidFill>
              <a:srgbClr val="50d69b">
                <a:alpha val="7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44" name="Text 18"/>
          <p:cNvSpPr/>
          <p:nvPr/>
        </p:nvSpPr>
        <p:spPr>
          <a:xfrm>
            <a:off x="6382440" y="3456360"/>
            <a:ext cx="456264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50d69b"/>
                </a:solidFill>
                <a:effectLst/>
                <a:uFillTx/>
                <a:latin typeface="Aptos"/>
              </a:rPr>
              <a:t>Management</a:t>
            </a:r>
            <a:endParaRPr b="0" lang="en-US" sz="1600" strike="noStrike" u="none">
              <a:solidFill>
                <a:srgbClr val="ffffff"/>
              </a:solidFill>
              <a:effectLst/>
              <a:uFillTx/>
              <a:latin typeface="Arial"/>
            </a:endParaRPr>
          </a:p>
        </p:txBody>
      </p:sp>
      <p:sp>
        <p:nvSpPr>
          <p:cNvPr id="45" name="Text 19"/>
          <p:cNvSpPr/>
          <p:nvPr/>
        </p:nvSpPr>
        <p:spPr>
          <a:xfrm>
            <a:off x="6437520" y="3840480"/>
            <a:ext cx="4452840" cy="849960"/>
          </a:xfrm>
          <a:prstGeom prst="rect">
            <a:avLst/>
          </a:prstGeom>
          <a:noFill/>
          <a:ln w="0">
            <a:noFill/>
          </a:ln>
        </p:spPr>
        <p:style>
          <a:lnRef idx="0"/>
          <a:fillRef idx="0"/>
          <a:effectRef idx="0"/>
          <a:fontRef idx="minor"/>
        </p:style>
        <p:txBody>
          <a:bodyPr lIns="1080" rIns="1080" tIns="1080" bIns="1080" anchor="t">
            <a:normAutofit/>
          </a:bodyPr>
          <a:p>
            <a:pPr defTabSz="914400">
              <a:lnSpc>
                <a:spcPct val="100000"/>
              </a:lnSpc>
            </a:pPr>
            <a:r>
              <a:rPr b="0" lang="en-US" sz="1300" strike="noStrike" u="none">
                <a:solidFill>
                  <a:srgbClr val="f5f8fc"/>
                </a:solidFill>
                <a:effectLst/>
                <a:uFillTx/>
                <a:latin typeface="Aptos"/>
                <a:ea typeface="Aptos"/>
              </a:rPr>
              <a:t>Waste, safety, recommendations, conclusion</a:t>
            </a:r>
            <a:endParaRPr b="0" lang="en-US" sz="1300" strike="noStrike" u="none">
              <a:solidFill>
                <a:srgbClr val="ffffff"/>
              </a:solidFill>
              <a:effectLst/>
              <a:uFillTx/>
              <a:latin typeface="Arial"/>
            </a:endParaRPr>
          </a:p>
        </p:txBody>
      </p:sp>
      <p:sp>
        <p:nvSpPr>
          <p:cNvPr id="46" name="Text 20"/>
          <p:cNvSpPr/>
          <p:nvPr/>
        </p:nvSpPr>
        <p:spPr>
          <a:xfrm>
            <a:off x="1005840" y="5760720"/>
            <a:ext cx="10149480" cy="273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trike="noStrike" u="none">
                <a:solidFill>
                  <a:srgbClr val="b0c1d5"/>
                </a:solidFill>
                <a:effectLst/>
                <a:uFillTx/>
                <a:latin typeface="Aptos"/>
              </a:rPr>
              <a:t>35 slides | 10 presenters | Dark blue + white + green academic theme</a:t>
            </a:r>
            <a:endParaRPr b="0" lang="en-US" sz="1400" strike="noStrike" u="none">
              <a:solidFill>
                <a:srgbClr val="ffffff"/>
              </a:solidFill>
              <a:effectLst/>
              <a:uFillTx/>
              <a:latin typeface="Arial"/>
            </a:endParaRPr>
          </a:p>
        </p:txBody>
      </p:sp>
    </p:spTree>
  </p:cSld>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6172f"/>
        </a:solidFill>
      </p:bgPr>
    </p:bg>
    <p:spTree>
      <p:nvGrpSpPr>
        <p:cNvPr id="1" name=""/>
        <p:cNvGrpSpPr/>
        <p:nvPr/>
      </p:nvGrpSpPr>
      <p:grpSpPr>
        <a:xfrm>
          <a:off x="0" y="0"/>
          <a:ext cx="0" cy="0"/>
          <a:chOff x="0" y="0"/>
          <a:chExt cx="0" cy="0"/>
        </a:xfrm>
      </p:grpSpPr>
      <p:sp>
        <p:nvSpPr>
          <p:cNvPr id="47" name="Shape 0"/>
          <p:cNvSpPr/>
          <p:nvPr/>
        </p:nvSpPr>
        <p:spPr>
          <a:xfrm>
            <a:off x="0" y="0"/>
            <a:ext cx="12191400" cy="6857640"/>
          </a:xfrm>
          <a:prstGeom prst="rect">
            <a:avLst/>
          </a:prstGeom>
          <a:solidFill>
            <a:srgbClr val="06172f"/>
          </a:solidFill>
          <a:ln w="12700">
            <a:solidFill>
              <a:srgbClr val="06172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48" name="Shape 1"/>
          <p:cNvSpPr/>
          <p:nvPr/>
        </p:nvSpPr>
        <p:spPr>
          <a:xfrm>
            <a:off x="7680960" y="-1005840"/>
            <a:ext cx="4388760" cy="2925720"/>
          </a:xfrm>
          <a:prstGeom prst="arc">
            <a:avLst>
              <a:gd name="adj1" fmla="val 16200000"/>
              <a:gd name="adj2" fmla="val 0"/>
            </a:avLst>
          </a:prstGeom>
          <a:solidFill>
            <a:srgbClr val="0e3a68">
              <a:alpha val="75000"/>
            </a:srgbClr>
          </a:solidFill>
          <a:ln w="12700">
            <a:solidFill>
              <a:srgbClr val="0e3a68">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49" name="Shape 2"/>
          <p:cNvSpPr/>
          <p:nvPr/>
        </p:nvSpPr>
        <p:spPr>
          <a:xfrm>
            <a:off x="8778240" y="-777240"/>
            <a:ext cx="3474360" cy="2285640"/>
          </a:xfrm>
          <a:prstGeom prst="arc">
            <a:avLst>
              <a:gd name="adj1" fmla="val 16200000"/>
              <a:gd name="adj2" fmla="val 0"/>
            </a:avLst>
          </a:prstGeom>
          <a:solidFill>
            <a:srgbClr val="0b4d5e">
              <a:alpha val="65000"/>
            </a:srgbClr>
          </a:solidFill>
          <a:ln w="12700">
            <a:solidFill>
              <a:srgbClr val="0b4d5e">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50" name="Shape 3"/>
          <p:cNvSpPr/>
          <p:nvPr/>
        </p:nvSpPr>
        <p:spPr>
          <a:xfrm>
            <a:off x="0" y="0"/>
            <a:ext cx="109440" cy="6857640"/>
          </a:xfrm>
          <a:prstGeom prst="rect">
            <a:avLst/>
          </a:prstGeom>
          <a:solidFill>
            <a:srgbClr val="00b078"/>
          </a:solidFill>
          <a:ln w="12700">
            <a:solidFill>
              <a:srgbClr val="00b078">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51" name="Shape 4"/>
          <p:cNvSpPr/>
          <p:nvPr/>
        </p:nvSpPr>
        <p:spPr>
          <a:xfrm>
            <a:off x="320040" y="6565320"/>
            <a:ext cx="11521080" cy="16200"/>
          </a:xfrm>
          <a:prstGeom prst="rect">
            <a:avLst/>
          </a:prstGeom>
          <a:solidFill>
            <a:srgbClr val="435d78"/>
          </a:solidFill>
          <a:ln w="12700">
            <a:solidFill>
              <a:srgbClr val="435d78">
                <a:alpha val="0"/>
              </a:srgbClr>
            </a:solidFill>
            <a:round/>
          </a:ln>
        </p:spPr>
        <p:style>
          <a:lnRef idx="0"/>
          <a:fillRef idx="0"/>
          <a:effectRef idx="0"/>
          <a:fontRef idx="minor"/>
        </p:style>
        <p:txBody>
          <a:bodyPr lIns="90000" rIns="90000" tIns="-28440" bIns="-28440" anchor="t">
            <a:noAutofit/>
          </a:bodyPr>
          <a:p>
            <a:endParaRPr b="0" lang="en-US" sz="1800" strike="noStrike" u="none">
              <a:solidFill>
                <a:srgbClr val="ffffff"/>
              </a:solidFill>
              <a:effectLst/>
              <a:uFillTx/>
              <a:latin typeface="Arial"/>
            </a:endParaRPr>
          </a:p>
        </p:txBody>
      </p:sp>
      <p:sp>
        <p:nvSpPr>
          <p:cNvPr id="52" name="Text 5"/>
          <p:cNvSpPr/>
          <p:nvPr/>
        </p:nvSpPr>
        <p:spPr>
          <a:xfrm>
            <a:off x="11356920" y="6602040"/>
            <a:ext cx="502560" cy="13680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50" strike="noStrike" u="none">
                <a:solidFill>
                  <a:srgbClr val="b0c1d5"/>
                </a:solidFill>
                <a:effectLst/>
                <a:uFillTx/>
                <a:latin typeface="Aptos"/>
                <a:ea typeface="Aptos"/>
              </a:rPr>
              <a:t>03</a:t>
            </a:r>
            <a:endParaRPr b="0" lang="en-US" sz="950" strike="noStrike" u="none">
              <a:solidFill>
                <a:srgbClr val="ffffff"/>
              </a:solidFill>
              <a:effectLst/>
              <a:uFillTx/>
              <a:latin typeface="Arial"/>
            </a:endParaRPr>
          </a:p>
        </p:txBody>
      </p:sp>
      <p:sp>
        <p:nvSpPr>
          <p:cNvPr id="53" name="Text 6"/>
          <p:cNvSpPr/>
          <p:nvPr/>
        </p:nvSpPr>
        <p:spPr>
          <a:xfrm>
            <a:off x="475560" y="228600"/>
            <a:ext cx="10972440" cy="383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500" strike="noStrike" u="none">
                <a:solidFill>
                  <a:srgbClr val="f5f8fc"/>
                </a:solidFill>
                <a:effectLst/>
                <a:uFillTx/>
                <a:latin typeface="Aptos Display"/>
                <a:ea typeface="Aptos Display"/>
              </a:rPr>
              <a:t>Introduction</a:t>
            </a:r>
            <a:endParaRPr b="0" lang="en-US" sz="2500" strike="noStrike" u="none">
              <a:solidFill>
                <a:srgbClr val="ffffff"/>
              </a:solidFill>
              <a:effectLst/>
              <a:uFillTx/>
              <a:latin typeface="Arial"/>
            </a:endParaRPr>
          </a:p>
        </p:txBody>
      </p:sp>
      <p:sp>
        <p:nvSpPr>
          <p:cNvPr id="54" name="Text 7"/>
          <p:cNvSpPr/>
          <p:nvPr/>
        </p:nvSpPr>
        <p:spPr>
          <a:xfrm>
            <a:off x="502920" y="704160"/>
            <a:ext cx="10835280" cy="255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50" strike="noStrike" u="none">
                <a:solidFill>
                  <a:srgbClr val="b0c1d5"/>
                </a:solidFill>
                <a:effectLst/>
                <a:uFillTx/>
                <a:latin typeface="Aptos"/>
              </a:rPr>
              <a:t>RNPP as a national energy mega-project</a:t>
            </a:r>
            <a:endParaRPr b="0" lang="en-US" sz="1250" strike="noStrike" u="none">
              <a:solidFill>
                <a:srgbClr val="ffffff"/>
              </a:solidFill>
              <a:effectLst/>
              <a:uFillTx/>
              <a:latin typeface="Arial"/>
            </a:endParaRPr>
          </a:p>
        </p:txBody>
      </p:sp>
      <p:sp>
        <p:nvSpPr>
          <p:cNvPr id="55" name="Text 8"/>
          <p:cNvSpPr/>
          <p:nvPr/>
        </p:nvSpPr>
        <p:spPr>
          <a:xfrm>
            <a:off x="658440" y="1234440"/>
            <a:ext cx="5394600" cy="4297320"/>
          </a:xfrm>
          <a:prstGeom prst="rect">
            <a:avLst/>
          </a:prstGeom>
          <a:noFill/>
          <a:ln w="0">
            <a:noFill/>
          </a:ln>
        </p:spPr>
        <p:style>
          <a:lnRef idx="0"/>
          <a:fillRef idx="0"/>
          <a:effectRef idx="0"/>
          <a:fontRef idx="minor"/>
        </p:style>
        <p:txBody>
          <a:bodyPr lIns="1080" rIns="1080" tIns="1080" bIns="1080" anchor="t">
            <a:normAutofit/>
          </a:bodyPr>
          <a:p>
            <a:pPr defTabSz="914400">
              <a:lnSpc>
                <a:spcPct val="100000"/>
              </a:lnSpc>
            </a:pPr>
            <a:r>
              <a:rPr b="0" lang="en-US" sz="1450" strike="noStrike" u="none">
                <a:solidFill>
                  <a:srgbClr val="f5f8fc"/>
                </a:solidFill>
                <a:effectLst/>
                <a:uFillTx/>
                <a:latin typeface="Aptos"/>
                <a:ea typeface="Aptos"/>
              </a:rPr>
              <a:t>RNPP is presented as Bangladesh’s premier mega-project for long-term energy independence.</a:t>
            </a:r>
            <a:endParaRPr b="0" lang="en-US" sz="1450" strike="noStrike" u="none">
              <a:solidFill>
                <a:srgbClr val="ffffff"/>
              </a:solidFill>
              <a:effectLst/>
              <a:uFillTx/>
              <a:latin typeface="Arial"/>
            </a:endParaRPr>
          </a:p>
          <a:p>
            <a:pPr defTabSz="914400">
              <a:lnSpc>
                <a:spcPct val="100000"/>
              </a:lnSpc>
            </a:pPr>
            <a:r>
              <a:rPr b="0" lang="en-US" sz="1450" strike="noStrike" u="none">
                <a:solidFill>
                  <a:srgbClr val="f5f8fc"/>
                </a:solidFill>
                <a:effectLst/>
                <a:uFillTx/>
                <a:latin typeface="Aptos"/>
                <a:ea typeface="Aptos"/>
              </a:rPr>
              <a:t>The source deck describes two advanced reactor units with a combined 2.4 GW generation capacity.</a:t>
            </a:r>
            <a:endParaRPr b="0" lang="en-US" sz="1450" strike="noStrike" u="none">
              <a:solidFill>
                <a:srgbClr val="ffffff"/>
              </a:solidFill>
              <a:effectLst/>
              <a:uFillTx/>
              <a:latin typeface="Arial"/>
            </a:endParaRPr>
          </a:p>
          <a:p>
            <a:pPr defTabSz="914400">
              <a:lnSpc>
                <a:spcPct val="100000"/>
              </a:lnSpc>
            </a:pPr>
            <a:r>
              <a:rPr b="0" lang="en-US" sz="1450" strike="noStrike" u="none">
                <a:solidFill>
                  <a:srgbClr val="f5f8fc"/>
                </a:solidFill>
                <a:effectLst/>
                <a:uFillTx/>
                <a:latin typeface="Aptos"/>
                <a:ea typeface="Aptos"/>
              </a:rPr>
              <a:t>The project is framed as a bridge between rapid economic growth and cleaner electricity generation.</a:t>
            </a:r>
            <a:endParaRPr b="0" lang="en-US" sz="1450" strike="noStrike" u="none">
              <a:solidFill>
                <a:srgbClr val="ffffff"/>
              </a:solidFill>
              <a:effectLst/>
              <a:uFillTx/>
              <a:latin typeface="Arial"/>
            </a:endParaRPr>
          </a:p>
          <a:p>
            <a:pPr defTabSz="914400">
              <a:lnSpc>
                <a:spcPct val="100000"/>
              </a:lnSpc>
            </a:pPr>
            <a:r>
              <a:rPr b="0" lang="en-US" sz="1450" strike="noStrike" u="none">
                <a:solidFill>
                  <a:srgbClr val="f5f8fc"/>
                </a:solidFill>
                <a:effectLst/>
                <a:uFillTx/>
                <a:latin typeface="Aptos"/>
                <a:ea typeface="Aptos"/>
              </a:rPr>
              <a:t>EIA is essential because nuclear projects combine energy benefits with long-term environmental responsibilities.</a:t>
            </a:r>
            <a:endParaRPr b="0" lang="en-US" sz="1450" strike="noStrike" u="none">
              <a:solidFill>
                <a:srgbClr val="ffffff"/>
              </a:solidFill>
              <a:effectLst/>
              <a:uFillTx/>
              <a:latin typeface="Arial"/>
            </a:endParaRPr>
          </a:p>
        </p:txBody>
      </p:sp>
      <p:sp>
        <p:nvSpPr>
          <p:cNvPr id="56" name="Shape 9"/>
          <p:cNvSpPr/>
          <p:nvPr/>
        </p:nvSpPr>
        <p:spPr>
          <a:xfrm>
            <a:off x="6446520" y="1417320"/>
            <a:ext cx="1481040" cy="1234080"/>
          </a:xfrm>
          <a:prstGeom prst="roundRect">
            <a:avLst>
              <a:gd name="adj" fmla="val 8889"/>
            </a:avLst>
          </a:prstGeom>
          <a:solidFill>
            <a:srgbClr val="0a3455">
              <a:alpha val="95000"/>
            </a:srgbClr>
          </a:solidFill>
          <a:ln w="12700">
            <a:solidFill>
              <a:srgbClr val="50d69b">
                <a:alpha val="7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57" name="Text 10"/>
          <p:cNvSpPr/>
          <p:nvPr/>
        </p:nvSpPr>
        <p:spPr>
          <a:xfrm>
            <a:off x="6492240" y="1554480"/>
            <a:ext cx="1389600" cy="347040"/>
          </a:xfrm>
          <a:prstGeom prst="rect">
            <a:avLst/>
          </a:prstGeom>
          <a:noFill/>
          <a:ln w="0">
            <a:noFill/>
          </a:ln>
        </p:spPr>
        <p:style>
          <a:lnRef idx="0"/>
          <a:fillRef idx="0"/>
          <a:effectRef idx="0"/>
          <a:fontRef idx="minor"/>
        </p:style>
        <p:txBody>
          <a:bodyPr lIns="0" rIns="0" tIns="0" bIns="0" anchor="ctr">
            <a:normAutofit lnSpcReduction="9999"/>
          </a:bodyPr>
          <a:p>
            <a:pPr algn="ctr" defTabSz="914400">
              <a:lnSpc>
                <a:spcPct val="100000"/>
              </a:lnSpc>
              <a:tabLst>
                <a:tab algn="l" pos="0"/>
              </a:tabLst>
            </a:pPr>
            <a:r>
              <a:rPr b="1" lang="en-US" sz="2300" strike="noStrike" u="none">
                <a:solidFill>
                  <a:srgbClr val="50d69b"/>
                </a:solidFill>
                <a:effectLst/>
                <a:uFillTx/>
                <a:latin typeface="Aptos"/>
              </a:rPr>
              <a:t>2.4 GW</a:t>
            </a:r>
            <a:endParaRPr b="0" lang="en-US" sz="2300" strike="noStrike" u="none">
              <a:solidFill>
                <a:srgbClr val="ffffff"/>
              </a:solidFill>
              <a:effectLst/>
              <a:uFillTx/>
              <a:latin typeface="Arial"/>
            </a:endParaRPr>
          </a:p>
        </p:txBody>
      </p:sp>
      <p:sp>
        <p:nvSpPr>
          <p:cNvPr id="58" name="Text 11"/>
          <p:cNvSpPr/>
          <p:nvPr/>
        </p:nvSpPr>
        <p:spPr>
          <a:xfrm>
            <a:off x="6556320" y="2011680"/>
            <a:ext cx="1261440" cy="5940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80" strike="noStrike" u="none">
                <a:solidFill>
                  <a:srgbClr val="b0c1d5"/>
                </a:solidFill>
                <a:effectLst/>
                <a:uFillTx/>
                <a:latin typeface="Aptos"/>
              </a:rPr>
              <a:t>Combined generation capacity</a:t>
            </a:r>
            <a:endParaRPr b="0" lang="en-US" sz="980" strike="noStrike" u="none">
              <a:solidFill>
                <a:srgbClr val="ffffff"/>
              </a:solidFill>
              <a:effectLst/>
              <a:uFillTx/>
              <a:latin typeface="Arial"/>
            </a:endParaRPr>
          </a:p>
        </p:txBody>
      </p:sp>
      <p:sp>
        <p:nvSpPr>
          <p:cNvPr id="59" name="Shape 12"/>
          <p:cNvSpPr/>
          <p:nvPr/>
        </p:nvSpPr>
        <p:spPr>
          <a:xfrm>
            <a:off x="8138160" y="1417320"/>
            <a:ext cx="1481040" cy="1234080"/>
          </a:xfrm>
          <a:prstGeom prst="roundRect">
            <a:avLst>
              <a:gd name="adj" fmla="val 8889"/>
            </a:avLst>
          </a:prstGeom>
          <a:solidFill>
            <a:srgbClr val="0a3455">
              <a:alpha val="95000"/>
            </a:srgbClr>
          </a:solidFill>
          <a:ln w="12700">
            <a:solidFill>
              <a:srgbClr val="5bd2ff">
                <a:alpha val="7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60" name="Text 13"/>
          <p:cNvSpPr/>
          <p:nvPr/>
        </p:nvSpPr>
        <p:spPr>
          <a:xfrm>
            <a:off x="8183880" y="1554480"/>
            <a:ext cx="1389600" cy="347040"/>
          </a:xfrm>
          <a:prstGeom prst="rect">
            <a:avLst/>
          </a:prstGeom>
          <a:noFill/>
          <a:ln w="0">
            <a:noFill/>
          </a:ln>
        </p:spPr>
        <p:style>
          <a:lnRef idx="0"/>
          <a:fillRef idx="0"/>
          <a:effectRef idx="0"/>
          <a:fontRef idx="minor"/>
        </p:style>
        <p:txBody>
          <a:bodyPr lIns="0" rIns="0" tIns="0" bIns="0" anchor="ctr">
            <a:normAutofit lnSpcReduction="9999"/>
          </a:bodyPr>
          <a:p>
            <a:pPr algn="ctr" defTabSz="914400">
              <a:lnSpc>
                <a:spcPct val="100000"/>
              </a:lnSpc>
              <a:tabLst>
                <a:tab algn="l" pos="0"/>
              </a:tabLst>
            </a:pPr>
            <a:r>
              <a:rPr b="1" lang="en-US" sz="2300" strike="noStrike" u="none">
                <a:solidFill>
                  <a:srgbClr val="5bd2ff"/>
                </a:solidFill>
                <a:effectLst/>
                <a:uFillTx/>
                <a:latin typeface="Aptos"/>
              </a:rPr>
              <a:t>2</a:t>
            </a:r>
            <a:endParaRPr b="0" lang="en-US" sz="2300" strike="noStrike" u="none">
              <a:solidFill>
                <a:srgbClr val="ffffff"/>
              </a:solidFill>
              <a:effectLst/>
              <a:uFillTx/>
              <a:latin typeface="Arial"/>
            </a:endParaRPr>
          </a:p>
        </p:txBody>
      </p:sp>
      <p:sp>
        <p:nvSpPr>
          <p:cNvPr id="61" name="Text 14"/>
          <p:cNvSpPr/>
          <p:nvPr/>
        </p:nvSpPr>
        <p:spPr>
          <a:xfrm>
            <a:off x="8247960" y="2011680"/>
            <a:ext cx="1261440" cy="5940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80" strike="noStrike" u="none">
                <a:solidFill>
                  <a:srgbClr val="b0c1d5"/>
                </a:solidFill>
                <a:effectLst/>
                <a:uFillTx/>
                <a:latin typeface="Aptos"/>
              </a:rPr>
              <a:t>Advanced units</a:t>
            </a:r>
            <a:endParaRPr b="0" lang="en-US" sz="980" strike="noStrike" u="none">
              <a:solidFill>
                <a:srgbClr val="ffffff"/>
              </a:solidFill>
              <a:effectLst/>
              <a:uFillTx/>
              <a:latin typeface="Arial"/>
            </a:endParaRPr>
          </a:p>
        </p:txBody>
      </p:sp>
      <p:sp>
        <p:nvSpPr>
          <p:cNvPr id="62" name="Shape 15"/>
          <p:cNvSpPr/>
          <p:nvPr/>
        </p:nvSpPr>
        <p:spPr>
          <a:xfrm>
            <a:off x="9829800" y="1417320"/>
            <a:ext cx="1481040" cy="1234080"/>
          </a:xfrm>
          <a:prstGeom prst="roundRect">
            <a:avLst>
              <a:gd name="adj" fmla="val 8889"/>
            </a:avLst>
          </a:prstGeom>
          <a:solidFill>
            <a:srgbClr val="0a3455">
              <a:alpha val="95000"/>
            </a:srgbClr>
          </a:solidFill>
          <a:ln w="12700">
            <a:solidFill>
              <a:srgbClr val="00b078">
                <a:alpha val="7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63" name="Text 16"/>
          <p:cNvSpPr/>
          <p:nvPr/>
        </p:nvSpPr>
        <p:spPr>
          <a:xfrm>
            <a:off x="9875520" y="1554480"/>
            <a:ext cx="1389600" cy="347040"/>
          </a:xfrm>
          <a:prstGeom prst="rect">
            <a:avLst/>
          </a:prstGeom>
          <a:noFill/>
          <a:ln w="0">
            <a:noFill/>
          </a:ln>
        </p:spPr>
        <p:style>
          <a:lnRef idx="0"/>
          <a:fillRef idx="0"/>
          <a:effectRef idx="0"/>
          <a:fontRef idx="minor"/>
        </p:style>
        <p:txBody>
          <a:bodyPr lIns="0" rIns="0" tIns="0" bIns="0" anchor="ctr">
            <a:normAutofit lnSpcReduction="9999"/>
          </a:bodyPr>
          <a:p>
            <a:pPr algn="ctr" defTabSz="914400">
              <a:lnSpc>
                <a:spcPct val="100000"/>
              </a:lnSpc>
              <a:tabLst>
                <a:tab algn="l" pos="0"/>
              </a:tabLst>
            </a:pPr>
            <a:r>
              <a:rPr b="1" lang="en-US" sz="2300" strike="noStrike" u="none">
                <a:solidFill>
                  <a:srgbClr val="00b078"/>
                </a:solidFill>
                <a:effectLst/>
                <a:uFillTx/>
                <a:latin typeface="Aptos"/>
              </a:rPr>
              <a:t>10%</a:t>
            </a:r>
            <a:endParaRPr b="0" lang="en-US" sz="2300" strike="noStrike" u="none">
              <a:solidFill>
                <a:srgbClr val="ffffff"/>
              </a:solidFill>
              <a:effectLst/>
              <a:uFillTx/>
              <a:latin typeface="Arial"/>
            </a:endParaRPr>
          </a:p>
        </p:txBody>
      </p:sp>
      <p:sp>
        <p:nvSpPr>
          <p:cNvPr id="64" name="Text 17"/>
          <p:cNvSpPr/>
          <p:nvPr/>
        </p:nvSpPr>
        <p:spPr>
          <a:xfrm>
            <a:off x="9939600" y="2011680"/>
            <a:ext cx="1261440" cy="5940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80" strike="noStrike" u="none">
                <a:solidFill>
                  <a:srgbClr val="b0c1d5"/>
                </a:solidFill>
                <a:effectLst/>
                <a:uFillTx/>
                <a:latin typeface="Aptos"/>
              </a:rPr>
              <a:t>Approx. demand coverage</a:t>
            </a:r>
            <a:endParaRPr b="0" lang="en-US" sz="980" strike="noStrike" u="none">
              <a:solidFill>
                <a:srgbClr val="ffffff"/>
              </a:solidFill>
              <a:effectLst/>
              <a:uFillTx/>
              <a:latin typeface="Arial"/>
            </a:endParaRPr>
          </a:p>
        </p:txBody>
      </p:sp>
      <p:pic>
        <p:nvPicPr>
          <p:cNvPr id="65" name="Image 0" descr="/mnt/data/a_wide_detailed_cinematic_environmental_industri.png"/>
          <p:cNvPicPr/>
          <p:nvPr/>
        </p:nvPicPr>
        <p:blipFill>
          <a:blip r:embed="rId1"/>
          <a:srcRect l="0" t="4334" r="0" b="4334"/>
          <a:stretch/>
        </p:blipFill>
        <p:spPr>
          <a:xfrm>
            <a:off x="6400800" y="2971800"/>
            <a:ext cx="4891680" cy="2514240"/>
          </a:xfrm>
          <a:prstGeom prst="rect">
            <a:avLst/>
          </a:prstGeom>
          <a:noFill/>
          <a:ln w="0">
            <a:noFill/>
          </a:ln>
        </p:spPr>
      </p:pic>
      <p:sp>
        <p:nvSpPr>
          <p:cNvPr id="66" name="Shape 18"/>
          <p:cNvSpPr/>
          <p:nvPr/>
        </p:nvSpPr>
        <p:spPr>
          <a:xfrm>
            <a:off x="6400800" y="2971800"/>
            <a:ext cx="4891680" cy="2514240"/>
          </a:xfrm>
          <a:prstGeom prst="roundRect">
            <a:avLst>
              <a:gd name="adj" fmla="val 2909"/>
            </a:avLst>
          </a:prstGeom>
          <a:noFill/>
          <a:ln w="15240">
            <a:solidFill>
              <a:srgbClr val="5bd2ff">
                <a:alpha val="75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Tree>
  </p:cSld>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6172f"/>
        </a:solidFill>
      </p:bgPr>
    </p:bg>
    <p:spTree>
      <p:nvGrpSpPr>
        <p:cNvPr id="1" name=""/>
        <p:cNvGrpSpPr/>
        <p:nvPr/>
      </p:nvGrpSpPr>
      <p:grpSpPr>
        <a:xfrm>
          <a:off x="0" y="0"/>
          <a:ext cx="0" cy="0"/>
          <a:chOff x="0" y="0"/>
          <a:chExt cx="0" cy="0"/>
        </a:xfrm>
      </p:grpSpPr>
      <p:sp>
        <p:nvSpPr>
          <p:cNvPr id="67" name="Shape 0"/>
          <p:cNvSpPr/>
          <p:nvPr/>
        </p:nvSpPr>
        <p:spPr>
          <a:xfrm>
            <a:off x="0" y="0"/>
            <a:ext cx="12191400" cy="6857640"/>
          </a:xfrm>
          <a:prstGeom prst="rect">
            <a:avLst/>
          </a:prstGeom>
          <a:solidFill>
            <a:srgbClr val="06172f"/>
          </a:solidFill>
          <a:ln w="12700">
            <a:solidFill>
              <a:srgbClr val="06172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68" name="Shape 1"/>
          <p:cNvSpPr/>
          <p:nvPr/>
        </p:nvSpPr>
        <p:spPr>
          <a:xfrm>
            <a:off x="7680960" y="-1005840"/>
            <a:ext cx="4388760" cy="2925720"/>
          </a:xfrm>
          <a:prstGeom prst="arc">
            <a:avLst>
              <a:gd name="adj1" fmla="val 16200000"/>
              <a:gd name="adj2" fmla="val 0"/>
            </a:avLst>
          </a:prstGeom>
          <a:solidFill>
            <a:srgbClr val="0e3a68">
              <a:alpha val="75000"/>
            </a:srgbClr>
          </a:solidFill>
          <a:ln w="12700">
            <a:solidFill>
              <a:srgbClr val="0e3a68">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69" name="Shape 2"/>
          <p:cNvSpPr/>
          <p:nvPr/>
        </p:nvSpPr>
        <p:spPr>
          <a:xfrm>
            <a:off x="8778240" y="-777240"/>
            <a:ext cx="3474360" cy="2285640"/>
          </a:xfrm>
          <a:prstGeom prst="arc">
            <a:avLst>
              <a:gd name="adj1" fmla="val 16200000"/>
              <a:gd name="adj2" fmla="val 0"/>
            </a:avLst>
          </a:prstGeom>
          <a:solidFill>
            <a:srgbClr val="0b4d5e">
              <a:alpha val="65000"/>
            </a:srgbClr>
          </a:solidFill>
          <a:ln w="12700">
            <a:solidFill>
              <a:srgbClr val="0b4d5e">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70" name="Shape 3"/>
          <p:cNvSpPr/>
          <p:nvPr/>
        </p:nvSpPr>
        <p:spPr>
          <a:xfrm>
            <a:off x="0" y="0"/>
            <a:ext cx="109440" cy="6857640"/>
          </a:xfrm>
          <a:prstGeom prst="rect">
            <a:avLst/>
          </a:prstGeom>
          <a:solidFill>
            <a:srgbClr val="00b078"/>
          </a:solidFill>
          <a:ln w="12700">
            <a:solidFill>
              <a:srgbClr val="00b078">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71" name="Shape 4"/>
          <p:cNvSpPr/>
          <p:nvPr/>
        </p:nvSpPr>
        <p:spPr>
          <a:xfrm>
            <a:off x="320040" y="6565320"/>
            <a:ext cx="11521080" cy="16200"/>
          </a:xfrm>
          <a:prstGeom prst="rect">
            <a:avLst/>
          </a:prstGeom>
          <a:solidFill>
            <a:srgbClr val="435d78"/>
          </a:solidFill>
          <a:ln w="12700">
            <a:solidFill>
              <a:srgbClr val="435d78">
                <a:alpha val="0"/>
              </a:srgbClr>
            </a:solidFill>
            <a:round/>
          </a:ln>
        </p:spPr>
        <p:style>
          <a:lnRef idx="0"/>
          <a:fillRef idx="0"/>
          <a:effectRef idx="0"/>
          <a:fontRef idx="minor"/>
        </p:style>
        <p:txBody>
          <a:bodyPr lIns="90000" rIns="90000" tIns="-28440" bIns="-28440" anchor="t">
            <a:noAutofit/>
          </a:bodyPr>
          <a:p>
            <a:endParaRPr b="0" lang="en-US" sz="1800" strike="noStrike" u="none">
              <a:solidFill>
                <a:srgbClr val="ffffff"/>
              </a:solidFill>
              <a:effectLst/>
              <a:uFillTx/>
              <a:latin typeface="Arial"/>
            </a:endParaRPr>
          </a:p>
        </p:txBody>
      </p:sp>
      <p:sp>
        <p:nvSpPr>
          <p:cNvPr id="72" name="Text 5"/>
          <p:cNvSpPr/>
          <p:nvPr/>
        </p:nvSpPr>
        <p:spPr>
          <a:xfrm>
            <a:off x="11356920" y="6602040"/>
            <a:ext cx="502560" cy="13680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50" strike="noStrike" u="none">
                <a:solidFill>
                  <a:srgbClr val="b0c1d5"/>
                </a:solidFill>
                <a:effectLst/>
                <a:uFillTx/>
                <a:latin typeface="Aptos"/>
                <a:ea typeface="Aptos"/>
              </a:rPr>
              <a:t>04</a:t>
            </a:r>
            <a:endParaRPr b="0" lang="en-US" sz="950" strike="noStrike" u="none">
              <a:solidFill>
                <a:srgbClr val="ffffff"/>
              </a:solidFill>
              <a:effectLst/>
              <a:uFillTx/>
              <a:latin typeface="Arial"/>
            </a:endParaRPr>
          </a:p>
        </p:txBody>
      </p:sp>
      <p:sp>
        <p:nvSpPr>
          <p:cNvPr id="73" name="Text 6"/>
          <p:cNvSpPr/>
          <p:nvPr/>
        </p:nvSpPr>
        <p:spPr>
          <a:xfrm>
            <a:off x="475560" y="228600"/>
            <a:ext cx="10972440" cy="383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500" strike="noStrike" u="none">
                <a:solidFill>
                  <a:srgbClr val="f5f8fc"/>
                </a:solidFill>
                <a:effectLst/>
                <a:uFillTx/>
                <a:latin typeface="Aptos Display"/>
                <a:ea typeface="Aptos Display"/>
              </a:rPr>
              <a:t>Bangladesh Energy Crisis</a:t>
            </a:r>
            <a:endParaRPr b="0" lang="en-US" sz="2500" strike="noStrike" u="none">
              <a:solidFill>
                <a:srgbClr val="ffffff"/>
              </a:solidFill>
              <a:effectLst/>
              <a:uFillTx/>
              <a:latin typeface="Arial"/>
            </a:endParaRPr>
          </a:p>
        </p:txBody>
      </p:sp>
      <p:sp>
        <p:nvSpPr>
          <p:cNvPr id="74" name="Text 7"/>
          <p:cNvSpPr/>
          <p:nvPr/>
        </p:nvSpPr>
        <p:spPr>
          <a:xfrm>
            <a:off x="502920" y="704160"/>
            <a:ext cx="10835280" cy="255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50" strike="noStrike" u="none">
                <a:solidFill>
                  <a:srgbClr val="b0c1d5"/>
                </a:solidFill>
                <a:effectLst/>
                <a:uFillTx/>
                <a:latin typeface="Aptos"/>
              </a:rPr>
              <a:t>Why RNPP is framed as a strategic response</a:t>
            </a:r>
            <a:endParaRPr b="0" lang="en-US" sz="1250" strike="noStrike" u="none">
              <a:solidFill>
                <a:srgbClr val="ffffff"/>
              </a:solidFill>
              <a:effectLst/>
              <a:uFillTx/>
              <a:latin typeface="Arial"/>
            </a:endParaRPr>
          </a:p>
        </p:txBody>
      </p:sp>
      <p:sp>
        <p:nvSpPr>
          <p:cNvPr id="75" name="Shape 8"/>
          <p:cNvSpPr/>
          <p:nvPr/>
        </p:nvSpPr>
        <p:spPr>
          <a:xfrm>
            <a:off x="548640" y="1600200"/>
            <a:ext cx="1724760" cy="658080"/>
          </a:xfrm>
          <a:prstGeom prst="roundRect">
            <a:avLst>
              <a:gd name="adj" fmla="val 13889"/>
            </a:avLst>
          </a:prstGeom>
          <a:solidFill>
            <a:srgbClr val="00b078"/>
          </a:solidFill>
          <a:ln w="12700">
            <a:solidFill>
              <a:srgbClr val="00b078">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76" name="Text 9"/>
          <p:cNvSpPr/>
          <p:nvPr/>
        </p:nvSpPr>
        <p:spPr>
          <a:xfrm>
            <a:off x="603360" y="1737360"/>
            <a:ext cx="1614960" cy="4021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50" strike="noStrike" u="none">
                <a:solidFill>
                  <a:srgbClr val="06172f"/>
                </a:solidFill>
                <a:effectLst/>
                <a:uFillTx/>
                <a:latin typeface="Aptos"/>
              </a:rPr>
              <a:t>Energy</a:t>
            </a:r>
            <a:endParaRPr b="0" lang="en-US" sz="1050" strike="noStrike" u="none">
              <a:solidFill>
                <a:srgbClr val="ffffff"/>
              </a:solidFill>
              <a:effectLst/>
              <a:uFillTx/>
              <a:latin typeface="Arial"/>
            </a:endParaRPr>
          </a:p>
          <a:p>
            <a:pPr algn="ctr" defTabSz="914400">
              <a:lnSpc>
                <a:spcPct val="100000"/>
              </a:lnSpc>
              <a:tabLst>
                <a:tab algn="l" pos="0"/>
              </a:tabLst>
            </a:pPr>
            <a:r>
              <a:rPr b="1" lang="en-US" sz="1050" strike="noStrike" u="none">
                <a:solidFill>
                  <a:srgbClr val="06172f"/>
                </a:solidFill>
                <a:effectLst/>
                <a:uFillTx/>
                <a:latin typeface="Aptos"/>
              </a:rPr>
              <a:t>Need</a:t>
            </a:r>
            <a:endParaRPr b="0" lang="en-US" sz="1050" strike="noStrike" u="none">
              <a:solidFill>
                <a:srgbClr val="ffffff"/>
              </a:solidFill>
              <a:effectLst/>
              <a:uFillTx/>
              <a:latin typeface="Arial"/>
            </a:endParaRPr>
          </a:p>
        </p:txBody>
      </p:sp>
      <p:sp>
        <p:nvSpPr>
          <p:cNvPr id="77" name="Shape 10"/>
          <p:cNvSpPr/>
          <p:nvPr/>
        </p:nvSpPr>
        <p:spPr>
          <a:xfrm>
            <a:off x="2255400" y="1843920"/>
            <a:ext cx="164160" cy="164160"/>
          </a:xfrm>
          <a:prstGeom prst="rightArrow">
            <a:avLst>
              <a:gd name="adj1" fmla="val 50000"/>
              <a:gd name="adj2" fmla="val 50000"/>
            </a:avLst>
          </a:prstGeom>
          <a:solidFill>
            <a:srgbClr val="b0c1d5"/>
          </a:solidFill>
          <a:ln w="12700">
            <a:solidFill>
              <a:srgbClr val="b0c1d5">
                <a:alpha val="0"/>
              </a:srgbClr>
            </a:solidFill>
            <a:round/>
          </a:ln>
        </p:spPr>
        <p:style>
          <a:lnRef idx="0"/>
          <a:fillRef idx="0"/>
          <a:effectRef idx="0"/>
          <a:fontRef idx="minor"/>
        </p:style>
        <p:txBody>
          <a:bodyPr lIns="90000" rIns="90000" tIns="37080" bIns="37080" anchor="t">
            <a:noAutofit/>
          </a:bodyPr>
          <a:p>
            <a:endParaRPr b="0" lang="en-US" sz="1800" strike="noStrike" u="none">
              <a:solidFill>
                <a:srgbClr val="000000"/>
              </a:solidFill>
              <a:effectLst/>
              <a:uFillTx/>
              <a:latin typeface="Arial"/>
            </a:endParaRPr>
          </a:p>
        </p:txBody>
      </p:sp>
      <p:sp>
        <p:nvSpPr>
          <p:cNvPr id="78" name="Shape 11"/>
          <p:cNvSpPr/>
          <p:nvPr/>
        </p:nvSpPr>
        <p:spPr>
          <a:xfrm>
            <a:off x="2392560" y="1600200"/>
            <a:ext cx="1724760" cy="658080"/>
          </a:xfrm>
          <a:prstGeom prst="roundRect">
            <a:avLst>
              <a:gd name="adj" fmla="val 13889"/>
            </a:avLst>
          </a:prstGeom>
          <a:solidFill>
            <a:srgbClr val="5bd2ff"/>
          </a:solidFill>
          <a:ln w="12700">
            <a:solidFill>
              <a:srgbClr val="5bd2f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79" name="Text 12"/>
          <p:cNvSpPr/>
          <p:nvPr/>
        </p:nvSpPr>
        <p:spPr>
          <a:xfrm>
            <a:off x="2447640" y="1737360"/>
            <a:ext cx="1614960" cy="4021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50" strike="noStrike" u="none">
                <a:solidFill>
                  <a:srgbClr val="06172f"/>
                </a:solidFill>
                <a:effectLst/>
                <a:uFillTx/>
                <a:latin typeface="Aptos"/>
              </a:rPr>
              <a:t>Power</a:t>
            </a:r>
            <a:endParaRPr b="0" lang="en-US" sz="1050" strike="noStrike" u="none">
              <a:solidFill>
                <a:srgbClr val="ffffff"/>
              </a:solidFill>
              <a:effectLst/>
              <a:uFillTx/>
              <a:latin typeface="Arial"/>
            </a:endParaRPr>
          </a:p>
          <a:p>
            <a:pPr algn="ctr" defTabSz="914400">
              <a:lnSpc>
                <a:spcPct val="100000"/>
              </a:lnSpc>
              <a:tabLst>
                <a:tab algn="l" pos="0"/>
              </a:tabLst>
            </a:pPr>
            <a:r>
              <a:rPr b="1" lang="en-US" sz="1050" strike="noStrike" u="none">
                <a:solidFill>
                  <a:srgbClr val="06172f"/>
                </a:solidFill>
                <a:effectLst/>
                <a:uFillTx/>
                <a:latin typeface="Aptos"/>
              </a:rPr>
              <a:t>Shortage</a:t>
            </a:r>
            <a:endParaRPr b="0" lang="en-US" sz="1050" strike="noStrike" u="none">
              <a:solidFill>
                <a:srgbClr val="ffffff"/>
              </a:solidFill>
              <a:effectLst/>
              <a:uFillTx/>
              <a:latin typeface="Arial"/>
            </a:endParaRPr>
          </a:p>
        </p:txBody>
      </p:sp>
      <p:sp>
        <p:nvSpPr>
          <p:cNvPr id="80" name="Shape 13"/>
          <p:cNvSpPr/>
          <p:nvPr/>
        </p:nvSpPr>
        <p:spPr>
          <a:xfrm>
            <a:off x="4099680" y="1843920"/>
            <a:ext cx="164160" cy="164160"/>
          </a:xfrm>
          <a:prstGeom prst="rightArrow">
            <a:avLst>
              <a:gd name="adj1" fmla="val 50000"/>
              <a:gd name="adj2" fmla="val 50000"/>
            </a:avLst>
          </a:prstGeom>
          <a:solidFill>
            <a:srgbClr val="b0c1d5"/>
          </a:solidFill>
          <a:ln w="12700">
            <a:solidFill>
              <a:srgbClr val="b0c1d5">
                <a:alpha val="0"/>
              </a:srgbClr>
            </a:solidFill>
            <a:round/>
          </a:ln>
        </p:spPr>
        <p:style>
          <a:lnRef idx="0"/>
          <a:fillRef idx="0"/>
          <a:effectRef idx="0"/>
          <a:fontRef idx="minor"/>
        </p:style>
        <p:txBody>
          <a:bodyPr lIns="90000" rIns="90000" tIns="37080" bIns="37080" anchor="t">
            <a:noAutofit/>
          </a:bodyPr>
          <a:p>
            <a:endParaRPr b="0" lang="en-US" sz="1800" strike="noStrike" u="none">
              <a:solidFill>
                <a:srgbClr val="000000"/>
              </a:solidFill>
              <a:effectLst/>
              <a:uFillTx/>
              <a:latin typeface="Arial"/>
            </a:endParaRPr>
          </a:p>
        </p:txBody>
      </p:sp>
      <p:sp>
        <p:nvSpPr>
          <p:cNvPr id="81" name="Shape 14"/>
          <p:cNvSpPr/>
          <p:nvPr/>
        </p:nvSpPr>
        <p:spPr>
          <a:xfrm>
            <a:off x="4236840" y="1600200"/>
            <a:ext cx="1724760" cy="658080"/>
          </a:xfrm>
          <a:prstGeom prst="roundRect">
            <a:avLst>
              <a:gd name="adj" fmla="val 13889"/>
            </a:avLst>
          </a:prstGeom>
          <a:solidFill>
            <a:srgbClr val="50d69b"/>
          </a:solidFill>
          <a:ln w="12700">
            <a:solidFill>
              <a:srgbClr val="50d69b">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82" name="Text 15"/>
          <p:cNvSpPr/>
          <p:nvPr/>
        </p:nvSpPr>
        <p:spPr>
          <a:xfrm>
            <a:off x="4291560" y="1737360"/>
            <a:ext cx="1614960" cy="4021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50" strike="noStrike" u="none">
                <a:solidFill>
                  <a:srgbClr val="06172f"/>
                </a:solidFill>
                <a:effectLst/>
                <a:uFillTx/>
                <a:latin typeface="Aptos"/>
              </a:rPr>
              <a:t>Nuclear</a:t>
            </a:r>
            <a:endParaRPr b="0" lang="en-US" sz="1050" strike="noStrike" u="none">
              <a:solidFill>
                <a:srgbClr val="ffffff"/>
              </a:solidFill>
              <a:effectLst/>
              <a:uFillTx/>
              <a:latin typeface="Arial"/>
            </a:endParaRPr>
          </a:p>
          <a:p>
            <a:pPr algn="ctr" defTabSz="914400">
              <a:lnSpc>
                <a:spcPct val="100000"/>
              </a:lnSpc>
              <a:tabLst>
                <a:tab algn="l" pos="0"/>
              </a:tabLst>
            </a:pPr>
            <a:r>
              <a:rPr b="1" lang="en-US" sz="1050" strike="noStrike" u="none">
                <a:solidFill>
                  <a:srgbClr val="06172f"/>
                </a:solidFill>
                <a:effectLst/>
                <a:uFillTx/>
                <a:latin typeface="Aptos"/>
              </a:rPr>
              <a:t>Energy</a:t>
            </a:r>
            <a:endParaRPr b="0" lang="en-US" sz="1050" strike="noStrike" u="none">
              <a:solidFill>
                <a:srgbClr val="ffffff"/>
              </a:solidFill>
              <a:effectLst/>
              <a:uFillTx/>
              <a:latin typeface="Arial"/>
            </a:endParaRPr>
          </a:p>
        </p:txBody>
      </p:sp>
      <p:sp>
        <p:nvSpPr>
          <p:cNvPr id="83" name="Shape 16"/>
          <p:cNvSpPr/>
          <p:nvPr/>
        </p:nvSpPr>
        <p:spPr>
          <a:xfrm>
            <a:off x="5943600" y="1843920"/>
            <a:ext cx="164160" cy="164160"/>
          </a:xfrm>
          <a:prstGeom prst="rightArrow">
            <a:avLst>
              <a:gd name="adj1" fmla="val 50000"/>
              <a:gd name="adj2" fmla="val 50000"/>
            </a:avLst>
          </a:prstGeom>
          <a:solidFill>
            <a:srgbClr val="b0c1d5"/>
          </a:solidFill>
          <a:ln w="12700">
            <a:solidFill>
              <a:srgbClr val="b0c1d5">
                <a:alpha val="0"/>
              </a:srgbClr>
            </a:solidFill>
            <a:round/>
          </a:ln>
        </p:spPr>
        <p:style>
          <a:lnRef idx="0"/>
          <a:fillRef idx="0"/>
          <a:effectRef idx="0"/>
          <a:fontRef idx="minor"/>
        </p:style>
        <p:txBody>
          <a:bodyPr lIns="90000" rIns="90000" tIns="37080" bIns="37080" anchor="t">
            <a:noAutofit/>
          </a:bodyPr>
          <a:p>
            <a:endParaRPr b="0" lang="en-US" sz="1800" strike="noStrike" u="none">
              <a:solidFill>
                <a:srgbClr val="000000"/>
              </a:solidFill>
              <a:effectLst/>
              <a:uFillTx/>
              <a:latin typeface="Arial"/>
            </a:endParaRPr>
          </a:p>
        </p:txBody>
      </p:sp>
      <p:sp>
        <p:nvSpPr>
          <p:cNvPr id="84" name="Shape 17"/>
          <p:cNvSpPr/>
          <p:nvPr/>
        </p:nvSpPr>
        <p:spPr>
          <a:xfrm>
            <a:off x="6080760" y="1600200"/>
            <a:ext cx="1724760" cy="658080"/>
          </a:xfrm>
          <a:prstGeom prst="roundRect">
            <a:avLst>
              <a:gd name="adj" fmla="val 13889"/>
            </a:avLst>
          </a:prstGeom>
          <a:solidFill>
            <a:srgbClr val="1c69a2"/>
          </a:solidFill>
          <a:ln w="12700">
            <a:solidFill>
              <a:srgbClr val="1c69a2">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85" name="Text 18"/>
          <p:cNvSpPr/>
          <p:nvPr/>
        </p:nvSpPr>
        <p:spPr>
          <a:xfrm>
            <a:off x="6135480" y="1737360"/>
            <a:ext cx="1614960" cy="4021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50" strike="noStrike" u="none">
                <a:solidFill>
                  <a:srgbClr val="06172f"/>
                </a:solidFill>
                <a:effectLst/>
                <a:uFillTx/>
                <a:latin typeface="Aptos"/>
              </a:rPr>
              <a:t>RNPP</a:t>
            </a:r>
            <a:endParaRPr b="0" lang="en-US" sz="1050" strike="noStrike" u="none">
              <a:solidFill>
                <a:srgbClr val="ffffff"/>
              </a:solidFill>
              <a:effectLst/>
              <a:uFillTx/>
              <a:latin typeface="Arial"/>
            </a:endParaRPr>
          </a:p>
        </p:txBody>
      </p:sp>
      <p:sp>
        <p:nvSpPr>
          <p:cNvPr id="86" name="Shape 19"/>
          <p:cNvSpPr/>
          <p:nvPr/>
        </p:nvSpPr>
        <p:spPr>
          <a:xfrm>
            <a:off x="7787520" y="1843920"/>
            <a:ext cx="164160" cy="164160"/>
          </a:xfrm>
          <a:prstGeom prst="rightArrow">
            <a:avLst>
              <a:gd name="adj1" fmla="val 50000"/>
              <a:gd name="adj2" fmla="val 50000"/>
            </a:avLst>
          </a:prstGeom>
          <a:solidFill>
            <a:srgbClr val="b0c1d5"/>
          </a:solidFill>
          <a:ln w="12700">
            <a:solidFill>
              <a:srgbClr val="b0c1d5">
                <a:alpha val="0"/>
              </a:srgbClr>
            </a:solidFill>
            <a:round/>
          </a:ln>
        </p:spPr>
        <p:style>
          <a:lnRef idx="0"/>
          <a:fillRef idx="0"/>
          <a:effectRef idx="0"/>
          <a:fontRef idx="minor"/>
        </p:style>
        <p:txBody>
          <a:bodyPr lIns="90000" rIns="90000" tIns="37080" bIns="37080" anchor="t">
            <a:noAutofit/>
          </a:bodyPr>
          <a:p>
            <a:endParaRPr b="0" lang="en-US" sz="1800" strike="noStrike" u="none">
              <a:solidFill>
                <a:srgbClr val="000000"/>
              </a:solidFill>
              <a:effectLst/>
              <a:uFillTx/>
              <a:latin typeface="Arial"/>
            </a:endParaRPr>
          </a:p>
        </p:txBody>
      </p:sp>
      <p:sp>
        <p:nvSpPr>
          <p:cNvPr id="87" name="Shape 20"/>
          <p:cNvSpPr/>
          <p:nvPr/>
        </p:nvSpPr>
        <p:spPr>
          <a:xfrm>
            <a:off x="7924680" y="1600200"/>
            <a:ext cx="1724760" cy="658080"/>
          </a:xfrm>
          <a:prstGeom prst="roundRect">
            <a:avLst>
              <a:gd name="adj" fmla="val 13889"/>
            </a:avLst>
          </a:prstGeom>
          <a:solidFill>
            <a:srgbClr val="f0be49"/>
          </a:solidFill>
          <a:ln w="12700">
            <a:solidFill>
              <a:srgbClr val="f0be49">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88" name="Text 21"/>
          <p:cNvSpPr/>
          <p:nvPr/>
        </p:nvSpPr>
        <p:spPr>
          <a:xfrm>
            <a:off x="7979760" y="1737360"/>
            <a:ext cx="1614960" cy="4021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50" strike="noStrike" u="none">
                <a:solidFill>
                  <a:srgbClr val="06172f"/>
                </a:solidFill>
                <a:effectLst/>
                <a:uFillTx/>
                <a:latin typeface="Aptos"/>
              </a:rPr>
              <a:t>Electricity</a:t>
            </a:r>
            <a:endParaRPr b="0" lang="en-US" sz="1050" strike="noStrike" u="none">
              <a:solidFill>
                <a:srgbClr val="ffffff"/>
              </a:solidFill>
              <a:effectLst/>
              <a:uFillTx/>
              <a:latin typeface="Arial"/>
            </a:endParaRPr>
          </a:p>
          <a:p>
            <a:pPr algn="ctr" defTabSz="914400">
              <a:lnSpc>
                <a:spcPct val="100000"/>
              </a:lnSpc>
              <a:tabLst>
                <a:tab algn="l" pos="0"/>
              </a:tabLst>
            </a:pPr>
            <a:r>
              <a:rPr b="1" lang="en-US" sz="1050" strike="noStrike" u="none">
                <a:solidFill>
                  <a:srgbClr val="06172f"/>
                </a:solidFill>
                <a:effectLst/>
                <a:uFillTx/>
                <a:latin typeface="Aptos"/>
              </a:rPr>
              <a:t>Generation</a:t>
            </a:r>
            <a:endParaRPr b="0" lang="en-US" sz="1050" strike="noStrike" u="none">
              <a:solidFill>
                <a:srgbClr val="ffffff"/>
              </a:solidFill>
              <a:effectLst/>
              <a:uFillTx/>
              <a:latin typeface="Arial"/>
            </a:endParaRPr>
          </a:p>
        </p:txBody>
      </p:sp>
      <p:sp>
        <p:nvSpPr>
          <p:cNvPr id="89" name="Shape 22"/>
          <p:cNvSpPr/>
          <p:nvPr/>
        </p:nvSpPr>
        <p:spPr>
          <a:xfrm>
            <a:off x="9631800" y="1843920"/>
            <a:ext cx="164160" cy="164160"/>
          </a:xfrm>
          <a:prstGeom prst="rightArrow">
            <a:avLst>
              <a:gd name="adj1" fmla="val 50000"/>
              <a:gd name="adj2" fmla="val 50000"/>
            </a:avLst>
          </a:prstGeom>
          <a:solidFill>
            <a:srgbClr val="b0c1d5"/>
          </a:solidFill>
          <a:ln w="12700">
            <a:solidFill>
              <a:srgbClr val="b0c1d5">
                <a:alpha val="0"/>
              </a:srgbClr>
            </a:solidFill>
            <a:round/>
          </a:ln>
        </p:spPr>
        <p:style>
          <a:lnRef idx="0"/>
          <a:fillRef idx="0"/>
          <a:effectRef idx="0"/>
          <a:fontRef idx="minor"/>
        </p:style>
        <p:txBody>
          <a:bodyPr lIns="90000" rIns="90000" tIns="37080" bIns="37080" anchor="t">
            <a:noAutofit/>
          </a:bodyPr>
          <a:p>
            <a:endParaRPr b="0" lang="en-US" sz="1800" strike="noStrike" u="none">
              <a:solidFill>
                <a:srgbClr val="000000"/>
              </a:solidFill>
              <a:effectLst/>
              <a:uFillTx/>
              <a:latin typeface="Arial"/>
            </a:endParaRPr>
          </a:p>
        </p:txBody>
      </p:sp>
      <p:sp>
        <p:nvSpPr>
          <p:cNvPr id="90" name="Shape 23"/>
          <p:cNvSpPr/>
          <p:nvPr/>
        </p:nvSpPr>
        <p:spPr>
          <a:xfrm>
            <a:off x="9768960" y="1600200"/>
            <a:ext cx="1724760" cy="658080"/>
          </a:xfrm>
          <a:prstGeom prst="roundRect">
            <a:avLst>
              <a:gd name="adj" fmla="val 13889"/>
            </a:avLst>
          </a:prstGeom>
          <a:solidFill>
            <a:srgbClr val="00b078"/>
          </a:solidFill>
          <a:ln w="12700">
            <a:solidFill>
              <a:srgbClr val="00b078">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91" name="Text 24"/>
          <p:cNvSpPr/>
          <p:nvPr/>
        </p:nvSpPr>
        <p:spPr>
          <a:xfrm>
            <a:off x="9823680" y="1737360"/>
            <a:ext cx="1614960" cy="4021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50" strike="noStrike" u="none">
                <a:solidFill>
                  <a:srgbClr val="06172f"/>
                </a:solidFill>
                <a:effectLst/>
                <a:uFillTx/>
                <a:latin typeface="Aptos"/>
              </a:rPr>
              <a:t>Economic</a:t>
            </a:r>
            <a:endParaRPr b="0" lang="en-US" sz="1050" strike="noStrike" u="none">
              <a:solidFill>
                <a:srgbClr val="ffffff"/>
              </a:solidFill>
              <a:effectLst/>
              <a:uFillTx/>
              <a:latin typeface="Arial"/>
            </a:endParaRPr>
          </a:p>
          <a:p>
            <a:pPr algn="ctr" defTabSz="914400">
              <a:lnSpc>
                <a:spcPct val="100000"/>
              </a:lnSpc>
              <a:tabLst>
                <a:tab algn="l" pos="0"/>
              </a:tabLst>
            </a:pPr>
            <a:r>
              <a:rPr b="1" lang="en-US" sz="1050" strike="noStrike" u="none">
                <a:solidFill>
                  <a:srgbClr val="06172f"/>
                </a:solidFill>
                <a:effectLst/>
                <a:uFillTx/>
                <a:latin typeface="Aptos"/>
              </a:rPr>
              <a:t>Development</a:t>
            </a:r>
            <a:endParaRPr b="0" lang="en-US" sz="1050" strike="noStrike" u="none">
              <a:solidFill>
                <a:srgbClr val="ffffff"/>
              </a:solidFill>
              <a:effectLst/>
              <a:uFillTx/>
              <a:latin typeface="Arial"/>
            </a:endParaRPr>
          </a:p>
        </p:txBody>
      </p:sp>
      <p:sp>
        <p:nvSpPr>
          <p:cNvPr id="92" name="Shape 25"/>
          <p:cNvSpPr/>
          <p:nvPr/>
        </p:nvSpPr>
        <p:spPr>
          <a:xfrm>
            <a:off x="731520" y="2788920"/>
            <a:ext cx="5074560" cy="1645560"/>
          </a:xfrm>
          <a:prstGeom prst="roundRect">
            <a:avLst>
              <a:gd name="adj" fmla="val 6667"/>
            </a:avLst>
          </a:prstGeom>
          <a:solidFill>
            <a:srgbClr val="0e2d4f">
              <a:alpha val="93000"/>
            </a:srgbClr>
          </a:solidFill>
          <a:ln w="12700">
            <a:solidFill>
              <a:srgbClr val="00b078">
                <a:alpha val="7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93" name="Text 26"/>
          <p:cNvSpPr/>
          <p:nvPr/>
        </p:nvSpPr>
        <p:spPr>
          <a:xfrm>
            <a:off x="896040" y="2907720"/>
            <a:ext cx="474552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50d69b"/>
                </a:solidFill>
                <a:effectLst/>
                <a:uFillTx/>
                <a:latin typeface="Aptos"/>
              </a:rPr>
              <a:t>Demand pressure</a:t>
            </a:r>
            <a:endParaRPr b="0" lang="en-US" sz="1600" strike="noStrike" u="none">
              <a:solidFill>
                <a:srgbClr val="ffffff"/>
              </a:solidFill>
              <a:effectLst/>
              <a:uFillTx/>
              <a:latin typeface="Arial"/>
            </a:endParaRPr>
          </a:p>
        </p:txBody>
      </p:sp>
      <p:sp>
        <p:nvSpPr>
          <p:cNvPr id="94" name="Text 27"/>
          <p:cNvSpPr/>
          <p:nvPr/>
        </p:nvSpPr>
        <p:spPr>
          <a:xfrm>
            <a:off x="951120" y="3291840"/>
            <a:ext cx="4635720" cy="1078560"/>
          </a:xfrm>
          <a:prstGeom prst="rect">
            <a:avLst/>
          </a:prstGeom>
          <a:noFill/>
          <a:ln w="0">
            <a:noFill/>
          </a:ln>
        </p:spPr>
        <p:style>
          <a:lnRef idx="0"/>
          <a:fillRef idx="0"/>
          <a:effectRef idx="0"/>
          <a:fontRef idx="minor"/>
        </p:style>
        <p:txBody>
          <a:bodyPr lIns="1080" rIns="1080" tIns="1080" bIns="1080" anchor="t">
            <a:normAutofit/>
          </a:bodyPr>
          <a:p>
            <a:pPr defTabSz="914400">
              <a:lnSpc>
                <a:spcPct val="100000"/>
              </a:lnSpc>
            </a:pPr>
            <a:r>
              <a:rPr b="0" lang="en-US" sz="1300" strike="noStrike" u="none">
                <a:solidFill>
                  <a:srgbClr val="f5f8fc"/>
                </a:solidFill>
                <a:effectLst/>
                <a:uFillTx/>
                <a:latin typeface="Aptos"/>
                <a:ea typeface="Aptos"/>
              </a:rPr>
              <a:t>Rapid industrialisation and urbanisation increase electricity demand, while domestic gas reserves and fuel imports create uncertainty.</a:t>
            </a:r>
            <a:endParaRPr b="0" lang="en-US" sz="1300" strike="noStrike" u="none">
              <a:solidFill>
                <a:srgbClr val="ffffff"/>
              </a:solidFill>
              <a:effectLst/>
              <a:uFillTx/>
              <a:latin typeface="Arial"/>
            </a:endParaRPr>
          </a:p>
        </p:txBody>
      </p:sp>
      <p:sp>
        <p:nvSpPr>
          <p:cNvPr id="95" name="Shape 28"/>
          <p:cNvSpPr/>
          <p:nvPr/>
        </p:nvSpPr>
        <p:spPr>
          <a:xfrm>
            <a:off x="6355080" y="2788920"/>
            <a:ext cx="5074560" cy="1645560"/>
          </a:xfrm>
          <a:prstGeom prst="roundRect">
            <a:avLst>
              <a:gd name="adj" fmla="val 6667"/>
            </a:avLst>
          </a:prstGeom>
          <a:solidFill>
            <a:srgbClr val="0e2d4f">
              <a:alpha val="93000"/>
            </a:srgbClr>
          </a:solidFill>
          <a:ln w="12700">
            <a:solidFill>
              <a:srgbClr val="5bd2ff">
                <a:alpha val="7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96" name="Text 29"/>
          <p:cNvSpPr/>
          <p:nvPr/>
        </p:nvSpPr>
        <p:spPr>
          <a:xfrm>
            <a:off x="6519600" y="2907720"/>
            <a:ext cx="474552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50d69b"/>
                </a:solidFill>
                <a:effectLst/>
                <a:uFillTx/>
                <a:latin typeface="Aptos"/>
              </a:rPr>
              <a:t>RNPP response</a:t>
            </a:r>
            <a:endParaRPr b="0" lang="en-US" sz="1600" strike="noStrike" u="none">
              <a:solidFill>
                <a:srgbClr val="ffffff"/>
              </a:solidFill>
              <a:effectLst/>
              <a:uFillTx/>
              <a:latin typeface="Arial"/>
            </a:endParaRPr>
          </a:p>
        </p:txBody>
      </p:sp>
      <p:sp>
        <p:nvSpPr>
          <p:cNvPr id="97" name="Text 30"/>
          <p:cNvSpPr/>
          <p:nvPr/>
        </p:nvSpPr>
        <p:spPr>
          <a:xfrm>
            <a:off x="6574680" y="3291840"/>
            <a:ext cx="4635720" cy="1078560"/>
          </a:xfrm>
          <a:prstGeom prst="rect">
            <a:avLst/>
          </a:prstGeom>
          <a:noFill/>
          <a:ln w="0">
            <a:noFill/>
          </a:ln>
        </p:spPr>
        <p:style>
          <a:lnRef idx="0"/>
          <a:fillRef idx="0"/>
          <a:effectRef idx="0"/>
          <a:fontRef idx="minor"/>
        </p:style>
        <p:txBody>
          <a:bodyPr lIns="1080" rIns="1080" tIns="1080" bIns="1080" anchor="t">
            <a:normAutofit/>
          </a:bodyPr>
          <a:p>
            <a:pPr defTabSz="914400">
              <a:lnSpc>
                <a:spcPct val="100000"/>
              </a:lnSpc>
            </a:pPr>
            <a:r>
              <a:rPr b="0" lang="en-US" sz="1300" strike="noStrike" u="none">
                <a:solidFill>
                  <a:srgbClr val="f5f8fc"/>
                </a:solidFill>
                <a:effectLst/>
                <a:uFillTx/>
                <a:latin typeface="Aptos"/>
                <a:ea typeface="Aptos"/>
              </a:rPr>
              <a:t>The source deck positions 2,400 MW of constant baseload nuclear electricity as a stabilising contribution to the national grid.</a:t>
            </a:r>
            <a:endParaRPr b="0" lang="en-US" sz="1300" strike="noStrike" u="none">
              <a:solidFill>
                <a:srgbClr val="ffffff"/>
              </a:solidFill>
              <a:effectLst/>
              <a:uFillTx/>
              <a:latin typeface="Arial"/>
            </a:endParaRPr>
          </a:p>
        </p:txBody>
      </p:sp>
      <p:sp>
        <p:nvSpPr>
          <p:cNvPr id="98" name="Shape 31"/>
          <p:cNvSpPr/>
          <p:nvPr/>
        </p:nvSpPr>
        <p:spPr>
          <a:xfrm>
            <a:off x="731520" y="4709160"/>
            <a:ext cx="10698120" cy="914040"/>
          </a:xfrm>
          <a:prstGeom prst="roundRect">
            <a:avLst>
              <a:gd name="adj" fmla="val 12000"/>
            </a:avLst>
          </a:prstGeom>
          <a:solidFill>
            <a:srgbClr val="0e2d4f">
              <a:alpha val="93000"/>
            </a:srgbClr>
          </a:solidFill>
          <a:ln w="12700">
            <a:solidFill>
              <a:srgbClr val="50d69b">
                <a:alpha val="7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99" name="Text 32"/>
          <p:cNvSpPr/>
          <p:nvPr/>
        </p:nvSpPr>
        <p:spPr>
          <a:xfrm>
            <a:off x="896040" y="4827960"/>
            <a:ext cx="1036908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50d69b"/>
                </a:solidFill>
                <a:effectLst/>
                <a:uFillTx/>
                <a:latin typeface="Aptos"/>
              </a:rPr>
              <a:t>Development logic</a:t>
            </a:r>
            <a:endParaRPr b="0" lang="en-US" sz="1600" strike="noStrike" u="none">
              <a:solidFill>
                <a:srgbClr val="ffffff"/>
              </a:solidFill>
              <a:effectLst/>
              <a:uFillTx/>
              <a:latin typeface="Arial"/>
            </a:endParaRPr>
          </a:p>
        </p:txBody>
      </p:sp>
      <p:sp>
        <p:nvSpPr>
          <p:cNvPr id="100" name="Text 33"/>
          <p:cNvSpPr/>
          <p:nvPr/>
        </p:nvSpPr>
        <p:spPr>
          <a:xfrm>
            <a:off x="951120" y="5212080"/>
            <a:ext cx="10259280" cy="347040"/>
          </a:xfrm>
          <a:prstGeom prst="rect">
            <a:avLst/>
          </a:prstGeom>
          <a:noFill/>
          <a:ln w="0">
            <a:noFill/>
          </a:ln>
        </p:spPr>
        <p:style>
          <a:lnRef idx="0"/>
          <a:fillRef idx="0"/>
          <a:effectRef idx="0"/>
          <a:fontRef idx="minor"/>
        </p:style>
        <p:txBody>
          <a:bodyPr lIns="1080" rIns="1080" tIns="1080" bIns="1080" anchor="t">
            <a:normAutofit/>
          </a:bodyPr>
          <a:p>
            <a:pPr defTabSz="914400">
              <a:lnSpc>
                <a:spcPct val="100000"/>
              </a:lnSpc>
            </a:pPr>
            <a:r>
              <a:rPr b="0" lang="en-US" sz="1300" strike="noStrike" u="none">
                <a:solidFill>
                  <a:srgbClr val="f5f8fc"/>
                </a:solidFill>
                <a:effectLst/>
                <a:uFillTx/>
                <a:latin typeface="Aptos"/>
                <a:ea typeface="Aptos"/>
              </a:rPr>
              <a:t>Stable electricity supports industry, households, economic zones and regional development in the western grid zone.</a:t>
            </a:r>
            <a:endParaRPr b="0" lang="en-US" sz="1300" strike="noStrike" u="none">
              <a:solidFill>
                <a:srgbClr val="ffffff"/>
              </a:solidFill>
              <a:effectLst/>
              <a:uFillTx/>
              <a:latin typeface="Arial"/>
            </a:endParaRPr>
          </a:p>
        </p:txBody>
      </p:sp>
    </p:spTree>
  </p:cSld>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6172f"/>
        </a:solidFill>
      </p:bgPr>
    </p:bg>
    <p:spTree>
      <p:nvGrpSpPr>
        <p:cNvPr id="1" name=""/>
        <p:cNvGrpSpPr/>
        <p:nvPr/>
      </p:nvGrpSpPr>
      <p:grpSpPr>
        <a:xfrm>
          <a:off x="0" y="0"/>
          <a:ext cx="0" cy="0"/>
          <a:chOff x="0" y="0"/>
          <a:chExt cx="0" cy="0"/>
        </a:xfrm>
      </p:grpSpPr>
      <p:sp>
        <p:nvSpPr>
          <p:cNvPr id="101" name="Shape 0"/>
          <p:cNvSpPr/>
          <p:nvPr/>
        </p:nvSpPr>
        <p:spPr>
          <a:xfrm>
            <a:off x="0" y="0"/>
            <a:ext cx="12191400" cy="6857640"/>
          </a:xfrm>
          <a:prstGeom prst="rect">
            <a:avLst/>
          </a:prstGeom>
          <a:solidFill>
            <a:srgbClr val="06172f"/>
          </a:solidFill>
          <a:ln w="12700">
            <a:solidFill>
              <a:srgbClr val="06172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02" name="Shape 1"/>
          <p:cNvSpPr/>
          <p:nvPr/>
        </p:nvSpPr>
        <p:spPr>
          <a:xfrm>
            <a:off x="7680960" y="-1005840"/>
            <a:ext cx="4388760" cy="2925720"/>
          </a:xfrm>
          <a:prstGeom prst="arc">
            <a:avLst>
              <a:gd name="adj1" fmla="val 16200000"/>
              <a:gd name="adj2" fmla="val 0"/>
            </a:avLst>
          </a:prstGeom>
          <a:solidFill>
            <a:srgbClr val="0e3a68">
              <a:alpha val="75000"/>
            </a:srgbClr>
          </a:solidFill>
          <a:ln w="12700">
            <a:solidFill>
              <a:srgbClr val="0e3a68">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03" name="Shape 2"/>
          <p:cNvSpPr/>
          <p:nvPr/>
        </p:nvSpPr>
        <p:spPr>
          <a:xfrm>
            <a:off x="8778240" y="-777240"/>
            <a:ext cx="3474360" cy="2285640"/>
          </a:xfrm>
          <a:prstGeom prst="arc">
            <a:avLst>
              <a:gd name="adj1" fmla="val 16200000"/>
              <a:gd name="adj2" fmla="val 0"/>
            </a:avLst>
          </a:prstGeom>
          <a:solidFill>
            <a:srgbClr val="0b4d5e">
              <a:alpha val="65000"/>
            </a:srgbClr>
          </a:solidFill>
          <a:ln w="12700">
            <a:solidFill>
              <a:srgbClr val="0b4d5e">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04" name="Shape 3"/>
          <p:cNvSpPr/>
          <p:nvPr/>
        </p:nvSpPr>
        <p:spPr>
          <a:xfrm>
            <a:off x="0" y="0"/>
            <a:ext cx="109440" cy="6857640"/>
          </a:xfrm>
          <a:prstGeom prst="rect">
            <a:avLst/>
          </a:prstGeom>
          <a:solidFill>
            <a:srgbClr val="00b078"/>
          </a:solidFill>
          <a:ln w="12700">
            <a:solidFill>
              <a:srgbClr val="00b078">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05" name="Shape 4"/>
          <p:cNvSpPr/>
          <p:nvPr/>
        </p:nvSpPr>
        <p:spPr>
          <a:xfrm>
            <a:off x="320040" y="6565320"/>
            <a:ext cx="11521080" cy="16200"/>
          </a:xfrm>
          <a:prstGeom prst="rect">
            <a:avLst/>
          </a:prstGeom>
          <a:solidFill>
            <a:srgbClr val="435d78"/>
          </a:solidFill>
          <a:ln w="12700">
            <a:solidFill>
              <a:srgbClr val="435d78">
                <a:alpha val="0"/>
              </a:srgbClr>
            </a:solidFill>
            <a:round/>
          </a:ln>
        </p:spPr>
        <p:style>
          <a:lnRef idx="0"/>
          <a:fillRef idx="0"/>
          <a:effectRef idx="0"/>
          <a:fontRef idx="minor"/>
        </p:style>
        <p:txBody>
          <a:bodyPr lIns="90000" rIns="90000" tIns="-28440" bIns="-28440" anchor="t">
            <a:noAutofit/>
          </a:bodyPr>
          <a:p>
            <a:endParaRPr b="0" lang="en-US" sz="1800" strike="noStrike" u="none">
              <a:solidFill>
                <a:srgbClr val="ffffff"/>
              </a:solidFill>
              <a:effectLst/>
              <a:uFillTx/>
              <a:latin typeface="Arial"/>
            </a:endParaRPr>
          </a:p>
        </p:txBody>
      </p:sp>
      <p:sp>
        <p:nvSpPr>
          <p:cNvPr id="106" name="Text 5"/>
          <p:cNvSpPr/>
          <p:nvPr/>
        </p:nvSpPr>
        <p:spPr>
          <a:xfrm>
            <a:off x="11356920" y="6602040"/>
            <a:ext cx="502560" cy="13680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50" strike="noStrike" u="none">
                <a:solidFill>
                  <a:srgbClr val="b0c1d5"/>
                </a:solidFill>
                <a:effectLst/>
                <a:uFillTx/>
                <a:latin typeface="Aptos"/>
                <a:ea typeface="Aptos"/>
              </a:rPr>
              <a:t>05</a:t>
            </a:r>
            <a:endParaRPr b="0" lang="en-US" sz="950" strike="noStrike" u="none">
              <a:solidFill>
                <a:srgbClr val="ffffff"/>
              </a:solidFill>
              <a:effectLst/>
              <a:uFillTx/>
              <a:latin typeface="Arial"/>
            </a:endParaRPr>
          </a:p>
        </p:txBody>
      </p:sp>
      <p:sp>
        <p:nvSpPr>
          <p:cNvPr id="107" name="Text 6"/>
          <p:cNvSpPr/>
          <p:nvPr/>
        </p:nvSpPr>
        <p:spPr>
          <a:xfrm>
            <a:off x="475560" y="228600"/>
            <a:ext cx="10972440" cy="383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500" strike="noStrike" u="none">
                <a:solidFill>
                  <a:srgbClr val="f5f8fc"/>
                </a:solidFill>
                <a:effectLst/>
                <a:uFillTx/>
                <a:latin typeface="Aptos Display"/>
                <a:ea typeface="Aptos Display"/>
              </a:rPr>
              <a:t>History of Rooppur Nuclear Power Plant</a:t>
            </a:r>
            <a:endParaRPr b="0" lang="en-US" sz="2500" strike="noStrike" u="none">
              <a:solidFill>
                <a:srgbClr val="ffffff"/>
              </a:solidFill>
              <a:effectLst/>
              <a:uFillTx/>
              <a:latin typeface="Arial"/>
            </a:endParaRPr>
          </a:p>
        </p:txBody>
      </p:sp>
      <p:sp>
        <p:nvSpPr>
          <p:cNvPr id="108" name="Text 7"/>
          <p:cNvSpPr/>
          <p:nvPr/>
        </p:nvSpPr>
        <p:spPr>
          <a:xfrm>
            <a:off x="502920" y="704160"/>
            <a:ext cx="10835280" cy="255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50" strike="noStrike" u="none">
                <a:solidFill>
                  <a:srgbClr val="b0c1d5"/>
                </a:solidFill>
                <a:effectLst/>
                <a:uFillTx/>
                <a:latin typeface="Aptos"/>
              </a:rPr>
              <a:t>Long-term nuclear ambition realised through RNPP</a:t>
            </a:r>
            <a:endParaRPr b="0" lang="en-US" sz="1250" strike="noStrike" u="none">
              <a:solidFill>
                <a:srgbClr val="ffffff"/>
              </a:solidFill>
              <a:effectLst/>
              <a:uFillTx/>
              <a:latin typeface="Arial"/>
            </a:endParaRPr>
          </a:p>
        </p:txBody>
      </p:sp>
      <p:sp>
        <p:nvSpPr>
          <p:cNvPr id="109" name="Shape 8"/>
          <p:cNvSpPr/>
          <p:nvPr/>
        </p:nvSpPr>
        <p:spPr>
          <a:xfrm>
            <a:off x="777240" y="1234440"/>
            <a:ext cx="2377080" cy="822600"/>
          </a:xfrm>
          <a:prstGeom prst="roundRect">
            <a:avLst>
              <a:gd name="adj" fmla="val 8889"/>
            </a:avLst>
          </a:prstGeom>
          <a:solidFill>
            <a:srgbClr val="00b078"/>
          </a:solidFill>
          <a:ln w="12700">
            <a:solidFill>
              <a:srgbClr val="00b078">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10" name="Text 9"/>
          <p:cNvSpPr/>
          <p:nvPr/>
        </p:nvSpPr>
        <p:spPr>
          <a:xfrm>
            <a:off x="887040" y="1344240"/>
            <a:ext cx="2157480" cy="6397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100" strike="noStrike" u="none">
                <a:solidFill>
                  <a:srgbClr val="06172f"/>
                </a:solidFill>
                <a:effectLst/>
                <a:uFillTx/>
                <a:latin typeface="Aptos"/>
              </a:rPr>
              <a:t>Early energy planning</a:t>
            </a:r>
            <a:endParaRPr b="0" lang="en-US" sz="1100" strike="noStrike" u="none">
              <a:solidFill>
                <a:srgbClr val="ffffff"/>
              </a:solidFill>
              <a:effectLst/>
              <a:uFillTx/>
              <a:latin typeface="Arial"/>
            </a:endParaRPr>
          </a:p>
        </p:txBody>
      </p:sp>
      <p:sp>
        <p:nvSpPr>
          <p:cNvPr id="111" name="Shape 10"/>
          <p:cNvSpPr/>
          <p:nvPr/>
        </p:nvSpPr>
        <p:spPr>
          <a:xfrm>
            <a:off x="1856160" y="2039040"/>
            <a:ext cx="219240" cy="145800"/>
          </a:xfrm>
          <a:prstGeom prst="downArrow">
            <a:avLst>
              <a:gd name="adj1" fmla="val 50000"/>
              <a:gd name="adj2" fmla="val 50000"/>
            </a:avLst>
          </a:prstGeom>
          <a:solidFill>
            <a:srgbClr val="b0c1d5"/>
          </a:solidFill>
          <a:ln w="12700">
            <a:solidFill>
              <a:srgbClr val="b0c1d5">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12" name="Shape 11"/>
          <p:cNvSpPr/>
          <p:nvPr/>
        </p:nvSpPr>
        <p:spPr>
          <a:xfrm>
            <a:off x="777240" y="2130480"/>
            <a:ext cx="2377080" cy="822600"/>
          </a:xfrm>
          <a:prstGeom prst="roundRect">
            <a:avLst>
              <a:gd name="adj" fmla="val 8889"/>
            </a:avLst>
          </a:prstGeom>
          <a:solidFill>
            <a:srgbClr val="5bd2ff"/>
          </a:solidFill>
          <a:ln w="12700">
            <a:solidFill>
              <a:srgbClr val="5bd2f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13" name="Text 12"/>
          <p:cNvSpPr/>
          <p:nvPr/>
        </p:nvSpPr>
        <p:spPr>
          <a:xfrm>
            <a:off x="887040" y="2240280"/>
            <a:ext cx="2157480" cy="6397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100" strike="noStrike" u="none">
                <a:solidFill>
                  <a:srgbClr val="06172f"/>
                </a:solidFill>
                <a:effectLst/>
                <a:uFillTx/>
                <a:latin typeface="Aptos"/>
              </a:rPr>
              <a:t>Nuclear project revival</a:t>
            </a:r>
            <a:endParaRPr b="0" lang="en-US" sz="1100" strike="noStrike" u="none">
              <a:solidFill>
                <a:srgbClr val="ffffff"/>
              </a:solidFill>
              <a:effectLst/>
              <a:uFillTx/>
              <a:latin typeface="Arial"/>
            </a:endParaRPr>
          </a:p>
        </p:txBody>
      </p:sp>
      <p:sp>
        <p:nvSpPr>
          <p:cNvPr id="114" name="Shape 13"/>
          <p:cNvSpPr/>
          <p:nvPr/>
        </p:nvSpPr>
        <p:spPr>
          <a:xfrm>
            <a:off x="1856160" y="2935080"/>
            <a:ext cx="219240" cy="145800"/>
          </a:xfrm>
          <a:prstGeom prst="downArrow">
            <a:avLst>
              <a:gd name="adj1" fmla="val 50000"/>
              <a:gd name="adj2" fmla="val 50000"/>
            </a:avLst>
          </a:prstGeom>
          <a:solidFill>
            <a:srgbClr val="b0c1d5"/>
          </a:solidFill>
          <a:ln w="12700">
            <a:solidFill>
              <a:srgbClr val="b0c1d5">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15" name="Shape 14"/>
          <p:cNvSpPr/>
          <p:nvPr/>
        </p:nvSpPr>
        <p:spPr>
          <a:xfrm>
            <a:off x="777240" y="3026520"/>
            <a:ext cx="2377080" cy="822600"/>
          </a:xfrm>
          <a:prstGeom prst="roundRect">
            <a:avLst>
              <a:gd name="adj" fmla="val 8889"/>
            </a:avLst>
          </a:prstGeom>
          <a:solidFill>
            <a:srgbClr val="50d69b"/>
          </a:solidFill>
          <a:ln w="12700">
            <a:solidFill>
              <a:srgbClr val="50d69b">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16" name="Text 15"/>
          <p:cNvSpPr/>
          <p:nvPr/>
        </p:nvSpPr>
        <p:spPr>
          <a:xfrm>
            <a:off x="887040" y="3136320"/>
            <a:ext cx="2157480" cy="6397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100" strike="noStrike" u="none">
                <a:solidFill>
                  <a:srgbClr val="06172f"/>
                </a:solidFill>
                <a:effectLst/>
                <a:uFillTx/>
                <a:latin typeface="Aptos"/>
              </a:rPr>
              <a:t>International partnership</a:t>
            </a:r>
            <a:endParaRPr b="0" lang="en-US" sz="1100" strike="noStrike" u="none">
              <a:solidFill>
                <a:srgbClr val="ffffff"/>
              </a:solidFill>
              <a:effectLst/>
              <a:uFillTx/>
              <a:latin typeface="Arial"/>
            </a:endParaRPr>
          </a:p>
        </p:txBody>
      </p:sp>
      <p:sp>
        <p:nvSpPr>
          <p:cNvPr id="117" name="Shape 16"/>
          <p:cNvSpPr/>
          <p:nvPr/>
        </p:nvSpPr>
        <p:spPr>
          <a:xfrm>
            <a:off x="1856160" y="3831480"/>
            <a:ext cx="219240" cy="145800"/>
          </a:xfrm>
          <a:prstGeom prst="downArrow">
            <a:avLst>
              <a:gd name="adj1" fmla="val 50000"/>
              <a:gd name="adj2" fmla="val 50000"/>
            </a:avLst>
          </a:prstGeom>
          <a:solidFill>
            <a:srgbClr val="b0c1d5"/>
          </a:solidFill>
          <a:ln w="12700">
            <a:solidFill>
              <a:srgbClr val="b0c1d5">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18" name="Shape 17"/>
          <p:cNvSpPr/>
          <p:nvPr/>
        </p:nvSpPr>
        <p:spPr>
          <a:xfrm>
            <a:off x="777240" y="3922920"/>
            <a:ext cx="2377080" cy="822600"/>
          </a:xfrm>
          <a:prstGeom prst="roundRect">
            <a:avLst>
              <a:gd name="adj" fmla="val 8889"/>
            </a:avLst>
          </a:prstGeom>
          <a:solidFill>
            <a:srgbClr val="1c69a2"/>
          </a:solidFill>
          <a:ln w="12700">
            <a:solidFill>
              <a:srgbClr val="1c69a2">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19" name="Text 18"/>
          <p:cNvSpPr/>
          <p:nvPr/>
        </p:nvSpPr>
        <p:spPr>
          <a:xfrm>
            <a:off x="887040" y="4032360"/>
            <a:ext cx="2157480" cy="6397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100" strike="noStrike" u="none">
                <a:solidFill>
                  <a:srgbClr val="06172f"/>
                </a:solidFill>
                <a:effectLst/>
                <a:uFillTx/>
                <a:latin typeface="Aptos"/>
              </a:rPr>
              <a:t>Construction and installation</a:t>
            </a:r>
            <a:endParaRPr b="0" lang="en-US" sz="1100" strike="noStrike" u="none">
              <a:solidFill>
                <a:srgbClr val="ffffff"/>
              </a:solidFill>
              <a:effectLst/>
              <a:uFillTx/>
              <a:latin typeface="Arial"/>
            </a:endParaRPr>
          </a:p>
        </p:txBody>
      </p:sp>
      <p:sp>
        <p:nvSpPr>
          <p:cNvPr id="120" name="Shape 19"/>
          <p:cNvSpPr/>
          <p:nvPr/>
        </p:nvSpPr>
        <p:spPr>
          <a:xfrm>
            <a:off x="1856160" y="4727520"/>
            <a:ext cx="219240" cy="145800"/>
          </a:xfrm>
          <a:prstGeom prst="downArrow">
            <a:avLst>
              <a:gd name="adj1" fmla="val 50000"/>
              <a:gd name="adj2" fmla="val 50000"/>
            </a:avLst>
          </a:prstGeom>
          <a:solidFill>
            <a:srgbClr val="b0c1d5"/>
          </a:solidFill>
          <a:ln w="12700">
            <a:solidFill>
              <a:srgbClr val="b0c1d5">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21" name="Shape 20"/>
          <p:cNvSpPr/>
          <p:nvPr/>
        </p:nvSpPr>
        <p:spPr>
          <a:xfrm>
            <a:off x="777240" y="4818960"/>
            <a:ext cx="2377080" cy="822600"/>
          </a:xfrm>
          <a:prstGeom prst="roundRect">
            <a:avLst>
              <a:gd name="adj" fmla="val 8889"/>
            </a:avLst>
          </a:prstGeom>
          <a:solidFill>
            <a:srgbClr val="f0be49"/>
          </a:solidFill>
          <a:ln w="12700">
            <a:solidFill>
              <a:srgbClr val="f0be49">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22" name="Text 21"/>
          <p:cNvSpPr/>
          <p:nvPr/>
        </p:nvSpPr>
        <p:spPr>
          <a:xfrm>
            <a:off x="887040" y="4928760"/>
            <a:ext cx="2157480" cy="6397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100" strike="noStrike" u="none">
                <a:solidFill>
                  <a:srgbClr val="06172f"/>
                </a:solidFill>
                <a:effectLst/>
                <a:uFillTx/>
                <a:latin typeface="Aptos"/>
              </a:rPr>
              <a:t>Operational readiness</a:t>
            </a:r>
            <a:endParaRPr b="0" lang="en-US" sz="1100" strike="noStrike" u="none">
              <a:solidFill>
                <a:srgbClr val="ffffff"/>
              </a:solidFill>
              <a:effectLst/>
              <a:uFillTx/>
              <a:latin typeface="Arial"/>
            </a:endParaRPr>
          </a:p>
        </p:txBody>
      </p:sp>
      <p:sp>
        <p:nvSpPr>
          <p:cNvPr id="123" name="Shape 22"/>
          <p:cNvSpPr/>
          <p:nvPr/>
        </p:nvSpPr>
        <p:spPr>
          <a:xfrm>
            <a:off x="3657600" y="1325880"/>
            <a:ext cx="3748680" cy="1828440"/>
          </a:xfrm>
          <a:prstGeom prst="roundRect">
            <a:avLst>
              <a:gd name="adj" fmla="val 6000"/>
            </a:avLst>
          </a:prstGeom>
          <a:solidFill>
            <a:srgbClr val="0e2d4f">
              <a:alpha val="93000"/>
            </a:srgbClr>
          </a:solidFill>
          <a:ln w="12700">
            <a:solidFill>
              <a:srgbClr val="50d69b">
                <a:alpha val="7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24" name="Text 23"/>
          <p:cNvSpPr/>
          <p:nvPr/>
        </p:nvSpPr>
        <p:spPr>
          <a:xfrm>
            <a:off x="3822120" y="1444680"/>
            <a:ext cx="341964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50d69b"/>
                </a:solidFill>
                <a:effectLst/>
                <a:uFillTx/>
                <a:latin typeface="Aptos"/>
              </a:rPr>
              <a:t>Historical significance</a:t>
            </a:r>
            <a:endParaRPr b="0" lang="en-US" sz="1600" strike="noStrike" u="none">
              <a:solidFill>
                <a:srgbClr val="ffffff"/>
              </a:solidFill>
              <a:effectLst/>
              <a:uFillTx/>
              <a:latin typeface="Arial"/>
            </a:endParaRPr>
          </a:p>
        </p:txBody>
      </p:sp>
      <p:sp>
        <p:nvSpPr>
          <p:cNvPr id="125" name="Text 24"/>
          <p:cNvSpPr/>
          <p:nvPr/>
        </p:nvSpPr>
        <p:spPr>
          <a:xfrm>
            <a:off x="3877200" y="1828800"/>
            <a:ext cx="3309840" cy="1261440"/>
          </a:xfrm>
          <a:prstGeom prst="rect">
            <a:avLst/>
          </a:prstGeom>
          <a:noFill/>
          <a:ln w="0">
            <a:noFill/>
          </a:ln>
        </p:spPr>
        <p:style>
          <a:lnRef idx="0"/>
          <a:fillRef idx="0"/>
          <a:effectRef idx="0"/>
          <a:fontRef idx="minor"/>
        </p:style>
        <p:txBody>
          <a:bodyPr lIns="1080" rIns="1080" tIns="1080" bIns="1080" anchor="t">
            <a:normAutofit/>
          </a:bodyPr>
          <a:p>
            <a:pPr defTabSz="914400">
              <a:lnSpc>
                <a:spcPct val="100000"/>
              </a:lnSpc>
            </a:pPr>
            <a:r>
              <a:rPr b="0" lang="en-US" sz="1300" strike="noStrike" u="none">
                <a:solidFill>
                  <a:srgbClr val="f5f8fc"/>
                </a:solidFill>
                <a:effectLst/>
                <a:uFillTx/>
                <a:latin typeface="Aptos"/>
                <a:ea typeface="Aptos"/>
              </a:rPr>
              <a:t>RNPP represents Bangladesh’s transition from long-term nuclear planning to physical nuclear infrastructure and future grid integration.</a:t>
            </a:r>
            <a:endParaRPr b="0" lang="en-US" sz="1300" strike="noStrike" u="none">
              <a:solidFill>
                <a:srgbClr val="ffffff"/>
              </a:solidFill>
              <a:effectLst/>
              <a:uFillTx/>
              <a:latin typeface="Arial"/>
            </a:endParaRPr>
          </a:p>
        </p:txBody>
      </p:sp>
      <p:sp>
        <p:nvSpPr>
          <p:cNvPr id="126" name="Shape 25"/>
          <p:cNvSpPr/>
          <p:nvPr/>
        </p:nvSpPr>
        <p:spPr>
          <a:xfrm>
            <a:off x="7726680" y="1325880"/>
            <a:ext cx="3565800" cy="1828440"/>
          </a:xfrm>
          <a:prstGeom prst="roundRect">
            <a:avLst>
              <a:gd name="adj" fmla="val 6000"/>
            </a:avLst>
          </a:prstGeom>
          <a:solidFill>
            <a:srgbClr val="0e2d4f">
              <a:alpha val="93000"/>
            </a:srgbClr>
          </a:solidFill>
          <a:ln w="12700">
            <a:solidFill>
              <a:srgbClr val="5bd2ff">
                <a:alpha val="7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27" name="Text 26"/>
          <p:cNvSpPr/>
          <p:nvPr/>
        </p:nvSpPr>
        <p:spPr>
          <a:xfrm>
            <a:off x="7891200" y="1444680"/>
            <a:ext cx="323676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50d69b"/>
                </a:solidFill>
                <a:effectLst/>
                <a:uFillTx/>
                <a:latin typeface="Aptos"/>
              </a:rPr>
              <a:t>Strategic continuity</a:t>
            </a:r>
            <a:endParaRPr b="0" lang="en-US" sz="1600" strike="noStrike" u="none">
              <a:solidFill>
                <a:srgbClr val="ffffff"/>
              </a:solidFill>
              <a:effectLst/>
              <a:uFillTx/>
              <a:latin typeface="Arial"/>
            </a:endParaRPr>
          </a:p>
        </p:txBody>
      </p:sp>
      <p:sp>
        <p:nvSpPr>
          <p:cNvPr id="128" name="Text 27"/>
          <p:cNvSpPr/>
          <p:nvPr/>
        </p:nvSpPr>
        <p:spPr>
          <a:xfrm>
            <a:off x="7946280" y="1828800"/>
            <a:ext cx="3126960" cy="1261440"/>
          </a:xfrm>
          <a:prstGeom prst="rect">
            <a:avLst/>
          </a:prstGeom>
          <a:noFill/>
          <a:ln w="0">
            <a:noFill/>
          </a:ln>
        </p:spPr>
        <p:style>
          <a:lnRef idx="0"/>
          <a:fillRef idx="0"/>
          <a:effectRef idx="0"/>
          <a:fontRef idx="minor"/>
        </p:style>
        <p:txBody>
          <a:bodyPr lIns="1080" rIns="1080" tIns="1080" bIns="1080" anchor="t">
            <a:normAutofit/>
          </a:bodyPr>
          <a:p>
            <a:pPr defTabSz="914400">
              <a:lnSpc>
                <a:spcPct val="100000"/>
              </a:lnSpc>
            </a:pPr>
            <a:r>
              <a:rPr b="0" lang="en-US" sz="1300" strike="noStrike" u="none">
                <a:solidFill>
                  <a:srgbClr val="f5f8fc"/>
                </a:solidFill>
                <a:effectLst/>
                <a:uFillTx/>
                <a:latin typeface="Aptos"/>
                <a:ea typeface="Aptos"/>
              </a:rPr>
              <a:t>The source content frames RNPP as a landmark initiative for long-term energy independence and national technological advancement.</a:t>
            </a:r>
            <a:endParaRPr b="0" lang="en-US" sz="1300" strike="noStrike" u="none">
              <a:solidFill>
                <a:srgbClr val="ffffff"/>
              </a:solidFill>
              <a:effectLst/>
              <a:uFillTx/>
              <a:latin typeface="Arial"/>
            </a:endParaRPr>
          </a:p>
        </p:txBody>
      </p:sp>
      <p:sp>
        <p:nvSpPr>
          <p:cNvPr id="129" name="Shape 28"/>
          <p:cNvSpPr/>
          <p:nvPr/>
        </p:nvSpPr>
        <p:spPr>
          <a:xfrm>
            <a:off x="3657600" y="3657600"/>
            <a:ext cx="7634880" cy="1599840"/>
          </a:xfrm>
          <a:prstGeom prst="roundRect">
            <a:avLst>
              <a:gd name="adj" fmla="val 6857"/>
            </a:avLst>
          </a:prstGeom>
          <a:solidFill>
            <a:srgbClr val="0e2d4f">
              <a:alpha val="93000"/>
            </a:srgbClr>
          </a:solidFill>
          <a:ln w="12700">
            <a:solidFill>
              <a:srgbClr val="f0be49">
                <a:alpha val="7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30" name="Text 29"/>
          <p:cNvSpPr/>
          <p:nvPr/>
        </p:nvSpPr>
        <p:spPr>
          <a:xfrm>
            <a:off x="3822120" y="3776400"/>
            <a:ext cx="730584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50d69b"/>
                </a:solidFill>
                <a:effectLst/>
                <a:uFillTx/>
                <a:latin typeface="Aptos"/>
              </a:rPr>
              <a:t>Seminar framing</a:t>
            </a:r>
            <a:endParaRPr b="0" lang="en-US" sz="1600" strike="noStrike" u="none">
              <a:solidFill>
                <a:srgbClr val="ffffff"/>
              </a:solidFill>
              <a:effectLst/>
              <a:uFillTx/>
              <a:latin typeface="Arial"/>
            </a:endParaRPr>
          </a:p>
        </p:txBody>
      </p:sp>
      <p:sp>
        <p:nvSpPr>
          <p:cNvPr id="131" name="Text 30"/>
          <p:cNvSpPr/>
          <p:nvPr/>
        </p:nvSpPr>
        <p:spPr>
          <a:xfrm>
            <a:off x="3877200" y="4160520"/>
            <a:ext cx="7196040" cy="1032840"/>
          </a:xfrm>
          <a:prstGeom prst="rect">
            <a:avLst/>
          </a:prstGeom>
          <a:noFill/>
          <a:ln w="0">
            <a:noFill/>
          </a:ln>
        </p:spPr>
        <p:style>
          <a:lnRef idx="0"/>
          <a:fillRef idx="0"/>
          <a:effectRef idx="0"/>
          <a:fontRef idx="minor"/>
        </p:style>
        <p:txBody>
          <a:bodyPr lIns="1080" rIns="1080" tIns="1080" bIns="1080" anchor="t">
            <a:normAutofit/>
          </a:bodyPr>
          <a:p>
            <a:pPr defTabSz="914400">
              <a:lnSpc>
                <a:spcPct val="100000"/>
              </a:lnSpc>
            </a:pPr>
            <a:r>
              <a:rPr b="0" lang="en-US" sz="1300" strike="noStrike" u="none">
                <a:solidFill>
                  <a:srgbClr val="f5f8fc"/>
                </a:solidFill>
                <a:effectLst/>
                <a:uFillTx/>
                <a:latin typeface="Aptos"/>
                <a:ea typeface="Aptos"/>
              </a:rPr>
              <a:t>Discuss history as a development storyline rather than only a construction chronology: energy ambition, partnership and safety capacity.</a:t>
            </a:r>
            <a:endParaRPr b="0" lang="en-US" sz="1300" strike="noStrike" u="none">
              <a:solidFill>
                <a:srgbClr val="ffffff"/>
              </a:solidFill>
              <a:effectLst/>
              <a:uFillTx/>
              <a:latin typeface="Arial"/>
            </a:endParaRPr>
          </a:p>
        </p:txBody>
      </p:sp>
    </p:spTree>
  </p:cSld>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6172f"/>
        </a:solidFill>
      </p:bgPr>
    </p:bg>
    <p:spTree>
      <p:nvGrpSpPr>
        <p:cNvPr id="1" name=""/>
        <p:cNvGrpSpPr/>
        <p:nvPr/>
      </p:nvGrpSpPr>
      <p:grpSpPr>
        <a:xfrm>
          <a:off x="0" y="0"/>
          <a:ext cx="0" cy="0"/>
          <a:chOff x="0" y="0"/>
          <a:chExt cx="0" cy="0"/>
        </a:xfrm>
      </p:grpSpPr>
      <p:sp>
        <p:nvSpPr>
          <p:cNvPr id="132" name="Shape 0"/>
          <p:cNvSpPr/>
          <p:nvPr/>
        </p:nvSpPr>
        <p:spPr>
          <a:xfrm>
            <a:off x="0" y="0"/>
            <a:ext cx="12191400" cy="6857640"/>
          </a:xfrm>
          <a:prstGeom prst="rect">
            <a:avLst/>
          </a:prstGeom>
          <a:solidFill>
            <a:srgbClr val="06172f"/>
          </a:solidFill>
          <a:ln w="12700">
            <a:solidFill>
              <a:srgbClr val="06172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33" name="Shape 1"/>
          <p:cNvSpPr/>
          <p:nvPr/>
        </p:nvSpPr>
        <p:spPr>
          <a:xfrm>
            <a:off x="7680960" y="-1005840"/>
            <a:ext cx="4388760" cy="2925720"/>
          </a:xfrm>
          <a:prstGeom prst="arc">
            <a:avLst>
              <a:gd name="adj1" fmla="val 16200000"/>
              <a:gd name="adj2" fmla="val 0"/>
            </a:avLst>
          </a:prstGeom>
          <a:solidFill>
            <a:srgbClr val="0e3a68">
              <a:alpha val="75000"/>
            </a:srgbClr>
          </a:solidFill>
          <a:ln w="12700">
            <a:solidFill>
              <a:srgbClr val="0e3a68">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34" name="Shape 2"/>
          <p:cNvSpPr/>
          <p:nvPr/>
        </p:nvSpPr>
        <p:spPr>
          <a:xfrm>
            <a:off x="8778240" y="-777240"/>
            <a:ext cx="3474360" cy="2285640"/>
          </a:xfrm>
          <a:prstGeom prst="arc">
            <a:avLst>
              <a:gd name="adj1" fmla="val 16200000"/>
              <a:gd name="adj2" fmla="val 0"/>
            </a:avLst>
          </a:prstGeom>
          <a:solidFill>
            <a:srgbClr val="0b4d5e">
              <a:alpha val="65000"/>
            </a:srgbClr>
          </a:solidFill>
          <a:ln w="12700">
            <a:solidFill>
              <a:srgbClr val="0b4d5e">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35" name="Shape 3"/>
          <p:cNvSpPr/>
          <p:nvPr/>
        </p:nvSpPr>
        <p:spPr>
          <a:xfrm>
            <a:off x="0" y="0"/>
            <a:ext cx="109440" cy="6857640"/>
          </a:xfrm>
          <a:prstGeom prst="rect">
            <a:avLst/>
          </a:prstGeom>
          <a:solidFill>
            <a:srgbClr val="00b078"/>
          </a:solidFill>
          <a:ln w="12700">
            <a:solidFill>
              <a:srgbClr val="00b078">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36" name="Shape 4"/>
          <p:cNvSpPr/>
          <p:nvPr/>
        </p:nvSpPr>
        <p:spPr>
          <a:xfrm>
            <a:off x="320040" y="6565320"/>
            <a:ext cx="11521080" cy="16200"/>
          </a:xfrm>
          <a:prstGeom prst="rect">
            <a:avLst/>
          </a:prstGeom>
          <a:solidFill>
            <a:srgbClr val="435d78"/>
          </a:solidFill>
          <a:ln w="12700">
            <a:solidFill>
              <a:srgbClr val="435d78">
                <a:alpha val="0"/>
              </a:srgbClr>
            </a:solidFill>
            <a:round/>
          </a:ln>
        </p:spPr>
        <p:style>
          <a:lnRef idx="0"/>
          <a:fillRef idx="0"/>
          <a:effectRef idx="0"/>
          <a:fontRef idx="minor"/>
        </p:style>
        <p:txBody>
          <a:bodyPr lIns="90000" rIns="90000" tIns="-28440" bIns="-28440" anchor="t">
            <a:noAutofit/>
          </a:bodyPr>
          <a:p>
            <a:endParaRPr b="0" lang="en-US" sz="1800" strike="noStrike" u="none">
              <a:solidFill>
                <a:srgbClr val="ffffff"/>
              </a:solidFill>
              <a:effectLst/>
              <a:uFillTx/>
              <a:latin typeface="Arial"/>
            </a:endParaRPr>
          </a:p>
        </p:txBody>
      </p:sp>
      <p:sp>
        <p:nvSpPr>
          <p:cNvPr id="137" name="Text 5"/>
          <p:cNvSpPr/>
          <p:nvPr/>
        </p:nvSpPr>
        <p:spPr>
          <a:xfrm>
            <a:off x="11356920" y="6602040"/>
            <a:ext cx="502560" cy="13680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50" strike="noStrike" u="none">
                <a:solidFill>
                  <a:srgbClr val="b0c1d5"/>
                </a:solidFill>
                <a:effectLst/>
                <a:uFillTx/>
                <a:latin typeface="Aptos"/>
                <a:ea typeface="Aptos"/>
              </a:rPr>
              <a:t>06</a:t>
            </a:r>
            <a:endParaRPr b="0" lang="en-US" sz="950" strike="noStrike" u="none">
              <a:solidFill>
                <a:srgbClr val="ffffff"/>
              </a:solidFill>
              <a:effectLst/>
              <a:uFillTx/>
              <a:latin typeface="Arial"/>
            </a:endParaRPr>
          </a:p>
        </p:txBody>
      </p:sp>
      <p:sp>
        <p:nvSpPr>
          <p:cNvPr id="138" name="Text 6"/>
          <p:cNvSpPr/>
          <p:nvPr/>
        </p:nvSpPr>
        <p:spPr>
          <a:xfrm>
            <a:off x="475560" y="228600"/>
            <a:ext cx="10972440" cy="383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500" strike="noStrike" u="none">
                <a:solidFill>
                  <a:srgbClr val="f5f8fc"/>
                </a:solidFill>
                <a:effectLst/>
                <a:uFillTx/>
                <a:latin typeface="Aptos Display"/>
                <a:ea typeface="Aptos Display"/>
              </a:rPr>
              <a:t>Project Timeline</a:t>
            </a:r>
            <a:endParaRPr b="0" lang="en-US" sz="2500" strike="noStrike" u="none">
              <a:solidFill>
                <a:srgbClr val="ffffff"/>
              </a:solidFill>
              <a:effectLst/>
              <a:uFillTx/>
              <a:latin typeface="Arial"/>
            </a:endParaRPr>
          </a:p>
        </p:txBody>
      </p:sp>
      <p:sp>
        <p:nvSpPr>
          <p:cNvPr id="139" name="Text 7"/>
          <p:cNvSpPr/>
          <p:nvPr/>
        </p:nvSpPr>
        <p:spPr>
          <a:xfrm>
            <a:off x="502920" y="704160"/>
            <a:ext cx="10835280" cy="255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50" strike="noStrike" u="none">
                <a:solidFill>
                  <a:srgbClr val="b0c1d5"/>
                </a:solidFill>
                <a:effectLst/>
                <a:uFillTx/>
                <a:latin typeface="Aptos"/>
              </a:rPr>
              <a:t>Planning to long-term operational management</a:t>
            </a:r>
            <a:endParaRPr b="0" lang="en-US" sz="1250" strike="noStrike" u="none">
              <a:solidFill>
                <a:srgbClr val="ffffff"/>
              </a:solidFill>
              <a:effectLst/>
              <a:uFillTx/>
              <a:latin typeface="Arial"/>
            </a:endParaRPr>
          </a:p>
        </p:txBody>
      </p:sp>
      <p:sp>
        <p:nvSpPr>
          <p:cNvPr id="140" name="Shape 8"/>
          <p:cNvSpPr/>
          <p:nvPr/>
        </p:nvSpPr>
        <p:spPr>
          <a:xfrm>
            <a:off x="777240" y="1874520"/>
            <a:ext cx="1679040" cy="749520"/>
          </a:xfrm>
          <a:prstGeom prst="roundRect">
            <a:avLst>
              <a:gd name="adj" fmla="val 12195"/>
            </a:avLst>
          </a:prstGeom>
          <a:solidFill>
            <a:srgbClr val="00b078"/>
          </a:solidFill>
          <a:ln w="12700">
            <a:solidFill>
              <a:srgbClr val="00b078">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41" name="Text 9"/>
          <p:cNvSpPr/>
          <p:nvPr/>
        </p:nvSpPr>
        <p:spPr>
          <a:xfrm>
            <a:off x="831960" y="2011680"/>
            <a:ext cx="1569240" cy="4935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50" strike="noStrike" u="none">
                <a:solidFill>
                  <a:srgbClr val="06172f"/>
                </a:solidFill>
                <a:effectLst/>
                <a:uFillTx/>
                <a:latin typeface="Aptos"/>
              </a:rPr>
              <a:t>Planning</a:t>
            </a:r>
            <a:endParaRPr b="0" lang="en-US" sz="1050" strike="noStrike" u="none">
              <a:solidFill>
                <a:srgbClr val="ffffff"/>
              </a:solidFill>
              <a:effectLst/>
              <a:uFillTx/>
              <a:latin typeface="Arial"/>
            </a:endParaRPr>
          </a:p>
        </p:txBody>
      </p:sp>
      <p:sp>
        <p:nvSpPr>
          <p:cNvPr id="142" name="Shape 10"/>
          <p:cNvSpPr/>
          <p:nvPr/>
        </p:nvSpPr>
        <p:spPr>
          <a:xfrm>
            <a:off x="2438280" y="2152080"/>
            <a:ext cx="164160" cy="187200"/>
          </a:xfrm>
          <a:prstGeom prst="rightArrow">
            <a:avLst>
              <a:gd name="adj1" fmla="val 50000"/>
              <a:gd name="adj2" fmla="val 50000"/>
            </a:avLst>
          </a:prstGeom>
          <a:solidFill>
            <a:srgbClr val="b0c1d5"/>
          </a:solidFill>
          <a:ln w="12700">
            <a:solidFill>
              <a:srgbClr val="b0c1d5">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43" name="Shape 11"/>
          <p:cNvSpPr/>
          <p:nvPr/>
        </p:nvSpPr>
        <p:spPr>
          <a:xfrm>
            <a:off x="2575440" y="1874520"/>
            <a:ext cx="1679040" cy="749520"/>
          </a:xfrm>
          <a:prstGeom prst="roundRect">
            <a:avLst>
              <a:gd name="adj" fmla="val 12195"/>
            </a:avLst>
          </a:prstGeom>
          <a:solidFill>
            <a:srgbClr val="5bd2ff"/>
          </a:solidFill>
          <a:ln w="12700">
            <a:solidFill>
              <a:srgbClr val="5bd2f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44" name="Text 12"/>
          <p:cNvSpPr/>
          <p:nvPr/>
        </p:nvSpPr>
        <p:spPr>
          <a:xfrm>
            <a:off x="2630520" y="2011680"/>
            <a:ext cx="1569240" cy="4935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50" strike="noStrike" u="none">
                <a:solidFill>
                  <a:srgbClr val="06172f"/>
                </a:solidFill>
                <a:effectLst/>
                <a:uFillTx/>
                <a:latin typeface="Aptos"/>
              </a:rPr>
              <a:t>Site</a:t>
            </a:r>
            <a:endParaRPr b="0" lang="en-US" sz="1050" strike="noStrike" u="none">
              <a:solidFill>
                <a:srgbClr val="ffffff"/>
              </a:solidFill>
              <a:effectLst/>
              <a:uFillTx/>
              <a:latin typeface="Arial"/>
            </a:endParaRPr>
          </a:p>
          <a:p>
            <a:pPr algn="ctr" defTabSz="914400">
              <a:lnSpc>
                <a:spcPct val="100000"/>
              </a:lnSpc>
              <a:tabLst>
                <a:tab algn="l" pos="0"/>
              </a:tabLst>
            </a:pPr>
            <a:r>
              <a:rPr b="1" lang="en-US" sz="1050" strike="noStrike" u="none">
                <a:solidFill>
                  <a:srgbClr val="06172f"/>
                </a:solidFill>
                <a:effectLst/>
                <a:uFillTx/>
                <a:latin typeface="Aptos"/>
              </a:rPr>
              <a:t>Development</a:t>
            </a:r>
            <a:endParaRPr b="0" lang="en-US" sz="1050" strike="noStrike" u="none">
              <a:solidFill>
                <a:srgbClr val="ffffff"/>
              </a:solidFill>
              <a:effectLst/>
              <a:uFillTx/>
              <a:latin typeface="Arial"/>
            </a:endParaRPr>
          </a:p>
        </p:txBody>
      </p:sp>
      <p:sp>
        <p:nvSpPr>
          <p:cNvPr id="145" name="Shape 13"/>
          <p:cNvSpPr/>
          <p:nvPr/>
        </p:nvSpPr>
        <p:spPr>
          <a:xfrm>
            <a:off x="4236840" y="2152080"/>
            <a:ext cx="164160" cy="187200"/>
          </a:xfrm>
          <a:prstGeom prst="rightArrow">
            <a:avLst>
              <a:gd name="adj1" fmla="val 50000"/>
              <a:gd name="adj2" fmla="val 50000"/>
            </a:avLst>
          </a:prstGeom>
          <a:solidFill>
            <a:srgbClr val="b0c1d5"/>
          </a:solidFill>
          <a:ln w="12700">
            <a:solidFill>
              <a:srgbClr val="b0c1d5">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46" name="Shape 14"/>
          <p:cNvSpPr/>
          <p:nvPr/>
        </p:nvSpPr>
        <p:spPr>
          <a:xfrm>
            <a:off x="4374000" y="1874520"/>
            <a:ext cx="1679040" cy="749520"/>
          </a:xfrm>
          <a:prstGeom prst="roundRect">
            <a:avLst>
              <a:gd name="adj" fmla="val 12195"/>
            </a:avLst>
          </a:prstGeom>
          <a:solidFill>
            <a:srgbClr val="50d69b"/>
          </a:solidFill>
          <a:ln w="12700">
            <a:solidFill>
              <a:srgbClr val="50d69b">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47" name="Text 15"/>
          <p:cNvSpPr/>
          <p:nvPr/>
        </p:nvSpPr>
        <p:spPr>
          <a:xfrm>
            <a:off x="4428720" y="2011680"/>
            <a:ext cx="1569240" cy="4935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50" strike="noStrike" u="none">
                <a:solidFill>
                  <a:srgbClr val="06172f"/>
                </a:solidFill>
                <a:effectLst/>
                <a:uFillTx/>
                <a:latin typeface="Aptos"/>
              </a:rPr>
              <a:t>Reactor</a:t>
            </a:r>
            <a:endParaRPr b="0" lang="en-US" sz="1050" strike="noStrike" u="none">
              <a:solidFill>
                <a:srgbClr val="ffffff"/>
              </a:solidFill>
              <a:effectLst/>
              <a:uFillTx/>
              <a:latin typeface="Arial"/>
            </a:endParaRPr>
          </a:p>
          <a:p>
            <a:pPr algn="ctr" defTabSz="914400">
              <a:lnSpc>
                <a:spcPct val="100000"/>
              </a:lnSpc>
              <a:tabLst>
                <a:tab algn="l" pos="0"/>
              </a:tabLst>
            </a:pPr>
            <a:r>
              <a:rPr b="1" lang="en-US" sz="1050" strike="noStrike" u="none">
                <a:solidFill>
                  <a:srgbClr val="06172f"/>
                </a:solidFill>
                <a:effectLst/>
                <a:uFillTx/>
                <a:latin typeface="Aptos"/>
              </a:rPr>
              <a:t>Installation</a:t>
            </a:r>
            <a:endParaRPr b="0" lang="en-US" sz="1050" strike="noStrike" u="none">
              <a:solidFill>
                <a:srgbClr val="ffffff"/>
              </a:solidFill>
              <a:effectLst/>
              <a:uFillTx/>
              <a:latin typeface="Arial"/>
            </a:endParaRPr>
          </a:p>
        </p:txBody>
      </p:sp>
      <p:sp>
        <p:nvSpPr>
          <p:cNvPr id="148" name="Shape 16"/>
          <p:cNvSpPr/>
          <p:nvPr/>
        </p:nvSpPr>
        <p:spPr>
          <a:xfrm>
            <a:off x="6035040" y="2152080"/>
            <a:ext cx="164160" cy="187200"/>
          </a:xfrm>
          <a:prstGeom prst="rightArrow">
            <a:avLst>
              <a:gd name="adj1" fmla="val 50000"/>
              <a:gd name="adj2" fmla="val 50000"/>
            </a:avLst>
          </a:prstGeom>
          <a:solidFill>
            <a:srgbClr val="b0c1d5"/>
          </a:solidFill>
          <a:ln w="12700">
            <a:solidFill>
              <a:srgbClr val="b0c1d5">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49" name="Shape 17"/>
          <p:cNvSpPr/>
          <p:nvPr/>
        </p:nvSpPr>
        <p:spPr>
          <a:xfrm>
            <a:off x="6172200" y="1874520"/>
            <a:ext cx="1679040" cy="749520"/>
          </a:xfrm>
          <a:prstGeom prst="roundRect">
            <a:avLst>
              <a:gd name="adj" fmla="val 12195"/>
            </a:avLst>
          </a:prstGeom>
          <a:solidFill>
            <a:srgbClr val="1c69a2"/>
          </a:solidFill>
          <a:ln w="12700">
            <a:solidFill>
              <a:srgbClr val="1c69a2">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50" name="Text 18"/>
          <p:cNvSpPr/>
          <p:nvPr/>
        </p:nvSpPr>
        <p:spPr>
          <a:xfrm>
            <a:off x="6226920" y="2011680"/>
            <a:ext cx="1569240" cy="4935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50" strike="noStrike" u="none">
                <a:solidFill>
                  <a:srgbClr val="06172f"/>
                </a:solidFill>
                <a:effectLst/>
                <a:uFillTx/>
                <a:latin typeface="Aptos"/>
              </a:rPr>
              <a:t>Testing</a:t>
            </a:r>
            <a:endParaRPr b="0" lang="en-US" sz="1050" strike="noStrike" u="none">
              <a:solidFill>
                <a:srgbClr val="ffffff"/>
              </a:solidFill>
              <a:effectLst/>
              <a:uFillTx/>
              <a:latin typeface="Arial"/>
            </a:endParaRPr>
          </a:p>
        </p:txBody>
      </p:sp>
      <p:sp>
        <p:nvSpPr>
          <p:cNvPr id="151" name="Shape 19"/>
          <p:cNvSpPr/>
          <p:nvPr/>
        </p:nvSpPr>
        <p:spPr>
          <a:xfrm>
            <a:off x="7833240" y="2152080"/>
            <a:ext cx="164160" cy="187200"/>
          </a:xfrm>
          <a:prstGeom prst="rightArrow">
            <a:avLst>
              <a:gd name="adj1" fmla="val 50000"/>
              <a:gd name="adj2" fmla="val 50000"/>
            </a:avLst>
          </a:prstGeom>
          <a:solidFill>
            <a:srgbClr val="b0c1d5"/>
          </a:solidFill>
          <a:ln w="12700">
            <a:solidFill>
              <a:srgbClr val="b0c1d5">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52" name="Shape 20"/>
          <p:cNvSpPr/>
          <p:nvPr/>
        </p:nvSpPr>
        <p:spPr>
          <a:xfrm>
            <a:off x="7970400" y="1874520"/>
            <a:ext cx="1679040" cy="749520"/>
          </a:xfrm>
          <a:prstGeom prst="roundRect">
            <a:avLst>
              <a:gd name="adj" fmla="val 12195"/>
            </a:avLst>
          </a:prstGeom>
          <a:solidFill>
            <a:srgbClr val="f0be49"/>
          </a:solidFill>
          <a:ln w="12700">
            <a:solidFill>
              <a:srgbClr val="f0be49">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53" name="Text 21"/>
          <p:cNvSpPr/>
          <p:nvPr/>
        </p:nvSpPr>
        <p:spPr>
          <a:xfrm>
            <a:off x="8025480" y="2011680"/>
            <a:ext cx="1569240" cy="4935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50" strike="noStrike" u="none">
                <a:solidFill>
                  <a:srgbClr val="06172f"/>
                </a:solidFill>
                <a:effectLst/>
                <a:uFillTx/>
                <a:latin typeface="Aptos"/>
              </a:rPr>
              <a:t>Operation</a:t>
            </a:r>
            <a:endParaRPr b="0" lang="en-US" sz="1050" strike="noStrike" u="none">
              <a:solidFill>
                <a:srgbClr val="ffffff"/>
              </a:solidFill>
              <a:effectLst/>
              <a:uFillTx/>
              <a:latin typeface="Arial"/>
            </a:endParaRPr>
          </a:p>
        </p:txBody>
      </p:sp>
      <p:sp>
        <p:nvSpPr>
          <p:cNvPr id="154" name="Shape 22"/>
          <p:cNvSpPr/>
          <p:nvPr/>
        </p:nvSpPr>
        <p:spPr>
          <a:xfrm>
            <a:off x="9631800" y="2152080"/>
            <a:ext cx="164160" cy="187200"/>
          </a:xfrm>
          <a:prstGeom prst="rightArrow">
            <a:avLst>
              <a:gd name="adj1" fmla="val 50000"/>
              <a:gd name="adj2" fmla="val 50000"/>
            </a:avLst>
          </a:prstGeom>
          <a:solidFill>
            <a:srgbClr val="b0c1d5"/>
          </a:solidFill>
          <a:ln w="12700">
            <a:solidFill>
              <a:srgbClr val="b0c1d5">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55" name="Shape 23"/>
          <p:cNvSpPr/>
          <p:nvPr/>
        </p:nvSpPr>
        <p:spPr>
          <a:xfrm>
            <a:off x="9768960" y="1874520"/>
            <a:ext cx="1679040" cy="749520"/>
          </a:xfrm>
          <a:prstGeom prst="roundRect">
            <a:avLst>
              <a:gd name="adj" fmla="val 12195"/>
            </a:avLst>
          </a:prstGeom>
          <a:solidFill>
            <a:srgbClr val="00b078"/>
          </a:solidFill>
          <a:ln w="12700">
            <a:solidFill>
              <a:srgbClr val="00b078">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56" name="Text 24"/>
          <p:cNvSpPr/>
          <p:nvPr/>
        </p:nvSpPr>
        <p:spPr>
          <a:xfrm>
            <a:off x="9823680" y="2011680"/>
            <a:ext cx="1569240" cy="4935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50" strike="noStrike" u="none">
                <a:solidFill>
                  <a:srgbClr val="06172f"/>
                </a:solidFill>
                <a:effectLst/>
                <a:uFillTx/>
                <a:latin typeface="Aptos"/>
              </a:rPr>
              <a:t>Monitoring</a:t>
            </a:r>
            <a:endParaRPr b="0" lang="en-US" sz="1050" strike="noStrike" u="none">
              <a:solidFill>
                <a:srgbClr val="ffffff"/>
              </a:solidFill>
              <a:effectLst/>
              <a:uFillTx/>
              <a:latin typeface="Arial"/>
            </a:endParaRPr>
          </a:p>
        </p:txBody>
      </p:sp>
      <p:sp>
        <p:nvSpPr>
          <p:cNvPr id="157" name="Shape 25"/>
          <p:cNvSpPr/>
          <p:nvPr/>
        </p:nvSpPr>
        <p:spPr>
          <a:xfrm>
            <a:off x="914400" y="3291840"/>
            <a:ext cx="10423800" cy="1599840"/>
          </a:xfrm>
          <a:prstGeom prst="roundRect">
            <a:avLst>
              <a:gd name="adj" fmla="val 6857"/>
            </a:avLst>
          </a:prstGeom>
          <a:solidFill>
            <a:srgbClr val="0e2d4f">
              <a:alpha val="93000"/>
            </a:srgbClr>
          </a:solidFill>
          <a:ln w="12700">
            <a:solidFill>
              <a:srgbClr val="50d69b">
                <a:alpha val="7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58" name="Text 26"/>
          <p:cNvSpPr/>
          <p:nvPr/>
        </p:nvSpPr>
        <p:spPr>
          <a:xfrm>
            <a:off x="1078920" y="3410640"/>
            <a:ext cx="1009476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50d69b"/>
                </a:solidFill>
                <a:effectLst/>
                <a:uFillTx/>
                <a:latin typeface="Aptos"/>
              </a:rPr>
              <a:t>Timeline interpretation</a:t>
            </a:r>
            <a:endParaRPr b="0" lang="en-US" sz="1600" strike="noStrike" u="none">
              <a:solidFill>
                <a:srgbClr val="ffffff"/>
              </a:solidFill>
              <a:effectLst/>
              <a:uFillTx/>
              <a:latin typeface="Arial"/>
            </a:endParaRPr>
          </a:p>
        </p:txBody>
      </p:sp>
      <p:sp>
        <p:nvSpPr>
          <p:cNvPr id="159" name="Text 27"/>
          <p:cNvSpPr/>
          <p:nvPr/>
        </p:nvSpPr>
        <p:spPr>
          <a:xfrm>
            <a:off x="1134000" y="3794760"/>
            <a:ext cx="9984960" cy="1032840"/>
          </a:xfrm>
          <a:prstGeom prst="rect">
            <a:avLst/>
          </a:prstGeom>
          <a:noFill/>
          <a:ln w="0">
            <a:noFill/>
          </a:ln>
        </p:spPr>
        <p:style>
          <a:lnRef idx="0"/>
          <a:fillRef idx="0"/>
          <a:effectRef idx="0"/>
          <a:fontRef idx="minor"/>
        </p:style>
        <p:txBody>
          <a:bodyPr lIns="1080" rIns="1080" tIns="1080" bIns="1080" anchor="t">
            <a:normAutofit/>
          </a:bodyPr>
          <a:p>
            <a:pPr defTabSz="914400">
              <a:lnSpc>
                <a:spcPct val="100000"/>
              </a:lnSpc>
            </a:pPr>
            <a:r>
              <a:rPr b="0" lang="en-US" sz="1300" strike="noStrike" u="none">
                <a:solidFill>
                  <a:srgbClr val="f5f8fc"/>
                </a:solidFill>
                <a:effectLst/>
                <a:uFillTx/>
                <a:latin typeface="Aptos"/>
                <a:ea typeface="Aptos"/>
              </a:rPr>
              <a:t>The project timeline should be understood as a life-cycle process. It extends from planning and construction to operation, waste management, decommissioning and continuous environmental monitoring.</a:t>
            </a:r>
            <a:endParaRPr b="0" lang="en-US" sz="1300" strike="noStrike" u="none">
              <a:solidFill>
                <a:srgbClr val="ffffff"/>
              </a:solidFill>
              <a:effectLst/>
              <a:uFillTx/>
              <a:latin typeface="Arial"/>
            </a:endParaRPr>
          </a:p>
        </p:txBody>
      </p:sp>
      <p:sp>
        <p:nvSpPr>
          <p:cNvPr id="160" name="Shape 28"/>
          <p:cNvSpPr/>
          <p:nvPr/>
        </p:nvSpPr>
        <p:spPr>
          <a:xfrm>
            <a:off x="2057400" y="5212080"/>
            <a:ext cx="1828440" cy="914040"/>
          </a:xfrm>
          <a:prstGeom prst="roundRect">
            <a:avLst>
              <a:gd name="adj" fmla="val 12000"/>
            </a:avLst>
          </a:prstGeom>
          <a:solidFill>
            <a:srgbClr val="0a3455">
              <a:alpha val="95000"/>
            </a:srgbClr>
          </a:solidFill>
          <a:ln w="12700">
            <a:solidFill>
              <a:srgbClr val="00b078">
                <a:alpha val="7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61" name="Text 29"/>
          <p:cNvSpPr/>
          <p:nvPr/>
        </p:nvSpPr>
        <p:spPr>
          <a:xfrm>
            <a:off x="2103120" y="5349240"/>
            <a:ext cx="1737000" cy="347040"/>
          </a:xfrm>
          <a:prstGeom prst="rect">
            <a:avLst/>
          </a:prstGeom>
          <a:noFill/>
          <a:ln w="0">
            <a:noFill/>
          </a:ln>
        </p:spPr>
        <p:style>
          <a:lnRef idx="0"/>
          <a:fillRef idx="0"/>
          <a:effectRef idx="0"/>
          <a:fontRef idx="minor"/>
        </p:style>
        <p:txBody>
          <a:bodyPr lIns="0" rIns="0" tIns="0" bIns="0" anchor="ctr">
            <a:normAutofit lnSpcReduction="9999"/>
          </a:bodyPr>
          <a:p>
            <a:pPr algn="ctr" defTabSz="914400">
              <a:lnSpc>
                <a:spcPct val="100000"/>
              </a:lnSpc>
              <a:tabLst>
                <a:tab algn="l" pos="0"/>
              </a:tabLst>
            </a:pPr>
            <a:r>
              <a:rPr b="1" lang="en-US" sz="2300" strike="noStrike" u="none">
                <a:solidFill>
                  <a:srgbClr val="00b078"/>
                </a:solidFill>
                <a:effectLst/>
                <a:uFillTx/>
                <a:latin typeface="Aptos"/>
              </a:rPr>
              <a:t>60 yr</a:t>
            </a:r>
            <a:endParaRPr b="0" lang="en-US" sz="2300" strike="noStrike" u="none">
              <a:solidFill>
                <a:srgbClr val="ffffff"/>
              </a:solidFill>
              <a:effectLst/>
              <a:uFillTx/>
              <a:latin typeface="Arial"/>
            </a:endParaRPr>
          </a:p>
        </p:txBody>
      </p:sp>
      <p:sp>
        <p:nvSpPr>
          <p:cNvPr id="162" name="Text 30"/>
          <p:cNvSpPr/>
          <p:nvPr/>
        </p:nvSpPr>
        <p:spPr>
          <a:xfrm>
            <a:off x="2167200" y="5806440"/>
            <a:ext cx="1608840" cy="2739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80" strike="noStrike" u="none">
                <a:solidFill>
                  <a:srgbClr val="b0c1d5"/>
                </a:solidFill>
                <a:effectLst/>
                <a:uFillTx/>
                <a:latin typeface="Aptos"/>
              </a:rPr>
              <a:t>Operational baseline</a:t>
            </a:r>
            <a:endParaRPr b="0" lang="en-US" sz="980" strike="noStrike" u="none">
              <a:solidFill>
                <a:srgbClr val="ffffff"/>
              </a:solidFill>
              <a:effectLst/>
              <a:uFillTx/>
              <a:latin typeface="Arial"/>
            </a:endParaRPr>
          </a:p>
        </p:txBody>
      </p:sp>
      <p:sp>
        <p:nvSpPr>
          <p:cNvPr id="163" name="Shape 31"/>
          <p:cNvSpPr/>
          <p:nvPr/>
        </p:nvSpPr>
        <p:spPr>
          <a:xfrm>
            <a:off x="5166360" y="5212080"/>
            <a:ext cx="1828440" cy="914040"/>
          </a:xfrm>
          <a:prstGeom prst="roundRect">
            <a:avLst>
              <a:gd name="adj" fmla="val 12000"/>
            </a:avLst>
          </a:prstGeom>
          <a:solidFill>
            <a:srgbClr val="0a3455">
              <a:alpha val="95000"/>
            </a:srgbClr>
          </a:solidFill>
          <a:ln w="12700">
            <a:solidFill>
              <a:srgbClr val="5bd2ff">
                <a:alpha val="7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64" name="Text 32"/>
          <p:cNvSpPr/>
          <p:nvPr/>
        </p:nvSpPr>
        <p:spPr>
          <a:xfrm>
            <a:off x="5212080" y="5349240"/>
            <a:ext cx="1737000" cy="347040"/>
          </a:xfrm>
          <a:prstGeom prst="rect">
            <a:avLst/>
          </a:prstGeom>
          <a:noFill/>
          <a:ln w="0">
            <a:noFill/>
          </a:ln>
        </p:spPr>
        <p:style>
          <a:lnRef idx="0"/>
          <a:fillRef idx="0"/>
          <a:effectRef idx="0"/>
          <a:fontRef idx="minor"/>
        </p:style>
        <p:txBody>
          <a:bodyPr lIns="0" rIns="0" tIns="0" bIns="0" anchor="ctr">
            <a:normAutofit lnSpcReduction="9999"/>
          </a:bodyPr>
          <a:p>
            <a:pPr algn="ctr" defTabSz="914400">
              <a:lnSpc>
                <a:spcPct val="100000"/>
              </a:lnSpc>
              <a:tabLst>
                <a:tab algn="l" pos="0"/>
              </a:tabLst>
            </a:pPr>
            <a:r>
              <a:rPr b="1" lang="en-US" sz="2300" strike="noStrike" u="none">
                <a:solidFill>
                  <a:srgbClr val="5bd2ff"/>
                </a:solidFill>
                <a:effectLst/>
                <a:uFillTx/>
                <a:latin typeface="Aptos"/>
              </a:rPr>
              <a:t>80 yr</a:t>
            </a:r>
            <a:endParaRPr b="0" lang="en-US" sz="2300" strike="noStrike" u="none">
              <a:solidFill>
                <a:srgbClr val="ffffff"/>
              </a:solidFill>
              <a:effectLst/>
              <a:uFillTx/>
              <a:latin typeface="Arial"/>
            </a:endParaRPr>
          </a:p>
        </p:txBody>
      </p:sp>
      <p:sp>
        <p:nvSpPr>
          <p:cNvPr id="165" name="Text 33"/>
          <p:cNvSpPr/>
          <p:nvPr/>
        </p:nvSpPr>
        <p:spPr>
          <a:xfrm>
            <a:off x="5276160" y="5806440"/>
            <a:ext cx="1608840" cy="2739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80" strike="noStrike" u="none">
                <a:solidFill>
                  <a:srgbClr val="b0c1d5"/>
                </a:solidFill>
                <a:effectLst/>
                <a:uFillTx/>
                <a:latin typeface="Aptos"/>
              </a:rPr>
              <a:t>Possible lifecycle extension</a:t>
            </a:r>
            <a:endParaRPr b="0" lang="en-US" sz="980" strike="noStrike" u="none">
              <a:solidFill>
                <a:srgbClr val="ffffff"/>
              </a:solidFill>
              <a:effectLst/>
              <a:uFillTx/>
              <a:latin typeface="Arial"/>
            </a:endParaRPr>
          </a:p>
        </p:txBody>
      </p:sp>
      <p:sp>
        <p:nvSpPr>
          <p:cNvPr id="166" name="Shape 34"/>
          <p:cNvSpPr/>
          <p:nvPr/>
        </p:nvSpPr>
        <p:spPr>
          <a:xfrm>
            <a:off x="8275320" y="5212080"/>
            <a:ext cx="1828440" cy="914040"/>
          </a:xfrm>
          <a:prstGeom prst="roundRect">
            <a:avLst>
              <a:gd name="adj" fmla="val 12000"/>
            </a:avLst>
          </a:prstGeom>
          <a:solidFill>
            <a:srgbClr val="0a3455">
              <a:alpha val="95000"/>
            </a:srgbClr>
          </a:solidFill>
          <a:ln w="12700">
            <a:solidFill>
              <a:srgbClr val="f0be49">
                <a:alpha val="7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67" name="Text 35"/>
          <p:cNvSpPr/>
          <p:nvPr/>
        </p:nvSpPr>
        <p:spPr>
          <a:xfrm>
            <a:off x="8321040" y="5349240"/>
            <a:ext cx="1737000" cy="347040"/>
          </a:xfrm>
          <a:prstGeom prst="rect">
            <a:avLst/>
          </a:prstGeom>
          <a:noFill/>
          <a:ln w="0">
            <a:noFill/>
          </a:ln>
        </p:spPr>
        <p:style>
          <a:lnRef idx="0"/>
          <a:fillRef idx="0"/>
          <a:effectRef idx="0"/>
          <a:fontRef idx="minor"/>
        </p:style>
        <p:txBody>
          <a:bodyPr lIns="0" rIns="0" tIns="0" bIns="0" anchor="ctr">
            <a:normAutofit lnSpcReduction="9999"/>
          </a:bodyPr>
          <a:p>
            <a:pPr algn="ctr" defTabSz="914400">
              <a:lnSpc>
                <a:spcPct val="100000"/>
              </a:lnSpc>
              <a:tabLst>
                <a:tab algn="l" pos="0"/>
              </a:tabLst>
            </a:pPr>
            <a:r>
              <a:rPr b="1" lang="en-US" sz="2300" strike="noStrike" u="none">
                <a:solidFill>
                  <a:srgbClr val="f0be49"/>
                </a:solidFill>
                <a:effectLst/>
                <a:uFillTx/>
                <a:latin typeface="Aptos"/>
              </a:rPr>
              <a:t>EMP</a:t>
            </a:r>
            <a:endParaRPr b="0" lang="en-US" sz="2300" strike="noStrike" u="none">
              <a:solidFill>
                <a:srgbClr val="ffffff"/>
              </a:solidFill>
              <a:effectLst/>
              <a:uFillTx/>
              <a:latin typeface="Arial"/>
            </a:endParaRPr>
          </a:p>
        </p:txBody>
      </p:sp>
      <p:sp>
        <p:nvSpPr>
          <p:cNvPr id="168" name="Text 36"/>
          <p:cNvSpPr/>
          <p:nvPr/>
        </p:nvSpPr>
        <p:spPr>
          <a:xfrm>
            <a:off x="8385120" y="5806440"/>
            <a:ext cx="1608840" cy="2739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80" strike="noStrike" u="none">
                <a:solidFill>
                  <a:srgbClr val="b0c1d5"/>
                </a:solidFill>
                <a:effectLst/>
                <a:uFillTx/>
                <a:latin typeface="Aptos"/>
              </a:rPr>
              <a:t>Continuous management</a:t>
            </a:r>
            <a:endParaRPr b="0" lang="en-US" sz="980" strike="noStrike" u="none">
              <a:solidFill>
                <a:srgbClr val="ffffff"/>
              </a:solidFill>
              <a:effectLst/>
              <a:uFillTx/>
              <a:latin typeface="Arial"/>
            </a:endParaRPr>
          </a:p>
        </p:txBody>
      </p:sp>
    </p:spTree>
  </p:cSld>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6172f"/>
        </a:solidFill>
      </p:bgPr>
    </p:bg>
    <p:spTree>
      <p:nvGrpSpPr>
        <p:cNvPr id="1" name=""/>
        <p:cNvGrpSpPr/>
        <p:nvPr/>
      </p:nvGrpSpPr>
      <p:grpSpPr>
        <a:xfrm>
          <a:off x="0" y="0"/>
          <a:ext cx="0" cy="0"/>
          <a:chOff x="0" y="0"/>
          <a:chExt cx="0" cy="0"/>
        </a:xfrm>
      </p:grpSpPr>
      <p:sp>
        <p:nvSpPr>
          <p:cNvPr id="169" name="Shape 0"/>
          <p:cNvSpPr/>
          <p:nvPr/>
        </p:nvSpPr>
        <p:spPr>
          <a:xfrm>
            <a:off x="0" y="0"/>
            <a:ext cx="12191400" cy="6857640"/>
          </a:xfrm>
          <a:prstGeom prst="rect">
            <a:avLst/>
          </a:prstGeom>
          <a:solidFill>
            <a:srgbClr val="06172f"/>
          </a:solidFill>
          <a:ln w="12700">
            <a:solidFill>
              <a:srgbClr val="06172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70" name="Shape 1"/>
          <p:cNvSpPr/>
          <p:nvPr/>
        </p:nvSpPr>
        <p:spPr>
          <a:xfrm>
            <a:off x="7680960" y="-1005840"/>
            <a:ext cx="4388760" cy="2925720"/>
          </a:xfrm>
          <a:prstGeom prst="arc">
            <a:avLst>
              <a:gd name="adj1" fmla="val 16200000"/>
              <a:gd name="adj2" fmla="val 0"/>
            </a:avLst>
          </a:prstGeom>
          <a:solidFill>
            <a:srgbClr val="0e3a68">
              <a:alpha val="75000"/>
            </a:srgbClr>
          </a:solidFill>
          <a:ln w="12700">
            <a:solidFill>
              <a:srgbClr val="0e3a68">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71" name="Shape 2"/>
          <p:cNvSpPr/>
          <p:nvPr/>
        </p:nvSpPr>
        <p:spPr>
          <a:xfrm>
            <a:off x="8778240" y="-777240"/>
            <a:ext cx="3474360" cy="2285640"/>
          </a:xfrm>
          <a:prstGeom prst="arc">
            <a:avLst>
              <a:gd name="adj1" fmla="val 16200000"/>
              <a:gd name="adj2" fmla="val 0"/>
            </a:avLst>
          </a:prstGeom>
          <a:solidFill>
            <a:srgbClr val="0b4d5e">
              <a:alpha val="65000"/>
            </a:srgbClr>
          </a:solidFill>
          <a:ln w="12700">
            <a:solidFill>
              <a:srgbClr val="0b4d5e">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72" name="Shape 3"/>
          <p:cNvSpPr/>
          <p:nvPr/>
        </p:nvSpPr>
        <p:spPr>
          <a:xfrm>
            <a:off x="0" y="0"/>
            <a:ext cx="109440" cy="6857640"/>
          </a:xfrm>
          <a:prstGeom prst="rect">
            <a:avLst/>
          </a:prstGeom>
          <a:solidFill>
            <a:srgbClr val="00b078"/>
          </a:solidFill>
          <a:ln w="12700">
            <a:solidFill>
              <a:srgbClr val="00b078">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73" name="Shape 4"/>
          <p:cNvSpPr/>
          <p:nvPr/>
        </p:nvSpPr>
        <p:spPr>
          <a:xfrm>
            <a:off x="320040" y="6565320"/>
            <a:ext cx="11521080" cy="16200"/>
          </a:xfrm>
          <a:prstGeom prst="rect">
            <a:avLst/>
          </a:prstGeom>
          <a:solidFill>
            <a:srgbClr val="435d78"/>
          </a:solidFill>
          <a:ln w="12700">
            <a:solidFill>
              <a:srgbClr val="435d78">
                <a:alpha val="0"/>
              </a:srgbClr>
            </a:solidFill>
            <a:round/>
          </a:ln>
        </p:spPr>
        <p:style>
          <a:lnRef idx="0"/>
          <a:fillRef idx="0"/>
          <a:effectRef idx="0"/>
          <a:fontRef idx="minor"/>
        </p:style>
        <p:txBody>
          <a:bodyPr lIns="90000" rIns="90000" tIns="-28440" bIns="-28440" anchor="t">
            <a:noAutofit/>
          </a:bodyPr>
          <a:p>
            <a:endParaRPr b="0" lang="en-US" sz="1800" strike="noStrike" u="none">
              <a:solidFill>
                <a:srgbClr val="ffffff"/>
              </a:solidFill>
              <a:effectLst/>
              <a:uFillTx/>
              <a:latin typeface="Arial"/>
            </a:endParaRPr>
          </a:p>
        </p:txBody>
      </p:sp>
      <p:sp>
        <p:nvSpPr>
          <p:cNvPr id="174" name="Text 5"/>
          <p:cNvSpPr/>
          <p:nvPr/>
        </p:nvSpPr>
        <p:spPr>
          <a:xfrm>
            <a:off x="11356920" y="6602040"/>
            <a:ext cx="502560" cy="13680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50" strike="noStrike" u="none">
                <a:solidFill>
                  <a:srgbClr val="b0c1d5"/>
                </a:solidFill>
                <a:effectLst/>
                <a:uFillTx/>
                <a:latin typeface="Aptos"/>
                <a:ea typeface="Aptos"/>
              </a:rPr>
              <a:t>07</a:t>
            </a:r>
            <a:endParaRPr b="0" lang="en-US" sz="950" strike="noStrike" u="none">
              <a:solidFill>
                <a:srgbClr val="ffffff"/>
              </a:solidFill>
              <a:effectLst/>
              <a:uFillTx/>
              <a:latin typeface="Arial"/>
            </a:endParaRPr>
          </a:p>
        </p:txBody>
      </p:sp>
      <p:sp>
        <p:nvSpPr>
          <p:cNvPr id="175" name="Text 6"/>
          <p:cNvSpPr/>
          <p:nvPr/>
        </p:nvSpPr>
        <p:spPr>
          <a:xfrm>
            <a:off x="475560" y="228600"/>
            <a:ext cx="10972440" cy="383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500" strike="noStrike" u="none">
                <a:solidFill>
                  <a:srgbClr val="f5f8fc"/>
                </a:solidFill>
                <a:effectLst/>
                <a:uFillTx/>
                <a:latin typeface="Aptos Display"/>
                <a:ea typeface="Aptos Display"/>
              </a:rPr>
              <a:t>Site Selection</a:t>
            </a:r>
            <a:endParaRPr b="0" lang="en-US" sz="2500" strike="noStrike" u="none">
              <a:solidFill>
                <a:srgbClr val="ffffff"/>
              </a:solidFill>
              <a:effectLst/>
              <a:uFillTx/>
              <a:latin typeface="Arial"/>
            </a:endParaRPr>
          </a:p>
        </p:txBody>
      </p:sp>
      <p:sp>
        <p:nvSpPr>
          <p:cNvPr id="176" name="Text 7"/>
          <p:cNvSpPr/>
          <p:nvPr/>
        </p:nvSpPr>
        <p:spPr>
          <a:xfrm>
            <a:off x="502920" y="704160"/>
            <a:ext cx="10835280" cy="255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50" strike="noStrike" u="none">
                <a:solidFill>
                  <a:srgbClr val="b0c1d5"/>
                </a:solidFill>
                <a:effectLst/>
                <a:uFillTx/>
                <a:latin typeface="Aptos"/>
              </a:rPr>
              <a:t>Rooppur site characteristics and environmental relevance</a:t>
            </a:r>
            <a:endParaRPr b="0" lang="en-US" sz="1250" strike="noStrike" u="none">
              <a:solidFill>
                <a:srgbClr val="ffffff"/>
              </a:solidFill>
              <a:effectLst/>
              <a:uFillTx/>
              <a:latin typeface="Arial"/>
            </a:endParaRPr>
          </a:p>
        </p:txBody>
      </p:sp>
      <p:sp>
        <p:nvSpPr>
          <p:cNvPr id="177" name="Text 8"/>
          <p:cNvSpPr/>
          <p:nvPr/>
        </p:nvSpPr>
        <p:spPr>
          <a:xfrm>
            <a:off x="685800" y="1234440"/>
            <a:ext cx="5303160" cy="4480200"/>
          </a:xfrm>
          <a:prstGeom prst="rect">
            <a:avLst/>
          </a:prstGeom>
          <a:noFill/>
          <a:ln w="0">
            <a:noFill/>
          </a:ln>
        </p:spPr>
        <p:style>
          <a:lnRef idx="0"/>
          <a:fillRef idx="0"/>
          <a:effectRef idx="0"/>
          <a:fontRef idx="minor"/>
        </p:style>
        <p:txBody>
          <a:bodyPr lIns="1080" rIns="1080" tIns="1080" bIns="1080" anchor="t">
            <a:normAutofit/>
          </a:bodyPr>
          <a:p>
            <a:pPr defTabSz="914400">
              <a:lnSpc>
                <a:spcPct val="100000"/>
              </a:lnSpc>
            </a:pPr>
            <a:r>
              <a:rPr b="0" lang="en-US" sz="1450" strike="noStrike" u="none">
                <a:solidFill>
                  <a:srgbClr val="f5f8fc"/>
                </a:solidFill>
                <a:effectLst/>
                <a:uFillTx/>
                <a:latin typeface="Aptos"/>
                <a:ea typeface="Aptos"/>
              </a:rPr>
              <a:t>Location: Rooppur in Ishwardi Upazila, Pabna District.</a:t>
            </a:r>
            <a:endParaRPr b="0" lang="en-US" sz="1450" strike="noStrike" u="none">
              <a:solidFill>
                <a:srgbClr val="ffffff"/>
              </a:solidFill>
              <a:effectLst/>
              <a:uFillTx/>
              <a:latin typeface="Arial"/>
            </a:endParaRPr>
          </a:p>
          <a:p>
            <a:pPr defTabSz="914400">
              <a:lnSpc>
                <a:spcPct val="100000"/>
              </a:lnSpc>
            </a:pPr>
            <a:r>
              <a:rPr b="0" lang="en-US" sz="1450" strike="noStrike" u="none">
                <a:solidFill>
                  <a:srgbClr val="f5f8fc"/>
                </a:solidFill>
                <a:effectLst/>
                <a:uFillTx/>
                <a:latin typeface="Aptos"/>
                <a:ea typeface="Aptos"/>
              </a:rPr>
              <a:t>Distance: approximately 160 km northwest of Dhaka according to the source deck.</a:t>
            </a:r>
            <a:endParaRPr b="0" lang="en-US" sz="1450" strike="noStrike" u="none">
              <a:solidFill>
                <a:srgbClr val="ffffff"/>
              </a:solidFill>
              <a:effectLst/>
              <a:uFillTx/>
              <a:latin typeface="Arial"/>
            </a:endParaRPr>
          </a:p>
          <a:p>
            <a:pPr defTabSz="914400">
              <a:lnSpc>
                <a:spcPct val="100000"/>
              </a:lnSpc>
            </a:pPr>
            <a:r>
              <a:rPr b="0" lang="en-US" sz="1450" strike="noStrike" u="none">
                <a:solidFill>
                  <a:srgbClr val="f5f8fc"/>
                </a:solidFill>
                <a:effectLst/>
                <a:uFillTx/>
                <a:latin typeface="Aptos"/>
                <a:ea typeface="Aptos"/>
              </a:rPr>
              <a:t>Hydrological setting: eastern bank of the Padma River, important for cooling-water access.</a:t>
            </a:r>
            <a:endParaRPr b="0" lang="en-US" sz="1450" strike="noStrike" u="none">
              <a:solidFill>
                <a:srgbClr val="ffffff"/>
              </a:solidFill>
              <a:effectLst/>
              <a:uFillTx/>
              <a:latin typeface="Arial"/>
            </a:endParaRPr>
          </a:p>
          <a:p>
            <a:pPr defTabSz="914400">
              <a:lnSpc>
                <a:spcPct val="100000"/>
              </a:lnSpc>
            </a:pPr>
            <a:r>
              <a:rPr b="0" lang="en-US" sz="1450" strike="noStrike" u="none">
                <a:solidFill>
                  <a:srgbClr val="f5f8fc"/>
                </a:solidFill>
                <a:effectLst/>
                <a:uFillTx/>
                <a:latin typeface="Aptos"/>
                <a:ea typeface="Aptos"/>
              </a:rPr>
              <a:t>Industrial footprint: approximately 1,062 acres, requiring planning-zone management.</a:t>
            </a:r>
            <a:endParaRPr b="0" lang="en-US" sz="1450" strike="noStrike" u="none">
              <a:solidFill>
                <a:srgbClr val="ffffff"/>
              </a:solidFill>
              <a:effectLst/>
              <a:uFillTx/>
              <a:latin typeface="Arial"/>
            </a:endParaRPr>
          </a:p>
        </p:txBody>
      </p:sp>
      <p:sp>
        <p:nvSpPr>
          <p:cNvPr id="178" name="Shape 9"/>
          <p:cNvSpPr/>
          <p:nvPr/>
        </p:nvSpPr>
        <p:spPr>
          <a:xfrm>
            <a:off x="6355080" y="1234440"/>
            <a:ext cx="5028840" cy="4434480"/>
          </a:xfrm>
          <a:prstGeom prst="roundRect">
            <a:avLst>
              <a:gd name="adj" fmla="val 2474"/>
            </a:avLst>
          </a:prstGeom>
          <a:solidFill>
            <a:srgbClr val="0c3c5e">
              <a:alpha val="95000"/>
            </a:srgbClr>
          </a:solidFill>
          <a:ln w="12700">
            <a:solidFill>
              <a:srgbClr val="50d69b">
                <a:alpha val="7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79" name="Shape 10"/>
          <p:cNvSpPr/>
          <p:nvPr/>
        </p:nvSpPr>
        <p:spPr>
          <a:xfrm>
            <a:off x="6812280" y="3520440"/>
            <a:ext cx="3931560" cy="731160"/>
          </a:xfrm>
          <a:prstGeom prst="wave">
            <a:avLst>
              <a:gd name="adj1" fmla="val 12500"/>
              <a:gd name="adj2" fmla="val 0"/>
            </a:avLst>
          </a:prstGeom>
          <a:solidFill>
            <a:srgbClr val="1c69a2">
              <a:alpha val="95000"/>
            </a:srgbClr>
          </a:solidFill>
          <a:ln w="12700">
            <a:solidFill>
              <a:srgbClr val="1c69a2">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80" name="Shape 11"/>
          <p:cNvSpPr/>
          <p:nvPr/>
        </p:nvSpPr>
        <p:spPr>
          <a:xfrm>
            <a:off x="8823960" y="2971800"/>
            <a:ext cx="319680" cy="319680"/>
          </a:xfrm>
          <a:prstGeom prst="ellipse">
            <a:avLst/>
          </a:prstGeom>
          <a:solidFill>
            <a:srgbClr val="e15a5a"/>
          </a:solidFill>
          <a:ln w="12700">
            <a:solidFill>
              <a:srgbClr val="f5f8fc"/>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81" name="Text 12"/>
          <p:cNvSpPr/>
          <p:nvPr/>
        </p:nvSpPr>
        <p:spPr>
          <a:xfrm>
            <a:off x="8275320" y="2514600"/>
            <a:ext cx="1645560" cy="319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800" strike="noStrike" u="none">
                <a:solidFill>
                  <a:srgbClr val="f5f8fc"/>
                </a:solidFill>
                <a:effectLst/>
                <a:uFillTx/>
                <a:latin typeface="Aptos"/>
              </a:rPr>
              <a:t>Rooppur</a:t>
            </a:r>
            <a:endParaRPr b="0" lang="en-US" sz="1800" strike="noStrike" u="none">
              <a:solidFill>
                <a:srgbClr val="ffffff"/>
              </a:solidFill>
              <a:effectLst/>
              <a:uFillTx/>
              <a:latin typeface="Arial"/>
            </a:endParaRPr>
          </a:p>
        </p:txBody>
      </p:sp>
      <p:sp>
        <p:nvSpPr>
          <p:cNvPr id="182" name="Text 13"/>
          <p:cNvSpPr/>
          <p:nvPr/>
        </p:nvSpPr>
        <p:spPr>
          <a:xfrm>
            <a:off x="6949440" y="4343400"/>
            <a:ext cx="3657240" cy="2556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150" strike="noStrike" u="none">
                <a:solidFill>
                  <a:srgbClr val="b0c1d5"/>
                </a:solidFill>
                <a:effectLst/>
                <a:uFillTx/>
                <a:latin typeface="Aptos"/>
              </a:rPr>
              <a:t>Schematic location: Padma River edge</a:t>
            </a:r>
            <a:endParaRPr b="0" lang="en-US" sz="1150" strike="noStrike" u="none">
              <a:solidFill>
                <a:srgbClr val="ffffff"/>
              </a:solidFill>
              <a:effectLst/>
              <a:uFillTx/>
              <a:latin typeface="Arial"/>
            </a:endParaRPr>
          </a:p>
        </p:txBody>
      </p:sp>
    </p:spTree>
  </p:cSld>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6172f"/>
        </a:solidFill>
      </p:bgPr>
    </p:bg>
    <p:spTree>
      <p:nvGrpSpPr>
        <p:cNvPr id="1" name=""/>
        <p:cNvGrpSpPr/>
        <p:nvPr/>
      </p:nvGrpSpPr>
      <p:grpSpPr>
        <a:xfrm>
          <a:off x="0" y="0"/>
          <a:ext cx="0" cy="0"/>
          <a:chOff x="0" y="0"/>
          <a:chExt cx="0" cy="0"/>
        </a:xfrm>
      </p:grpSpPr>
      <p:sp>
        <p:nvSpPr>
          <p:cNvPr id="183" name="Shape 0"/>
          <p:cNvSpPr/>
          <p:nvPr/>
        </p:nvSpPr>
        <p:spPr>
          <a:xfrm>
            <a:off x="0" y="0"/>
            <a:ext cx="12191400" cy="6857640"/>
          </a:xfrm>
          <a:prstGeom prst="rect">
            <a:avLst/>
          </a:prstGeom>
          <a:solidFill>
            <a:srgbClr val="06172f"/>
          </a:solidFill>
          <a:ln w="12700">
            <a:solidFill>
              <a:srgbClr val="06172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84" name="Shape 1"/>
          <p:cNvSpPr/>
          <p:nvPr/>
        </p:nvSpPr>
        <p:spPr>
          <a:xfrm>
            <a:off x="7680960" y="-1005840"/>
            <a:ext cx="4388760" cy="2925720"/>
          </a:xfrm>
          <a:prstGeom prst="arc">
            <a:avLst>
              <a:gd name="adj1" fmla="val 16200000"/>
              <a:gd name="adj2" fmla="val 0"/>
            </a:avLst>
          </a:prstGeom>
          <a:solidFill>
            <a:srgbClr val="0e3a68">
              <a:alpha val="75000"/>
            </a:srgbClr>
          </a:solidFill>
          <a:ln w="12700">
            <a:solidFill>
              <a:srgbClr val="0e3a68">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85" name="Shape 2"/>
          <p:cNvSpPr/>
          <p:nvPr/>
        </p:nvSpPr>
        <p:spPr>
          <a:xfrm>
            <a:off x="8778240" y="-777240"/>
            <a:ext cx="3474360" cy="2285640"/>
          </a:xfrm>
          <a:prstGeom prst="arc">
            <a:avLst>
              <a:gd name="adj1" fmla="val 16200000"/>
              <a:gd name="adj2" fmla="val 0"/>
            </a:avLst>
          </a:prstGeom>
          <a:solidFill>
            <a:srgbClr val="0b4d5e">
              <a:alpha val="65000"/>
            </a:srgbClr>
          </a:solidFill>
          <a:ln w="12700">
            <a:solidFill>
              <a:srgbClr val="0b4d5e">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86" name="Shape 3"/>
          <p:cNvSpPr/>
          <p:nvPr/>
        </p:nvSpPr>
        <p:spPr>
          <a:xfrm>
            <a:off x="0" y="0"/>
            <a:ext cx="109440" cy="6857640"/>
          </a:xfrm>
          <a:prstGeom prst="rect">
            <a:avLst/>
          </a:prstGeom>
          <a:solidFill>
            <a:srgbClr val="00b078"/>
          </a:solidFill>
          <a:ln w="12700">
            <a:solidFill>
              <a:srgbClr val="00b078">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87" name="Shape 4"/>
          <p:cNvSpPr/>
          <p:nvPr/>
        </p:nvSpPr>
        <p:spPr>
          <a:xfrm>
            <a:off x="320040" y="6565320"/>
            <a:ext cx="11521080" cy="16200"/>
          </a:xfrm>
          <a:prstGeom prst="rect">
            <a:avLst/>
          </a:prstGeom>
          <a:solidFill>
            <a:srgbClr val="435d78"/>
          </a:solidFill>
          <a:ln w="12700">
            <a:solidFill>
              <a:srgbClr val="435d78">
                <a:alpha val="0"/>
              </a:srgbClr>
            </a:solidFill>
            <a:round/>
          </a:ln>
        </p:spPr>
        <p:style>
          <a:lnRef idx="0"/>
          <a:fillRef idx="0"/>
          <a:effectRef idx="0"/>
          <a:fontRef idx="minor"/>
        </p:style>
        <p:txBody>
          <a:bodyPr lIns="90000" rIns="90000" tIns="-28440" bIns="-28440" anchor="t">
            <a:noAutofit/>
          </a:bodyPr>
          <a:p>
            <a:endParaRPr b="0" lang="en-US" sz="1800" strike="noStrike" u="none">
              <a:solidFill>
                <a:srgbClr val="ffffff"/>
              </a:solidFill>
              <a:effectLst/>
              <a:uFillTx/>
              <a:latin typeface="Arial"/>
            </a:endParaRPr>
          </a:p>
        </p:txBody>
      </p:sp>
      <p:sp>
        <p:nvSpPr>
          <p:cNvPr id="188" name="Text 5"/>
          <p:cNvSpPr/>
          <p:nvPr/>
        </p:nvSpPr>
        <p:spPr>
          <a:xfrm>
            <a:off x="11356920" y="6602040"/>
            <a:ext cx="502560" cy="13680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50" strike="noStrike" u="none">
                <a:solidFill>
                  <a:srgbClr val="b0c1d5"/>
                </a:solidFill>
                <a:effectLst/>
                <a:uFillTx/>
                <a:latin typeface="Aptos"/>
                <a:ea typeface="Aptos"/>
              </a:rPr>
              <a:t>08</a:t>
            </a:r>
            <a:endParaRPr b="0" lang="en-US" sz="950" strike="noStrike" u="none">
              <a:solidFill>
                <a:srgbClr val="ffffff"/>
              </a:solidFill>
              <a:effectLst/>
              <a:uFillTx/>
              <a:latin typeface="Arial"/>
            </a:endParaRPr>
          </a:p>
        </p:txBody>
      </p:sp>
      <p:sp>
        <p:nvSpPr>
          <p:cNvPr id="189" name="Text 6"/>
          <p:cNvSpPr/>
          <p:nvPr/>
        </p:nvSpPr>
        <p:spPr>
          <a:xfrm>
            <a:off x="475560" y="228600"/>
            <a:ext cx="10972440" cy="383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500" strike="noStrike" u="none">
                <a:solidFill>
                  <a:srgbClr val="f5f8fc"/>
                </a:solidFill>
                <a:effectLst/>
                <a:uFillTx/>
                <a:latin typeface="Aptos Display"/>
                <a:ea typeface="Aptos Display"/>
              </a:rPr>
              <a:t>Reactor Type</a:t>
            </a:r>
            <a:endParaRPr b="0" lang="en-US" sz="2500" strike="noStrike" u="none">
              <a:solidFill>
                <a:srgbClr val="ffffff"/>
              </a:solidFill>
              <a:effectLst/>
              <a:uFillTx/>
              <a:latin typeface="Arial"/>
            </a:endParaRPr>
          </a:p>
        </p:txBody>
      </p:sp>
      <p:sp>
        <p:nvSpPr>
          <p:cNvPr id="190" name="Text 7"/>
          <p:cNvSpPr/>
          <p:nvPr/>
        </p:nvSpPr>
        <p:spPr>
          <a:xfrm>
            <a:off x="502920" y="704160"/>
            <a:ext cx="10835280" cy="255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50" strike="noStrike" u="none">
                <a:solidFill>
                  <a:srgbClr val="b0c1d5"/>
                </a:solidFill>
                <a:effectLst/>
                <a:uFillTx/>
                <a:latin typeface="Aptos"/>
              </a:rPr>
              <a:t>VVER-1200 Generation III+ nuclear reactor</a:t>
            </a:r>
            <a:endParaRPr b="0" lang="en-US" sz="1250" strike="noStrike" u="none">
              <a:solidFill>
                <a:srgbClr val="ffffff"/>
              </a:solidFill>
              <a:effectLst/>
              <a:uFillTx/>
              <a:latin typeface="Arial"/>
            </a:endParaRPr>
          </a:p>
        </p:txBody>
      </p:sp>
      <p:sp>
        <p:nvSpPr>
          <p:cNvPr id="191" name="Shape 8"/>
          <p:cNvSpPr/>
          <p:nvPr/>
        </p:nvSpPr>
        <p:spPr>
          <a:xfrm>
            <a:off x="685800" y="1234440"/>
            <a:ext cx="5120280" cy="1462680"/>
          </a:xfrm>
          <a:prstGeom prst="roundRect">
            <a:avLst>
              <a:gd name="adj" fmla="val 7500"/>
            </a:avLst>
          </a:prstGeom>
          <a:solidFill>
            <a:srgbClr val="0e2d4f">
              <a:alpha val="93000"/>
            </a:srgbClr>
          </a:solidFill>
          <a:ln w="12700">
            <a:solidFill>
              <a:srgbClr val="00b078">
                <a:alpha val="7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92" name="Text 9"/>
          <p:cNvSpPr/>
          <p:nvPr/>
        </p:nvSpPr>
        <p:spPr>
          <a:xfrm>
            <a:off x="850320" y="1353240"/>
            <a:ext cx="479124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50d69b"/>
                </a:solidFill>
                <a:effectLst/>
                <a:uFillTx/>
                <a:latin typeface="Aptos"/>
              </a:rPr>
              <a:t>Reactor family</a:t>
            </a:r>
            <a:endParaRPr b="0" lang="en-US" sz="1600" strike="noStrike" u="none">
              <a:solidFill>
                <a:srgbClr val="ffffff"/>
              </a:solidFill>
              <a:effectLst/>
              <a:uFillTx/>
              <a:latin typeface="Arial"/>
            </a:endParaRPr>
          </a:p>
        </p:txBody>
      </p:sp>
      <p:sp>
        <p:nvSpPr>
          <p:cNvPr id="193" name="Text 10"/>
          <p:cNvSpPr/>
          <p:nvPr/>
        </p:nvSpPr>
        <p:spPr>
          <a:xfrm>
            <a:off x="905400" y="1737360"/>
            <a:ext cx="4681440" cy="895680"/>
          </a:xfrm>
          <a:prstGeom prst="rect">
            <a:avLst/>
          </a:prstGeom>
          <a:noFill/>
          <a:ln w="0">
            <a:noFill/>
          </a:ln>
        </p:spPr>
        <p:style>
          <a:lnRef idx="0"/>
          <a:fillRef idx="0"/>
          <a:effectRef idx="0"/>
          <a:fontRef idx="minor"/>
        </p:style>
        <p:txBody>
          <a:bodyPr lIns="1080" rIns="1080" tIns="1080" bIns="1080" anchor="t">
            <a:normAutofit/>
          </a:bodyPr>
          <a:p>
            <a:pPr defTabSz="914400">
              <a:lnSpc>
                <a:spcPct val="100000"/>
              </a:lnSpc>
            </a:pPr>
            <a:r>
              <a:rPr b="0" lang="en-US" sz="1300" strike="noStrike" u="none">
                <a:solidFill>
                  <a:srgbClr val="f5f8fc"/>
                </a:solidFill>
                <a:effectLst/>
                <a:uFillTx/>
                <a:latin typeface="Aptos"/>
                <a:ea typeface="Aptos"/>
              </a:rPr>
              <a:t>The source deck states that RNPP uses Russian VVER‑1200 reactors. VVER reactors are pressurized water reactors.</a:t>
            </a:r>
            <a:endParaRPr b="0" lang="en-US" sz="1300" strike="noStrike" u="none">
              <a:solidFill>
                <a:srgbClr val="ffffff"/>
              </a:solidFill>
              <a:effectLst/>
              <a:uFillTx/>
              <a:latin typeface="Arial"/>
            </a:endParaRPr>
          </a:p>
        </p:txBody>
      </p:sp>
      <p:sp>
        <p:nvSpPr>
          <p:cNvPr id="194" name="Shape 11"/>
          <p:cNvSpPr/>
          <p:nvPr/>
        </p:nvSpPr>
        <p:spPr>
          <a:xfrm>
            <a:off x="685800" y="2971800"/>
            <a:ext cx="5120280" cy="1325520"/>
          </a:xfrm>
          <a:prstGeom prst="roundRect">
            <a:avLst>
              <a:gd name="adj" fmla="val 8276"/>
            </a:avLst>
          </a:prstGeom>
          <a:solidFill>
            <a:srgbClr val="0e2d4f">
              <a:alpha val="93000"/>
            </a:srgbClr>
          </a:solidFill>
          <a:ln w="12700">
            <a:solidFill>
              <a:srgbClr val="5bd2ff">
                <a:alpha val="7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95" name="Text 12"/>
          <p:cNvSpPr/>
          <p:nvPr/>
        </p:nvSpPr>
        <p:spPr>
          <a:xfrm>
            <a:off x="850320" y="3090600"/>
            <a:ext cx="479124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50d69b"/>
                </a:solidFill>
                <a:effectLst/>
                <a:uFillTx/>
                <a:latin typeface="Aptos"/>
              </a:rPr>
              <a:t>Generation III+</a:t>
            </a:r>
            <a:endParaRPr b="0" lang="en-US" sz="1600" strike="noStrike" u="none">
              <a:solidFill>
                <a:srgbClr val="ffffff"/>
              </a:solidFill>
              <a:effectLst/>
              <a:uFillTx/>
              <a:latin typeface="Arial"/>
            </a:endParaRPr>
          </a:p>
        </p:txBody>
      </p:sp>
      <p:sp>
        <p:nvSpPr>
          <p:cNvPr id="196" name="Text 13"/>
          <p:cNvSpPr/>
          <p:nvPr/>
        </p:nvSpPr>
        <p:spPr>
          <a:xfrm>
            <a:off x="905400" y="3474720"/>
            <a:ext cx="4681440" cy="758520"/>
          </a:xfrm>
          <a:prstGeom prst="rect">
            <a:avLst/>
          </a:prstGeom>
          <a:noFill/>
          <a:ln w="0">
            <a:noFill/>
          </a:ln>
        </p:spPr>
        <p:style>
          <a:lnRef idx="0"/>
          <a:fillRef idx="0"/>
          <a:effectRef idx="0"/>
          <a:fontRef idx="minor"/>
        </p:style>
        <p:txBody>
          <a:bodyPr lIns="1080" rIns="1080" tIns="1080" bIns="1080" anchor="t">
            <a:normAutofit/>
          </a:bodyPr>
          <a:p>
            <a:pPr defTabSz="914400">
              <a:lnSpc>
                <a:spcPct val="100000"/>
              </a:lnSpc>
            </a:pPr>
            <a:r>
              <a:rPr b="0" lang="en-US" sz="1300" strike="noStrike" u="none">
                <a:solidFill>
                  <a:srgbClr val="f5f8fc"/>
                </a:solidFill>
                <a:effectLst/>
                <a:uFillTx/>
                <a:latin typeface="Aptos"/>
                <a:ea typeface="Aptos"/>
              </a:rPr>
              <a:t>The deck describes the plant as using advanced Generation III+ technology with modern safety standards.</a:t>
            </a:r>
            <a:endParaRPr b="0" lang="en-US" sz="1300" strike="noStrike" u="none">
              <a:solidFill>
                <a:srgbClr val="ffffff"/>
              </a:solidFill>
              <a:effectLst/>
              <a:uFillTx/>
              <a:latin typeface="Arial"/>
            </a:endParaRPr>
          </a:p>
        </p:txBody>
      </p:sp>
      <p:sp>
        <p:nvSpPr>
          <p:cNvPr id="197" name="Shape 14"/>
          <p:cNvSpPr/>
          <p:nvPr/>
        </p:nvSpPr>
        <p:spPr>
          <a:xfrm>
            <a:off x="685800" y="4572000"/>
            <a:ext cx="5120280" cy="1325520"/>
          </a:xfrm>
          <a:prstGeom prst="roundRect">
            <a:avLst>
              <a:gd name="adj" fmla="val 8276"/>
            </a:avLst>
          </a:prstGeom>
          <a:solidFill>
            <a:srgbClr val="0e2d4f">
              <a:alpha val="93000"/>
            </a:srgbClr>
          </a:solidFill>
          <a:ln w="12700">
            <a:solidFill>
              <a:srgbClr val="50d69b">
                <a:alpha val="7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98" name="Text 15"/>
          <p:cNvSpPr/>
          <p:nvPr/>
        </p:nvSpPr>
        <p:spPr>
          <a:xfrm>
            <a:off x="850320" y="4690800"/>
            <a:ext cx="479124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50d69b"/>
                </a:solidFill>
                <a:effectLst/>
                <a:uFillTx/>
                <a:latin typeface="Aptos"/>
              </a:rPr>
              <a:t>Operational design</a:t>
            </a:r>
            <a:endParaRPr b="0" lang="en-US" sz="1600" strike="noStrike" u="none">
              <a:solidFill>
                <a:srgbClr val="ffffff"/>
              </a:solidFill>
              <a:effectLst/>
              <a:uFillTx/>
              <a:latin typeface="Arial"/>
            </a:endParaRPr>
          </a:p>
        </p:txBody>
      </p:sp>
      <p:sp>
        <p:nvSpPr>
          <p:cNvPr id="199" name="Text 16"/>
          <p:cNvSpPr/>
          <p:nvPr/>
        </p:nvSpPr>
        <p:spPr>
          <a:xfrm>
            <a:off x="905400" y="5074920"/>
            <a:ext cx="4681440" cy="758520"/>
          </a:xfrm>
          <a:prstGeom prst="rect">
            <a:avLst/>
          </a:prstGeom>
          <a:noFill/>
          <a:ln w="0">
            <a:noFill/>
          </a:ln>
        </p:spPr>
        <p:style>
          <a:lnRef idx="0"/>
          <a:fillRef idx="0"/>
          <a:effectRef idx="0"/>
          <a:fontRef idx="minor"/>
        </p:style>
        <p:txBody>
          <a:bodyPr lIns="1080" rIns="1080" tIns="1080" bIns="1080" anchor="t">
            <a:normAutofit/>
          </a:bodyPr>
          <a:p>
            <a:pPr defTabSz="914400">
              <a:lnSpc>
                <a:spcPct val="100000"/>
              </a:lnSpc>
            </a:pPr>
            <a:r>
              <a:rPr b="0" lang="en-US" sz="1300" strike="noStrike" u="none">
                <a:solidFill>
                  <a:srgbClr val="f5f8fc"/>
                </a:solidFill>
                <a:effectLst/>
                <a:uFillTx/>
                <a:latin typeface="Aptos"/>
                <a:ea typeface="Aptos"/>
              </a:rPr>
              <a:t>The facility is engineered for a 60-year baseline with the possibility of extending the lifecycle to around 80 years.</a:t>
            </a:r>
            <a:endParaRPr b="0" lang="en-US" sz="1300" strike="noStrike" u="none">
              <a:solidFill>
                <a:srgbClr val="ffffff"/>
              </a:solidFill>
              <a:effectLst/>
              <a:uFillTx/>
              <a:latin typeface="Arial"/>
            </a:endParaRPr>
          </a:p>
        </p:txBody>
      </p:sp>
      <p:pic>
        <p:nvPicPr>
          <p:cNvPr id="200" name="Image 0" descr="/mnt/data/a_wide_detailed_cinematic_environmental_industri.png"/>
          <p:cNvPicPr/>
          <p:nvPr/>
        </p:nvPicPr>
        <p:blipFill>
          <a:blip r:embed="rId1"/>
          <a:srcRect l="18448" t="0" r="18448" b="0"/>
          <a:stretch/>
        </p:blipFill>
        <p:spPr>
          <a:xfrm>
            <a:off x="6309360" y="1234440"/>
            <a:ext cx="5074560" cy="4525920"/>
          </a:xfrm>
          <a:prstGeom prst="rect">
            <a:avLst/>
          </a:prstGeom>
          <a:noFill/>
          <a:ln w="0">
            <a:noFill/>
          </a:ln>
        </p:spPr>
      </p:pic>
      <p:sp>
        <p:nvSpPr>
          <p:cNvPr id="201" name="Shape 17"/>
          <p:cNvSpPr/>
          <p:nvPr/>
        </p:nvSpPr>
        <p:spPr>
          <a:xfrm>
            <a:off x="6309360" y="1234440"/>
            <a:ext cx="5074560" cy="4525920"/>
          </a:xfrm>
          <a:prstGeom prst="roundRect">
            <a:avLst>
              <a:gd name="adj" fmla="val 1616"/>
            </a:avLst>
          </a:prstGeom>
          <a:noFill/>
          <a:ln w="15240">
            <a:solidFill>
              <a:srgbClr val="5bd2ff">
                <a:alpha val="75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Tree>
  </p:cSld>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6172f"/>
        </a:solidFill>
      </p:bgPr>
    </p:bg>
    <p:spTree>
      <p:nvGrpSpPr>
        <p:cNvPr id="1" name=""/>
        <p:cNvGrpSpPr/>
        <p:nvPr/>
      </p:nvGrpSpPr>
      <p:grpSpPr>
        <a:xfrm>
          <a:off x="0" y="0"/>
          <a:ext cx="0" cy="0"/>
          <a:chOff x="0" y="0"/>
          <a:chExt cx="0" cy="0"/>
        </a:xfrm>
      </p:grpSpPr>
      <p:sp>
        <p:nvSpPr>
          <p:cNvPr id="202" name="Shape 0"/>
          <p:cNvSpPr/>
          <p:nvPr/>
        </p:nvSpPr>
        <p:spPr>
          <a:xfrm>
            <a:off x="0" y="0"/>
            <a:ext cx="12191400" cy="6857640"/>
          </a:xfrm>
          <a:prstGeom prst="rect">
            <a:avLst/>
          </a:prstGeom>
          <a:solidFill>
            <a:srgbClr val="06172f"/>
          </a:solidFill>
          <a:ln w="12700">
            <a:solidFill>
              <a:srgbClr val="06172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03" name="Shape 1"/>
          <p:cNvSpPr/>
          <p:nvPr/>
        </p:nvSpPr>
        <p:spPr>
          <a:xfrm>
            <a:off x="7680960" y="-1005840"/>
            <a:ext cx="4388760" cy="2925720"/>
          </a:xfrm>
          <a:prstGeom prst="arc">
            <a:avLst>
              <a:gd name="adj1" fmla="val 16200000"/>
              <a:gd name="adj2" fmla="val 0"/>
            </a:avLst>
          </a:prstGeom>
          <a:solidFill>
            <a:srgbClr val="0e3a68">
              <a:alpha val="75000"/>
            </a:srgbClr>
          </a:solidFill>
          <a:ln w="12700">
            <a:solidFill>
              <a:srgbClr val="0e3a68">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04" name="Shape 2"/>
          <p:cNvSpPr/>
          <p:nvPr/>
        </p:nvSpPr>
        <p:spPr>
          <a:xfrm>
            <a:off x="8778240" y="-777240"/>
            <a:ext cx="3474360" cy="2285640"/>
          </a:xfrm>
          <a:prstGeom prst="arc">
            <a:avLst>
              <a:gd name="adj1" fmla="val 16200000"/>
              <a:gd name="adj2" fmla="val 0"/>
            </a:avLst>
          </a:prstGeom>
          <a:solidFill>
            <a:srgbClr val="0b4d5e">
              <a:alpha val="65000"/>
            </a:srgbClr>
          </a:solidFill>
          <a:ln w="12700">
            <a:solidFill>
              <a:srgbClr val="0b4d5e">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05" name="Shape 3"/>
          <p:cNvSpPr/>
          <p:nvPr/>
        </p:nvSpPr>
        <p:spPr>
          <a:xfrm>
            <a:off x="0" y="0"/>
            <a:ext cx="109440" cy="6857640"/>
          </a:xfrm>
          <a:prstGeom prst="rect">
            <a:avLst/>
          </a:prstGeom>
          <a:solidFill>
            <a:srgbClr val="00b078"/>
          </a:solidFill>
          <a:ln w="12700">
            <a:solidFill>
              <a:srgbClr val="00b078">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06" name="Shape 4"/>
          <p:cNvSpPr/>
          <p:nvPr/>
        </p:nvSpPr>
        <p:spPr>
          <a:xfrm>
            <a:off x="320040" y="6565320"/>
            <a:ext cx="11521080" cy="16200"/>
          </a:xfrm>
          <a:prstGeom prst="rect">
            <a:avLst/>
          </a:prstGeom>
          <a:solidFill>
            <a:srgbClr val="435d78"/>
          </a:solidFill>
          <a:ln w="12700">
            <a:solidFill>
              <a:srgbClr val="435d78">
                <a:alpha val="0"/>
              </a:srgbClr>
            </a:solidFill>
            <a:round/>
          </a:ln>
        </p:spPr>
        <p:style>
          <a:lnRef idx="0"/>
          <a:fillRef idx="0"/>
          <a:effectRef idx="0"/>
          <a:fontRef idx="minor"/>
        </p:style>
        <p:txBody>
          <a:bodyPr lIns="90000" rIns="90000" tIns="-28440" bIns="-28440" anchor="t">
            <a:noAutofit/>
          </a:bodyPr>
          <a:p>
            <a:endParaRPr b="0" lang="en-US" sz="1800" strike="noStrike" u="none">
              <a:solidFill>
                <a:srgbClr val="ffffff"/>
              </a:solidFill>
              <a:effectLst/>
              <a:uFillTx/>
              <a:latin typeface="Arial"/>
            </a:endParaRPr>
          </a:p>
        </p:txBody>
      </p:sp>
      <p:sp>
        <p:nvSpPr>
          <p:cNvPr id="207" name="Text 5"/>
          <p:cNvSpPr/>
          <p:nvPr/>
        </p:nvSpPr>
        <p:spPr>
          <a:xfrm>
            <a:off x="11356920" y="6602040"/>
            <a:ext cx="502560" cy="13680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50" strike="noStrike" u="none">
                <a:solidFill>
                  <a:srgbClr val="b0c1d5"/>
                </a:solidFill>
                <a:effectLst/>
                <a:uFillTx/>
                <a:latin typeface="Aptos"/>
                <a:ea typeface="Aptos"/>
              </a:rPr>
              <a:t>09</a:t>
            </a:r>
            <a:endParaRPr b="0" lang="en-US" sz="950" strike="noStrike" u="none">
              <a:solidFill>
                <a:srgbClr val="ffffff"/>
              </a:solidFill>
              <a:effectLst/>
              <a:uFillTx/>
              <a:latin typeface="Arial"/>
            </a:endParaRPr>
          </a:p>
        </p:txBody>
      </p:sp>
      <p:sp>
        <p:nvSpPr>
          <p:cNvPr id="208" name="Text 6"/>
          <p:cNvSpPr/>
          <p:nvPr/>
        </p:nvSpPr>
        <p:spPr>
          <a:xfrm>
            <a:off x="475560" y="228600"/>
            <a:ext cx="10972440" cy="383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500" strike="noStrike" u="none">
                <a:solidFill>
                  <a:srgbClr val="f5f8fc"/>
                </a:solidFill>
                <a:effectLst/>
                <a:uFillTx/>
                <a:latin typeface="Aptos Display"/>
                <a:ea typeface="Aptos Display"/>
              </a:rPr>
              <a:t>Pressurized Water Reactor (PWR)</a:t>
            </a:r>
            <a:endParaRPr b="0" lang="en-US" sz="2500" strike="noStrike" u="none">
              <a:solidFill>
                <a:srgbClr val="ffffff"/>
              </a:solidFill>
              <a:effectLst/>
              <a:uFillTx/>
              <a:latin typeface="Arial"/>
            </a:endParaRPr>
          </a:p>
        </p:txBody>
      </p:sp>
      <p:sp>
        <p:nvSpPr>
          <p:cNvPr id="209" name="Text 7"/>
          <p:cNvSpPr/>
          <p:nvPr/>
        </p:nvSpPr>
        <p:spPr>
          <a:xfrm>
            <a:off x="502920" y="704160"/>
            <a:ext cx="10835280" cy="255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50" strike="noStrike" u="none">
                <a:solidFill>
                  <a:srgbClr val="b0c1d5"/>
                </a:solidFill>
                <a:effectLst/>
                <a:uFillTx/>
                <a:latin typeface="Aptos"/>
              </a:rPr>
              <a:t>Core logic of the RNPP reactor system</a:t>
            </a:r>
            <a:endParaRPr b="0" lang="en-US" sz="1250" strike="noStrike" u="none">
              <a:solidFill>
                <a:srgbClr val="ffffff"/>
              </a:solidFill>
              <a:effectLst/>
              <a:uFillTx/>
              <a:latin typeface="Arial"/>
            </a:endParaRPr>
          </a:p>
        </p:txBody>
      </p:sp>
      <p:sp>
        <p:nvSpPr>
          <p:cNvPr id="210" name="Shape 8"/>
          <p:cNvSpPr/>
          <p:nvPr/>
        </p:nvSpPr>
        <p:spPr>
          <a:xfrm>
            <a:off x="411480" y="1481400"/>
            <a:ext cx="1494000" cy="712800"/>
          </a:xfrm>
          <a:prstGeom prst="roundRect">
            <a:avLst>
              <a:gd name="adj" fmla="val 12821"/>
            </a:avLst>
          </a:prstGeom>
          <a:solidFill>
            <a:srgbClr val="00b078"/>
          </a:solidFill>
          <a:ln w="12700">
            <a:solidFill>
              <a:srgbClr val="00b078">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11" name="Text 9"/>
          <p:cNvSpPr/>
          <p:nvPr/>
        </p:nvSpPr>
        <p:spPr>
          <a:xfrm>
            <a:off x="466200" y="1618560"/>
            <a:ext cx="1384200" cy="4568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50" strike="noStrike" u="none">
                <a:solidFill>
                  <a:srgbClr val="06172f"/>
                </a:solidFill>
                <a:effectLst/>
                <a:uFillTx/>
                <a:latin typeface="Aptos"/>
              </a:rPr>
              <a:t>Uranium</a:t>
            </a:r>
            <a:endParaRPr b="0" lang="en-US" sz="1050" strike="noStrike" u="none">
              <a:solidFill>
                <a:srgbClr val="ffffff"/>
              </a:solidFill>
              <a:effectLst/>
              <a:uFillTx/>
              <a:latin typeface="Arial"/>
            </a:endParaRPr>
          </a:p>
          <a:p>
            <a:pPr algn="ctr" defTabSz="914400">
              <a:lnSpc>
                <a:spcPct val="100000"/>
              </a:lnSpc>
              <a:tabLst>
                <a:tab algn="l" pos="0"/>
              </a:tabLst>
            </a:pPr>
            <a:r>
              <a:rPr b="1" lang="en-US" sz="1050" strike="noStrike" u="none">
                <a:solidFill>
                  <a:srgbClr val="06172f"/>
                </a:solidFill>
                <a:effectLst/>
                <a:uFillTx/>
                <a:latin typeface="Aptos"/>
              </a:rPr>
              <a:t>Fuel</a:t>
            </a:r>
            <a:endParaRPr b="0" lang="en-US" sz="1050" strike="noStrike" u="none">
              <a:solidFill>
                <a:srgbClr val="ffffff"/>
              </a:solidFill>
              <a:effectLst/>
              <a:uFillTx/>
              <a:latin typeface="Arial"/>
            </a:endParaRPr>
          </a:p>
        </p:txBody>
      </p:sp>
      <p:sp>
        <p:nvSpPr>
          <p:cNvPr id="212" name="Shape 10"/>
          <p:cNvSpPr/>
          <p:nvPr/>
        </p:nvSpPr>
        <p:spPr>
          <a:xfrm>
            <a:off x="1887480" y="1745280"/>
            <a:ext cx="164160" cy="177840"/>
          </a:xfrm>
          <a:prstGeom prst="rightArrow">
            <a:avLst>
              <a:gd name="adj1" fmla="val 50000"/>
              <a:gd name="adj2" fmla="val 50000"/>
            </a:avLst>
          </a:prstGeom>
          <a:solidFill>
            <a:srgbClr val="b0c1d5"/>
          </a:solidFill>
          <a:ln w="12700">
            <a:solidFill>
              <a:srgbClr val="b0c1d5">
                <a:alpha val="0"/>
              </a:srgbClr>
            </a:solidFill>
            <a:round/>
          </a:ln>
        </p:spPr>
        <p:style>
          <a:lnRef idx="0"/>
          <a:fillRef idx="0"/>
          <a:effectRef idx="0"/>
          <a:fontRef idx="minor"/>
        </p:style>
        <p:txBody>
          <a:bodyPr lIns="90000" rIns="90000" tIns="44280" bIns="44280" anchor="t">
            <a:noAutofit/>
          </a:bodyPr>
          <a:p>
            <a:endParaRPr b="0" lang="en-US" sz="1800" strike="noStrike" u="none">
              <a:solidFill>
                <a:srgbClr val="000000"/>
              </a:solidFill>
              <a:effectLst/>
              <a:uFillTx/>
              <a:latin typeface="Arial"/>
            </a:endParaRPr>
          </a:p>
        </p:txBody>
      </p:sp>
      <p:sp>
        <p:nvSpPr>
          <p:cNvPr id="213" name="Shape 11"/>
          <p:cNvSpPr/>
          <p:nvPr/>
        </p:nvSpPr>
        <p:spPr>
          <a:xfrm>
            <a:off x="2024640" y="1481400"/>
            <a:ext cx="1494000" cy="712800"/>
          </a:xfrm>
          <a:prstGeom prst="roundRect">
            <a:avLst>
              <a:gd name="adj" fmla="val 12821"/>
            </a:avLst>
          </a:prstGeom>
          <a:solidFill>
            <a:srgbClr val="5bd2ff"/>
          </a:solidFill>
          <a:ln w="12700">
            <a:solidFill>
              <a:srgbClr val="5bd2f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14" name="Text 12"/>
          <p:cNvSpPr/>
          <p:nvPr/>
        </p:nvSpPr>
        <p:spPr>
          <a:xfrm>
            <a:off x="2079720" y="1618560"/>
            <a:ext cx="1384200" cy="4568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50" strike="noStrike" u="none">
                <a:solidFill>
                  <a:srgbClr val="06172f"/>
                </a:solidFill>
                <a:effectLst/>
                <a:uFillTx/>
                <a:latin typeface="Aptos"/>
              </a:rPr>
              <a:t>Reactor</a:t>
            </a:r>
            <a:endParaRPr b="0" lang="en-US" sz="1050" strike="noStrike" u="none">
              <a:solidFill>
                <a:srgbClr val="ffffff"/>
              </a:solidFill>
              <a:effectLst/>
              <a:uFillTx/>
              <a:latin typeface="Arial"/>
            </a:endParaRPr>
          </a:p>
          <a:p>
            <a:pPr algn="ctr" defTabSz="914400">
              <a:lnSpc>
                <a:spcPct val="100000"/>
              </a:lnSpc>
              <a:tabLst>
                <a:tab algn="l" pos="0"/>
              </a:tabLst>
            </a:pPr>
            <a:r>
              <a:rPr b="1" lang="en-US" sz="1050" strike="noStrike" u="none">
                <a:solidFill>
                  <a:srgbClr val="06172f"/>
                </a:solidFill>
                <a:effectLst/>
                <a:uFillTx/>
                <a:latin typeface="Aptos"/>
              </a:rPr>
              <a:t>Core</a:t>
            </a:r>
            <a:endParaRPr b="0" lang="en-US" sz="1050" strike="noStrike" u="none">
              <a:solidFill>
                <a:srgbClr val="ffffff"/>
              </a:solidFill>
              <a:effectLst/>
              <a:uFillTx/>
              <a:latin typeface="Arial"/>
            </a:endParaRPr>
          </a:p>
        </p:txBody>
      </p:sp>
      <p:sp>
        <p:nvSpPr>
          <p:cNvPr id="215" name="Shape 13"/>
          <p:cNvSpPr/>
          <p:nvPr/>
        </p:nvSpPr>
        <p:spPr>
          <a:xfrm>
            <a:off x="3501000" y="1745280"/>
            <a:ext cx="164160" cy="177840"/>
          </a:xfrm>
          <a:prstGeom prst="rightArrow">
            <a:avLst>
              <a:gd name="adj1" fmla="val 50000"/>
              <a:gd name="adj2" fmla="val 50000"/>
            </a:avLst>
          </a:prstGeom>
          <a:solidFill>
            <a:srgbClr val="b0c1d5"/>
          </a:solidFill>
          <a:ln w="12700">
            <a:solidFill>
              <a:srgbClr val="b0c1d5">
                <a:alpha val="0"/>
              </a:srgbClr>
            </a:solidFill>
            <a:round/>
          </a:ln>
        </p:spPr>
        <p:style>
          <a:lnRef idx="0"/>
          <a:fillRef idx="0"/>
          <a:effectRef idx="0"/>
          <a:fontRef idx="minor"/>
        </p:style>
        <p:txBody>
          <a:bodyPr lIns="90000" rIns="90000" tIns="44280" bIns="44280" anchor="t">
            <a:noAutofit/>
          </a:bodyPr>
          <a:p>
            <a:endParaRPr b="0" lang="en-US" sz="1800" strike="noStrike" u="none">
              <a:solidFill>
                <a:srgbClr val="000000"/>
              </a:solidFill>
              <a:effectLst/>
              <a:uFillTx/>
              <a:latin typeface="Arial"/>
            </a:endParaRPr>
          </a:p>
        </p:txBody>
      </p:sp>
      <p:sp>
        <p:nvSpPr>
          <p:cNvPr id="216" name="Shape 14"/>
          <p:cNvSpPr/>
          <p:nvPr/>
        </p:nvSpPr>
        <p:spPr>
          <a:xfrm>
            <a:off x="3638160" y="1481400"/>
            <a:ext cx="1494000" cy="712800"/>
          </a:xfrm>
          <a:prstGeom prst="roundRect">
            <a:avLst>
              <a:gd name="adj" fmla="val 12821"/>
            </a:avLst>
          </a:prstGeom>
          <a:solidFill>
            <a:srgbClr val="50d69b"/>
          </a:solidFill>
          <a:ln w="12700">
            <a:solidFill>
              <a:srgbClr val="50d69b">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17" name="Text 15"/>
          <p:cNvSpPr/>
          <p:nvPr/>
        </p:nvSpPr>
        <p:spPr>
          <a:xfrm>
            <a:off x="3692880" y="1618560"/>
            <a:ext cx="1384200" cy="4568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50" strike="noStrike" u="none">
                <a:solidFill>
                  <a:srgbClr val="06172f"/>
                </a:solidFill>
                <a:effectLst/>
                <a:uFillTx/>
                <a:latin typeface="Aptos"/>
              </a:rPr>
              <a:t>Heat</a:t>
            </a:r>
            <a:endParaRPr b="0" lang="en-US" sz="1050" strike="noStrike" u="none">
              <a:solidFill>
                <a:srgbClr val="ffffff"/>
              </a:solidFill>
              <a:effectLst/>
              <a:uFillTx/>
              <a:latin typeface="Arial"/>
            </a:endParaRPr>
          </a:p>
          <a:p>
            <a:pPr algn="ctr" defTabSz="914400">
              <a:lnSpc>
                <a:spcPct val="100000"/>
              </a:lnSpc>
              <a:tabLst>
                <a:tab algn="l" pos="0"/>
              </a:tabLst>
            </a:pPr>
            <a:r>
              <a:rPr b="1" lang="en-US" sz="1050" strike="noStrike" u="none">
                <a:solidFill>
                  <a:srgbClr val="06172f"/>
                </a:solidFill>
                <a:effectLst/>
                <a:uFillTx/>
                <a:latin typeface="Aptos"/>
              </a:rPr>
              <a:t>Generation</a:t>
            </a:r>
            <a:endParaRPr b="0" lang="en-US" sz="1050" strike="noStrike" u="none">
              <a:solidFill>
                <a:srgbClr val="ffffff"/>
              </a:solidFill>
              <a:effectLst/>
              <a:uFillTx/>
              <a:latin typeface="Arial"/>
            </a:endParaRPr>
          </a:p>
        </p:txBody>
      </p:sp>
      <p:sp>
        <p:nvSpPr>
          <p:cNvPr id="218" name="Shape 16"/>
          <p:cNvSpPr/>
          <p:nvPr/>
        </p:nvSpPr>
        <p:spPr>
          <a:xfrm>
            <a:off x="5114160" y="1745280"/>
            <a:ext cx="164160" cy="177840"/>
          </a:xfrm>
          <a:prstGeom prst="rightArrow">
            <a:avLst>
              <a:gd name="adj1" fmla="val 50000"/>
              <a:gd name="adj2" fmla="val 50000"/>
            </a:avLst>
          </a:prstGeom>
          <a:solidFill>
            <a:srgbClr val="b0c1d5"/>
          </a:solidFill>
          <a:ln w="12700">
            <a:solidFill>
              <a:srgbClr val="b0c1d5">
                <a:alpha val="0"/>
              </a:srgbClr>
            </a:solidFill>
            <a:round/>
          </a:ln>
        </p:spPr>
        <p:style>
          <a:lnRef idx="0"/>
          <a:fillRef idx="0"/>
          <a:effectRef idx="0"/>
          <a:fontRef idx="minor"/>
        </p:style>
        <p:txBody>
          <a:bodyPr lIns="90000" rIns="90000" tIns="44280" bIns="44280" anchor="t">
            <a:noAutofit/>
          </a:bodyPr>
          <a:p>
            <a:endParaRPr b="0" lang="en-US" sz="1800" strike="noStrike" u="none">
              <a:solidFill>
                <a:srgbClr val="000000"/>
              </a:solidFill>
              <a:effectLst/>
              <a:uFillTx/>
              <a:latin typeface="Arial"/>
            </a:endParaRPr>
          </a:p>
        </p:txBody>
      </p:sp>
      <p:sp>
        <p:nvSpPr>
          <p:cNvPr id="219" name="Shape 17"/>
          <p:cNvSpPr/>
          <p:nvPr/>
        </p:nvSpPr>
        <p:spPr>
          <a:xfrm>
            <a:off x="5251320" y="1481400"/>
            <a:ext cx="1494000" cy="712800"/>
          </a:xfrm>
          <a:prstGeom prst="roundRect">
            <a:avLst>
              <a:gd name="adj" fmla="val 12821"/>
            </a:avLst>
          </a:prstGeom>
          <a:solidFill>
            <a:srgbClr val="1c69a2"/>
          </a:solidFill>
          <a:ln w="12700">
            <a:solidFill>
              <a:srgbClr val="1c69a2">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20" name="Text 18"/>
          <p:cNvSpPr/>
          <p:nvPr/>
        </p:nvSpPr>
        <p:spPr>
          <a:xfrm>
            <a:off x="5306040" y="1618560"/>
            <a:ext cx="1384200" cy="4568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50" strike="noStrike" u="none">
                <a:solidFill>
                  <a:srgbClr val="06172f"/>
                </a:solidFill>
                <a:effectLst/>
                <a:uFillTx/>
                <a:latin typeface="Aptos"/>
              </a:rPr>
              <a:t>Steam</a:t>
            </a:r>
            <a:endParaRPr b="0" lang="en-US" sz="1050" strike="noStrike" u="none">
              <a:solidFill>
                <a:srgbClr val="ffffff"/>
              </a:solidFill>
              <a:effectLst/>
              <a:uFillTx/>
              <a:latin typeface="Arial"/>
            </a:endParaRPr>
          </a:p>
          <a:p>
            <a:pPr algn="ctr" defTabSz="914400">
              <a:lnSpc>
                <a:spcPct val="100000"/>
              </a:lnSpc>
              <a:tabLst>
                <a:tab algn="l" pos="0"/>
              </a:tabLst>
            </a:pPr>
            <a:r>
              <a:rPr b="1" lang="en-US" sz="1050" strike="noStrike" u="none">
                <a:solidFill>
                  <a:srgbClr val="06172f"/>
                </a:solidFill>
                <a:effectLst/>
                <a:uFillTx/>
                <a:latin typeface="Aptos"/>
              </a:rPr>
              <a:t>Generator</a:t>
            </a:r>
            <a:endParaRPr b="0" lang="en-US" sz="1050" strike="noStrike" u="none">
              <a:solidFill>
                <a:srgbClr val="ffffff"/>
              </a:solidFill>
              <a:effectLst/>
              <a:uFillTx/>
              <a:latin typeface="Arial"/>
            </a:endParaRPr>
          </a:p>
        </p:txBody>
      </p:sp>
      <p:sp>
        <p:nvSpPr>
          <p:cNvPr id="221" name="Shape 19"/>
          <p:cNvSpPr/>
          <p:nvPr/>
        </p:nvSpPr>
        <p:spPr>
          <a:xfrm>
            <a:off x="6727320" y="1745280"/>
            <a:ext cx="164160" cy="177840"/>
          </a:xfrm>
          <a:prstGeom prst="rightArrow">
            <a:avLst>
              <a:gd name="adj1" fmla="val 50000"/>
              <a:gd name="adj2" fmla="val 50000"/>
            </a:avLst>
          </a:prstGeom>
          <a:solidFill>
            <a:srgbClr val="b0c1d5"/>
          </a:solidFill>
          <a:ln w="12700">
            <a:solidFill>
              <a:srgbClr val="b0c1d5">
                <a:alpha val="0"/>
              </a:srgbClr>
            </a:solidFill>
            <a:round/>
          </a:ln>
        </p:spPr>
        <p:style>
          <a:lnRef idx="0"/>
          <a:fillRef idx="0"/>
          <a:effectRef idx="0"/>
          <a:fontRef idx="minor"/>
        </p:style>
        <p:txBody>
          <a:bodyPr lIns="90000" rIns="90000" tIns="44280" bIns="44280" anchor="t">
            <a:noAutofit/>
          </a:bodyPr>
          <a:p>
            <a:endParaRPr b="0" lang="en-US" sz="1800" strike="noStrike" u="none">
              <a:solidFill>
                <a:srgbClr val="000000"/>
              </a:solidFill>
              <a:effectLst/>
              <a:uFillTx/>
              <a:latin typeface="Arial"/>
            </a:endParaRPr>
          </a:p>
        </p:txBody>
      </p:sp>
      <p:sp>
        <p:nvSpPr>
          <p:cNvPr id="222" name="Shape 20"/>
          <p:cNvSpPr/>
          <p:nvPr/>
        </p:nvSpPr>
        <p:spPr>
          <a:xfrm>
            <a:off x="6864480" y="1481400"/>
            <a:ext cx="1494000" cy="712800"/>
          </a:xfrm>
          <a:prstGeom prst="roundRect">
            <a:avLst>
              <a:gd name="adj" fmla="val 12821"/>
            </a:avLst>
          </a:prstGeom>
          <a:solidFill>
            <a:srgbClr val="f0be49"/>
          </a:solidFill>
          <a:ln w="12700">
            <a:solidFill>
              <a:srgbClr val="f0be49">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23" name="Text 21"/>
          <p:cNvSpPr/>
          <p:nvPr/>
        </p:nvSpPr>
        <p:spPr>
          <a:xfrm>
            <a:off x="6919560" y="1618560"/>
            <a:ext cx="1384200" cy="4568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50" strike="noStrike" u="none">
                <a:solidFill>
                  <a:srgbClr val="06172f"/>
                </a:solidFill>
                <a:effectLst/>
                <a:uFillTx/>
                <a:latin typeface="Aptos"/>
              </a:rPr>
              <a:t>Steam</a:t>
            </a:r>
            <a:endParaRPr b="0" lang="en-US" sz="1050" strike="noStrike" u="none">
              <a:solidFill>
                <a:srgbClr val="ffffff"/>
              </a:solidFill>
              <a:effectLst/>
              <a:uFillTx/>
              <a:latin typeface="Arial"/>
            </a:endParaRPr>
          </a:p>
          <a:p>
            <a:pPr algn="ctr" defTabSz="914400">
              <a:lnSpc>
                <a:spcPct val="100000"/>
              </a:lnSpc>
              <a:tabLst>
                <a:tab algn="l" pos="0"/>
              </a:tabLst>
            </a:pPr>
            <a:r>
              <a:rPr b="1" lang="en-US" sz="1050" strike="noStrike" u="none">
                <a:solidFill>
                  <a:srgbClr val="06172f"/>
                </a:solidFill>
                <a:effectLst/>
                <a:uFillTx/>
                <a:latin typeface="Aptos"/>
              </a:rPr>
              <a:t>Turbine</a:t>
            </a:r>
            <a:endParaRPr b="0" lang="en-US" sz="1050" strike="noStrike" u="none">
              <a:solidFill>
                <a:srgbClr val="ffffff"/>
              </a:solidFill>
              <a:effectLst/>
              <a:uFillTx/>
              <a:latin typeface="Arial"/>
            </a:endParaRPr>
          </a:p>
        </p:txBody>
      </p:sp>
      <p:sp>
        <p:nvSpPr>
          <p:cNvPr id="224" name="Shape 22"/>
          <p:cNvSpPr/>
          <p:nvPr/>
        </p:nvSpPr>
        <p:spPr>
          <a:xfrm>
            <a:off x="8340480" y="1745280"/>
            <a:ext cx="164160" cy="177840"/>
          </a:xfrm>
          <a:prstGeom prst="rightArrow">
            <a:avLst>
              <a:gd name="adj1" fmla="val 50000"/>
              <a:gd name="adj2" fmla="val 50000"/>
            </a:avLst>
          </a:prstGeom>
          <a:solidFill>
            <a:srgbClr val="b0c1d5"/>
          </a:solidFill>
          <a:ln w="12700">
            <a:solidFill>
              <a:srgbClr val="b0c1d5">
                <a:alpha val="0"/>
              </a:srgbClr>
            </a:solidFill>
            <a:round/>
          </a:ln>
        </p:spPr>
        <p:style>
          <a:lnRef idx="0"/>
          <a:fillRef idx="0"/>
          <a:effectRef idx="0"/>
          <a:fontRef idx="minor"/>
        </p:style>
        <p:txBody>
          <a:bodyPr lIns="90000" rIns="90000" tIns="44280" bIns="44280" anchor="t">
            <a:noAutofit/>
          </a:bodyPr>
          <a:p>
            <a:endParaRPr b="0" lang="en-US" sz="1800" strike="noStrike" u="none">
              <a:solidFill>
                <a:srgbClr val="000000"/>
              </a:solidFill>
              <a:effectLst/>
              <a:uFillTx/>
              <a:latin typeface="Arial"/>
            </a:endParaRPr>
          </a:p>
        </p:txBody>
      </p:sp>
      <p:sp>
        <p:nvSpPr>
          <p:cNvPr id="225" name="Shape 23"/>
          <p:cNvSpPr/>
          <p:nvPr/>
        </p:nvSpPr>
        <p:spPr>
          <a:xfrm>
            <a:off x="8477640" y="1481400"/>
            <a:ext cx="1494000" cy="712800"/>
          </a:xfrm>
          <a:prstGeom prst="roundRect">
            <a:avLst>
              <a:gd name="adj" fmla="val 12821"/>
            </a:avLst>
          </a:prstGeom>
          <a:solidFill>
            <a:srgbClr val="00b078"/>
          </a:solidFill>
          <a:ln w="12700">
            <a:solidFill>
              <a:srgbClr val="00b078">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26" name="Text 24"/>
          <p:cNvSpPr/>
          <p:nvPr/>
        </p:nvSpPr>
        <p:spPr>
          <a:xfrm>
            <a:off x="8532720" y="1618560"/>
            <a:ext cx="1384200" cy="4568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50" strike="noStrike" u="none">
                <a:solidFill>
                  <a:srgbClr val="06172f"/>
                </a:solidFill>
                <a:effectLst/>
                <a:uFillTx/>
                <a:latin typeface="Aptos"/>
              </a:rPr>
              <a:t>Generator</a:t>
            </a:r>
            <a:endParaRPr b="0" lang="en-US" sz="1050" strike="noStrike" u="none">
              <a:solidFill>
                <a:srgbClr val="ffffff"/>
              </a:solidFill>
              <a:effectLst/>
              <a:uFillTx/>
              <a:latin typeface="Arial"/>
            </a:endParaRPr>
          </a:p>
        </p:txBody>
      </p:sp>
      <p:sp>
        <p:nvSpPr>
          <p:cNvPr id="227" name="Shape 25"/>
          <p:cNvSpPr/>
          <p:nvPr/>
        </p:nvSpPr>
        <p:spPr>
          <a:xfrm>
            <a:off x="9954000" y="1745280"/>
            <a:ext cx="164160" cy="177840"/>
          </a:xfrm>
          <a:prstGeom prst="rightArrow">
            <a:avLst>
              <a:gd name="adj1" fmla="val 50000"/>
              <a:gd name="adj2" fmla="val 50000"/>
            </a:avLst>
          </a:prstGeom>
          <a:solidFill>
            <a:srgbClr val="b0c1d5"/>
          </a:solidFill>
          <a:ln w="12700">
            <a:solidFill>
              <a:srgbClr val="b0c1d5">
                <a:alpha val="0"/>
              </a:srgbClr>
            </a:solidFill>
            <a:round/>
          </a:ln>
        </p:spPr>
        <p:style>
          <a:lnRef idx="0"/>
          <a:fillRef idx="0"/>
          <a:effectRef idx="0"/>
          <a:fontRef idx="minor"/>
        </p:style>
        <p:txBody>
          <a:bodyPr lIns="90000" rIns="90000" tIns="44280" bIns="44280" anchor="t">
            <a:noAutofit/>
          </a:bodyPr>
          <a:p>
            <a:endParaRPr b="0" lang="en-US" sz="1800" strike="noStrike" u="none">
              <a:solidFill>
                <a:srgbClr val="000000"/>
              </a:solidFill>
              <a:effectLst/>
              <a:uFillTx/>
              <a:latin typeface="Arial"/>
            </a:endParaRPr>
          </a:p>
        </p:txBody>
      </p:sp>
      <p:sp>
        <p:nvSpPr>
          <p:cNvPr id="228" name="Shape 26"/>
          <p:cNvSpPr/>
          <p:nvPr/>
        </p:nvSpPr>
        <p:spPr>
          <a:xfrm>
            <a:off x="10091160" y="1481400"/>
            <a:ext cx="1494000" cy="712800"/>
          </a:xfrm>
          <a:prstGeom prst="roundRect">
            <a:avLst>
              <a:gd name="adj" fmla="val 12821"/>
            </a:avLst>
          </a:prstGeom>
          <a:solidFill>
            <a:srgbClr val="00b078"/>
          </a:solidFill>
          <a:ln w="12700">
            <a:solidFill>
              <a:srgbClr val="00b078">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29" name="Text 27"/>
          <p:cNvSpPr/>
          <p:nvPr/>
        </p:nvSpPr>
        <p:spPr>
          <a:xfrm>
            <a:off x="10145880" y="1618560"/>
            <a:ext cx="1384200" cy="4568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50" strike="noStrike" u="none">
                <a:solidFill>
                  <a:srgbClr val="06172f"/>
                </a:solidFill>
                <a:effectLst/>
                <a:uFillTx/>
                <a:latin typeface="Aptos"/>
              </a:rPr>
              <a:t>Electricity</a:t>
            </a:r>
            <a:endParaRPr b="0" lang="en-US" sz="1050" strike="noStrike" u="none">
              <a:solidFill>
                <a:srgbClr val="ffffff"/>
              </a:solidFill>
              <a:effectLst/>
              <a:uFillTx/>
              <a:latin typeface="Arial"/>
            </a:endParaRPr>
          </a:p>
        </p:txBody>
      </p:sp>
      <p:sp>
        <p:nvSpPr>
          <p:cNvPr id="230" name="Shape 28"/>
          <p:cNvSpPr/>
          <p:nvPr/>
        </p:nvSpPr>
        <p:spPr>
          <a:xfrm>
            <a:off x="685800" y="2834640"/>
            <a:ext cx="5074560" cy="1919880"/>
          </a:xfrm>
          <a:prstGeom prst="roundRect">
            <a:avLst>
              <a:gd name="adj" fmla="val 5714"/>
            </a:avLst>
          </a:prstGeom>
          <a:solidFill>
            <a:srgbClr val="0e2d4f">
              <a:alpha val="93000"/>
            </a:srgbClr>
          </a:solidFill>
          <a:ln w="12700">
            <a:solidFill>
              <a:srgbClr val="00b078">
                <a:alpha val="7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31" name="Text 29"/>
          <p:cNvSpPr/>
          <p:nvPr/>
        </p:nvSpPr>
        <p:spPr>
          <a:xfrm>
            <a:off x="850320" y="2953440"/>
            <a:ext cx="474552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50d69b"/>
                </a:solidFill>
                <a:effectLst/>
                <a:uFillTx/>
                <a:latin typeface="Aptos"/>
              </a:rPr>
              <a:t>PWR principle</a:t>
            </a:r>
            <a:endParaRPr b="0" lang="en-US" sz="1600" strike="noStrike" u="none">
              <a:solidFill>
                <a:srgbClr val="ffffff"/>
              </a:solidFill>
              <a:effectLst/>
              <a:uFillTx/>
              <a:latin typeface="Arial"/>
            </a:endParaRPr>
          </a:p>
        </p:txBody>
      </p:sp>
      <p:sp>
        <p:nvSpPr>
          <p:cNvPr id="232" name="Text 30"/>
          <p:cNvSpPr/>
          <p:nvPr/>
        </p:nvSpPr>
        <p:spPr>
          <a:xfrm>
            <a:off x="905400" y="3337560"/>
            <a:ext cx="4635720" cy="1352880"/>
          </a:xfrm>
          <a:prstGeom prst="rect">
            <a:avLst/>
          </a:prstGeom>
          <a:noFill/>
          <a:ln w="0">
            <a:noFill/>
          </a:ln>
        </p:spPr>
        <p:style>
          <a:lnRef idx="0"/>
          <a:fillRef idx="0"/>
          <a:effectRef idx="0"/>
          <a:fontRef idx="minor"/>
        </p:style>
        <p:txBody>
          <a:bodyPr lIns="1080" rIns="1080" tIns="1080" bIns="1080" anchor="t">
            <a:normAutofit/>
          </a:bodyPr>
          <a:p>
            <a:pPr defTabSz="914400">
              <a:lnSpc>
                <a:spcPct val="100000"/>
              </a:lnSpc>
            </a:pPr>
            <a:r>
              <a:rPr b="0" lang="en-US" sz="1300" strike="noStrike" u="none">
                <a:solidFill>
                  <a:srgbClr val="f5f8fc"/>
                </a:solidFill>
                <a:effectLst/>
                <a:uFillTx/>
                <a:latin typeface="Aptos"/>
                <a:ea typeface="Aptos"/>
              </a:rPr>
              <a:t>In a pressurized water reactor, heat generated in the reactor core is transferred through a closed water system to produce steam for the turbine-generator cycle.</a:t>
            </a:r>
            <a:endParaRPr b="0" lang="en-US" sz="1300" strike="noStrike" u="none">
              <a:solidFill>
                <a:srgbClr val="ffffff"/>
              </a:solidFill>
              <a:effectLst/>
              <a:uFillTx/>
              <a:latin typeface="Arial"/>
            </a:endParaRPr>
          </a:p>
        </p:txBody>
      </p:sp>
      <p:sp>
        <p:nvSpPr>
          <p:cNvPr id="233" name="Shape 31"/>
          <p:cNvSpPr/>
          <p:nvPr/>
        </p:nvSpPr>
        <p:spPr>
          <a:xfrm>
            <a:off x="6355080" y="2834640"/>
            <a:ext cx="5074560" cy="1919880"/>
          </a:xfrm>
          <a:prstGeom prst="roundRect">
            <a:avLst>
              <a:gd name="adj" fmla="val 5714"/>
            </a:avLst>
          </a:prstGeom>
          <a:solidFill>
            <a:srgbClr val="0e2d4f">
              <a:alpha val="93000"/>
            </a:srgbClr>
          </a:solidFill>
          <a:ln w="12700">
            <a:solidFill>
              <a:srgbClr val="5bd2ff">
                <a:alpha val="7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34" name="Text 32"/>
          <p:cNvSpPr/>
          <p:nvPr/>
        </p:nvSpPr>
        <p:spPr>
          <a:xfrm>
            <a:off x="6519600" y="2953440"/>
            <a:ext cx="474552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50d69b"/>
                </a:solidFill>
                <a:effectLst/>
                <a:uFillTx/>
                <a:latin typeface="Aptos"/>
              </a:rPr>
              <a:t>EIA relevance</a:t>
            </a:r>
            <a:endParaRPr b="0" lang="en-US" sz="1600" strike="noStrike" u="none">
              <a:solidFill>
                <a:srgbClr val="ffffff"/>
              </a:solidFill>
              <a:effectLst/>
              <a:uFillTx/>
              <a:latin typeface="Arial"/>
            </a:endParaRPr>
          </a:p>
        </p:txBody>
      </p:sp>
      <p:sp>
        <p:nvSpPr>
          <p:cNvPr id="235" name="Text 33"/>
          <p:cNvSpPr/>
          <p:nvPr/>
        </p:nvSpPr>
        <p:spPr>
          <a:xfrm>
            <a:off x="6574680" y="3337560"/>
            <a:ext cx="4635720" cy="1352880"/>
          </a:xfrm>
          <a:prstGeom prst="rect">
            <a:avLst/>
          </a:prstGeom>
          <a:noFill/>
          <a:ln w="0">
            <a:noFill/>
          </a:ln>
        </p:spPr>
        <p:style>
          <a:lnRef idx="0"/>
          <a:fillRef idx="0"/>
          <a:effectRef idx="0"/>
          <a:fontRef idx="minor"/>
        </p:style>
        <p:txBody>
          <a:bodyPr lIns="1080" rIns="1080" tIns="1080" bIns="1080" anchor="t">
            <a:normAutofit/>
          </a:bodyPr>
          <a:p>
            <a:pPr defTabSz="914400">
              <a:lnSpc>
                <a:spcPct val="100000"/>
              </a:lnSpc>
            </a:pPr>
            <a:r>
              <a:rPr b="0" lang="en-US" sz="1300" strike="noStrike" u="none">
                <a:solidFill>
                  <a:srgbClr val="f5f8fc"/>
                </a:solidFill>
                <a:effectLst/>
                <a:uFillTx/>
                <a:latin typeface="Aptos"/>
                <a:ea typeface="Aptos"/>
              </a:rPr>
              <a:t>Understanding the reactor system helps identify heat pathways, cooling-water requirements, radioactive inventory and engineered safety barriers.</a:t>
            </a:r>
            <a:endParaRPr b="0" lang="en-US" sz="1300" strike="noStrike" u="none">
              <a:solidFill>
                <a:srgbClr val="ffffff"/>
              </a:solidFill>
              <a:effectLst/>
              <a:uFillTx/>
              <a:latin typeface="Arial"/>
            </a:endParaRPr>
          </a:p>
        </p:txBody>
      </p:sp>
      <p:sp>
        <p:nvSpPr>
          <p:cNvPr id="236" name="Shape 34"/>
          <p:cNvSpPr/>
          <p:nvPr/>
        </p:nvSpPr>
        <p:spPr>
          <a:xfrm>
            <a:off x="1828800" y="5166360"/>
            <a:ext cx="2102760" cy="776880"/>
          </a:xfrm>
          <a:prstGeom prst="roundRect">
            <a:avLst>
              <a:gd name="adj" fmla="val 14118"/>
            </a:avLst>
          </a:prstGeom>
          <a:solidFill>
            <a:srgbClr val="0a3455">
              <a:alpha val="95000"/>
            </a:srgbClr>
          </a:solidFill>
          <a:ln w="12700">
            <a:solidFill>
              <a:srgbClr val="f0be49">
                <a:alpha val="7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37" name="Text 35"/>
          <p:cNvSpPr/>
          <p:nvPr/>
        </p:nvSpPr>
        <p:spPr>
          <a:xfrm>
            <a:off x="1874520" y="5303520"/>
            <a:ext cx="2011320" cy="347040"/>
          </a:xfrm>
          <a:prstGeom prst="rect">
            <a:avLst/>
          </a:prstGeom>
          <a:noFill/>
          <a:ln w="0">
            <a:noFill/>
          </a:ln>
        </p:spPr>
        <p:style>
          <a:lnRef idx="0"/>
          <a:fillRef idx="0"/>
          <a:effectRef idx="0"/>
          <a:fontRef idx="minor"/>
        </p:style>
        <p:txBody>
          <a:bodyPr lIns="0" rIns="0" tIns="0" bIns="0" anchor="ctr">
            <a:normAutofit lnSpcReduction="9999"/>
          </a:bodyPr>
          <a:p>
            <a:pPr algn="ctr" defTabSz="914400">
              <a:lnSpc>
                <a:spcPct val="100000"/>
              </a:lnSpc>
              <a:tabLst>
                <a:tab algn="l" pos="0"/>
              </a:tabLst>
            </a:pPr>
            <a:r>
              <a:rPr b="1" lang="en-US" sz="2300" strike="noStrike" u="none">
                <a:solidFill>
                  <a:srgbClr val="f0be49"/>
                </a:solidFill>
                <a:effectLst/>
                <a:uFillTx/>
                <a:latin typeface="Aptos"/>
              </a:rPr>
              <a:t>Heat</a:t>
            </a:r>
            <a:endParaRPr b="0" lang="en-US" sz="2300" strike="noStrike" u="none">
              <a:solidFill>
                <a:srgbClr val="ffffff"/>
              </a:solidFill>
              <a:effectLst/>
              <a:uFillTx/>
              <a:latin typeface="Arial"/>
            </a:endParaRPr>
          </a:p>
        </p:txBody>
      </p:sp>
      <p:sp>
        <p:nvSpPr>
          <p:cNvPr id="238" name="Text 36"/>
          <p:cNvSpPr/>
          <p:nvPr/>
        </p:nvSpPr>
        <p:spPr>
          <a:xfrm>
            <a:off x="1938600" y="5760720"/>
            <a:ext cx="1883160" cy="136800"/>
          </a:xfrm>
          <a:prstGeom prst="rect">
            <a:avLst/>
          </a:prstGeom>
          <a:noFill/>
          <a:ln w="0">
            <a:noFill/>
          </a:ln>
        </p:spPr>
        <p:style>
          <a:lnRef idx="0"/>
          <a:fillRef idx="0"/>
          <a:effectRef idx="0"/>
          <a:fontRef idx="minor"/>
        </p:style>
        <p:txBody>
          <a:bodyPr lIns="0" rIns="0" tIns="0" bIns="0" anchor="ctr">
            <a:normAutofit lnSpcReduction="9999"/>
          </a:bodyPr>
          <a:p>
            <a:pPr algn="ctr" defTabSz="914400">
              <a:lnSpc>
                <a:spcPct val="100000"/>
              </a:lnSpc>
              <a:tabLst>
                <a:tab algn="l" pos="0"/>
              </a:tabLst>
            </a:pPr>
            <a:r>
              <a:rPr b="0" lang="en-US" sz="980" strike="noStrike" u="none">
                <a:solidFill>
                  <a:srgbClr val="b0c1d5"/>
                </a:solidFill>
                <a:effectLst/>
                <a:uFillTx/>
                <a:latin typeface="Aptos"/>
              </a:rPr>
              <a:t>Main energy transfer</a:t>
            </a:r>
            <a:endParaRPr b="0" lang="en-US" sz="980" strike="noStrike" u="none">
              <a:solidFill>
                <a:srgbClr val="ffffff"/>
              </a:solidFill>
              <a:effectLst/>
              <a:uFillTx/>
              <a:latin typeface="Arial"/>
            </a:endParaRPr>
          </a:p>
        </p:txBody>
      </p:sp>
      <p:sp>
        <p:nvSpPr>
          <p:cNvPr id="239" name="Shape 37"/>
          <p:cNvSpPr/>
          <p:nvPr/>
        </p:nvSpPr>
        <p:spPr>
          <a:xfrm>
            <a:off x="5074920" y="5166360"/>
            <a:ext cx="2102760" cy="776880"/>
          </a:xfrm>
          <a:prstGeom prst="roundRect">
            <a:avLst>
              <a:gd name="adj" fmla="val 14118"/>
            </a:avLst>
          </a:prstGeom>
          <a:solidFill>
            <a:srgbClr val="0a3455">
              <a:alpha val="95000"/>
            </a:srgbClr>
          </a:solidFill>
          <a:ln w="12700">
            <a:solidFill>
              <a:srgbClr val="50d69b">
                <a:alpha val="7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40" name="Text 38"/>
          <p:cNvSpPr/>
          <p:nvPr/>
        </p:nvSpPr>
        <p:spPr>
          <a:xfrm>
            <a:off x="5120640" y="5303520"/>
            <a:ext cx="2011320" cy="347040"/>
          </a:xfrm>
          <a:prstGeom prst="rect">
            <a:avLst/>
          </a:prstGeom>
          <a:noFill/>
          <a:ln w="0">
            <a:noFill/>
          </a:ln>
        </p:spPr>
        <p:style>
          <a:lnRef idx="0"/>
          <a:fillRef idx="0"/>
          <a:effectRef idx="0"/>
          <a:fontRef idx="minor"/>
        </p:style>
        <p:txBody>
          <a:bodyPr lIns="0" rIns="0" tIns="0" bIns="0" anchor="ctr">
            <a:normAutofit lnSpcReduction="9999"/>
          </a:bodyPr>
          <a:p>
            <a:pPr algn="ctr" defTabSz="914400">
              <a:lnSpc>
                <a:spcPct val="100000"/>
              </a:lnSpc>
              <a:tabLst>
                <a:tab algn="l" pos="0"/>
              </a:tabLst>
            </a:pPr>
            <a:r>
              <a:rPr b="1" lang="en-US" sz="2300" strike="noStrike" u="none">
                <a:solidFill>
                  <a:srgbClr val="50d69b"/>
                </a:solidFill>
                <a:effectLst/>
                <a:uFillTx/>
                <a:latin typeface="Aptos"/>
              </a:rPr>
              <a:t>Steam</a:t>
            </a:r>
            <a:endParaRPr b="0" lang="en-US" sz="2300" strike="noStrike" u="none">
              <a:solidFill>
                <a:srgbClr val="ffffff"/>
              </a:solidFill>
              <a:effectLst/>
              <a:uFillTx/>
              <a:latin typeface="Arial"/>
            </a:endParaRPr>
          </a:p>
        </p:txBody>
      </p:sp>
      <p:sp>
        <p:nvSpPr>
          <p:cNvPr id="241" name="Text 39"/>
          <p:cNvSpPr/>
          <p:nvPr/>
        </p:nvSpPr>
        <p:spPr>
          <a:xfrm>
            <a:off x="5184720" y="5760720"/>
            <a:ext cx="1883160" cy="136800"/>
          </a:xfrm>
          <a:prstGeom prst="rect">
            <a:avLst/>
          </a:prstGeom>
          <a:noFill/>
          <a:ln w="0">
            <a:noFill/>
          </a:ln>
        </p:spPr>
        <p:style>
          <a:lnRef idx="0"/>
          <a:fillRef idx="0"/>
          <a:effectRef idx="0"/>
          <a:fontRef idx="minor"/>
        </p:style>
        <p:txBody>
          <a:bodyPr lIns="0" rIns="0" tIns="0" bIns="0" anchor="ctr">
            <a:normAutofit lnSpcReduction="9999"/>
          </a:bodyPr>
          <a:p>
            <a:pPr algn="ctr" defTabSz="914400">
              <a:lnSpc>
                <a:spcPct val="100000"/>
              </a:lnSpc>
              <a:tabLst>
                <a:tab algn="l" pos="0"/>
              </a:tabLst>
            </a:pPr>
            <a:r>
              <a:rPr b="0" lang="en-US" sz="980" strike="noStrike" u="none">
                <a:solidFill>
                  <a:srgbClr val="b0c1d5"/>
                </a:solidFill>
                <a:effectLst/>
                <a:uFillTx/>
                <a:latin typeface="Aptos"/>
              </a:rPr>
              <a:t>Turbine driver</a:t>
            </a:r>
            <a:endParaRPr b="0" lang="en-US" sz="980" strike="noStrike" u="none">
              <a:solidFill>
                <a:srgbClr val="ffffff"/>
              </a:solidFill>
              <a:effectLst/>
              <a:uFillTx/>
              <a:latin typeface="Arial"/>
            </a:endParaRPr>
          </a:p>
        </p:txBody>
      </p:sp>
      <p:sp>
        <p:nvSpPr>
          <p:cNvPr id="242" name="Shape 40"/>
          <p:cNvSpPr/>
          <p:nvPr/>
        </p:nvSpPr>
        <p:spPr>
          <a:xfrm>
            <a:off x="8321040" y="5166360"/>
            <a:ext cx="2102760" cy="776880"/>
          </a:xfrm>
          <a:prstGeom prst="roundRect">
            <a:avLst>
              <a:gd name="adj" fmla="val 14118"/>
            </a:avLst>
          </a:prstGeom>
          <a:solidFill>
            <a:srgbClr val="0a3455">
              <a:alpha val="95000"/>
            </a:srgbClr>
          </a:solidFill>
          <a:ln w="12700">
            <a:solidFill>
              <a:srgbClr val="5bd2ff">
                <a:alpha val="7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43" name="Text 41"/>
          <p:cNvSpPr/>
          <p:nvPr/>
        </p:nvSpPr>
        <p:spPr>
          <a:xfrm>
            <a:off x="8366760" y="5303520"/>
            <a:ext cx="2011320" cy="347040"/>
          </a:xfrm>
          <a:prstGeom prst="rect">
            <a:avLst/>
          </a:prstGeom>
          <a:noFill/>
          <a:ln w="0">
            <a:noFill/>
          </a:ln>
        </p:spPr>
        <p:style>
          <a:lnRef idx="0"/>
          <a:fillRef idx="0"/>
          <a:effectRef idx="0"/>
          <a:fontRef idx="minor"/>
        </p:style>
        <p:txBody>
          <a:bodyPr lIns="0" rIns="0" tIns="0" bIns="0" anchor="ctr">
            <a:normAutofit lnSpcReduction="9999"/>
          </a:bodyPr>
          <a:p>
            <a:pPr algn="ctr" defTabSz="914400">
              <a:lnSpc>
                <a:spcPct val="100000"/>
              </a:lnSpc>
              <a:tabLst>
                <a:tab algn="l" pos="0"/>
              </a:tabLst>
            </a:pPr>
            <a:r>
              <a:rPr b="1" lang="en-US" sz="2300" strike="noStrike" u="none">
                <a:solidFill>
                  <a:srgbClr val="5bd2ff"/>
                </a:solidFill>
                <a:effectLst/>
                <a:uFillTx/>
                <a:latin typeface="Aptos"/>
              </a:rPr>
              <a:t>Electricity</a:t>
            </a:r>
            <a:endParaRPr b="0" lang="en-US" sz="2300" strike="noStrike" u="none">
              <a:solidFill>
                <a:srgbClr val="ffffff"/>
              </a:solidFill>
              <a:effectLst/>
              <a:uFillTx/>
              <a:latin typeface="Arial"/>
            </a:endParaRPr>
          </a:p>
        </p:txBody>
      </p:sp>
      <p:sp>
        <p:nvSpPr>
          <p:cNvPr id="244" name="Text 42"/>
          <p:cNvSpPr/>
          <p:nvPr/>
        </p:nvSpPr>
        <p:spPr>
          <a:xfrm>
            <a:off x="8430840" y="5760720"/>
            <a:ext cx="1883160" cy="136800"/>
          </a:xfrm>
          <a:prstGeom prst="rect">
            <a:avLst/>
          </a:prstGeom>
          <a:noFill/>
          <a:ln w="0">
            <a:noFill/>
          </a:ln>
        </p:spPr>
        <p:style>
          <a:lnRef idx="0"/>
          <a:fillRef idx="0"/>
          <a:effectRef idx="0"/>
          <a:fontRef idx="minor"/>
        </p:style>
        <p:txBody>
          <a:bodyPr lIns="0" rIns="0" tIns="0" bIns="0" anchor="ctr">
            <a:normAutofit lnSpcReduction="9999"/>
          </a:bodyPr>
          <a:p>
            <a:pPr algn="ctr" defTabSz="914400">
              <a:lnSpc>
                <a:spcPct val="100000"/>
              </a:lnSpc>
              <a:tabLst>
                <a:tab algn="l" pos="0"/>
              </a:tabLst>
            </a:pPr>
            <a:r>
              <a:rPr b="0" lang="en-US" sz="980" strike="noStrike" u="none">
                <a:solidFill>
                  <a:srgbClr val="b0c1d5"/>
                </a:solidFill>
                <a:effectLst/>
                <a:uFillTx/>
                <a:latin typeface="Aptos"/>
              </a:rPr>
              <a:t>Grid output</a:t>
            </a:r>
            <a:endParaRPr b="0" lang="en-US" sz="980" strike="noStrike" u="none">
              <a:solidFill>
                <a:srgbClr val="ffffff"/>
              </a:solidFill>
              <a:effectLst/>
              <a:uFillTx/>
              <a:latin typeface="Arial"/>
            </a:endParaRPr>
          </a:p>
        </p:txBody>
      </p:sp>
    </p:spTree>
  </p:cSld>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6172f"/>
        </a:solidFill>
      </p:bgPr>
    </p:bg>
    <p:spTree>
      <p:nvGrpSpPr>
        <p:cNvPr id="1" name=""/>
        <p:cNvGrpSpPr/>
        <p:nvPr/>
      </p:nvGrpSpPr>
      <p:grpSpPr>
        <a:xfrm>
          <a:off x="0" y="0"/>
          <a:ext cx="0" cy="0"/>
          <a:chOff x="0" y="0"/>
          <a:chExt cx="0" cy="0"/>
        </a:xfrm>
      </p:grpSpPr>
      <p:sp>
        <p:nvSpPr>
          <p:cNvPr id="245" name="Shape 0"/>
          <p:cNvSpPr/>
          <p:nvPr/>
        </p:nvSpPr>
        <p:spPr>
          <a:xfrm>
            <a:off x="0" y="0"/>
            <a:ext cx="12191400" cy="6857640"/>
          </a:xfrm>
          <a:prstGeom prst="rect">
            <a:avLst/>
          </a:prstGeom>
          <a:solidFill>
            <a:srgbClr val="06172f"/>
          </a:solidFill>
          <a:ln w="12700">
            <a:solidFill>
              <a:srgbClr val="06172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46" name="Shape 1"/>
          <p:cNvSpPr/>
          <p:nvPr/>
        </p:nvSpPr>
        <p:spPr>
          <a:xfrm>
            <a:off x="7680960" y="-1005840"/>
            <a:ext cx="4388760" cy="2925720"/>
          </a:xfrm>
          <a:prstGeom prst="arc">
            <a:avLst>
              <a:gd name="adj1" fmla="val 16200000"/>
              <a:gd name="adj2" fmla="val 0"/>
            </a:avLst>
          </a:prstGeom>
          <a:solidFill>
            <a:srgbClr val="0e3a68">
              <a:alpha val="75000"/>
            </a:srgbClr>
          </a:solidFill>
          <a:ln w="12700">
            <a:solidFill>
              <a:srgbClr val="0e3a68">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47" name="Shape 2"/>
          <p:cNvSpPr/>
          <p:nvPr/>
        </p:nvSpPr>
        <p:spPr>
          <a:xfrm>
            <a:off x="8778240" y="-777240"/>
            <a:ext cx="3474360" cy="2285640"/>
          </a:xfrm>
          <a:prstGeom prst="arc">
            <a:avLst>
              <a:gd name="adj1" fmla="val 16200000"/>
              <a:gd name="adj2" fmla="val 0"/>
            </a:avLst>
          </a:prstGeom>
          <a:solidFill>
            <a:srgbClr val="0b4d5e">
              <a:alpha val="65000"/>
            </a:srgbClr>
          </a:solidFill>
          <a:ln w="12700">
            <a:solidFill>
              <a:srgbClr val="0b4d5e">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48" name="Shape 3"/>
          <p:cNvSpPr/>
          <p:nvPr/>
        </p:nvSpPr>
        <p:spPr>
          <a:xfrm>
            <a:off x="0" y="0"/>
            <a:ext cx="109440" cy="6857640"/>
          </a:xfrm>
          <a:prstGeom prst="rect">
            <a:avLst/>
          </a:prstGeom>
          <a:solidFill>
            <a:srgbClr val="00b078"/>
          </a:solidFill>
          <a:ln w="12700">
            <a:solidFill>
              <a:srgbClr val="00b078">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49" name="Shape 4"/>
          <p:cNvSpPr/>
          <p:nvPr/>
        </p:nvSpPr>
        <p:spPr>
          <a:xfrm>
            <a:off x="320040" y="6565320"/>
            <a:ext cx="11521080" cy="16200"/>
          </a:xfrm>
          <a:prstGeom prst="rect">
            <a:avLst/>
          </a:prstGeom>
          <a:solidFill>
            <a:srgbClr val="435d78"/>
          </a:solidFill>
          <a:ln w="12700">
            <a:solidFill>
              <a:srgbClr val="435d78">
                <a:alpha val="0"/>
              </a:srgbClr>
            </a:solidFill>
            <a:round/>
          </a:ln>
        </p:spPr>
        <p:style>
          <a:lnRef idx="0"/>
          <a:fillRef idx="0"/>
          <a:effectRef idx="0"/>
          <a:fontRef idx="minor"/>
        </p:style>
        <p:txBody>
          <a:bodyPr lIns="90000" rIns="90000" tIns="-28440" bIns="-28440" anchor="t">
            <a:noAutofit/>
          </a:bodyPr>
          <a:p>
            <a:endParaRPr b="0" lang="en-US" sz="1800" strike="noStrike" u="none">
              <a:solidFill>
                <a:srgbClr val="ffffff"/>
              </a:solidFill>
              <a:effectLst/>
              <a:uFillTx/>
              <a:latin typeface="Arial"/>
            </a:endParaRPr>
          </a:p>
        </p:txBody>
      </p:sp>
      <p:sp>
        <p:nvSpPr>
          <p:cNvPr id="250" name="Text 5"/>
          <p:cNvSpPr/>
          <p:nvPr/>
        </p:nvSpPr>
        <p:spPr>
          <a:xfrm>
            <a:off x="11356920" y="6602040"/>
            <a:ext cx="502560" cy="13680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50" strike="noStrike" u="none">
                <a:solidFill>
                  <a:srgbClr val="b0c1d5"/>
                </a:solidFill>
                <a:effectLst/>
                <a:uFillTx/>
                <a:latin typeface="Aptos"/>
                <a:ea typeface="Aptos"/>
              </a:rPr>
              <a:t>10</a:t>
            </a:r>
            <a:endParaRPr b="0" lang="en-US" sz="950" strike="noStrike" u="none">
              <a:solidFill>
                <a:srgbClr val="ffffff"/>
              </a:solidFill>
              <a:effectLst/>
              <a:uFillTx/>
              <a:latin typeface="Arial"/>
            </a:endParaRPr>
          </a:p>
        </p:txBody>
      </p:sp>
      <p:sp>
        <p:nvSpPr>
          <p:cNvPr id="251" name="Text 6"/>
          <p:cNvSpPr/>
          <p:nvPr/>
        </p:nvSpPr>
        <p:spPr>
          <a:xfrm>
            <a:off x="475560" y="228600"/>
            <a:ext cx="10972440" cy="383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500" strike="noStrike" u="none">
                <a:solidFill>
                  <a:srgbClr val="f5f8fc"/>
                </a:solidFill>
                <a:effectLst/>
                <a:uFillTx/>
                <a:latin typeface="Aptos Display"/>
                <a:ea typeface="Aptos Display"/>
              </a:rPr>
              <a:t>Fuel Assemblies and Reactor Core</a:t>
            </a:r>
            <a:endParaRPr b="0" lang="en-US" sz="2500" strike="noStrike" u="none">
              <a:solidFill>
                <a:srgbClr val="ffffff"/>
              </a:solidFill>
              <a:effectLst/>
              <a:uFillTx/>
              <a:latin typeface="Arial"/>
            </a:endParaRPr>
          </a:p>
        </p:txBody>
      </p:sp>
      <p:sp>
        <p:nvSpPr>
          <p:cNvPr id="252" name="Text 7"/>
          <p:cNvSpPr/>
          <p:nvPr/>
        </p:nvSpPr>
        <p:spPr>
          <a:xfrm>
            <a:off x="502920" y="704160"/>
            <a:ext cx="10835280" cy="255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50" strike="noStrike" u="none">
                <a:solidFill>
                  <a:srgbClr val="b0c1d5"/>
                </a:solidFill>
                <a:effectLst/>
                <a:uFillTx/>
                <a:latin typeface="Aptos"/>
              </a:rPr>
              <a:t>Where nuclear heat is produced</a:t>
            </a:r>
            <a:endParaRPr b="0" lang="en-US" sz="1250" strike="noStrike" u="none">
              <a:solidFill>
                <a:srgbClr val="ffffff"/>
              </a:solidFill>
              <a:effectLst/>
              <a:uFillTx/>
              <a:latin typeface="Arial"/>
            </a:endParaRPr>
          </a:p>
        </p:txBody>
      </p:sp>
      <p:sp>
        <p:nvSpPr>
          <p:cNvPr id="253" name="Shape 8"/>
          <p:cNvSpPr/>
          <p:nvPr/>
        </p:nvSpPr>
        <p:spPr>
          <a:xfrm>
            <a:off x="731520" y="1234440"/>
            <a:ext cx="4800240" cy="4480200"/>
          </a:xfrm>
          <a:prstGeom prst="roundRect">
            <a:avLst>
              <a:gd name="adj" fmla="val 2449"/>
            </a:avLst>
          </a:prstGeom>
          <a:solidFill>
            <a:srgbClr val="00b078">
              <a:alpha val="95000"/>
            </a:srgbClr>
          </a:solidFill>
          <a:ln w="12700">
            <a:solidFill>
              <a:srgbClr val="00b078">
                <a:alpha val="7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54" name="Shape 9"/>
          <p:cNvSpPr/>
          <p:nvPr/>
        </p:nvSpPr>
        <p:spPr>
          <a:xfrm>
            <a:off x="1143000" y="1874520"/>
            <a:ext cx="209880" cy="209880"/>
          </a:xfrm>
          <a:prstGeom prst="ellipse">
            <a:avLst/>
          </a:prstGeom>
          <a:solidFill>
            <a:srgbClr val="5bd2ff">
              <a:alpha val="97000"/>
            </a:srgbClr>
          </a:solidFill>
          <a:ln w="6350">
            <a:solidFill>
              <a:srgbClr val="06172f"/>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55" name="Shape 10"/>
          <p:cNvSpPr/>
          <p:nvPr/>
        </p:nvSpPr>
        <p:spPr>
          <a:xfrm>
            <a:off x="1143000" y="2286000"/>
            <a:ext cx="209880" cy="209880"/>
          </a:xfrm>
          <a:prstGeom prst="ellipse">
            <a:avLst/>
          </a:prstGeom>
          <a:solidFill>
            <a:srgbClr val="50d69b">
              <a:alpha val="97000"/>
            </a:srgbClr>
          </a:solidFill>
          <a:ln w="6350">
            <a:solidFill>
              <a:srgbClr val="06172f"/>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56" name="Shape 11"/>
          <p:cNvSpPr/>
          <p:nvPr/>
        </p:nvSpPr>
        <p:spPr>
          <a:xfrm>
            <a:off x="1143000" y="2697480"/>
            <a:ext cx="209880" cy="209880"/>
          </a:xfrm>
          <a:prstGeom prst="ellipse">
            <a:avLst/>
          </a:prstGeom>
          <a:solidFill>
            <a:srgbClr val="5bd2ff">
              <a:alpha val="97000"/>
            </a:srgbClr>
          </a:solidFill>
          <a:ln w="6350">
            <a:solidFill>
              <a:srgbClr val="06172f"/>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57" name="Shape 12"/>
          <p:cNvSpPr/>
          <p:nvPr/>
        </p:nvSpPr>
        <p:spPr>
          <a:xfrm>
            <a:off x="1143000" y="3108960"/>
            <a:ext cx="209880" cy="209880"/>
          </a:xfrm>
          <a:prstGeom prst="ellipse">
            <a:avLst/>
          </a:prstGeom>
          <a:solidFill>
            <a:srgbClr val="50d69b">
              <a:alpha val="97000"/>
            </a:srgbClr>
          </a:solidFill>
          <a:ln w="6350">
            <a:solidFill>
              <a:srgbClr val="06172f"/>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58" name="Shape 13"/>
          <p:cNvSpPr/>
          <p:nvPr/>
        </p:nvSpPr>
        <p:spPr>
          <a:xfrm>
            <a:off x="1143000" y="3520440"/>
            <a:ext cx="209880" cy="209880"/>
          </a:xfrm>
          <a:prstGeom prst="ellipse">
            <a:avLst/>
          </a:prstGeom>
          <a:solidFill>
            <a:srgbClr val="5bd2ff">
              <a:alpha val="97000"/>
            </a:srgbClr>
          </a:solidFill>
          <a:ln w="6350">
            <a:solidFill>
              <a:srgbClr val="06172f"/>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59" name="Shape 14"/>
          <p:cNvSpPr/>
          <p:nvPr/>
        </p:nvSpPr>
        <p:spPr>
          <a:xfrm>
            <a:off x="1581840" y="1874520"/>
            <a:ext cx="209880" cy="209880"/>
          </a:xfrm>
          <a:prstGeom prst="ellipse">
            <a:avLst/>
          </a:prstGeom>
          <a:solidFill>
            <a:srgbClr val="50d69b">
              <a:alpha val="97000"/>
            </a:srgbClr>
          </a:solidFill>
          <a:ln w="6350">
            <a:solidFill>
              <a:srgbClr val="06172f"/>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60" name="Shape 15"/>
          <p:cNvSpPr/>
          <p:nvPr/>
        </p:nvSpPr>
        <p:spPr>
          <a:xfrm>
            <a:off x="1581840" y="2286000"/>
            <a:ext cx="209880" cy="209880"/>
          </a:xfrm>
          <a:prstGeom prst="ellipse">
            <a:avLst/>
          </a:prstGeom>
          <a:solidFill>
            <a:srgbClr val="5bd2ff">
              <a:alpha val="97000"/>
            </a:srgbClr>
          </a:solidFill>
          <a:ln w="6350">
            <a:solidFill>
              <a:srgbClr val="06172f"/>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61" name="Shape 16"/>
          <p:cNvSpPr/>
          <p:nvPr/>
        </p:nvSpPr>
        <p:spPr>
          <a:xfrm>
            <a:off x="1581840" y="2697480"/>
            <a:ext cx="209880" cy="209880"/>
          </a:xfrm>
          <a:prstGeom prst="ellipse">
            <a:avLst/>
          </a:prstGeom>
          <a:solidFill>
            <a:srgbClr val="50d69b">
              <a:alpha val="97000"/>
            </a:srgbClr>
          </a:solidFill>
          <a:ln w="6350">
            <a:solidFill>
              <a:srgbClr val="06172f"/>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62" name="Shape 17"/>
          <p:cNvSpPr/>
          <p:nvPr/>
        </p:nvSpPr>
        <p:spPr>
          <a:xfrm>
            <a:off x="1581840" y="3108960"/>
            <a:ext cx="209880" cy="209880"/>
          </a:xfrm>
          <a:prstGeom prst="ellipse">
            <a:avLst/>
          </a:prstGeom>
          <a:solidFill>
            <a:srgbClr val="5bd2ff">
              <a:alpha val="97000"/>
            </a:srgbClr>
          </a:solidFill>
          <a:ln w="6350">
            <a:solidFill>
              <a:srgbClr val="06172f"/>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63" name="Shape 18"/>
          <p:cNvSpPr/>
          <p:nvPr/>
        </p:nvSpPr>
        <p:spPr>
          <a:xfrm>
            <a:off x="1581840" y="3520440"/>
            <a:ext cx="209880" cy="209880"/>
          </a:xfrm>
          <a:prstGeom prst="ellipse">
            <a:avLst/>
          </a:prstGeom>
          <a:solidFill>
            <a:srgbClr val="50d69b">
              <a:alpha val="97000"/>
            </a:srgbClr>
          </a:solidFill>
          <a:ln w="6350">
            <a:solidFill>
              <a:srgbClr val="06172f"/>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64" name="Shape 19"/>
          <p:cNvSpPr/>
          <p:nvPr/>
        </p:nvSpPr>
        <p:spPr>
          <a:xfrm>
            <a:off x="2020680" y="1874520"/>
            <a:ext cx="209880" cy="209880"/>
          </a:xfrm>
          <a:prstGeom prst="ellipse">
            <a:avLst/>
          </a:prstGeom>
          <a:solidFill>
            <a:srgbClr val="5bd2ff">
              <a:alpha val="97000"/>
            </a:srgbClr>
          </a:solidFill>
          <a:ln w="6350">
            <a:solidFill>
              <a:srgbClr val="06172f"/>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65" name="Shape 20"/>
          <p:cNvSpPr/>
          <p:nvPr/>
        </p:nvSpPr>
        <p:spPr>
          <a:xfrm>
            <a:off x="2020680" y="2286000"/>
            <a:ext cx="209880" cy="209880"/>
          </a:xfrm>
          <a:prstGeom prst="ellipse">
            <a:avLst/>
          </a:prstGeom>
          <a:solidFill>
            <a:srgbClr val="50d69b">
              <a:alpha val="97000"/>
            </a:srgbClr>
          </a:solidFill>
          <a:ln w="6350">
            <a:solidFill>
              <a:srgbClr val="06172f"/>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66" name="Shape 21"/>
          <p:cNvSpPr/>
          <p:nvPr/>
        </p:nvSpPr>
        <p:spPr>
          <a:xfrm>
            <a:off x="2020680" y="2697480"/>
            <a:ext cx="209880" cy="209880"/>
          </a:xfrm>
          <a:prstGeom prst="ellipse">
            <a:avLst/>
          </a:prstGeom>
          <a:solidFill>
            <a:srgbClr val="5bd2ff">
              <a:alpha val="97000"/>
            </a:srgbClr>
          </a:solidFill>
          <a:ln w="6350">
            <a:solidFill>
              <a:srgbClr val="06172f"/>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67" name="Shape 22"/>
          <p:cNvSpPr/>
          <p:nvPr/>
        </p:nvSpPr>
        <p:spPr>
          <a:xfrm>
            <a:off x="2020680" y="3108960"/>
            <a:ext cx="209880" cy="209880"/>
          </a:xfrm>
          <a:prstGeom prst="ellipse">
            <a:avLst/>
          </a:prstGeom>
          <a:solidFill>
            <a:srgbClr val="50d69b">
              <a:alpha val="97000"/>
            </a:srgbClr>
          </a:solidFill>
          <a:ln w="6350">
            <a:solidFill>
              <a:srgbClr val="06172f"/>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68" name="Shape 23"/>
          <p:cNvSpPr/>
          <p:nvPr/>
        </p:nvSpPr>
        <p:spPr>
          <a:xfrm>
            <a:off x="2020680" y="3520440"/>
            <a:ext cx="209880" cy="209880"/>
          </a:xfrm>
          <a:prstGeom prst="ellipse">
            <a:avLst/>
          </a:prstGeom>
          <a:solidFill>
            <a:srgbClr val="5bd2ff">
              <a:alpha val="97000"/>
            </a:srgbClr>
          </a:solidFill>
          <a:ln w="6350">
            <a:solidFill>
              <a:srgbClr val="06172f"/>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69" name="Shape 24"/>
          <p:cNvSpPr/>
          <p:nvPr/>
        </p:nvSpPr>
        <p:spPr>
          <a:xfrm>
            <a:off x="2459880" y="1874520"/>
            <a:ext cx="209880" cy="209880"/>
          </a:xfrm>
          <a:prstGeom prst="ellipse">
            <a:avLst/>
          </a:prstGeom>
          <a:solidFill>
            <a:srgbClr val="50d69b">
              <a:alpha val="97000"/>
            </a:srgbClr>
          </a:solidFill>
          <a:ln w="6350">
            <a:solidFill>
              <a:srgbClr val="06172f"/>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70" name="Shape 25"/>
          <p:cNvSpPr/>
          <p:nvPr/>
        </p:nvSpPr>
        <p:spPr>
          <a:xfrm>
            <a:off x="2459880" y="2286000"/>
            <a:ext cx="209880" cy="209880"/>
          </a:xfrm>
          <a:prstGeom prst="ellipse">
            <a:avLst/>
          </a:prstGeom>
          <a:solidFill>
            <a:srgbClr val="5bd2ff">
              <a:alpha val="97000"/>
            </a:srgbClr>
          </a:solidFill>
          <a:ln w="6350">
            <a:solidFill>
              <a:srgbClr val="06172f"/>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71" name="Shape 26"/>
          <p:cNvSpPr/>
          <p:nvPr/>
        </p:nvSpPr>
        <p:spPr>
          <a:xfrm>
            <a:off x="2459880" y="2697480"/>
            <a:ext cx="209880" cy="209880"/>
          </a:xfrm>
          <a:prstGeom prst="ellipse">
            <a:avLst/>
          </a:prstGeom>
          <a:solidFill>
            <a:srgbClr val="50d69b">
              <a:alpha val="97000"/>
            </a:srgbClr>
          </a:solidFill>
          <a:ln w="6350">
            <a:solidFill>
              <a:srgbClr val="06172f"/>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72" name="Shape 27"/>
          <p:cNvSpPr/>
          <p:nvPr/>
        </p:nvSpPr>
        <p:spPr>
          <a:xfrm>
            <a:off x="2459880" y="3108960"/>
            <a:ext cx="209880" cy="209880"/>
          </a:xfrm>
          <a:prstGeom prst="ellipse">
            <a:avLst/>
          </a:prstGeom>
          <a:solidFill>
            <a:srgbClr val="5bd2ff">
              <a:alpha val="97000"/>
            </a:srgbClr>
          </a:solidFill>
          <a:ln w="6350">
            <a:solidFill>
              <a:srgbClr val="06172f"/>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73" name="Shape 28"/>
          <p:cNvSpPr/>
          <p:nvPr/>
        </p:nvSpPr>
        <p:spPr>
          <a:xfrm>
            <a:off x="2459880" y="3520440"/>
            <a:ext cx="209880" cy="209880"/>
          </a:xfrm>
          <a:prstGeom prst="ellipse">
            <a:avLst/>
          </a:prstGeom>
          <a:solidFill>
            <a:srgbClr val="50d69b">
              <a:alpha val="97000"/>
            </a:srgbClr>
          </a:solidFill>
          <a:ln w="6350">
            <a:solidFill>
              <a:srgbClr val="06172f"/>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74" name="Shape 29"/>
          <p:cNvSpPr/>
          <p:nvPr/>
        </p:nvSpPr>
        <p:spPr>
          <a:xfrm>
            <a:off x="2898720" y="1874520"/>
            <a:ext cx="209880" cy="209880"/>
          </a:xfrm>
          <a:prstGeom prst="ellipse">
            <a:avLst/>
          </a:prstGeom>
          <a:solidFill>
            <a:srgbClr val="5bd2ff">
              <a:alpha val="97000"/>
            </a:srgbClr>
          </a:solidFill>
          <a:ln w="6350">
            <a:solidFill>
              <a:srgbClr val="06172f"/>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75" name="Shape 30"/>
          <p:cNvSpPr/>
          <p:nvPr/>
        </p:nvSpPr>
        <p:spPr>
          <a:xfrm>
            <a:off x="2898720" y="2286000"/>
            <a:ext cx="209880" cy="209880"/>
          </a:xfrm>
          <a:prstGeom prst="ellipse">
            <a:avLst/>
          </a:prstGeom>
          <a:solidFill>
            <a:srgbClr val="50d69b">
              <a:alpha val="97000"/>
            </a:srgbClr>
          </a:solidFill>
          <a:ln w="6350">
            <a:solidFill>
              <a:srgbClr val="06172f"/>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76" name="Shape 31"/>
          <p:cNvSpPr/>
          <p:nvPr/>
        </p:nvSpPr>
        <p:spPr>
          <a:xfrm>
            <a:off x="2898720" y="2697480"/>
            <a:ext cx="209880" cy="209880"/>
          </a:xfrm>
          <a:prstGeom prst="ellipse">
            <a:avLst/>
          </a:prstGeom>
          <a:solidFill>
            <a:srgbClr val="5bd2ff">
              <a:alpha val="97000"/>
            </a:srgbClr>
          </a:solidFill>
          <a:ln w="6350">
            <a:solidFill>
              <a:srgbClr val="06172f"/>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77" name="Shape 32"/>
          <p:cNvSpPr/>
          <p:nvPr/>
        </p:nvSpPr>
        <p:spPr>
          <a:xfrm>
            <a:off x="2898720" y="3108960"/>
            <a:ext cx="209880" cy="209880"/>
          </a:xfrm>
          <a:prstGeom prst="ellipse">
            <a:avLst/>
          </a:prstGeom>
          <a:solidFill>
            <a:srgbClr val="50d69b">
              <a:alpha val="97000"/>
            </a:srgbClr>
          </a:solidFill>
          <a:ln w="6350">
            <a:solidFill>
              <a:srgbClr val="06172f"/>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78" name="Shape 33"/>
          <p:cNvSpPr/>
          <p:nvPr/>
        </p:nvSpPr>
        <p:spPr>
          <a:xfrm>
            <a:off x="2898720" y="3520440"/>
            <a:ext cx="209880" cy="209880"/>
          </a:xfrm>
          <a:prstGeom prst="ellipse">
            <a:avLst/>
          </a:prstGeom>
          <a:solidFill>
            <a:srgbClr val="5bd2ff">
              <a:alpha val="97000"/>
            </a:srgbClr>
          </a:solidFill>
          <a:ln w="6350">
            <a:solidFill>
              <a:srgbClr val="06172f"/>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79" name="Shape 34"/>
          <p:cNvSpPr/>
          <p:nvPr/>
        </p:nvSpPr>
        <p:spPr>
          <a:xfrm>
            <a:off x="3337560" y="1874520"/>
            <a:ext cx="209880" cy="209880"/>
          </a:xfrm>
          <a:prstGeom prst="ellipse">
            <a:avLst/>
          </a:prstGeom>
          <a:solidFill>
            <a:srgbClr val="50d69b">
              <a:alpha val="97000"/>
            </a:srgbClr>
          </a:solidFill>
          <a:ln w="6350">
            <a:solidFill>
              <a:srgbClr val="06172f"/>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80" name="Shape 35"/>
          <p:cNvSpPr/>
          <p:nvPr/>
        </p:nvSpPr>
        <p:spPr>
          <a:xfrm>
            <a:off x="3337560" y="2286000"/>
            <a:ext cx="209880" cy="209880"/>
          </a:xfrm>
          <a:prstGeom prst="ellipse">
            <a:avLst/>
          </a:prstGeom>
          <a:solidFill>
            <a:srgbClr val="5bd2ff">
              <a:alpha val="97000"/>
            </a:srgbClr>
          </a:solidFill>
          <a:ln w="6350">
            <a:solidFill>
              <a:srgbClr val="06172f"/>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81" name="Shape 36"/>
          <p:cNvSpPr/>
          <p:nvPr/>
        </p:nvSpPr>
        <p:spPr>
          <a:xfrm>
            <a:off x="3337560" y="2697480"/>
            <a:ext cx="209880" cy="209880"/>
          </a:xfrm>
          <a:prstGeom prst="ellipse">
            <a:avLst/>
          </a:prstGeom>
          <a:solidFill>
            <a:srgbClr val="50d69b">
              <a:alpha val="97000"/>
            </a:srgbClr>
          </a:solidFill>
          <a:ln w="6350">
            <a:solidFill>
              <a:srgbClr val="06172f"/>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82" name="Shape 37"/>
          <p:cNvSpPr/>
          <p:nvPr/>
        </p:nvSpPr>
        <p:spPr>
          <a:xfrm>
            <a:off x="3337560" y="3108960"/>
            <a:ext cx="209880" cy="209880"/>
          </a:xfrm>
          <a:prstGeom prst="ellipse">
            <a:avLst/>
          </a:prstGeom>
          <a:solidFill>
            <a:srgbClr val="5bd2ff">
              <a:alpha val="97000"/>
            </a:srgbClr>
          </a:solidFill>
          <a:ln w="6350">
            <a:solidFill>
              <a:srgbClr val="06172f"/>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83" name="Shape 38"/>
          <p:cNvSpPr/>
          <p:nvPr/>
        </p:nvSpPr>
        <p:spPr>
          <a:xfrm>
            <a:off x="3337560" y="3520440"/>
            <a:ext cx="209880" cy="209880"/>
          </a:xfrm>
          <a:prstGeom prst="ellipse">
            <a:avLst/>
          </a:prstGeom>
          <a:solidFill>
            <a:srgbClr val="50d69b">
              <a:alpha val="97000"/>
            </a:srgbClr>
          </a:solidFill>
          <a:ln w="6350">
            <a:solidFill>
              <a:srgbClr val="06172f"/>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84" name="Shape 39"/>
          <p:cNvSpPr/>
          <p:nvPr/>
        </p:nvSpPr>
        <p:spPr>
          <a:xfrm>
            <a:off x="3776400" y="1874520"/>
            <a:ext cx="209880" cy="209880"/>
          </a:xfrm>
          <a:prstGeom prst="ellipse">
            <a:avLst/>
          </a:prstGeom>
          <a:solidFill>
            <a:srgbClr val="5bd2ff">
              <a:alpha val="97000"/>
            </a:srgbClr>
          </a:solidFill>
          <a:ln w="6350">
            <a:solidFill>
              <a:srgbClr val="06172f"/>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85" name="Shape 40"/>
          <p:cNvSpPr/>
          <p:nvPr/>
        </p:nvSpPr>
        <p:spPr>
          <a:xfrm>
            <a:off x="3776400" y="2286000"/>
            <a:ext cx="209880" cy="209880"/>
          </a:xfrm>
          <a:prstGeom prst="ellipse">
            <a:avLst/>
          </a:prstGeom>
          <a:solidFill>
            <a:srgbClr val="50d69b">
              <a:alpha val="97000"/>
            </a:srgbClr>
          </a:solidFill>
          <a:ln w="6350">
            <a:solidFill>
              <a:srgbClr val="06172f"/>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86" name="Shape 41"/>
          <p:cNvSpPr/>
          <p:nvPr/>
        </p:nvSpPr>
        <p:spPr>
          <a:xfrm>
            <a:off x="3776400" y="2697480"/>
            <a:ext cx="209880" cy="209880"/>
          </a:xfrm>
          <a:prstGeom prst="ellipse">
            <a:avLst/>
          </a:prstGeom>
          <a:solidFill>
            <a:srgbClr val="5bd2ff">
              <a:alpha val="97000"/>
            </a:srgbClr>
          </a:solidFill>
          <a:ln w="6350">
            <a:solidFill>
              <a:srgbClr val="06172f"/>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87" name="Shape 42"/>
          <p:cNvSpPr/>
          <p:nvPr/>
        </p:nvSpPr>
        <p:spPr>
          <a:xfrm>
            <a:off x="3776400" y="3108960"/>
            <a:ext cx="209880" cy="209880"/>
          </a:xfrm>
          <a:prstGeom prst="ellipse">
            <a:avLst/>
          </a:prstGeom>
          <a:solidFill>
            <a:srgbClr val="50d69b">
              <a:alpha val="97000"/>
            </a:srgbClr>
          </a:solidFill>
          <a:ln w="6350">
            <a:solidFill>
              <a:srgbClr val="06172f"/>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88" name="Shape 43"/>
          <p:cNvSpPr/>
          <p:nvPr/>
        </p:nvSpPr>
        <p:spPr>
          <a:xfrm>
            <a:off x="3776400" y="3520440"/>
            <a:ext cx="209880" cy="209880"/>
          </a:xfrm>
          <a:prstGeom prst="ellipse">
            <a:avLst/>
          </a:prstGeom>
          <a:solidFill>
            <a:srgbClr val="5bd2ff">
              <a:alpha val="97000"/>
            </a:srgbClr>
          </a:solidFill>
          <a:ln w="6350">
            <a:solidFill>
              <a:srgbClr val="06172f"/>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89" name="Shape 44"/>
          <p:cNvSpPr/>
          <p:nvPr/>
        </p:nvSpPr>
        <p:spPr>
          <a:xfrm>
            <a:off x="4215240" y="1874520"/>
            <a:ext cx="209880" cy="209880"/>
          </a:xfrm>
          <a:prstGeom prst="ellipse">
            <a:avLst/>
          </a:prstGeom>
          <a:solidFill>
            <a:srgbClr val="50d69b">
              <a:alpha val="97000"/>
            </a:srgbClr>
          </a:solidFill>
          <a:ln w="6350">
            <a:solidFill>
              <a:srgbClr val="06172f"/>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90" name="Shape 45"/>
          <p:cNvSpPr/>
          <p:nvPr/>
        </p:nvSpPr>
        <p:spPr>
          <a:xfrm>
            <a:off x="4215240" y="2286000"/>
            <a:ext cx="209880" cy="209880"/>
          </a:xfrm>
          <a:prstGeom prst="ellipse">
            <a:avLst/>
          </a:prstGeom>
          <a:solidFill>
            <a:srgbClr val="5bd2ff">
              <a:alpha val="97000"/>
            </a:srgbClr>
          </a:solidFill>
          <a:ln w="6350">
            <a:solidFill>
              <a:srgbClr val="06172f"/>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91" name="Shape 46"/>
          <p:cNvSpPr/>
          <p:nvPr/>
        </p:nvSpPr>
        <p:spPr>
          <a:xfrm>
            <a:off x="4215240" y="2697480"/>
            <a:ext cx="209880" cy="209880"/>
          </a:xfrm>
          <a:prstGeom prst="ellipse">
            <a:avLst/>
          </a:prstGeom>
          <a:solidFill>
            <a:srgbClr val="50d69b">
              <a:alpha val="97000"/>
            </a:srgbClr>
          </a:solidFill>
          <a:ln w="6350">
            <a:solidFill>
              <a:srgbClr val="06172f"/>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92" name="Shape 47"/>
          <p:cNvSpPr/>
          <p:nvPr/>
        </p:nvSpPr>
        <p:spPr>
          <a:xfrm>
            <a:off x="4215240" y="3108960"/>
            <a:ext cx="209880" cy="209880"/>
          </a:xfrm>
          <a:prstGeom prst="ellipse">
            <a:avLst/>
          </a:prstGeom>
          <a:solidFill>
            <a:srgbClr val="5bd2ff">
              <a:alpha val="97000"/>
            </a:srgbClr>
          </a:solidFill>
          <a:ln w="6350">
            <a:solidFill>
              <a:srgbClr val="06172f"/>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93" name="Shape 48"/>
          <p:cNvSpPr/>
          <p:nvPr/>
        </p:nvSpPr>
        <p:spPr>
          <a:xfrm>
            <a:off x="4215240" y="3520440"/>
            <a:ext cx="209880" cy="209880"/>
          </a:xfrm>
          <a:prstGeom prst="ellipse">
            <a:avLst/>
          </a:prstGeom>
          <a:solidFill>
            <a:srgbClr val="50d69b">
              <a:alpha val="97000"/>
            </a:srgbClr>
          </a:solidFill>
          <a:ln w="6350">
            <a:solidFill>
              <a:srgbClr val="06172f"/>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94" name="Text 49"/>
          <p:cNvSpPr/>
          <p:nvPr/>
        </p:nvSpPr>
        <p:spPr>
          <a:xfrm>
            <a:off x="1143000" y="4251960"/>
            <a:ext cx="3657240" cy="273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trike="noStrike" u="none">
                <a:solidFill>
                  <a:srgbClr val="f5f8fc"/>
                </a:solidFill>
                <a:effectLst/>
                <a:uFillTx/>
                <a:latin typeface="Aptos"/>
              </a:rPr>
              <a:t>Reactor core schematic</a:t>
            </a:r>
            <a:endParaRPr b="0" lang="en-US" sz="1400" strike="noStrike" u="none">
              <a:solidFill>
                <a:srgbClr val="ffffff"/>
              </a:solidFill>
              <a:effectLst/>
              <a:uFillTx/>
              <a:latin typeface="Arial"/>
            </a:endParaRPr>
          </a:p>
        </p:txBody>
      </p:sp>
      <p:sp>
        <p:nvSpPr>
          <p:cNvPr id="295" name="Shape 50"/>
          <p:cNvSpPr/>
          <p:nvPr/>
        </p:nvSpPr>
        <p:spPr>
          <a:xfrm>
            <a:off x="5989320" y="1234440"/>
            <a:ext cx="5303160" cy="1554120"/>
          </a:xfrm>
          <a:prstGeom prst="roundRect">
            <a:avLst>
              <a:gd name="adj" fmla="val 7059"/>
            </a:avLst>
          </a:prstGeom>
          <a:solidFill>
            <a:srgbClr val="0e2d4f">
              <a:alpha val="93000"/>
            </a:srgbClr>
          </a:solidFill>
          <a:ln w="12700">
            <a:solidFill>
              <a:srgbClr val="50d69b">
                <a:alpha val="7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96" name="Text 51"/>
          <p:cNvSpPr/>
          <p:nvPr/>
        </p:nvSpPr>
        <p:spPr>
          <a:xfrm>
            <a:off x="6153840" y="1353240"/>
            <a:ext cx="497412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50d69b"/>
                </a:solidFill>
                <a:effectLst/>
                <a:uFillTx/>
                <a:latin typeface="Aptos"/>
              </a:rPr>
              <a:t>Fuel assemblies</a:t>
            </a:r>
            <a:endParaRPr b="0" lang="en-US" sz="1600" strike="noStrike" u="none">
              <a:solidFill>
                <a:srgbClr val="ffffff"/>
              </a:solidFill>
              <a:effectLst/>
              <a:uFillTx/>
              <a:latin typeface="Arial"/>
            </a:endParaRPr>
          </a:p>
        </p:txBody>
      </p:sp>
      <p:sp>
        <p:nvSpPr>
          <p:cNvPr id="297" name="Text 52"/>
          <p:cNvSpPr/>
          <p:nvPr/>
        </p:nvSpPr>
        <p:spPr>
          <a:xfrm>
            <a:off x="6208920" y="1737360"/>
            <a:ext cx="4864320" cy="987120"/>
          </a:xfrm>
          <a:prstGeom prst="rect">
            <a:avLst/>
          </a:prstGeom>
          <a:noFill/>
          <a:ln w="0">
            <a:noFill/>
          </a:ln>
        </p:spPr>
        <p:style>
          <a:lnRef idx="0"/>
          <a:fillRef idx="0"/>
          <a:effectRef idx="0"/>
          <a:fontRef idx="minor"/>
        </p:style>
        <p:txBody>
          <a:bodyPr lIns="1080" rIns="1080" tIns="1080" bIns="1080" anchor="t">
            <a:normAutofit/>
          </a:bodyPr>
          <a:p>
            <a:pPr defTabSz="914400">
              <a:lnSpc>
                <a:spcPct val="100000"/>
              </a:lnSpc>
            </a:pPr>
            <a:r>
              <a:rPr b="0" lang="en-US" sz="1300" strike="noStrike" u="none">
                <a:solidFill>
                  <a:srgbClr val="f5f8fc"/>
                </a:solidFill>
                <a:effectLst/>
                <a:uFillTx/>
                <a:latin typeface="Aptos"/>
                <a:ea typeface="Aptos"/>
              </a:rPr>
              <a:t>Fuel assemblies hold uranium fuel in an organised reactor-core geometry. This arrangement supports controlled fission and heat production.</a:t>
            </a:r>
            <a:endParaRPr b="0" lang="en-US" sz="1300" strike="noStrike" u="none">
              <a:solidFill>
                <a:srgbClr val="ffffff"/>
              </a:solidFill>
              <a:effectLst/>
              <a:uFillTx/>
              <a:latin typeface="Arial"/>
            </a:endParaRPr>
          </a:p>
        </p:txBody>
      </p:sp>
      <p:sp>
        <p:nvSpPr>
          <p:cNvPr id="298" name="Shape 53"/>
          <p:cNvSpPr/>
          <p:nvPr/>
        </p:nvSpPr>
        <p:spPr>
          <a:xfrm>
            <a:off x="5989320" y="3063240"/>
            <a:ext cx="5303160" cy="1554120"/>
          </a:xfrm>
          <a:prstGeom prst="roundRect">
            <a:avLst>
              <a:gd name="adj" fmla="val 7059"/>
            </a:avLst>
          </a:prstGeom>
          <a:solidFill>
            <a:srgbClr val="0e2d4f">
              <a:alpha val="93000"/>
            </a:srgbClr>
          </a:solidFill>
          <a:ln w="12700">
            <a:solidFill>
              <a:srgbClr val="5bd2ff">
                <a:alpha val="7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99" name="Text 54"/>
          <p:cNvSpPr/>
          <p:nvPr/>
        </p:nvSpPr>
        <p:spPr>
          <a:xfrm>
            <a:off x="6153840" y="3182040"/>
            <a:ext cx="497412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50d69b"/>
                </a:solidFill>
                <a:effectLst/>
                <a:uFillTx/>
                <a:latin typeface="Aptos"/>
              </a:rPr>
              <a:t>Core safety focus</a:t>
            </a:r>
            <a:endParaRPr b="0" lang="en-US" sz="1600" strike="noStrike" u="none">
              <a:solidFill>
                <a:srgbClr val="ffffff"/>
              </a:solidFill>
              <a:effectLst/>
              <a:uFillTx/>
              <a:latin typeface="Arial"/>
            </a:endParaRPr>
          </a:p>
        </p:txBody>
      </p:sp>
      <p:sp>
        <p:nvSpPr>
          <p:cNvPr id="300" name="Text 55"/>
          <p:cNvSpPr/>
          <p:nvPr/>
        </p:nvSpPr>
        <p:spPr>
          <a:xfrm>
            <a:off x="6208920" y="3566160"/>
            <a:ext cx="4864320" cy="987120"/>
          </a:xfrm>
          <a:prstGeom prst="rect">
            <a:avLst/>
          </a:prstGeom>
          <a:noFill/>
          <a:ln w="0">
            <a:noFill/>
          </a:ln>
        </p:spPr>
        <p:style>
          <a:lnRef idx="0"/>
          <a:fillRef idx="0"/>
          <a:effectRef idx="0"/>
          <a:fontRef idx="minor"/>
        </p:style>
        <p:txBody>
          <a:bodyPr lIns="1080" rIns="1080" tIns="1080" bIns="1080" anchor="t">
            <a:normAutofit/>
          </a:bodyPr>
          <a:p>
            <a:pPr defTabSz="914400">
              <a:lnSpc>
                <a:spcPct val="100000"/>
              </a:lnSpc>
            </a:pPr>
            <a:r>
              <a:rPr b="0" lang="en-US" sz="1300" strike="noStrike" u="none">
                <a:solidFill>
                  <a:srgbClr val="f5f8fc"/>
                </a:solidFill>
                <a:effectLst/>
                <a:uFillTx/>
                <a:latin typeface="Aptos"/>
                <a:ea typeface="Aptos"/>
              </a:rPr>
              <a:t>Core control, cooling availability and containment are central because the reactor core contains the main radioactive inventory.</a:t>
            </a:r>
            <a:endParaRPr b="0" lang="en-US" sz="1300" strike="noStrike" u="none">
              <a:solidFill>
                <a:srgbClr val="ffffff"/>
              </a:solidFill>
              <a:effectLst/>
              <a:uFillTx/>
              <a:latin typeface="Arial"/>
            </a:endParaRPr>
          </a:p>
        </p:txBody>
      </p:sp>
      <p:sp>
        <p:nvSpPr>
          <p:cNvPr id="301" name="Shape 56"/>
          <p:cNvSpPr/>
          <p:nvPr/>
        </p:nvSpPr>
        <p:spPr>
          <a:xfrm>
            <a:off x="5989320" y="4892040"/>
            <a:ext cx="5303160" cy="959760"/>
          </a:xfrm>
          <a:prstGeom prst="roundRect">
            <a:avLst>
              <a:gd name="adj" fmla="val 11429"/>
            </a:avLst>
          </a:prstGeom>
          <a:solidFill>
            <a:srgbClr val="0e2d4f">
              <a:alpha val="93000"/>
            </a:srgbClr>
          </a:solidFill>
          <a:ln w="12700">
            <a:solidFill>
              <a:srgbClr val="f0be49">
                <a:alpha val="7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02" name="Text 57"/>
          <p:cNvSpPr/>
          <p:nvPr/>
        </p:nvSpPr>
        <p:spPr>
          <a:xfrm>
            <a:off x="6153840" y="5010840"/>
            <a:ext cx="497412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50d69b"/>
                </a:solidFill>
                <a:effectLst/>
                <a:uFillTx/>
                <a:latin typeface="Aptos"/>
              </a:rPr>
              <a:t>Environmental importance</a:t>
            </a:r>
            <a:endParaRPr b="0" lang="en-US" sz="1600" strike="noStrike" u="none">
              <a:solidFill>
                <a:srgbClr val="ffffff"/>
              </a:solidFill>
              <a:effectLst/>
              <a:uFillTx/>
              <a:latin typeface="Arial"/>
            </a:endParaRPr>
          </a:p>
        </p:txBody>
      </p:sp>
      <p:sp>
        <p:nvSpPr>
          <p:cNvPr id="303" name="Text 58"/>
          <p:cNvSpPr/>
          <p:nvPr/>
        </p:nvSpPr>
        <p:spPr>
          <a:xfrm>
            <a:off x="6208920" y="5394960"/>
            <a:ext cx="4864320" cy="392760"/>
          </a:xfrm>
          <a:prstGeom prst="rect">
            <a:avLst/>
          </a:prstGeom>
          <a:noFill/>
          <a:ln w="0">
            <a:noFill/>
          </a:ln>
        </p:spPr>
        <p:style>
          <a:lnRef idx="0"/>
          <a:fillRef idx="0"/>
          <a:effectRef idx="0"/>
          <a:fontRef idx="minor"/>
        </p:style>
        <p:txBody>
          <a:bodyPr lIns="1080" rIns="1080" tIns="1080" bIns="1080" anchor="t">
            <a:normAutofit fontScale="92500" lnSpcReduction="9999"/>
          </a:bodyPr>
          <a:p>
            <a:pPr defTabSz="914400">
              <a:lnSpc>
                <a:spcPct val="100000"/>
              </a:lnSpc>
            </a:pPr>
            <a:r>
              <a:rPr b="0" lang="en-US" sz="1300" strike="noStrike" u="none">
                <a:solidFill>
                  <a:srgbClr val="f5f8fc"/>
                </a:solidFill>
                <a:effectLst/>
                <a:uFillTx/>
                <a:latin typeface="Aptos"/>
                <a:ea typeface="Aptos"/>
              </a:rPr>
              <a:t>Fuel integrity and cooling-system performance are directly linked to accident prevention and radiological environmental protection.</a:t>
            </a:r>
            <a:endParaRPr b="0" lang="en-US" sz="1300" strike="noStrike" u="none">
              <a:solidFill>
                <a:srgbClr val="ffffff"/>
              </a:solidFill>
              <a:effectLst/>
              <a:uFillTx/>
              <a:latin typeface="Arial"/>
            </a:endParaRPr>
          </a:p>
        </p:txBody>
      </p:sp>
    </p:spTree>
  </p:cSld>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6172f"/>
        </a:solidFill>
      </p:bgPr>
    </p:bg>
    <p:spTree>
      <p:nvGrpSpPr>
        <p:cNvPr id="1" name=""/>
        <p:cNvGrpSpPr/>
        <p:nvPr/>
      </p:nvGrpSpPr>
      <p:grpSpPr>
        <a:xfrm>
          <a:off x="0" y="0"/>
          <a:ext cx="0" cy="0"/>
          <a:chOff x="0" y="0"/>
          <a:chExt cx="0" cy="0"/>
        </a:xfrm>
      </p:grpSpPr>
      <p:sp>
        <p:nvSpPr>
          <p:cNvPr id="304" name="Shape 0"/>
          <p:cNvSpPr/>
          <p:nvPr/>
        </p:nvSpPr>
        <p:spPr>
          <a:xfrm>
            <a:off x="0" y="0"/>
            <a:ext cx="12191400" cy="6857640"/>
          </a:xfrm>
          <a:prstGeom prst="rect">
            <a:avLst/>
          </a:prstGeom>
          <a:solidFill>
            <a:srgbClr val="06172f"/>
          </a:solidFill>
          <a:ln w="12700">
            <a:solidFill>
              <a:srgbClr val="06172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05" name="Shape 1"/>
          <p:cNvSpPr/>
          <p:nvPr/>
        </p:nvSpPr>
        <p:spPr>
          <a:xfrm>
            <a:off x="7680960" y="-1005840"/>
            <a:ext cx="4388760" cy="2925720"/>
          </a:xfrm>
          <a:prstGeom prst="arc">
            <a:avLst>
              <a:gd name="adj1" fmla="val 16200000"/>
              <a:gd name="adj2" fmla="val 0"/>
            </a:avLst>
          </a:prstGeom>
          <a:solidFill>
            <a:srgbClr val="0e3a68">
              <a:alpha val="75000"/>
            </a:srgbClr>
          </a:solidFill>
          <a:ln w="12700">
            <a:solidFill>
              <a:srgbClr val="0e3a68">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06" name="Shape 2"/>
          <p:cNvSpPr/>
          <p:nvPr/>
        </p:nvSpPr>
        <p:spPr>
          <a:xfrm>
            <a:off x="8778240" y="-777240"/>
            <a:ext cx="3474360" cy="2285640"/>
          </a:xfrm>
          <a:prstGeom prst="arc">
            <a:avLst>
              <a:gd name="adj1" fmla="val 16200000"/>
              <a:gd name="adj2" fmla="val 0"/>
            </a:avLst>
          </a:prstGeom>
          <a:solidFill>
            <a:srgbClr val="0b4d5e">
              <a:alpha val="65000"/>
            </a:srgbClr>
          </a:solidFill>
          <a:ln w="12700">
            <a:solidFill>
              <a:srgbClr val="0b4d5e">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07" name="Shape 3"/>
          <p:cNvSpPr/>
          <p:nvPr/>
        </p:nvSpPr>
        <p:spPr>
          <a:xfrm>
            <a:off x="0" y="0"/>
            <a:ext cx="109440" cy="6857640"/>
          </a:xfrm>
          <a:prstGeom prst="rect">
            <a:avLst/>
          </a:prstGeom>
          <a:solidFill>
            <a:srgbClr val="00b078"/>
          </a:solidFill>
          <a:ln w="12700">
            <a:solidFill>
              <a:srgbClr val="00b078">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08" name="Shape 4"/>
          <p:cNvSpPr/>
          <p:nvPr/>
        </p:nvSpPr>
        <p:spPr>
          <a:xfrm>
            <a:off x="320040" y="6565320"/>
            <a:ext cx="11521080" cy="16200"/>
          </a:xfrm>
          <a:prstGeom prst="rect">
            <a:avLst/>
          </a:prstGeom>
          <a:solidFill>
            <a:srgbClr val="435d78"/>
          </a:solidFill>
          <a:ln w="12700">
            <a:solidFill>
              <a:srgbClr val="435d78">
                <a:alpha val="0"/>
              </a:srgbClr>
            </a:solidFill>
            <a:round/>
          </a:ln>
        </p:spPr>
        <p:style>
          <a:lnRef idx="0"/>
          <a:fillRef idx="0"/>
          <a:effectRef idx="0"/>
          <a:fontRef idx="minor"/>
        </p:style>
        <p:txBody>
          <a:bodyPr lIns="90000" rIns="90000" tIns="-28440" bIns="-28440" anchor="t">
            <a:noAutofit/>
          </a:bodyPr>
          <a:p>
            <a:endParaRPr b="0" lang="en-US" sz="1800" strike="noStrike" u="none">
              <a:solidFill>
                <a:srgbClr val="ffffff"/>
              </a:solidFill>
              <a:effectLst/>
              <a:uFillTx/>
              <a:latin typeface="Arial"/>
            </a:endParaRPr>
          </a:p>
        </p:txBody>
      </p:sp>
      <p:sp>
        <p:nvSpPr>
          <p:cNvPr id="309" name="Text 5"/>
          <p:cNvSpPr/>
          <p:nvPr/>
        </p:nvSpPr>
        <p:spPr>
          <a:xfrm>
            <a:off x="11356920" y="6602040"/>
            <a:ext cx="502560" cy="13680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50" strike="noStrike" u="none">
                <a:solidFill>
                  <a:srgbClr val="b0c1d5"/>
                </a:solidFill>
                <a:effectLst/>
                <a:uFillTx/>
                <a:latin typeface="Aptos"/>
                <a:ea typeface="Aptos"/>
              </a:rPr>
              <a:t>11</a:t>
            </a:r>
            <a:endParaRPr b="0" lang="en-US" sz="950" strike="noStrike" u="none">
              <a:solidFill>
                <a:srgbClr val="ffffff"/>
              </a:solidFill>
              <a:effectLst/>
              <a:uFillTx/>
              <a:latin typeface="Arial"/>
            </a:endParaRPr>
          </a:p>
        </p:txBody>
      </p:sp>
      <p:sp>
        <p:nvSpPr>
          <p:cNvPr id="310" name="Text 6"/>
          <p:cNvSpPr/>
          <p:nvPr/>
        </p:nvSpPr>
        <p:spPr>
          <a:xfrm>
            <a:off x="475560" y="228600"/>
            <a:ext cx="10972440" cy="383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500" strike="noStrike" u="none">
                <a:solidFill>
                  <a:srgbClr val="f5f8fc"/>
                </a:solidFill>
                <a:effectLst/>
                <a:uFillTx/>
                <a:latin typeface="Aptos Display"/>
                <a:ea typeface="Aptos Display"/>
              </a:rPr>
              <a:t>Methodology</a:t>
            </a:r>
            <a:endParaRPr b="0" lang="en-US" sz="2500" strike="noStrike" u="none">
              <a:solidFill>
                <a:srgbClr val="ffffff"/>
              </a:solidFill>
              <a:effectLst/>
              <a:uFillTx/>
              <a:latin typeface="Arial"/>
            </a:endParaRPr>
          </a:p>
        </p:txBody>
      </p:sp>
      <p:sp>
        <p:nvSpPr>
          <p:cNvPr id="311" name="Text 7"/>
          <p:cNvSpPr/>
          <p:nvPr/>
        </p:nvSpPr>
        <p:spPr>
          <a:xfrm>
            <a:off x="502920" y="704160"/>
            <a:ext cx="10835280" cy="255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50" strike="noStrike" u="none">
                <a:solidFill>
                  <a:srgbClr val="b0c1d5"/>
                </a:solidFill>
                <a:effectLst/>
                <a:uFillTx/>
                <a:latin typeface="Aptos"/>
              </a:rPr>
              <a:t>EIA-based analytical framework for RNPP</a:t>
            </a:r>
            <a:endParaRPr b="0" lang="en-US" sz="1250" strike="noStrike" u="none">
              <a:solidFill>
                <a:srgbClr val="ffffff"/>
              </a:solidFill>
              <a:effectLst/>
              <a:uFillTx/>
              <a:latin typeface="Arial"/>
            </a:endParaRPr>
          </a:p>
        </p:txBody>
      </p:sp>
      <p:sp>
        <p:nvSpPr>
          <p:cNvPr id="312" name="Shape 8"/>
          <p:cNvSpPr/>
          <p:nvPr/>
        </p:nvSpPr>
        <p:spPr>
          <a:xfrm>
            <a:off x="731520" y="1143000"/>
            <a:ext cx="2468520" cy="749520"/>
          </a:xfrm>
          <a:prstGeom prst="roundRect">
            <a:avLst>
              <a:gd name="adj" fmla="val 9756"/>
            </a:avLst>
          </a:prstGeom>
          <a:solidFill>
            <a:srgbClr val="00b078"/>
          </a:solidFill>
          <a:ln w="12700">
            <a:solidFill>
              <a:srgbClr val="00b078">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13" name="Text 9"/>
          <p:cNvSpPr/>
          <p:nvPr/>
        </p:nvSpPr>
        <p:spPr>
          <a:xfrm>
            <a:off x="841320" y="1252800"/>
            <a:ext cx="2248920" cy="5666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100" strike="noStrike" u="none">
                <a:solidFill>
                  <a:srgbClr val="06172f"/>
                </a:solidFill>
                <a:effectLst/>
                <a:uFillTx/>
                <a:latin typeface="Aptos"/>
              </a:rPr>
              <a:t>Baseline</a:t>
            </a:r>
            <a:endParaRPr b="0" lang="en-US" sz="1100" strike="noStrike" u="none">
              <a:solidFill>
                <a:srgbClr val="ffffff"/>
              </a:solidFill>
              <a:effectLst/>
              <a:uFillTx/>
              <a:latin typeface="Arial"/>
            </a:endParaRPr>
          </a:p>
          <a:p>
            <a:pPr algn="ctr" defTabSz="914400">
              <a:lnSpc>
                <a:spcPct val="100000"/>
              </a:lnSpc>
              <a:tabLst>
                <a:tab algn="l" pos="0"/>
              </a:tabLst>
            </a:pPr>
            <a:r>
              <a:rPr b="1" lang="en-US" sz="1100" strike="noStrike" u="none">
                <a:solidFill>
                  <a:srgbClr val="06172f"/>
                </a:solidFill>
                <a:effectLst/>
                <a:uFillTx/>
                <a:latin typeface="Aptos"/>
              </a:rPr>
              <a:t>assessment</a:t>
            </a:r>
            <a:endParaRPr b="0" lang="en-US" sz="1100" strike="noStrike" u="none">
              <a:solidFill>
                <a:srgbClr val="ffffff"/>
              </a:solidFill>
              <a:effectLst/>
              <a:uFillTx/>
              <a:latin typeface="Arial"/>
            </a:endParaRPr>
          </a:p>
        </p:txBody>
      </p:sp>
      <p:sp>
        <p:nvSpPr>
          <p:cNvPr id="314" name="Shape 10"/>
          <p:cNvSpPr/>
          <p:nvPr/>
        </p:nvSpPr>
        <p:spPr>
          <a:xfrm>
            <a:off x="1856160" y="1874520"/>
            <a:ext cx="219240" cy="145800"/>
          </a:xfrm>
          <a:prstGeom prst="downArrow">
            <a:avLst>
              <a:gd name="adj1" fmla="val 50000"/>
              <a:gd name="adj2" fmla="val 50000"/>
            </a:avLst>
          </a:prstGeom>
          <a:solidFill>
            <a:srgbClr val="b0c1d5"/>
          </a:solidFill>
          <a:ln w="12700">
            <a:solidFill>
              <a:srgbClr val="b0c1d5">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15" name="Shape 11"/>
          <p:cNvSpPr/>
          <p:nvPr/>
        </p:nvSpPr>
        <p:spPr>
          <a:xfrm>
            <a:off x="731520" y="1965960"/>
            <a:ext cx="2468520" cy="749520"/>
          </a:xfrm>
          <a:prstGeom prst="roundRect">
            <a:avLst>
              <a:gd name="adj" fmla="val 9756"/>
            </a:avLst>
          </a:prstGeom>
          <a:solidFill>
            <a:srgbClr val="5bd2ff"/>
          </a:solidFill>
          <a:ln w="12700">
            <a:solidFill>
              <a:srgbClr val="5bd2f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16" name="Text 12"/>
          <p:cNvSpPr/>
          <p:nvPr/>
        </p:nvSpPr>
        <p:spPr>
          <a:xfrm>
            <a:off x="841320" y="2075760"/>
            <a:ext cx="2248920" cy="5666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100" strike="noStrike" u="none">
                <a:solidFill>
                  <a:srgbClr val="06172f"/>
                </a:solidFill>
                <a:effectLst/>
                <a:uFillTx/>
                <a:latin typeface="Aptos"/>
              </a:rPr>
              <a:t>Impact</a:t>
            </a:r>
            <a:endParaRPr b="0" lang="en-US" sz="1100" strike="noStrike" u="none">
              <a:solidFill>
                <a:srgbClr val="ffffff"/>
              </a:solidFill>
              <a:effectLst/>
              <a:uFillTx/>
              <a:latin typeface="Arial"/>
            </a:endParaRPr>
          </a:p>
          <a:p>
            <a:pPr algn="ctr" defTabSz="914400">
              <a:lnSpc>
                <a:spcPct val="100000"/>
              </a:lnSpc>
              <a:tabLst>
                <a:tab algn="l" pos="0"/>
              </a:tabLst>
            </a:pPr>
            <a:r>
              <a:rPr b="1" lang="en-US" sz="1100" strike="noStrike" u="none">
                <a:solidFill>
                  <a:srgbClr val="06172f"/>
                </a:solidFill>
                <a:effectLst/>
                <a:uFillTx/>
                <a:latin typeface="Aptos"/>
              </a:rPr>
              <a:t>identification</a:t>
            </a:r>
            <a:endParaRPr b="0" lang="en-US" sz="1100" strike="noStrike" u="none">
              <a:solidFill>
                <a:srgbClr val="ffffff"/>
              </a:solidFill>
              <a:effectLst/>
              <a:uFillTx/>
              <a:latin typeface="Arial"/>
            </a:endParaRPr>
          </a:p>
        </p:txBody>
      </p:sp>
      <p:sp>
        <p:nvSpPr>
          <p:cNvPr id="317" name="Shape 13"/>
          <p:cNvSpPr/>
          <p:nvPr/>
        </p:nvSpPr>
        <p:spPr>
          <a:xfrm>
            <a:off x="1856160" y="2697480"/>
            <a:ext cx="219240" cy="145800"/>
          </a:xfrm>
          <a:prstGeom prst="downArrow">
            <a:avLst>
              <a:gd name="adj1" fmla="val 50000"/>
              <a:gd name="adj2" fmla="val 50000"/>
            </a:avLst>
          </a:prstGeom>
          <a:solidFill>
            <a:srgbClr val="b0c1d5"/>
          </a:solidFill>
          <a:ln w="12700">
            <a:solidFill>
              <a:srgbClr val="b0c1d5">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18" name="Shape 14"/>
          <p:cNvSpPr/>
          <p:nvPr/>
        </p:nvSpPr>
        <p:spPr>
          <a:xfrm>
            <a:off x="731520" y="2788920"/>
            <a:ext cx="2468520" cy="749520"/>
          </a:xfrm>
          <a:prstGeom prst="roundRect">
            <a:avLst>
              <a:gd name="adj" fmla="val 9756"/>
            </a:avLst>
          </a:prstGeom>
          <a:solidFill>
            <a:srgbClr val="50d69b"/>
          </a:solidFill>
          <a:ln w="12700">
            <a:solidFill>
              <a:srgbClr val="50d69b">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19" name="Text 15"/>
          <p:cNvSpPr/>
          <p:nvPr/>
        </p:nvSpPr>
        <p:spPr>
          <a:xfrm>
            <a:off x="841320" y="2898720"/>
            <a:ext cx="2248920" cy="5666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100" strike="noStrike" u="none">
                <a:solidFill>
                  <a:srgbClr val="06172f"/>
                </a:solidFill>
                <a:effectLst/>
                <a:uFillTx/>
                <a:latin typeface="Aptos"/>
              </a:rPr>
              <a:t>Impact</a:t>
            </a:r>
            <a:endParaRPr b="0" lang="en-US" sz="1100" strike="noStrike" u="none">
              <a:solidFill>
                <a:srgbClr val="ffffff"/>
              </a:solidFill>
              <a:effectLst/>
              <a:uFillTx/>
              <a:latin typeface="Arial"/>
            </a:endParaRPr>
          </a:p>
          <a:p>
            <a:pPr algn="ctr" defTabSz="914400">
              <a:lnSpc>
                <a:spcPct val="100000"/>
              </a:lnSpc>
              <a:tabLst>
                <a:tab algn="l" pos="0"/>
              </a:tabLst>
            </a:pPr>
            <a:r>
              <a:rPr b="1" lang="en-US" sz="1100" strike="noStrike" u="none">
                <a:solidFill>
                  <a:srgbClr val="06172f"/>
                </a:solidFill>
                <a:effectLst/>
                <a:uFillTx/>
                <a:latin typeface="Aptos"/>
              </a:rPr>
              <a:t>prediction</a:t>
            </a:r>
            <a:endParaRPr b="0" lang="en-US" sz="1100" strike="noStrike" u="none">
              <a:solidFill>
                <a:srgbClr val="ffffff"/>
              </a:solidFill>
              <a:effectLst/>
              <a:uFillTx/>
              <a:latin typeface="Arial"/>
            </a:endParaRPr>
          </a:p>
        </p:txBody>
      </p:sp>
      <p:sp>
        <p:nvSpPr>
          <p:cNvPr id="320" name="Shape 16"/>
          <p:cNvSpPr/>
          <p:nvPr/>
        </p:nvSpPr>
        <p:spPr>
          <a:xfrm>
            <a:off x="1856160" y="3520440"/>
            <a:ext cx="219240" cy="145800"/>
          </a:xfrm>
          <a:prstGeom prst="downArrow">
            <a:avLst>
              <a:gd name="adj1" fmla="val 50000"/>
              <a:gd name="adj2" fmla="val 50000"/>
            </a:avLst>
          </a:prstGeom>
          <a:solidFill>
            <a:srgbClr val="b0c1d5"/>
          </a:solidFill>
          <a:ln w="12700">
            <a:solidFill>
              <a:srgbClr val="b0c1d5">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21" name="Shape 17"/>
          <p:cNvSpPr/>
          <p:nvPr/>
        </p:nvSpPr>
        <p:spPr>
          <a:xfrm>
            <a:off x="731520" y="3611880"/>
            <a:ext cx="2468520" cy="749520"/>
          </a:xfrm>
          <a:prstGeom prst="roundRect">
            <a:avLst>
              <a:gd name="adj" fmla="val 9756"/>
            </a:avLst>
          </a:prstGeom>
          <a:solidFill>
            <a:srgbClr val="1c69a2"/>
          </a:solidFill>
          <a:ln w="12700">
            <a:solidFill>
              <a:srgbClr val="1c69a2">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22" name="Text 18"/>
          <p:cNvSpPr/>
          <p:nvPr/>
        </p:nvSpPr>
        <p:spPr>
          <a:xfrm>
            <a:off x="841320" y="3721680"/>
            <a:ext cx="2248920" cy="5666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100" strike="noStrike" u="none">
                <a:solidFill>
                  <a:srgbClr val="06172f"/>
                </a:solidFill>
                <a:effectLst/>
                <a:uFillTx/>
                <a:latin typeface="Aptos"/>
              </a:rPr>
              <a:t>Impact</a:t>
            </a:r>
            <a:endParaRPr b="0" lang="en-US" sz="1100" strike="noStrike" u="none">
              <a:solidFill>
                <a:srgbClr val="ffffff"/>
              </a:solidFill>
              <a:effectLst/>
              <a:uFillTx/>
              <a:latin typeface="Arial"/>
            </a:endParaRPr>
          </a:p>
          <a:p>
            <a:pPr algn="ctr" defTabSz="914400">
              <a:lnSpc>
                <a:spcPct val="100000"/>
              </a:lnSpc>
              <a:tabLst>
                <a:tab algn="l" pos="0"/>
              </a:tabLst>
            </a:pPr>
            <a:r>
              <a:rPr b="1" lang="en-US" sz="1100" strike="noStrike" u="none">
                <a:solidFill>
                  <a:srgbClr val="06172f"/>
                </a:solidFill>
                <a:effectLst/>
                <a:uFillTx/>
                <a:latin typeface="Aptos"/>
              </a:rPr>
              <a:t>evaluation</a:t>
            </a:r>
            <a:endParaRPr b="0" lang="en-US" sz="1100" strike="noStrike" u="none">
              <a:solidFill>
                <a:srgbClr val="ffffff"/>
              </a:solidFill>
              <a:effectLst/>
              <a:uFillTx/>
              <a:latin typeface="Arial"/>
            </a:endParaRPr>
          </a:p>
        </p:txBody>
      </p:sp>
      <p:sp>
        <p:nvSpPr>
          <p:cNvPr id="323" name="Shape 19"/>
          <p:cNvSpPr/>
          <p:nvPr/>
        </p:nvSpPr>
        <p:spPr>
          <a:xfrm>
            <a:off x="1856160" y="4343400"/>
            <a:ext cx="219240" cy="145800"/>
          </a:xfrm>
          <a:prstGeom prst="downArrow">
            <a:avLst>
              <a:gd name="adj1" fmla="val 50000"/>
              <a:gd name="adj2" fmla="val 50000"/>
            </a:avLst>
          </a:prstGeom>
          <a:solidFill>
            <a:srgbClr val="b0c1d5"/>
          </a:solidFill>
          <a:ln w="12700">
            <a:solidFill>
              <a:srgbClr val="b0c1d5">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24" name="Shape 20"/>
          <p:cNvSpPr/>
          <p:nvPr/>
        </p:nvSpPr>
        <p:spPr>
          <a:xfrm>
            <a:off x="731520" y="4434840"/>
            <a:ext cx="2468520" cy="749520"/>
          </a:xfrm>
          <a:prstGeom prst="roundRect">
            <a:avLst>
              <a:gd name="adj" fmla="val 9756"/>
            </a:avLst>
          </a:prstGeom>
          <a:solidFill>
            <a:srgbClr val="f0be49"/>
          </a:solidFill>
          <a:ln w="12700">
            <a:solidFill>
              <a:srgbClr val="f0be49">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25" name="Text 21"/>
          <p:cNvSpPr/>
          <p:nvPr/>
        </p:nvSpPr>
        <p:spPr>
          <a:xfrm>
            <a:off x="841320" y="4544640"/>
            <a:ext cx="2248920" cy="5666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100" strike="noStrike" u="none">
                <a:solidFill>
                  <a:srgbClr val="06172f"/>
                </a:solidFill>
                <a:effectLst/>
                <a:uFillTx/>
                <a:latin typeface="Aptos"/>
              </a:rPr>
              <a:t>Mitigation</a:t>
            </a:r>
            <a:endParaRPr b="0" lang="en-US" sz="1100" strike="noStrike" u="none">
              <a:solidFill>
                <a:srgbClr val="ffffff"/>
              </a:solidFill>
              <a:effectLst/>
              <a:uFillTx/>
              <a:latin typeface="Arial"/>
            </a:endParaRPr>
          </a:p>
        </p:txBody>
      </p:sp>
      <p:sp>
        <p:nvSpPr>
          <p:cNvPr id="326" name="Shape 22"/>
          <p:cNvSpPr/>
          <p:nvPr/>
        </p:nvSpPr>
        <p:spPr>
          <a:xfrm>
            <a:off x="1856160" y="5166360"/>
            <a:ext cx="219240" cy="145800"/>
          </a:xfrm>
          <a:prstGeom prst="downArrow">
            <a:avLst>
              <a:gd name="adj1" fmla="val 50000"/>
              <a:gd name="adj2" fmla="val 50000"/>
            </a:avLst>
          </a:prstGeom>
          <a:solidFill>
            <a:srgbClr val="b0c1d5"/>
          </a:solidFill>
          <a:ln w="12700">
            <a:solidFill>
              <a:srgbClr val="b0c1d5">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27" name="Shape 23"/>
          <p:cNvSpPr/>
          <p:nvPr/>
        </p:nvSpPr>
        <p:spPr>
          <a:xfrm>
            <a:off x="731520" y="5257800"/>
            <a:ext cx="2468520" cy="749520"/>
          </a:xfrm>
          <a:prstGeom prst="roundRect">
            <a:avLst>
              <a:gd name="adj" fmla="val 9756"/>
            </a:avLst>
          </a:prstGeom>
          <a:solidFill>
            <a:srgbClr val="00b078"/>
          </a:solidFill>
          <a:ln w="12700">
            <a:solidFill>
              <a:srgbClr val="00b078">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28" name="Text 24"/>
          <p:cNvSpPr/>
          <p:nvPr/>
        </p:nvSpPr>
        <p:spPr>
          <a:xfrm>
            <a:off x="841320" y="5367600"/>
            <a:ext cx="2248920" cy="5666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100" strike="noStrike" u="none">
                <a:solidFill>
                  <a:srgbClr val="06172f"/>
                </a:solidFill>
                <a:effectLst/>
                <a:uFillTx/>
                <a:latin typeface="Aptos"/>
              </a:rPr>
              <a:t>Monitoring</a:t>
            </a:r>
            <a:endParaRPr b="0" lang="en-US" sz="1100" strike="noStrike" u="none">
              <a:solidFill>
                <a:srgbClr val="ffffff"/>
              </a:solidFill>
              <a:effectLst/>
              <a:uFillTx/>
              <a:latin typeface="Arial"/>
            </a:endParaRPr>
          </a:p>
          <a:p>
            <a:pPr algn="ctr" defTabSz="914400">
              <a:lnSpc>
                <a:spcPct val="100000"/>
              </a:lnSpc>
              <a:tabLst>
                <a:tab algn="l" pos="0"/>
              </a:tabLst>
            </a:pPr>
            <a:r>
              <a:rPr b="1" lang="en-US" sz="1100" strike="noStrike" u="none">
                <a:solidFill>
                  <a:srgbClr val="06172f"/>
                </a:solidFill>
                <a:effectLst/>
                <a:uFillTx/>
                <a:latin typeface="Aptos"/>
              </a:rPr>
              <a:t>and review</a:t>
            </a:r>
            <a:endParaRPr b="0" lang="en-US" sz="1100" strike="noStrike" u="none">
              <a:solidFill>
                <a:srgbClr val="ffffff"/>
              </a:solidFill>
              <a:effectLst/>
              <a:uFillTx/>
              <a:latin typeface="Arial"/>
            </a:endParaRPr>
          </a:p>
        </p:txBody>
      </p:sp>
      <p:sp>
        <p:nvSpPr>
          <p:cNvPr id="329" name="Shape 25"/>
          <p:cNvSpPr/>
          <p:nvPr/>
        </p:nvSpPr>
        <p:spPr>
          <a:xfrm>
            <a:off x="3657600" y="1234440"/>
            <a:ext cx="7680600" cy="1462680"/>
          </a:xfrm>
          <a:prstGeom prst="roundRect">
            <a:avLst>
              <a:gd name="adj" fmla="val 7500"/>
            </a:avLst>
          </a:prstGeom>
          <a:solidFill>
            <a:srgbClr val="0e2d4f">
              <a:alpha val="93000"/>
            </a:srgbClr>
          </a:solidFill>
          <a:ln w="12700">
            <a:solidFill>
              <a:srgbClr val="50d69b">
                <a:alpha val="7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30" name="Text 26"/>
          <p:cNvSpPr/>
          <p:nvPr/>
        </p:nvSpPr>
        <p:spPr>
          <a:xfrm>
            <a:off x="3822120" y="1353240"/>
            <a:ext cx="735156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50d69b"/>
                </a:solidFill>
                <a:effectLst/>
                <a:uFillTx/>
                <a:latin typeface="Aptos"/>
              </a:rPr>
              <a:t>Assessment scope</a:t>
            </a:r>
            <a:endParaRPr b="0" lang="en-US" sz="1600" strike="noStrike" u="none">
              <a:solidFill>
                <a:srgbClr val="ffffff"/>
              </a:solidFill>
              <a:effectLst/>
              <a:uFillTx/>
              <a:latin typeface="Arial"/>
            </a:endParaRPr>
          </a:p>
        </p:txBody>
      </p:sp>
      <p:sp>
        <p:nvSpPr>
          <p:cNvPr id="331" name="Text 27"/>
          <p:cNvSpPr/>
          <p:nvPr/>
        </p:nvSpPr>
        <p:spPr>
          <a:xfrm>
            <a:off x="3877200" y="1737360"/>
            <a:ext cx="7241760" cy="895680"/>
          </a:xfrm>
          <a:prstGeom prst="rect">
            <a:avLst/>
          </a:prstGeom>
          <a:noFill/>
          <a:ln w="0">
            <a:noFill/>
          </a:ln>
        </p:spPr>
        <p:style>
          <a:lnRef idx="0"/>
          <a:fillRef idx="0"/>
          <a:effectRef idx="0"/>
          <a:fontRef idx="minor"/>
        </p:style>
        <p:txBody>
          <a:bodyPr lIns="1080" rIns="1080" tIns="1080" bIns="1080" anchor="t">
            <a:normAutofit/>
          </a:bodyPr>
          <a:p>
            <a:pPr defTabSz="914400">
              <a:lnSpc>
                <a:spcPct val="100000"/>
              </a:lnSpc>
            </a:pPr>
            <a:r>
              <a:rPr b="0" lang="en-US" sz="1300" strike="noStrike" u="none">
                <a:solidFill>
                  <a:srgbClr val="f5f8fc"/>
                </a:solidFill>
                <a:effectLst/>
                <a:uFillTx/>
                <a:latin typeface="Aptos"/>
                <a:ea typeface="Aptos"/>
              </a:rPr>
              <a:t>The assessment considers energy benefits, site conditions, water use, thermal discharge, waste management, radiation safety, biodiversity and community impact.</a:t>
            </a:r>
            <a:endParaRPr b="0" lang="en-US" sz="1300" strike="noStrike" u="none">
              <a:solidFill>
                <a:srgbClr val="ffffff"/>
              </a:solidFill>
              <a:effectLst/>
              <a:uFillTx/>
              <a:latin typeface="Arial"/>
            </a:endParaRPr>
          </a:p>
        </p:txBody>
      </p:sp>
      <p:sp>
        <p:nvSpPr>
          <p:cNvPr id="332" name="Shape 28"/>
          <p:cNvSpPr/>
          <p:nvPr/>
        </p:nvSpPr>
        <p:spPr>
          <a:xfrm>
            <a:off x="3657600" y="3063240"/>
            <a:ext cx="7680600" cy="1416960"/>
          </a:xfrm>
          <a:prstGeom prst="roundRect">
            <a:avLst>
              <a:gd name="adj" fmla="val 7742"/>
            </a:avLst>
          </a:prstGeom>
          <a:solidFill>
            <a:srgbClr val="0e2d4f">
              <a:alpha val="93000"/>
            </a:srgbClr>
          </a:solidFill>
          <a:ln w="12700">
            <a:solidFill>
              <a:srgbClr val="5bd2ff">
                <a:alpha val="7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33" name="Text 29"/>
          <p:cNvSpPr/>
          <p:nvPr/>
        </p:nvSpPr>
        <p:spPr>
          <a:xfrm>
            <a:off x="3822120" y="3182040"/>
            <a:ext cx="735156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50d69b"/>
                </a:solidFill>
                <a:effectLst/>
                <a:uFillTx/>
                <a:latin typeface="Aptos"/>
              </a:rPr>
              <a:t>Evidence basis</a:t>
            </a:r>
            <a:endParaRPr b="0" lang="en-US" sz="1600" strike="noStrike" u="none">
              <a:solidFill>
                <a:srgbClr val="ffffff"/>
              </a:solidFill>
              <a:effectLst/>
              <a:uFillTx/>
              <a:latin typeface="Arial"/>
            </a:endParaRPr>
          </a:p>
        </p:txBody>
      </p:sp>
      <p:sp>
        <p:nvSpPr>
          <p:cNvPr id="334" name="Text 30"/>
          <p:cNvSpPr/>
          <p:nvPr/>
        </p:nvSpPr>
        <p:spPr>
          <a:xfrm>
            <a:off x="3877200" y="3566160"/>
            <a:ext cx="7241760" cy="849960"/>
          </a:xfrm>
          <a:prstGeom prst="rect">
            <a:avLst/>
          </a:prstGeom>
          <a:noFill/>
          <a:ln w="0">
            <a:noFill/>
          </a:ln>
        </p:spPr>
        <p:style>
          <a:lnRef idx="0"/>
          <a:fillRef idx="0"/>
          <a:effectRef idx="0"/>
          <a:fontRef idx="minor"/>
        </p:style>
        <p:txBody>
          <a:bodyPr lIns="1080" rIns="1080" tIns="1080" bIns="1080" anchor="t">
            <a:normAutofit/>
          </a:bodyPr>
          <a:p>
            <a:pPr defTabSz="914400">
              <a:lnSpc>
                <a:spcPct val="100000"/>
              </a:lnSpc>
            </a:pPr>
            <a:r>
              <a:rPr b="0" lang="en-US" sz="1300" strike="noStrike" u="none">
                <a:solidFill>
                  <a:srgbClr val="f5f8fc"/>
                </a:solidFill>
                <a:effectLst/>
                <a:uFillTx/>
                <a:latin typeface="Aptos"/>
                <a:ea typeface="Aptos"/>
              </a:rPr>
              <a:t>The deck is structured around the uploaded RNPP content: capacity, technology, environmental benefits, potential risks, mitigation and governance.</a:t>
            </a:r>
            <a:endParaRPr b="0" lang="en-US" sz="1300" strike="noStrike" u="none">
              <a:solidFill>
                <a:srgbClr val="ffffff"/>
              </a:solidFill>
              <a:effectLst/>
              <a:uFillTx/>
              <a:latin typeface="Arial"/>
            </a:endParaRPr>
          </a:p>
        </p:txBody>
      </p:sp>
      <p:sp>
        <p:nvSpPr>
          <p:cNvPr id="335" name="Shape 31"/>
          <p:cNvSpPr/>
          <p:nvPr/>
        </p:nvSpPr>
        <p:spPr>
          <a:xfrm>
            <a:off x="3657600" y="4800600"/>
            <a:ext cx="7680600" cy="914040"/>
          </a:xfrm>
          <a:prstGeom prst="roundRect">
            <a:avLst>
              <a:gd name="adj" fmla="val 12000"/>
            </a:avLst>
          </a:prstGeom>
          <a:solidFill>
            <a:srgbClr val="0e2d4f">
              <a:alpha val="93000"/>
            </a:srgbClr>
          </a:solidFill>
          <a:ln w="12700">
            <a:solidFill>
              <a:srgbClr val="f0be49">
                <a:alpha val="7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36" name="Text 32"/>
          <p:cNvSpPr/>
          <p:nvPr/>
        </p:nvSpPr>
        <p:spPr>
          <a:xfrm>
            <a:off x="3822120" y="4919400"/>
            <a:ext cx="735156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50d69b"/>
                </a:solidFill>
                <a:effectLst/>
                <a:uFillTx/>
                <a:latin typeface="Aptos"/>
              </a:rPr>
              <a:t>Management logic</a:t>
            </a:r>
            <a:endParaRPr b="0" lang="en-US" sz="1600" strike="noStrike" u="none">
              <a:solidFill>
                <a:srgbClr val="ffffff"/>
              </a:solidFill>
              <a:effectLst/>
              <a:uFillTx/>
              <a:latin typeface="Arial"/>
            </a:endParaRPr>
          </a:p>
        </p:txBody>
      </p:sp>
      <p:sp>
        <p:nvSpPr>
          <p:cNvPr id="337" name="Text 33"/>
          <p:cNvSpPr/>
          <p:nvPr/>
        </p:nvSpPr>
        <p:spPr>
          <a:xfrm>
            <a:off x="3877200" y="5303520"/>
            <a:ext cx="7241760" cy="347040"/>
          </a:xfrm>
          <a:prstGeom prst="rect">
            <a:avLst/>
          </a:prstGeom>
          <a:noFill/>
          <a:ln w="0">
            <a:noFill/>
          </a:ln>
        </p:spPr>
        <p:style>
          <a:lnRef idx="0"/>
          <a:fillRef idx="0"/>
          <a:effectRef idx="0"/>
          <a:fontRef idx="minor"/>
        </p:style>
        <p:txBody>
          <a:bodyPr lIns="1080" rIns="1080" tIns="1080" bIns="1080" anchor="t">
            <a:normAutofit fontScale="92500" lnSpcReduction="9999"/>
          </a:bodyPr>
          <a:p>
            <a:pPr defTabSz="914400">
              <a:lnSpc>
                <a:spcPct val="100000"/>
              </a:lnSpc>
            </a:pPr>
            <a:r>
              <a:rPr b="0" lang="en-US" sz="1300" strike="noStrike" u="none">
                <a:solidFill>
                  <a:srgbClr val="f5f8fc"/>
                </a:solidFill>
                <a:effectLst/>
                <a:uFillTx/>
                <a:latin typeface="Aptos"/>
                <a:ea typeface="Aptos"/>
              </a:rPr>
              <a:t>EIA is treated as a decision-support process: identify impacts, reduce negative effects, monitor outcomes and adjust management.</a:t>
            </a:r>
            <a:endParaRPr b="0" lang="en-US" sz="1300" strike="noStrike" u="none">
              <a:solidFill>
                <a:srgbClr val="ffffff"/>
              </a:solidFill>
              <a:effectLst/>
              <a:uFillTx/>
              <a:latin typeface="Arial"/>
            </a:endParaRPr>
          </a:p>
        </p:txBody>
      </p:sp>
    </p:spTree>
  </p:cSld>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6172f"/>
        </a:solidFill>
      </p:bgPr>
    </p:bg>
    <p:spTree>
      <p:nvGrpSpPr>
        <p:cNvPr id="1" name=""/>
        <p:cNvGrpSpPr/>
        <p:nvPr/>
      </p:nvGrpSpPr>
      <p:grpSpPr>
        <a:xfrm>
          <a:off x="0" y="0"/>
          <a:ext cx="0" cy="0"/>
          <a:chOff x="0" y="0"/>
          <a:chExt cx="0" cy="0"/>
        </a:xfrm>
      </p:grpSpPr>
      <p:sp>
        <p:nvSpPr>
          <p:cNvPr id="338" name="Shape 0"/>
          <p:cNvSpPr/>
          <p:nvPr/>
        </p:nvSpPr>
        <p:spPr>
          <a:xfrm>
            <a:off x="0" y="0"/>
            <a:ext cx="12191400" cy="6857640"/>
          </a:xfrm>
          <a:prstGeom prst="rect">
            <a:avLst/>
          </a:prstGeom>
          <a:solidFill>
            <a:srgbClr val="06172f"/>
          </a:solidFill>
          <a:ln w="12700">
            <a:solidFill>
              <a:srgbClr val="06172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39" name="Shape 1"/>
          <p:cNvSpPr/>
          <p:nvPr/>
        </p:nvSpPr>
        <p:spPr>
          <a:xfrm>
            <a:off x="7680960" y="-1005840"/>
            <a:ext cx="4388760" cy="2925720"/>
          </a:xfrm>
          <a:prstGeom prst="arc">
            <a:avLst>
              <a:gd name="adj1" fmla="val 16200000"/>
              <a:gd name="adj2" fmla="val 0"/>
            </a:avLst>
          </a:prstGeom>
          <a:solidFill>
            <a:srgbClr val="0e3a68">
              <a:alpha val="75000"/>
            </a:srgbClr>
          </a:solidFill>
          <a:ln w="12700">
            <a:solidFill>
              <a:srgbClr val="0e3a68">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40" name="Shape 2"/>
          <p:cNvSpPr/>
          <p:nvPr/>
        </p:nvSpPr>
        <p:spPr>
          <a:xfrm>
            <a:off x="8778240" y="-777240"/>
            <a:ext cx="3474360" cy="2285640"/>
          </a:xfrm>
          <a:prstGeom prst="arc">
            <a:avLst>
              <a:gd name="adj1" fmla="val 16200000"/>
              <a:gd name="adj2" fmla="val 0"/>
            </a:avLst>
          </a:prstGeom>
          <a:solidFill>
            <a:srgbClr val="0b4d5e">
              <a:alpha val="65000"/>
            </a:srgbClr>
          </a:solidFill>
          <a:ln w="12700">
            <a:solidFill>
              <a:srgbClr val="0b4d5e">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41" name="Shape 3"/>
          <p:cNvSpPr/>
          <p:nvPr/>
        </p:nvSpPr>
        <p:spPr>
          <a:xfrm>
            <a:off x="0" y="0"/>
            <a:ext cx="109440" cy="6857640"/>
          </a:xfrm>
          <a:prstGeom prst="rect">
            <a:avLst/>
          </a:prstGeom>
          <a:solidFill>
            <a:srgbClr val="00b078"/>
          </a:solidFill>
          <a:ln w="12700">
            <a:solidFill>
              <a:srgbClr val="00b078">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42" name="Shape 4"/>
          <p:cNvSpPr/>
          <p:nvPr/>
        </p:nvSpPr>
        <p:spPr>
          <a:xfrm>
            <a:off x="320040" y="6565320"/>
            <a:ext cx="11521080" cy="16200"/>
          </a:xfrm>
          <a:prstGeom prst="rect">
            <a:avLst/>
          </a:prstGeom>
          <a:solidFill>
            <a:srgbClr val="435d78"/>
          </a:solidFill>
          <a:ln w="12700">
            <a:solidFill>
              <a:srgbClr val="435d78">
                <a:alpha val="0"/>
              </a:srgbClr>
            </a:solidFill>
            <a:round/>
          </a:ln>
        </p:spPr>
        <p:style>
          <a:lnRef idx="0"/>
          <a:fillRef idx="0"/>
          <a:effectRef idx="0"/>
          <a:fontRef idx="minor"/>
        </p:style>
        <p:txBody>
          <a:bodyPr lIns="90000" rIns="90000" tIns="-28440" bIns="-28440" anchor="t">
            <a:noAutofit/>
          </a:bodyPr>
          <a:p>
            <a:endParaRPr b="0" lang="en-US" sz="1800" strike="noStrike" u="none">
              <a:solidFill>
                <a:srgbClr val="ffffff"/>
              </a:solidFill>
              <a:effectLst/>
              <a:uFillTx/>
              <a:latin typeface="Arial"/>
            </a:endParaRPr>
          </a:p>
        </p:txBody>
      </p:sp>
      <p:sp>
        <p:nvSpPr>
          <p:cNvPr id="343" name="Text 5"/>
          <p:cNvSpPr/>
          <p:nvPr/>
        </p:nvSpPr>
        <p:spPr>
          <a:xfrm>
            <a:off x="11356920" y="6602040"/>
            <a:ext cx="502560" cy="13680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50" strike="noStrike" u="none">
                <a:solidFill>
                  <a:srgbClr val="b0c1d5"/>
                </a:solidFill>
                <a:effectLst/>
                <a:uFillTx/>
                <a:latin typeface="Aptos"/>
                <a:ea typeface="Aptos"/>
              </a:rPr>
              <a:t>12</a:t>
            </a:r>
            <a:endParaRPr b="0" lang="en-US" sz="950" strike="noStrike" u="none">
              <a:solidFill>
                <a:srgbClr val="ffffff"/>
              </a:solidFill>
              <a:effectLst/>
              <a:uFillTx/>
              <a:latin typeface="Arial"/>
            </a:endParaRPr>
          </a:p>
        </p:txBody>
      </p:sp>
      <p:sp>
        <p:nvSpPr>
          <p:cNvPr id="344" name="Text 6"/>
          <p:cNvSpPr/>
          <p:nvPr/>
        </p:nvSpPr>
        <p:spPr>
          <a:xfrm>
            <a:off x="475560" y="228600"/>
            <a:ext cx="10972440" cy="383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500" strike="noStrike" u="none">
                <a:solidFill>
                  <a:srgbClr val="f5f8fc"/>
                </a:solidFill>
                <a:effectLst/>
                <a:uFillTx/>
                <a:latin typeface="Aptos Display"/>
                <a:ea typeface="Aptos Display"/>
              </a:rPr>
              <a:t>Reactor Coolant System</a:t>
            </a:r>
            <a:endParaRPr b="0" lang="en-US" sz="2500" strike="noStrike" u="none">
              <a:solidFill>
                <a:srgbClr val="ffffff"/>
              </a:solidFill>
              <a:effectLst/>
              <a:uFillTx/>
              <a:latin typeface="Arial"/>
            </a:endParaRPr>
          </a:p>
        </p:txBody>
      </p:sp>
      <p:sp>
        <p:nvSpPr>
          <p:cNvPr id="345" name="Text 7"/>
          <p:cNvSpPr/>
          <p:nvPr/>
        </p:nvSpPr>
        <p:spPr>
          <a:xfrm>
            <a:off x="502920" y="704160"/>
            <a:ext cx="10835280" cy="255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50" strike="noStrike" u="none">
                <a:solidFill>
                  <a:srgbClr val="b0c1d5"/>
                </a:solidFill>
                <a:effectLst/>
                <a:uFillTx/>
                <a:latin typeface="Aptos"/>
              </a:rPr>
              <a:t>Cooling, heat transfer and river protection</a:t>
            </a:r>
            <a:endParaRPr b="0" lang="en-US" sz="1250" strike="noStrike" u="none">
              <a:solidFill>
                <a:srgbClr val="ffffff"/>
              </a:solidFill>
              <a:effectLst/>
              <a:uFillTx/>
              <a:latin typeface="Arial"/>
            </a:endParaRPr>
          </a:p>
        </p:txBody>
      </p:sp>
      <p:sp>
        <p:nvSpPr>
          <p:cNvPr id="346" name="Shape 8"/>
          <p:cNvSpPr/>
          <p:nvPr/>
        </p:nvSpPr>
        <p:spPr>
          <a:xfrm>
            <a:off x="685800" y="1234440"/>
            <a:ext cx="5211720" cy="4480200"/>
          </a:xfrm>
          <a:prstGeom prst="roundRect">
            <a:avLst>
              <a:gd name="adj" fmla="val 2449"/>
            </a:avLst>
          </a:prstGeom>
          <a:solidFill>
            <a:srgbClr val="5bd2ff">
              <a:alpha val="95000"/>
            </a:srgbClr>
          </a:solidFill>
          <a:ln w="12700">
            <a:solidFill>
              <a:srgbClr val="5bd2ff">
                <a:alpha val="7000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47" name="Shape 9"/>
          <p:cNvSpPr/>
          <p:nvPr/>
        </p:nvSpPr>
        <p:spPr>
          <a:xfrm>
            <a:off x="1143000" y="1828800"/>
            <a:ext cx="1142640" cy="731160"/>
          </a:xfrm>
          <a:prstGeom prst="rect">
            <a:avLst/>
          </a:prstGeom>
          <a:solidFill>
            <a:srgbClr val="0e2d4f"/>
          </a:solidFill>
          <a:ln w="12700">
            <a:solidFill>
              <a:srgbClr val="b0c1d5"/>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48" name="Text 10"/>
          <p:cNvSpPr/>
          <p:nvPr/>
        </p:nvSpPr>
        <p:spPr>
          <a:xfrm>
            <a:off x="1170360" y="2084760"/>
            <a:ext cx="1078560" cy="182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00" strike="noStrike" u="none">
                <a:solidFill>
                  <a:srgbClr val="f5f8fc"/>
                </a:solidFill>
                <a:effectLst/>
                <a:uFillTx/>
                <a:latin typeface="Aptos"/>
              </a:rPr>
              <a:t>Reactor</a:t>
            </a:r>
            <a:endParaRPr b="0" lang="en-US" sz="1200" strike="noStrike" u="none">
              <a:solidFill>
                <a:srgbClr val="ffffff"/>
              </a:solidFill>
              <a:effectLst/>
              <a:uFillTx/>
              <a:latin typeface="Arial"/>
            </a:endParaRPr>
          </a:p>
        </p:txBody>
      </p:sp>
      <p:sp>
        <p:nvSpPr>
          <p:cNvPr id="349" name="Shape 11"/>
          <p:cNvSpPr/>
          <p:nvPr/>
        </p:nvSpPr>
        <p:spPr>
          <a:xfrm>
            <a:off x="2331720" y="2057400"/>
            <a:ext cx="914040" cy="255600"/>
          </a:xfrm>
          <a:prstGeom prst="rightArrow">
            <a:avLst>
              <a:gd name="adj1" fmla="val 50000"/>
              <a:gd name="adj2" fmla="val 50000"/>
            </a:avLst>
          </a:prstGeom>
          <a:solidFill>
            <a:srgbClr val="00b078"/>
          </a:solidFill>
          <a:ln w="12700">
            <a:solidFill>
              <a:srgbClr val="00b078">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50" name="Shape 12"/>
          <p:cNvSpPr/>
          <p:nvPr/>
        </p:nvSpPr>
        <p:spPr>
          <a:xfrm>
            <a:off x="3337560" y="1828800"/>
            <a:ext cx="1416960" cy="731160"/>
          </a:xfrm>
          <a:prstGeom prst="rect">
            <a:avLst/>
          </a:prstGeom>
          <a:solidFill>
            <a:srgbClr val="1c69a2"/>
          </a:solidFill>
          <a:ln w="12700">
            <a:solidFill>
              <a:srgbClr val="b0c1d5"/>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51" name="Text 13"/>
          <p:cNvSpPr/>
          <p:nvPr/>
        </p:nvSpPr>
        <p:spPr>
          <a:xfrm>
            <a:off x="3401640" y="1984320"/>
            <a:ext cx="127980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050" strike="noStrike" u="none">
                <a:solidFill>
                  <a:srgbClr val="f5f8fc"/>
                </a:solidFill>
                <a:effectLst/>
                <a:uFillTx/>
                <a:latin typeface="Aptos"/>
              </a:rPr>
              <a:t>Steam</a:t>
            </a:r>
            <a:endParaRPr b="0" lang="en-US" sz="1050" strike="noStrike" u="none">
              <a:solidFill>
                <a:srgbClr val="ffffff"/>
              </a:solidFill>
              <a:effectLst/>
              <a:uFillTx/>
              <a:latin typeface="Arial"/>
            </a:endParaRPr>
          </a:p>
          <a:p>
            <a:pPr algn="ctr" defTabSz="914400">
              <a:lnSpc>
                <a:spcPct val="100000"/>
              </a:lnSpc>
              <a:tabLst>
                <a:tab algn="l" pos="0"/>
              </a:tabLst>
            </a:pPr>
            <a:r>
              <a:rPr b="1" lang="en-US" sz="1050" strike="noStrike" u="none">
                <a:solidFill>
                  <a:srgbClr val="f5f8fc"/>
                </a:solidFill>
                <a:effectLst/>
                <a:uFillTx/>
                <a:latin typeface="Aptos"/>
              </a:rPr>
              <a:t>Generator</a:t>
            </a:r>
            <a:endParaRPr b="0" lang="en-US" sz="1050" strike="noStrike" u="none">
              <a:solidFill>
                <a:srgbClr val="ffffff"/>
              </a:solidFill>
              <a:effectLst/>
              <a:uFillTx/>
              <a:latin typeface="Arial"/>
            </a:endParaRPr>
          </a:p>
        </p:txBody>
      </p:sp>
      <p:sp>
        <p:nvSpPr>
          <p:cNvPr id="352" name="Shape 14"/>
          <p:cNvSpPr/>
          <p:nvPr/>
        </p:nvSpPr>
        <p:spPr>
          <a:xfrm>
            <a:off x="3886200" y="2606040"/>
            <a:ext cx="319680" cy="731160"/>
          </a:xfrm>
          <a:prstGeom prst="downArrow">
            <a:avLst>
              <a:gd name="adj1" fmla="val 50000"/>
              <a:gd name="adj2" fmla="val 50000"/>
            </a:avLst>
          </a:prstGeom>
          <a:solidFill>
            <a:srgbClr val="5bd2ff"/>
          </a:solidFill>
          <a:ln w="12700">
            <a:solidFill>
              <a:srgbClr val="5bd2f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53" name="Shape 15"/>
          <p:cNvSpPr/>
          <p:nvPr/>
        </p:nvSpPr>
        <p:spPr>
          <a:xfrm>
            <a:off x="1188720" y="3657600"/>
            <a:ext cx="3931560" cy="548280"/>
          </a:xfrm>
          <a:prstGeom prst="wave">
            <a:avLst>
              <a:gd name="adj1" fmla="val 12500"/>
              <a:gd name="adj2" fmla="val 0"/>
            </a:avLst>
          </a:prstGeom>
          <a:solidFill>
            <a:srgbClr val="1c69a2">
              <a:alpha val="95000"/>
            </a:srgbClr>
          </a:solidFill>
          <a:ln w="12700">
            <a:solidFill>
              <a:srgbClr val="1c69a2">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54" name="Text 16"/>
          <p:cNvSpPr/>
          <p:nvPr/>
        </p:nvSpPr>
        <p:spPr>
          <a:xfrm>
            <a:off x="1188720" y="4389120"/>
            <a:ext cx="3931560" cy="2282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00" strike="noStrike" u="none">
                <a:solidFill>
                  <a:srgbClr val="f5f8fc"/>
                </a:solidFill>
                <a:effectLst/>
                <a:uFillTx/>
                <a:latin typeface="Aptos"/>
              </a:rPr>
              <a:t>Cooling-water protection logic</a:t>
            </a:r>
            <a:endParaRPr b="0" lang="en-US" sz="1200" strike="noStrike" u="none">
              <a:solidFill>
                <a:srgbClr val="ffffff"/>
              </a:solidFill>
              <a:effectLst/>
              <a:uFillTx/>
              <a:latin typeface="Arial"/>
            </a:endParaRPr>
          </a:p>
        </p:txBody>
      </p:sp>
      <p:sp>
        <p:nvSpPr>
          <p:cNvPr id="355" name="Shape 17"/>
          <p:cNvSpPr/>
          <p:nvPr/>
        </p:nvSpPr>
        <p:spPr>
          <a:xfrm>
            <a:off x="6217920" y="1234440"/>
            <a:ext cx="5074560" cy="1416960"/>
          </a:xfrm>
          <a:prstGeom prst="roundRect">
            <a:avLst>
              <a:gd name="adj" fmla="val 7742"/>
            </a:avLst>
          </a:prstGeom>
          <a:solidFill>
            <a:srgbClr val="0e2d4f">
              <a:alpha val="93000"/>
            </a:srgbClr>
          </a:solidFill>
          <a:ln w="12700">
            <a:solidFill>
              <a:srgbClr val="e15a5a">
                <a:alpha val="7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56" name="Text 18"/>
          <p:cNvSpPr/>
          <p:nvPr/>
        </p:nvSpPr>
        <p:spPr>
          <a:xfrm>
            <a:off x="6382440" y="1353240"/>
            <a:ext cx="474552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50d69b"/>
                </a:solidFill>
                <a:effectLst/>
                <a:uFillTx/>
                <a:latin typeface="Aptos"/>
              </a:rPr>
              <a:t>Environmental concern</a:t>
            </a:r>
            <a:endParaRPr b="0" lang="en-US" sz="1600" strike="noStrike" u="none">
              <a:solidFill>
                <a:srgbClr val="ffffff"/>
              </a:solidFill>
              <a:effectLst/>
              <a:uFillTx/>
              <a:latin typeface="Arial"/>
            </a:endParaRPr>
          </a:p>
        </p:txBody>
      </p:sp>
      <p:sp>
        <p:nvSpPr>
          <p:cNvPr id="357" name="Text 19"/>
          <p:cNvSpPr/>
          <p:nvPr/>
        </p:nvSpPr>
        <p:spPr>
          <a:xfrm>
            <a:off x="6437520" y="1737360"/>
            <a:ext cx="4635720" cy="849960"/>
          </a:xfrm>
          <a:prstGeom prst="rect">
            <a:avLst/>
          </a:prstGeom>
          <a:noFill/>
          <a:ln w="0">
            <a:noFill/>
          </a:ln>
        </p:spPr>
        <p:style>
          <a:lnRef idx="0"/>
          <a:fillRef idx="0"/>
          <a:effectRef idx="0"/>
          <a:fontRef idx="minor"/>
        </p:style>
        <p:txBody>
          <a:bodyPr lIns="1080" rIns="1080" tIns="1080" bIns="1080" anchor="t">
            <a:normAutofit/>
          </a:bodyPr>
          <a:p>
            <a:pPr defTabSz="914400">
              <a:lnSpc>
                <a:spcPct val="100000"/>
              </a:lnSpc>
            </a:pPr>
            <a:r>
              <a:rPr b="0" lang="en-US" sz="1300" strike="noStrike" u="none">
                <a:solidFill>
                  <a:srgbClr val="f5f8fc"/>
                </a:solidFill>
                <a:effectLst/>
                <a:uFillTx/>
                <a:latin typeface="Aptos"/>
                <a:ea typeface="Aptos"/>
              </a:rPr>
              <a:t>The source deck identifies thermal pollution in the Padma River as an important environmental issue requiring continuous monitoring.</a:t>
            </a:r>
            <a:endParaRPr b="0" lang="en-US" sz="1300" strike="noStrike" u="none">
              <a:solidFill>
                <a:srgbClr val="ffffff"/>
              </a:solidFill>
              <a:effectLst/>
              <a:uFillTx/>
              <a:latin typeface="Arial"/>
            </a:endParaRPr>
          </a:p>
        </p:txBody>
      </p:sp>
      <p:sp>
        <p:nvSpPr>
          <p:cNvPr id="358" name="Shape 20"/>
          <p:cNvSpPr/>
          <p:nvPr/>
        </p:nvSpPr>
        <p:spPr>
          <a:xfrm>
            <a:off x="6217920" y="2880360"/>
            <a:ext cx="5074560" cy="1416960"/>
          </a:xfrm>
          <a:prstGeom prst="roundRect">
            <a:avLst>
              <a:gd name="adj" fmla="val 7742"/>
            </a:avLst>
          </a:prstGeom>
          <a:solidFill>
            <a:srgbClr val="0e2d4f">
              <a:alpha val="93000"/>
            </a:srgbClr>
          </a:solidFill>
          <a:ln w="12700">
            <a:solidFill>
              <a:srgbClr val="50d69b">
                <a:alpha val="7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59" name="Text 21"/>
          <p:cNvSpPr/>
          <p:nvPr/>
        </p:nvSpPr>
        <p:spPr>
          <a:xfrm>
            <a:off x="6382440" y="2999160"/>
            <a:ext cx="474552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50d69b"/>
                </a:solidFill>
                <a:effectLst/>
                <a:uFillTx/>
                <a:latin typeface="Aptos"/>
              </a:rPr>
              <a:t>Safeguard</a:t>
            </a:r>
            <a:endParaRPr b="0" lang="en-US" sz="1600" strike="noStrike" u="none">
              <a:solidFill>
                <a:srgbClr val="ffffff"/>
              </a:solidFill>
              <a:effectLst/>
              <a:uFillTx/>
              <a:latin typeface="Arial"/>
            </a:endParaRPr>
          </a:p>
        </p:txBody>
      </p:sp>
      <p:sp>
        <p:nvSpPr>
          <p:cNvPr id="360" name="Text 22"/>
          <p:cNvSpPr/>
          <p:nvPr/>
        </p:nvSpPr>
        <p:spPr>
          <a:xfrm>
            <a:off x="6437520" y="3383280"/>
            <a:ext cx="4635720" cy="849960"/>
          </a:xfrm>
          <a:prstGeom prst="rect">
            <a:avLst/>
          </a:prstGeom>
          <a:noFill/>
          <a:ln w="0">
            <a:noFill/>
          </a:ln>
        </p:spPr>
        <p:style>
          <a:lnRef idx="0"/>
          <a:fillRef idx="0"/>
          <a:effectRef idx="0"/>
          <a:fontRef idx="minor"/>
        </p:style>
        <p:txBody>
          <a:bodyPr lIns="1080" rIns="1080" tIns="1080" bIns="1080" anchor="t">
            <a:normAutofit/>
          </a:bodyPr>
          <a:p>
            <a:pPr defTabSz="914400">
              <a:lnSpc>
                <a:spcPct val="100000"/>
              </a:lnSpc>
            </a:pPr>
            <a:r>
              <a:rPr b="0" lang="en-US" sz="1300" strike="noStrike" u="none">
                <a:solidFill>
                  <a:srgbClr val="f5f8fc"/>
                </a:solidFill>
                <a:effectLst/>
                <a:uFillTx/>
                <a:latin typeface="Aptos"/>
                <a:ea typeface="Aptos"/>
              </a:rPr>
              <a:t>Cooling systems should dissipate heat before discharge to keep final water temperatures within safe environmental limits.</a:t>
            </a:r>
            <a:endParaRPr b="0" lang="en-US" sz="1300" strike="noStrike" u="none">
              <a:solidFill>
                <a:srgbClr val="ffffff"/>
              </a:solidFill>
              <a:effectLst/>
              <a:uFillTx/>
              <a:latin typeface="Arial"/>
            </a:endParaRPr>
          </a:p>
        </p:txBody>
      </p:sp>
      <p:sp>
        <p:nvSpPr>
          <p:cNvPr id="361" name="Shape 23"/>
          <p:cNvSpPr/>
          <p:nvPr/>
        </p:nvSpPr>
        <p:spPr>
          <a:xfrm>
            <a:off x="6217920" y="4526280"/>
            <a:ext cx="5074560" cy="1234080"/>
          </a:xfrm>
          <a:prstGeom prst="roundRect">
            <a:avLst>
              <a:gd name="adj" fmla="val 8889"/>
            </a:avLst>
          </a:prstGeom>
          <a:solidFill>
            <a:srgbClr val="0e2d4f">
              <a:alpha val="93000"/>
            </a:srgbClr>
          </a:solidFill>
          <a:ln w="12700">
            <a:solidFill>
              <a:srgbClr val="5bd2ff">
                <a:alpha val="7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62" name="Text 24"/>
          <p:cNvSpPr/>
          <p:nvPr/>
        </p:nvSpPr>
        <p:spPr>
          <a:xfrm>
            <a:off x="6382440" y="4645080"/>
            <a:ext cx="474552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50d69b"/>
                </a:solidFill>
                <a:effectLst/>
                <a:uFillTx/>
                <a:latin typeface="Aptos"/>
              </a:rPr>
              <a:t>Monitoring parameter</a:t>
            </a:r>
            <a:endParaRPr b="0" lang="en-US" sz="1600" strike="noStrike" u="none">
              <a:solidFill>
                <a:srgbClr val="ffffff"/>
              </a:solidFill>
              <a:effectLst/>
              <a:uFillTx/>
              <a:latin typeface="Arial"/>
            </a:endParaRPr>
          </a:p>
        </p:txBody>
      </p:sp>
      <p:sp>
        <p:nvSpPr>
          <p:cNvPr id="363" name="Text 25"/>
          <p:cNvSpPr/>
          <p:nvPr/>
        </p:nvSpPr>
        <p:spPr>
          <a:xfrm>
            <a:off x="6437520" y="5029200"/>
            <a:ext cx="4635720" cy="667080"/>
          </a:xfrm>
          <a:prstGeom prst="rect">
            <a:avLst/>
          </a:prstGeom>
          <a:noFill/>
          <a:ln w="0">
            <a:noFill/>
          </a:ln>
        </p:spPr>
        <p:style>
          <a:lnRef idx="0"/>
          <a:fillRef idx="0"/>
          <a:effectRef idx="0"/>
          <a:fontRef idx="minor"/>
        </p:style>
        <p:txBody>
          <a:bodyPr lIns="1080" rIns="1080" tIns="1080" bIns="1080" anchor="t">
            <a:normAutofit/>
          </a:bodyPr>
          <a:p>
            <a:pPr defTabSz="914400">
              <a:lnSpc>
                <a:spcPct val="100000"/>
              </a:lnSpc>
            </a:pPr>
            <a:r>
              <a:rPr b="0" lang="en-US" sz="1300" strike="noStrike" u="none">
                <a:solidFill>
                  <a:srgbClr val="f5f8fc"/>
                </a:solidFill>
                <a:effectLst/>
                <a:uFillTx/>
                <a:latin typeface="Aptos"/>
                <a:ea typeface="Aptos"/>
              </a:rPr>
              <a:t>Important parameters include river temperature, discharge temperature, dissolved oxygen and fish-response indicators.</a:t>
            </a:r>
            <a:endParaRPr b="0" lang="en-US" sz="1300" strike="noStrike" u="none">
              <a:solidFill>
                <a:srgbClr val="ffffff"/>
              </a:solidFill>
              <a:effectLst/>
              <a:uFillTx/>
              <a:latin typeface="Arial"/>
            </a:endParaRPr>
          </a:p>
        </p:txBody>
      </p:sp>
    </p:spTree>
  </p:cSld>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6172f"/>
        </a:solidFill>
      </p:bgPr>
    </p:bg>
    <p:spTree>
      <p:nvGrpSpPr>
        <p:cNvPr id="1" name=""/>
        <p:cNvGrpSpPr/>
        <p:nvPr/>
      </p:nvGrpSpPr>
      <p:grpSpPr>
        <a:xfrm>
          <a:off x="0" y="0"/>
          <a:ext cx="0" cy="0"/>
          <a:chOff x="0" y="0"/>
          <a:chExt cx="0" cy="0"/>
        </a:xfrm>
      </p:grpSpPr>
      <p:sp>
        <p:nvSpPr>
          <p:cNvPr id="364" name="Shape 0"/>
          <p:cNvSpPr/>
          <p:nvPr/>
        </p:nvSpPr>
        <p:spPr>
          <a:xfrm>
            <a:off x="0" y="0"/>
            <a:ext cx="12191400" cy="6857640"/>
          </a:xfrm>
          <a:prstGeom prst="rect">
            <a:avLst/>
          </a:prstGeom>
          <a:solidFill>
            <a:srgbClr val="06172f"/>
          </a:solidFill>
          <a:ln w="12700">
            <a:solidFill>
              <a:srgbClr val="06172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65" name="Shape 1"/>
          <p:cNvSpPr/>
          <p:nvPr/>
        </p:nvSpPr>
        <p:spPr>
          <a:xfrm>
            <a:off x="7680960" y="-1005840"/>
            <a:ext cx="4388760" cy="2925720"/>
          </a:xfrm>
          <a:prstGeom prst="arc">
            <a:avLst>
              <a:gd name="adj1" fmla="val 16200000"/>
              <a:gd name="adj2" fmla="val 0"/>
            </a:avLst>
          </a:prstGeom>
          <a:solidFill>
            <a:srgbClr val="0e3a68">
              <a:alpha val="75000"/>
            </a:srgbClr>
          </a:solidFill>
          <a:ln w="12700">
            <a:solidFill>
              <a:srgbClr val="0e3a68">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66" name="Shape 2"/>
          <p:cNvSpPr/>
          <p:nvPr/>
        </p:nvSpPr>
        <p:spPr>
          <a:xfrm>
            <a:off x="8778240" y="-777240"/>
            <a:ext cx="3474360" cy="2285640"/>
          </a:xfrm>
          <a:prstGeom prst="arc">
            <a:avLst>
              <a:gd name="adj1" fmla="val 16200000"/>
              <a:gd name="adj2" fmla="val 0"/>
            </a:avLst>
          </a:prstGeom>
          <a:solidFill>
            <a:srgbClr val="0b4d5e">
              <a:alpha val="65000"/>
            </a:srgbClr>
          </a:solidFill>
          <a:ln w="12700">
            <a:solidFill>
              <a:srgbClr val="0b4d5e">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67" name="Shape 3"/>
          <p:cNvSpPr/>
          <p:nvPr/>
        </p:nvSpPr>
        <p:spPr>
          <a:xfrm>
            <a:off x="0" y="0"/>
            <a:ext cx="109440" cy="6857640"/>
          </a:xfrm>
          <a:prstGeom prst="rect">
            <a:avLst/>
          </a:prstGeom>
          <a:solidFill>
            <a:srgbClr val="00b078"/>
          </a:solidFill>
          <a:ln w="12700">
            <a:solidFill>
              <a:srgbClr val="00b078">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68" name="Shape 4"/>
          <p:cNvSpPr/>
          <p:nvPr/>
        </p:nvSpPr>
        <p:spPr>
          <a:xfrm>
            <a:off x="320040" y="6565320"/>
            <a:ext cx="11521080" cy="16200"/>
          </a:xfrm>
          <a:prstGeom prst="rect">
            <a:avLst/>
          </a:prstGeom>
          <a:solidFill>
            <a:srgbClr val="435d78"/>
          </a:solidFill>
          <a:ln w="12700">
            <a:solidFill>
              <a:srgbClr val="435d78">
                <a:alpha val="0"/>
              </a:srgbClr>
            </a:solidFill>
            <a:round/>
          </a:ln>
        </p:spPr>
        <p:style>
          <a:lnRef idx="0"/>
          <a:fillRef idx="0"/>
          <a:effectRef idx="0"/>
          <a:fontRef idx="minor"/>
        </p:style>
        <p:txBody>
          <a:bodyPr lIns="90000" rIns="90000" tIns="-28440" bIns="-28440" anchor="t">
            <a:noAutofit/>
          </a:bodyPr>
          <a:p>
            <a:endParaRPr b="0" lang="en-US" sz="1800" strike="noStrike" u="none">
              <a:solidFill>
                <a:srgbClr val="ffffff"/>
              </a:solidFill>
              <a:effectLst/>
              <a:uFillTx/>
              <a:latin typeface="Arial"/>
            </a:endParaRPr>
          </a:p>
        </p:txBody>
      </p:sp>
      <p:sp>
        <p:nvSpPr>
          <p:cNvPr id="369" name="Text 5"/>
          <p:cNvSpPr/>
          <p:nvPr/>
        </p:nvSpPr>
        <p:spPr>
          <a:xfrm>
            <a:off x="11356920" y="6602040"/>
            <a:ext cx="502560" cy="13680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50" strike="noStrike" u="none">
                <a:solidFill>
                  <a:srgbClr val="b0c1d5"/>
                </a:solidFill>
                <a:effectLst/>
                <a:uFillTx/>
                <a:latin typeface="Aptos"/>
                <a:ea typeface="Aptos"/>
              </a:rPr>
              <a:t>13</a:t>
            </a:r>
            <a:endParaRPr b="0" lang="en-US" sz="950" strike="noStrike" u="none">
              <a:solidFill>
                <a:srgbClr val="ffffff"/>
              </a:solidFill>
              <a:effectLst/>
              <a:uFillTx/>
              <a:latin typeface="Arial"/>
            </a:endParaRPr>
          </a:p>
        </p:txBody>
      </p:sp>
      <p:sp>
        <p:nvSpPr>
          <p:cNvPr id="370" name="Text 6"/>
          <p:cNvSpPr/>
          <p:nvPr/>
        </p:nvSpPr>
        <p:spPr>
          <a:xfrm>
            <a:off x="475560" y="228600"/>
            <a:ext cx="10972440" cy="383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500" strike="noStrike" u="none">
                <a:solidFill>
                  <a:srgbClr val="f5f8fc"/>
                </a:solidFill>
                <a:effectLst/>
                <a:uFillTx/>
                <a:latin typeface="Aptos Display"/>
                <a:ea typeface="Aptos Display"/>
              </a:rPr>
              <a:t>Fuel Handling Process</a:t>
            </a:r>
            <a:endParaRPr b="0" lang="en-US" sz="2500" strike="noStrike" u="none">
              <a:solidFill>
                <a:srgbClr val="ffffff"/>
              </a:solidFill>
              <a:effectLst/>
              <a:uFillTx/>
              <a:latin typeface="Arial"/>
            </a:endParaRPr>
          </a:p>
        </p:txBody>
      </p:sp>
      <p:sp>
        <p:nvSpPr>
          <p:cNvPr id="371" name="Text 7"/>
          <p:cNvSpPr/>
          <p:nvPr/>
        </p:nvSpPr>
        <p:spPr>
          <a:xfrm>
            <a:off x="502920" y="704160"/>
            <a:ext cx="10835280" cy="255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50" strike="noStrike" u="none">
                <a:solidFill>
                  <a:srgbClr val="b0c1d5"/>
                </a:solidFill>
                <a:effectLst/>
                <a:uFillTx/>
                <a:latin typeface="Aptos"/>
              </a:rPr>
              <a:t>From fresh fuel to spent fuel management</a:t>
            </a:r>
            <a:endParaRPr b="0" lang="en-US" sz="1250" strike="noStrike" u="none">
              <a:solidFill>
                <a:srgbClr val="ffffff"/>
              </a:solidFill>
              <a:effectLst/>
              <a:uFillTx/>
              <a:latin typeface="Arial"/>
            </a:endParaRPr>
          </a:p>
        </p:txBody>
      </p:sp>
      <p:sp>
        <p:nvSpPr>
          <p:cNvPr id="372" name="Shape 8"/>
          <p:cNvSpPr/>
          <p:nvPr/>
        </p:nvSpPr>
        <p:spPr>
          <a:xfrm>
            <a:off x="548640" y="1600200"/>
            <a:ext cx="1724760" cy="731160"/>
          </a:xfrm>
          <a:prstGeom prst="roundRect">
            <a:avLst>
              <a:gd name="adj" fmla="val 12500"/>
            </a:avLst>
          </a:prstGeom>
          <a:solidFill>
            <a:srgbClr val="00b078"/>
          </a:solidFill>
          <a:ln w="12700">
            <a:solidFill>
              <a:srgbClr val="00b078">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73" name="Text 9"/>
          <p:cNvSpPr/>
          <p:nvPr/>
        </p:nvSpPr>
        <p:spPr>
          <a:xfrm>
            <a:off x="603360" y="1737360"/>
            <a:ext cx="1614960" cy="4752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50" strike="noStrike" u="none">
                <a:solidFill>
                  <a:srgbClr val="06172f"/>
                </a:solidFill>
                <a:effectLst/>
                <a:uFillTx/>
                <a:latin typeface="Aptos"/>
              </a:rPr>
              <a:t>Fresh</a:t>
            </a:r>
            <a:endParaRPr b="0" lang="en-US" sz="1050" strike="noStrike" u="none">
              <a:solidFill>
                <a:srgbClr val="ffffff"/>
              </a:solidFill>
              <a:effectLst/>
              <a:uFillTx/>
              <a:latin typeface="Arial"/>
            </a:endParaRPr>
          </a:p>
          <a:p>
            <a:pPr algn="ctr" defTabSz="914400">
              <a:lnSpc>
                <a:spcPct val="100000"/>
              </a:lnSpc>
              <a:tabLst>
                <a:tab algn="l" pos="0"/>
              </a:tabLst>
            </a:pPr>
            <a:r>
              <a:rPr b="1" lang="en-US" sz="1050" strike="noStrike" u="none">
                <a:solidFill>
                  <a:srgbClr val="06172f"/>
                </a:solidFill>
                <a:effectLst/>
                <a:uFillTx/>
                <a:latin typeface="Aptos"/>
              </a:rPr>
              <a:t>Fuel</a:t>
            </a:r>
            <a:endParaRPr b="0" lang="en-US" sz="1050" strike="noStrike" u="none">
              <a:solidFill>
                <a:srgbClr val="ffffff"/>
              </a:solidFill>
              <a:effectLst/>
              <a:uFillTx/>
              <a:latin typeface="Arial"/>
            </a:endParaRPr>
          </a:p>
        </p:txBody>
      </p:sp>
      <p:sp>
        <p:nvSpPr>
          <p:cNvPr id="374" name="Shape 10"/>
          <p:cNvSpPr/>
          <p:nvPr/>
        </p:nvSpPr>
        <p:spPr>
          <a:xfrm>
            <a:off x="2255400" y="1870920"/>
            <a:ext cx="164160" cy="182520"/>
          </a:xfrm>
          <a:prstGeom prst="rightArrow">
            <a:avLst>
              <a:gd name="adj1" fmla="val 50000"/>
              <a:gd name="adj2" fmla="val 50000"/>
            </a:avLst>
          </a:prstGeom>
          <a:solidFill>
            <a:srgbClr val="b0c1d5"/>
          </a:solidFill>
          <a:ln w="12700">
            <a:solidFill>
              <a:srgbClr val="b0c1d5">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75" name="Shape 11"/>
          <p:cNvSpPr/>
          <p:nvPr/>
        </p:nvSpPr>
        <p:spPr>
          <a:xfrm>
            <a:off x="2392560" y="1600200"/>
            <a:ext cx="1724760" cy="731160"/>
          </a:xfrm>
          <a:prstGeom prst="roundRect">
            <a:avLst>
              <a:gd name="adj" fmla="val 12500"/>
            </a:avLst>
          </a:prstGeom>
          <a:solidFill>
            <a:srgbClr val="5bd2ff"/>
          </a:solidFill>
          <a:ln w="12700">
            <a:solidFill>
              <a:srgbClr val="5bd2f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76" name="Text 12"/>
          <p:cNvSpPr/>
          <p:nvPr/>
        </p:nvSpPr>
        <p:spPr>
          <a:xfrm>
            <a:off x="2447640" y="1737360"/>
            <a:ext cx="1614960" cy="4752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50" strike="noStrike" u="none">
                <a:solidFill>
                  <a:srgbClr val="06172f"/>
                </a:solidFill>
                <a:effectLst/>
                <a:uFillTx/>
                <a:latin typeface="Aptos"/>
              </a:rPr>
              <a:t>Fuel</a:t>
            </a:r>
            <a:endParaRPr b="0" lang="en-US" sz="1050" strike="noStrike" u="none">
              <a:solidFill>
                <a:srgbClr val="ffffff"/>
              </a:solidFill>
              <a:effectLst/>
              <a:uFillTx/>
              <a:latin typeface="Arial"/>
            </a:endParaRPr>
          </a:p>
          <a:p>
            <a:pPr algn="ctr" defTabSz="914400">
              <a:lnSpc>
                <a:spcPct val="100000"/>
              </a:lnSpc>
              <a:tabLst>
                <a:tab algn="l" pos="0"/>
              </a:tabLst>
            </a:pPr>
            <a:r>
              <a:rPr b="1" lang="en-US" sz="1050" strike="noStrike" u="none">
                <a:solidFill>
                  <a:srgbClr val="06172f"/>
                </a:solidFill>
                <a:effectLst/>
                <a:uFillTx/>
                <a:latin typeface="Aptos"/>
              </a:rPr>
              <a:t>Loading</a:t>
            </a:r>
            <a:endParaRPr b="0" lang="en-US" sz="1050" strike="noStrike" u="none">
              <a:solidFill>
                <a:srgbClr val="ffffff"/>
              </a:solidFill>
              <a:effectLst/>
              <a:uFillTx/>
              <a:latin typeface="Arial"/>
            </a:endParaRPr>
          </a:p>
        </p:txBody>
      </p:sp>
      <p:sp>
        <p:nvSpPr>
          <p:cNvPr id="377" name="Shape 13"/>
          <p:cNvSpPr/>
          <p:nvPr/>
        </p:nvSpPr>
        <p:spPr>
          <a:xfrm>
            <a:off x="4099680" y="1870920"/>
            <a:ext cx="164160" cy="182520"/>
          </a:xfrm>
          <a:prstGeom prst="rightArrow">
            <a:avLst>
              <a:gd name="adj1" fmla="val 50000"/>
              <a:gd name="adj2" fmla="val 50000"/>
            </a:avLst>
          </a:prstGeom>
          <a:solidFill>
            <a:srgbClr val="b0c1d5"/>
          </a:solidFill>
          <a:ln w="12700">
            <a:solidFill>
              <a:srgbClr val="b0c1d5">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78" name="Shape 14"/>
          <p:cNvSpPr/>
          <p:nvPr/>
        </p:nvSpPr>
        <p:spPr>
          <a:xfrm>
            <a:off x="4236840" y="1600200"/>
            <a:ext cx="1724760" cy="731160"/>
          </a:xfrm>
          <a:prstGeom prst="roundRect">
            <a:avLst>
              <a:gd name="adj" fmla="val 12500"/>
            </a:avLst>
          </a:prstGeom>
          <a:solidFill>
            <a:srgbClr val="50d69b"/>
          </a:solidFill>
          <a:ln w="12700">
            <a:solidFill>
              <a:srgbClr val="50d69b">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79" name="Text 15"/>
          <p:cNvSpPr/>
          <p:nvPr/>
        </p:nvSpPr>
        <p:spPr>
          <a:xfrm>
            <a:off x="4291560" y="1737360"/>
            <a:ext cx="1614960" cy="4752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50" strike="noStrike" u="none">
                <a:solidFill>
                  <a:srgbClr val="06172f"/>
                </a:solidFill>
                <a:effectLst/>
                <a:uFillTx/>
                <a:latin typeface="Aptos"/>
              </a:rPr>
              <a:t>Core</a:t>
            </a:r>
            <a:endParaRPr b="0" lang="en-US" sz="1050" strike="noStrike" u="none">
              <a:solidFill>
                <a:srgbClr val="ffffff"/>
              </a:solidFill>
              <a:effectLst/>
              <a:uFillTx/>
              <a:latin typeface="Arial"/>
            </a:endParaRPr>
          </a:p>
          <a:p>
            <a:pPr algn="ctr" defTabSz="914400">
              <a:lnSpc>
                <a:spcPct val="100000"/>
              </a:lnSpc>
              <a:tabLst>
                <a:tab algn="l" pos="0"/>
              </a:tabLst>
            </a:pPr>
            <a:r>
              <a:rPr b="1" lang="en-US" sz="1050" strike="noStrike" u="none">
                <a:solidFill>
                  <a:srgbClr val="06172f"/>
                </a:solidFill>
                <a:effectLst/>
                <a:uFillTx/>
                <a:latin typeface="Aptos"/>
              </a:rPr>
              <a:t>Operation</a:t>
            </a:r>
            <a:endParaRPr b="0" lang="en-US" sz="1050" strike="noStrike" u="none">
              <a:solidFill>
                <a:srgbClr val="ffffff"/>
              </a:solidFill>
              <a:effectLst/>
              <a:uFillTx/>
              <a:latin typeface="Arial"/>
            </a:endParaRPr>
          </a:p>
        </p:txBody>
      </p:sp>
      <p:sp>
        <p:nvSpPr>
          <p:cNvPr id="380" name="Shape 16"/>
          <p:cNvSpPr/>
          <p:nvPr/>
        </p:nvSpPr>
        <p:spPr>
          <a:xfrm>
            <a:off x="5943600" y="1870920"/>
            <a:ext cx="164160" cy="182520"/>
          </a:xfrm>
          <a:prstGeom prst="rightArrow">
            <a:avLst>
              <a:gd name="adj1" fmla="val 50000"/>
              <a:gd name="adj2" fmla="val 50000"/>
            </a:avLst>
          </a:prstGeom>
          <a:solidFill>
            <a:srgbClr val="b0c1d5"/>
          </a:solidFill>
          <a:ln w="12700">
            <a:solidFill>
              <a:srgbClr val="b0c1d5">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81" name="Shape 17"/>
          <p:cNvSpPr/>
          <p:nvPr/>
        </p:nvSpPr>
        <p:spPr>
          <a:xfrm>
            <a:off x="6080760" y="1600200"/>
            <a:ext cx="1724760" cy="731160"/>
          </a:xfrm>
          <a:prstGeom prst="roundRect">
            <a:avLst>
              <a:gd name="adj" fmla="val 12500"/>
            </a:avLst>
          </a:prstGeom>
          <a:solidFill>
            <a:srgbClr val="1c69a2"/>
          </a:solidFill>
          <a:ln w="12700">
            <a:solidFill>
              <a:srgbClr val="1c69a2">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82" name="Text 18"/>
          <p:cNvSpPr/>
          <p:nvPr/>
        </p:nvSpPr>
        <p:spPr>
          <a:xfrm>
            <a:off x="6135480" y="1737360"/>
            <a:ext cx="1614960" cy="4752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50" strike="noStrike" u="none">
                <a:solidFill>
                  <a:srgbClr val="06172f"/>
                </a:solidFill>
                <a:effectLst/>
                <a:uFillTx/>
                <a:latin typeface="Aptos"/>
              </a:rPr>
              <a:t>Spent</a:t>
            </a:r>
            <a:endParaRPr b="0" lang="en-US" sz="1050" strike="noStrike" u="none">
              <a:solidFill>
                <a:srgbClr val="ffffff"/>
              </a:solidFill>
              <a:effectLst/>
              <a:uFillTx/>
              <a:latin typeface="Arial"/>
            </a:endParaRPr>
          </a:p>
          <a:p>
            <a:pPr algn="ctr" defTabSz="914400">
              <a:lnSpc>
                <a:spcPct val="100000"/>
              </a:lnSpc>
              <a:tabLst>
                <a:tab algn="l" pos="0"/>
              </a:tabLst>
            </a:pPr>
            <a:r>
              <a:rPr b="1" lang="en-US" sz="1050" strike="noStrike" u="none">
                <a:solidFill>
                  <a:srgbClr val="06172f"/>
                </a:solidFill>
                <a:effectLst/>
                <a:uFillTx/>
                <a:latin typeface="Aptos"/>
              </a:rPr>
              <a:t>Fuel</a:t>
            </a:r>
            <a:endParaRPr b="0" lang="en-US" sz="1050" strike="noStrike" u="none">
              <a:solidFill>
                <a:srgbClr val="ffffff"/>
              </a:solidFill>
              <a:effectLst/>
              <a:uFillTx/>
              <a:latin typeface="Arial"/>
            </a:endParaRPr>
          </a:p>
        </p:txBody>
      </p:sp>
      <p:sp>
        <p:nvSpPr>
          <p:cNvPr id="383" name="Shape 19"/>
          <p:cNvSpPr/>
          <p:nvPr/>
        </p:nvSpPr>
        <p:spPr>
          <a:xfrm>
            <a:off x="7787520" y="1870920"/>
            <a:ext cx="164160" cy="182520"/>
          </a:xfrm>
          <a:prstGeom prst="rightArrow">
            <a:avLst>
              <a:gd name="adj1" fmla="val 50000"/>
              <a:gd name="adj2" fmla="val 50000"/>
            </a:avLst>
          </a:prstGeom>
          <a:solidFill>
            <a:srgbClr val="b0c1d5"/>
          </a:solidFill>
          <a:ln w="12700">
            <a:solidFill>
              <a:srgbClr val="b0c1d5">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84" name="Shape 20"/>
          <p:cNvSpPr/>
          <p:nvPr/>
        </p:nvSpPr>
        <p:spPr>
          <a:xfrm>
            <a:off x="7924680" y="1600200"/>
            <a:ext cx="1724760" cy="731160"/>
          </a:xfrm>
          <a:prstGeom prst="roundRect">
            <a:avLst>
              <a:gd name="adj" fmla="val 12500"/>
            </a:avLst>
          </a:prstGeom>
          <a:solidFill>
            <a:srgbClr val="f0be49"/>
          </a:solidFill>
          <a:ln w="12700">
            <a:solidFill>
              <a:srgbClr val="f0be49">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85" name="Text 21"/>
          <p:cNvSpPr/>
          <p:nvPr/>
        </p:nvSpPr>
        <p:spPr>
          <a:xfrm>
            <a:off x="7979760" y="1737360"/>
            <a:ext cx="1614960" cy="4752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50" strike="noStrike" u="none">
                <a:solidFill>
                  <a:srgbClr val="06172f"/>
                </a:solidFill>
                <a:effectLst/>
                <a:uFillTx/>
                <a:latin typeface="Aptos"/>
              </a:rPr>
              <a:t>Cooling</a:t>
            </a:r>
            <a:endParaRPr b="0" lang="en-US" sz="1050" strike="noStrike" u="none">
              <a:solidFill>
                <a:srgbClr val="ffffff"/>
              </a:solidFill>
              <a:effectLst/>
              <a:uFillTx/>
              <a:latin typeface="Arial"/>
            </a:endParaRPr>
          </a:p>
          <a:p>
            <a:pPr algn="ctr" defTabSz="914400">
              <a:lnSpc>
                <a:spcPct val="100000"/>
              </a:lnSpc>
              <a:tabLst>
                <a:tab algn="l" pos="0"/>
              </a:tabLst>
            </a:pPr>
            <a:r>
              <a:rPr b="1" lang="en-US" sz="1050" strike="noStrike" u="none">
                <a:solidFill>
                  <a:srgbClr val="06172f"/>
                </a:solidFill>
                <a:effectLst/>
                <a:uFillTx/>
                <a:latin typeface="Aptos"/>
              </a:rPr>
              <a:t>Pool</a:t>
            </a:r>
            <a:endParaRPr b="0" lang="en-US" sz="1050" strike="noStrike" u="none">
              <a:solidFill>
                <a:srgbClr val="ffffff"/>
              </a:solidFill>
              <a:effectLst/>
              <a:uFillTx/>
              <a:latin typeface="Arial"/>
            </a:endParaRPr>
          </a:p>
        </p:txBody>
      </p:sp>
      <p:sp>
        <p:nvSpPr>
          <p:cNvPr id="386" name="Shape 22"/>
          <p:cNvSpPr/>
          <p:nvPr/>
        </p:nvSpPr>
        <p:spPr>
          <a:xfrm>
            <a:off x="9631800" y="1870920"/>
            <a:ext cx="164160" cy="182520"/>
          </a:xfrm>
          <a:prstGeom prst="rightArrow">
            <a:avLst>
              <a:gd name="adj1" fmla="val 50000"/>
              <a:gd name="adj2" fmla="val 50000"/>
            </a:avLst>
          </a:prstGeom>
          <a:solidFill>
            <a:srgbClr val="b0c1d5"/>
          </a:solidFill>
          <a:ln w="12700">
            <a:solidFill>
              <a:srgbClr val="b0c1d5">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87" name="Shape 23"/>
          <p:cNvSpPr/>
          <p:nvPr/>
        </p:nvSpPr>
        <p:spPr>
          <a:xfrm>
            <a:off x="9768960" y="1600200"/>
            <a:ext cx="1724760" cy="731160"/>
          </a:xfrm>
          <a:prstGeom prst="roundRect">
            <a:avLst>
              <a:gd name="adj" fmla="val 12500"/>
            </a:avLst>
          </a:prstGeom>
          <a:solidFill>
            <a:srgbClr val="00b078"/>
          </a:solidFill>
          <a:ln w="12700">
            <a:solidFill>
              <a:srgbClr val="00b078">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88" name="Text 24"/>
          <p:cNvSpPr/>
          <p:nvPr/>
        </p:nvSpPr>
        <p:spPr>
          <a:xfrm>
            <a:off x="9823680" y="1737360"/>
            <a:ext cx="1614960" cy="4752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50" strike="noStrike" u="none">
                <a:solidFill>
                  <a:srgbClr val="06172f"/>
                </a:solidFill>
                <a:effectLst/>
                <a:uFillTx/>
                <a:latin typeface="Aptos"/>
              </a:rPr>
              <a:t>Secure</a:t>
            </a:r>
            <a:endParaRPr b="0" lang="en-US" sz="1050" strike="noStrike" u="none">
              <a:solidFill>
                <a:srgbClr val="ffffff"/>
              </a:solidFill>
              <a:effectLst/>
              <a:uFillTx/>
              <a:latin typeface="Arial"/>
            </a:endParaRPr>
          </a:p>
          <a:p>
            <a:pPr algn="ctr" defTabSz="914400">
              <a:lnSpc>
                <a:spcPct val="100000"/>
              </a:lnSpc>
              <a:tabLst>
                <a:tab algn="l" pos="0"/>
              </a:tabLst>
            </a:pPr>
            <a:r>
              <a:rPr b="1" lang="en-US" sz="1050" strike="noStrike" u="none">
                <a:solidFill>
                  <a:srgbClr val="06172f"/>
                </a:solidFill>
                <a:effectLst/>
                <a:uFillTx/>
                <a:latin typeface="Aptos"/>
              </a:rPr>
              <a:t>Storage</a:t>
            </a:r>
            <a:endParaRPr b="0" lang="en-US" sz="1050" strike="noStrike" u="none">
              <a:solidFill>
                <a:srgbClr val="ffffff"/>
              </a:solidFill>
              <a:effectLst/>
              <a:uFillTx/>
              <a:latin typeface="Arial"/>
            </a:endParaRPr>
          </a:p>
        </p:txBody>
      </p:sp>
      <p:sp>
        <p:nvSpPr>
          <p:cNvPr id="389" name="Shape 25"/>
          <p:cNvSpPr/>
          <p:nvPr/>
        </p:nvSpPr>
        <p:spPr>
          <a:xfrm>
            <a:off x="731520" y="2971800"/>
            <a:ext cx="3382920" cy="1416960"/>
          </a:xfrm>
          <a:prstGeom prst="roundRect">
            <a:avLst>
              <a:gd name="adj" fmla="val 7742"/>
            </a:avLst>
          </a:prstGeom>
          <a:solidFill>
            <a:srgbClr val="0e2d4f">
              <a:alpha val="93000"/>
            </a:srgbClr>
          </a:solidFill>
          <a:ln w="12700">
            <a:solidFill>
              <a:srgbClr val="00b078">
                <a:alpha val="7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90" name="Text 26"/>
          <p:cNvSpPr/>
          <p:nvPr/>
        </p:nvSpPr>
        <p:spPr>
          <a:xfrm>
            <a:off x="896040" y="3090600"/>
            <a:ext cx="305388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50d69b"/>
                </a:solidFill>
                <a:effectLst/>
                <a:uFillTx/>
                <a:latin typeface="Aptos"/>
              </a:rPr>
              <a:t>Fresh fuel handling</a:t>
            </a:r>
            <a:endParaRPr b="0" lang="en-US" sz="1600" strike="noStrike" u="none">
              <a:solidFill>
                <a:srgbClr val="ffffff"/>
              </a:solidFill>
              <a:effectLst/>
              <a:uFillTx/>
              <a:latin typeface="Arial"/>
            </a:endParaRPr>
          </a:p>
        </p:txBody>
      </p:sp>
      <p:sp>
        <p:nvSpPr>
          <p:cNvPr id="391" name="Text 27"/>
          <p:cNvSpPr/>
          <p:nvPr/>
        </p:nvSpPr>
        <p:spPr>
          <a:xfrm>
            <a:off x="951120" y="3474720"/>
            <a:ext cx="2944080" cy="849960"/>
          </a:xfrm>
          <a:prstGeom prst="rect">
            <a:avLst/>
          </a:prstGeom>
          <a:noFill/>
          <a:ln w="0">
            <a:noFill/>
          </a:ln>
        </p:spPr>
        <p:style>
          <a:lnRef idx="0"/>
          <a:fillRef idx="0"/>
          <a:effectRef idx="0"/>
          <a:fontRef idx="minor"/>
        </p:style>
        <p:txBody>
          <a:bodyPr lIns="1080" rIns="1080" tIns="1080" bIns="1080" anchor="t">
            <a:normAutofit/>
          </a:bodyPr>
          <a:p>
            <a:pPr defTabSz="914400">
              <a:lnSpc>
                <a:spcPct val="100000"/>
              </a:lnSpc>
            </a:pPr>
            <a:r>
              <a:rPr b="0" lang="en-US" sz="1300" strike="noStrike" u="none">
                <a:solidFill>
                  <a:srgbClr val="f5f8fc"/>
                </a:solidFill>
                <a:effectLst/>
                <a:uFillTx/>
                <a:latin typeface="Aptos"/>
                <a:ea typeface="Aptos"/>
              </a:rPr>
              <a:t>Fresh nuclear fuel requires strict control, security and technical protocols before reactor loading.</a:t>
            </a:r>
            <a:endParaRPr b="0" lang="en-US" sz="1300" strike="noStrike" u="none">
              <a:solidFill>
                <a:srgbClr val="ffffff"/>
              </a:solidFill>
              <a:effectLst/>
              <a:uFillTx/>
              <a:latin typeface="Arial"/>
            </a:endParaRPr>
          </a:p>
        </p:txBody>
      </p:sp>
      <p:sp>
        <p:nvSpPr>
          <p:cNvPr id="392" name="Shape 28"/>
          <p:cNvSpPr/>
          <p:nvPr/>
        </p:nvSpPr>
        <p:spPr>
          <a:xfrm>
            <a:off x="4434840" y="2971800"/>
            <a:ext cx="3382920" cy="1416960"/>
          </a:xfrm>
          <a:prstGeom prst="roundRect">
            <a:avLst>
              <a:gd name="adj" fmla="val 7742"/>
            </a:avLst>
          </a:prstGeom>
          <a:solidFill>
            <a:srgbClr val="0e2d4f">
              <a:alpha val="93000"/>
            </a:srgbClr>
          </a:solidFill>
          <a:ln w="12700">
            <a:solidFill>
              <a:srgbClr val="e15a5a">
                <a:alpha val="7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93" name="Text 29"/>
          <p:cNvSpPr/>
          <p:nvPr/>
        </p:nvSpPr>
        <p:spPr>
          <a:xfrm>
            <a:off x="4599360" y="3090600"/>
            <a:ext cx="305388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50d69b"/>
                </a:solidFill>
                <a:effectLst/>
                <a:uFillTx/>
                <a:latin typeface="Aptos"/>
              </a:rPr>
              <a:t>Spent fuel risk</a:t>
            </a:r>
            <a:endParaRPr b="0" lang="en-US" sz="1600" strike="noStrike" u="none">
              <a:solidFill>
                <a:srgbClr val="ffffff"/>
              </a:solidFill>
              <a:effectLst/>
              <a:uFillTx/>
              <a:latin typeface="Arial"/>
            </a:endParaRPr>
          </a:p>
        </p:txBody>
      </p:sp>
      <p:sp>
        <p:nvSpPr>
          <p:cNvPr id="394" name="Text 30"/>
          <p:cNvSpPr/>
          <p:nvPr/>
        </p:nvSpPr>
        <p:spPr>
          <a:xfrm>
            <a:off x="4654440" y="3474720"/>
            <a:ext cx="2944080" cy="849960"/>
          </a:xfrm>
          <a:prstGeom prst="rect">
            <a:avLst/>
          </a:prstGeom>
          <a:noFill/>
          <a:ln w="0">
            <a:noFill/>
          </a:ln>
        </p:spPr>
        <p:style>
          <a:lnRef idx="0"/>
          <a:fillRef idx="0"/>
          <a:effectRef idx="0"/>
          <a:fontRef idx="minor"/>
        </p:style>
        <p:txBody>
          <a:bodyPr lIns="1080" rIns="1080" tIns="1080" bIns="1080" anchor="t">
            <a:normAutofit/>
          </a:bodyPr>
          <a:p>
            <a:pPr defTabSz="914400">
              <a:lnSpc>
                <a:spcPct val="100000"/>
              </a:lnSpc>
            </a:pPr>
            <a:r>
              <a:rPr b="0" lang="en-US" sz="1300" strike="noStrike" u="none">
                <a:solidFill>
                  <a:srgbClr val="f5f8fc"/>
                </a:solidFill>
                <a:effectLst/>
                <a:uFillTx/>
                <a:latin typeface="Aptos"/>
                <a:ea typeface="Aptos"/>
              </a:rPr>
              <a:t>Spent fuel contains high radioactivity and heat, so it requires cooling, shielding and long-term controlled storage.</a:t>
            </a:r>
            <a:endParaRPr b="0" lang="en-US" sz="1300" strike="noStrike" u="none">
              <a:solidFill>
                <a:srgbClr val="ffffff"/>
              </a:solidFill>
              <a:effectLst/>
              <a:uFillTx/>
              <a:latin typeface="Arial"/>
            </a:endParaRPr>
          </a:p>
        </p:txBody>
      </p:sp>
      <p:sp>
        <p:nvSpPr>
          <p:cNvPr id="395" name="Shape 31"/>
          <p:cNvSpPr/>
          <p:nvPr/>
        </p:nvSpPr>
        <p:spPr>
          <a:xfrm>
            <a:off x="8138160" y="2971800"/>
            <a:ext cx="3382920" cy="1416960"/>
          </a:xfrm>
          <a:prstGeom prst="roundRect">
            <a:avLst>
              <a:gd name="adj" fmla="val 7742"/>
            </a:avLst>
          </a:prstGeom>
          <a:solidFill>
            <a:srgbClr val="0e2d4f">
              <a:alpha val="93000"/>
            </a:srgbClr>
          </a:solidFill>
          <a:ln w="12700">
            <a:solidFill>
              <a:srgbClr val="5bd2ff">
                <a:alpha val="7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96" name="Text 32"/>
          <p:cNvSpPr/>
          <p:nvPr/>
        </p:nvSpPr>
        <p:spPr>
          <a:xfrm>
            <a:off x="8302680" y="3090600"/>
            <a:ext cx="305388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50d69b"/>
                </a:solidFill>
                <a:effectLst/>
                <a:uFillTx/>
                <a:latin typeface="Aptos"/>
              </a:rPr>
              <a:t>Source-deck strategy</a:t>
            </a:r>
            <a:endParaRPr b="0" lang="en-US" sz="1600" strike="noStrike" u="none">
              <a:solidFill>
                <a:srgbClr val="ffffff"/>
              </a:solidFill>
              <a:effectLst/>
              <a:uFillTx/>
              <a:latin typeface="Arial"/>
            </a:endParaRPr>
          </a:p>
        </p:txBody>
      </p:sp>
      <p:sp>
        <p:nvSpPr>
          <p:cNvPr id="397" name="Text 33"/>
          <p:cNvSpPr/>
          <p:nvPr/>
        </p:nvSpPr>
        <p:spPr>
          <a:xfrm>
            <a:off x="8357760" y="3474720"/>
            <a:ext cx="2944080" cy="849960"/>
          </a:xfrm>
          <a:prstGeom prst="rect">
            <a:avLst/>
          </a:prstGeom>
          <a:noFill/>
          <a:ln w="0">
            <a:noFill/>
          </a:ln>
        </p:spPr>
        <p:style>
          <a:lnRef idx="0"/>
          <a:fillRef idx="0"/>
          <a:effectRef idx="0"/>
          <a:fontRef idx="minor"/>
        </p:style>
        <p:txBody>
          <a:bodyPr lIns="1080" rIns="1080" tIns="1080" bIns="1080" anchor="t">
            <a:normAutofit/>
          </a:bodyPr>
          <a:p>
            <a:pPr defTabSz="914400">
              <a:lnSpc>
                <a:spcPct val="100000"/>
              </a:lnSpc>
            </a:pPr>
            <a:r>
              <a:rPr b="0" lang="en-US" sz="1300" strike="noStrike" u="none">
                <a:solidFill>
                  <a:srgbClr val="f5f8fc"/>
                </a:solidFill>
                <a:effectLst/>
                <a:uFillTx/>
                <a:latin typeface="Aptos"/>
                <a:ea typeface="Aptos"/>
              </a:rPr>
              <a:t>The uploaded deck states that spent nuclear fuel is transported back to Russia under a management agreement.</a:t>
            </a:r>
            <a:endParaRPr b="0" lang="en-US" sz="1300" strike="noStrike" u="none">
              <a:solidFill>
                <a:srgbClr val="ffffff"/>
              </a:solidFill>
              <a:effectLst/>
              <a:uFillTx/>
              <a:latin typeface="Arial"/>
            </a:endParaRPr>
          </a:p>
        </p:txBody>
      </p:sp>
      <p:sp>
        <p:nvSpPr>
          <p:cNvPr id="398" name="Shape 34"/>
          <p:cNvSpPr/>
          <p:nvPr/>
        </p:nvSpPr>
        <p:spPr>
          <a:xfrm>
            <a:off x="1005840" y="4800600"/>
            <a:ext cx="10195200" cy="914040"/>
          </a:xfrm>
          <a:prstGeom prst="roundRect">
            <a:avLst>
              <a:gd name="adj" fmla="val 12000"/>
            </a:avLst>
          </a:prstGeom>
          <a:solidFill>
            <a:srgbClr val="0e2d4f">
              <a:alpha val="93000"/>
            </a:srgbClr>
          </a:solidFill>
          <a:ln w="12700">
            <a:solidFill>
              <a:srgbClr val="50d69b">
                <a:alpha val="7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99" name="Text 35"/>
          <p:cNvSpPr/>
          <p:nvPr/>
        </p:nvSpPr>
        <p:spPr>
          <a:xfrm>
            <a:off x="1170360" y="4919400"/>
            <a:ext cx="986616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50d69b"/>
                </a:solidFill>
                <a:effectLst/>
                <a:uFillTx/>
                <a:latin typeface="Aptos"/>
              </a:rPr>
              <a:t>EIA link</a:t>
            </a:r>
            <a:endParaRPr b="0" lang="en-US" sz="1600" strike="noStrike" u="none">
              <a:solidFill>
                <a:srgbClr val="ffffff"/>
              </a:solidFill>
              <a:effectLst/>
              <a:uFillTx/>
              <a:latin typeface="Arial"/>
            </a:endParaRPr>
          </a:p>
        </p:txBody>
      </p:sp>
      <p:sp>
        <p:nvSpPr>
          <p:cNvPr id="400" name="Text 36"/>
          <p:cNvSpPr/>
          <p:nvPr/>
        </p:nvSpPr>
        <p:spPr>
          <a:xfrm>
            <a:off x="1225440" y="5303520"/>
            <a:ext cx="9756360" cy="347040"/>
          </a:xfrm>
          <a:prstGeom prst="rect">
            <a:avLst/>
          </a:prstGeom>
          <a:noFill/>
          <a:ln w="0">
            <a:noFill/>
          </a:ln>
        </p:spPr>
        <p:style>
          <a:lnRef idx="0"/>
          <a:fillRef idx="0"/>
          <a:effectRef idx="0"/>
          <a:fontRef idx="minor"/>
        </p:style>
        <p:txBody>
          <a:bodyPr lIns="1080" rIns="1080" tIns="1080" bIns="1080" anchor="t">
            <a:normAutofit fontScale="92500" lnSpcReduction="9999"/>
          </a:bodyPr>
          <a:p>
            <a:pPr defTabSz="914400">
              <a:lnSpc>
                <a:spcPct val="100000"/>
              </a:lnSpc>
            </a:pPr>
            <a:r>
              <a:rPr b="0" lang="en-US" sz="1300" strike="noStrike" u="none">
                <a:solidFill>
                  <a:srgbClr val="f5f8fc"/>
                </a:solidFill>
                <a:effectLst/>
                <a:uFillTx/>
                <a:latin typeface="Aptos"/>
                <a:ea typeface="Aptos"/>
              </a:rPr>
              <a:t>Fuel handling is central to nuclear EIA because it affects accident prevention, waste planning, emergency response and public trust.</a:t>
            </a:r>
            <a:endParaRPr b="0" lang="en-US" sz="1300" strike="noStrike" u="none">
              <a:solidFill>
                <a:srgbClr val="ffffff"/>
              </a:solidFill>
              <a:effectLst/>
              <a:uFillTx/>
              <a:latin typeface="Arial"/>
            </a:endParaRPr>
          </a:p>
        </p:txBody>
      </p:sp>
    </p:spTree>
  </p:cSld>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6172f"/>
        </a:solidFill>
      </p:bgPr>
    </p:bg>
    <p:spTree>
      <p:nvGrpSpPr>
        <p:cNvPr id="1" name=""/>
        <p:cNvGrpSpPr/>
        <p:nvPr/>
      </p:nvGrpSpPr>
      <p:grpSpPr>
        <a:xfrm>
          <a:off x="0" y="0"/>
          <a:ext cx="0" cy="0"/>
          <a:chOff x="0" y="0"/>
          <a:chExt cx="0" cy="0"/>
        </a:xfrm>
      </p:grpSpPr>
      <p:sp>
        <p:nvSpPr>
          <p:cNvPr id="401" name="Shape 0"/>
          <p:cNvSpPr/>
          <p:nvPr/>
        </p:nvSpPr>
        <p:spPr>
          <a:xfrm>
            <a:off x="0" y="0"/>
            <a:ext cx="12191400" cy="6857640"/>
          </a:xfrm>
          <a:prstGeom prst="rect">
            <a:avLst/>
          </a:prstGeom>
          <a:solidFill>
            <a:srgbClr val="06172f"/>
          </a:solidFill>
          <a:ln w="12700">
            <a:solidFill>
              <a:srgbClr val="06172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402" name="Shape 1"/>
          <p:cNvSpPr/>
          <p:nvPr/>
        </p:nvSpPr>
        <p:spPr>
          <a:xfrm>
            <a:off x="7680960" y="-1005840"/>
            <a:ext cx="4388760" cy="2925720"/>
          </a:xfrm>
          <a:prstGeom prst="arc">
            <a:avLst>
              <a:gd name="adj1" fmla="val 16200000"/>
              <a:gd name="adj2" fmla="val 0"/>
            </a:avLst>
          </a:prstGeom>
          <a:solidFill>
            <a:srgbClr val="0e3a68">
              <a:alpha val="75000"/>
            </a:srgbClr>
          </a:solidFill>
          <a:ln w="12700">
            <a:solidFill>
              <a:srgbClr val="0e3a68">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403" name="Shape 2"/>
          <p:cNvSpPr/>
          <p:nvPr/>
        </p:nvSpPr>
        <p:spPr>
          <a:xfrm>
            <a:off x="8778240" y="-777240"/>
            <a:ext cx="3474360" cy="2285640"/>
          </a:xfrm>
          <a:prstGeom prst="arc">
            <a:avLst>
              <a:gd name="adj1" fmla="val 16200000"/>
              <a:gd name="adj2" fmla="val 0"/>
            </a:avLst>
          </a:prstGeom>
          <a:solidFill>
            <a:srgbClr val="0b4d5e">
              <a:alpha val="65000"/>
            </a:srgbClr>
          </a:solidFill>
          <a:ln w="12700">
            <a:solidFill>
              <a:srgbClr val="0b4d5e">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404" name="Shape 3"/>
          <p:cNvSpPr/>
          <p:nvPr/>
        </p:nvSpPr>
        <p:spPr>
          <a:xfrm>
            <a:off x="0" y="0"/>
            <a:ext cx="109440" cy="6857640"/>
          </a:xfrm>
          <a:prstGeom prst="rect">
            <a:avLst/>
          </a:prstGeom>
          <a:solidFill>
            <a:srgbClr val="00b078"/>
          </a:solidFill>
          <a:ln w="12700">
            <a:solidFill>
              <a:srgbClr val="00b078">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405" name="Shape 4"/>
          <p:cNvSpPr/>
          <p:nvPr/>
        </p:nvSpPr>
        <p:spPr>
          <a:xfrm>
            <a:off x="320040" y="6565320"/>
            <a:ext cx="11521080" cy="16200"/>
          </a:xfrm>
          <a:prstGeom prst="rect">
            <a:avLst/>
          </a:prstGeom>
          <a:solidFill>
            <a:srgbClr val="435d78"/>
          </a:solidFill>
          <a:ln w="12700">
            <a:solidFill>
              <a:srgbClr val="435d78">
                <a:alpha val="0"/>
              </a:srgbClr>
            </a:solidFill>
            <a:round/>
          </a:ln>
        </p:spPr>
        <p:style>
          <a:lnRef idx="0"/>
          <a:fillRef idx="0"/>
          <a:effectRef idx="0"/>
          <a:fontRef idx="minor"/>
        </p:style>
        <p:txBody>
          <a:bodyPr lIns="90000" rIns="90000" tIns="-28440" bIns="-28440" anchor="t">
            <a:noAutofit/>
          </a:bodyPr>
          <a:p>
            <a:endParaRPr b="0" lang="en-US" sz="1800" strike="noStrike" u="none">
              <a:solidFill>
                <a:srgbClr val="ffffff"/>
              </a:solidFill>
              <a:effectLst/>
              <a:uFillTx/>
              <a:latin typeface="Arial"/>
            </a:endParaRPr>
          </a:p>
        </p:txBody>
      </p:sp>
      <p:sp>
        <p:nvSpPr>
          <p:cNvPr id="406" name="Text 5"/>
          <p:cNvSpPr/>
          <p:nvPr/>
        </p:nvSpPr>
        <p:spPr>
          <a:xfrm>
            <a:off x="11356920" y="6602040"/>
            <a:ext cx="502560" cy="13680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50" strike="noStrike" u="none">
                <a:solidFill>
                  <a:srgbClr val="b0c1d5"/>
                </a:solidFill>
                <a:effectLst/>
                <a:uFillTx/>
                <a:latin typeface="Aptos"/>
                <a:ea typeface="Aptos"/>
              </a:rPr>
              <a:t>14</a:t>
            </a:r>
            <a:endParaRPr b="0" lang="en-US" sz="950" strike="noStrike" u="none">
              <a:solidFill>
                <a:srgbClr val="ffffff"/>
              </a:solidFill>
              <a:effectLst/>
              <a:uFillTx/>
              <a:latin typeface="Arial"/>
            </a:endParaRPr>
          </a:p>
        </p:txBody>
      </p:sp>
      <p:sp>
        <p:nvSpPr>
          <p:cNvPr id="407" name="Text 6"/>
          <p:cNvSpPr/>
          <p:nvPr/>
        </p:nvSpPr>
        <p:spPr>
          <a:xfrm>
            <a:off x="475560" y="228600"/>
            <a:ext cx="10972440" cy="383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500" strike="noStrike" u="none">
                <a:solidFill>
                  <a:srgbClr val="f5f8fc"/>
                </a:solidFill>
                <a:effectLst/>
                <a:uFillTx/>
                <a:latin typeface="Aptos Display"/>
                <a:ea typeface="Aptos Display"/>
              </a:rPr>
              <a:t>Turbine Generator</a:t>
            </a:r>
            <a:endParaRPr b="0" lang="en-US" sz="2500" strike="noStrike" u="none">
              <a:solidFill>
                <a:srgbClr val="ffffff"/>
              </a:solidFill>
              <a:effectLst/>
              <a:uFillTx/>
              <a:latin typeface="Arial"/>
            </a:endParaRPr>
          </a:p>
        </p:txBody>
      </p:sp>
      <p:sp>
        <p:nvSpPr>
          <p:cNvPr id="408" name="Text 7"/>
          <p:cNvSpPr/>
          <p:nvPr/>
        </p:nvSpPr>
        <p:spPr>
          <a:xfrm>
            <a:off x="502920" y="704160"/>
            <a:ext cx="10835280" cy="255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50" strike="noStrike" u="none">
                <a:solidFill>
                  <a:srgbClr val="b0c1d5"/>
                </a:solidFill>
                <a:effectLst/>
                <a:uFillTx/>
                <a:latin typeface="Aptos"/>
              </a:rPr>
              <a:t>Mechanical conversion of steam energy into electricity</a:t>
            </a:r>
            <a:endParaRPr b="0" lang="en-US" sz="1250" strike="noStrike" u="none">
              <a:solidFill>
                <a:srgbClr val="ffffff"/>
              </a:solidFill>
              <a:effectLst/>
              <a:uFillTx/>
              <a:latin typeface="Arial"/>
            </a:endParaRPr>
          </a:p>
        </p:txBody>
      </p:sp>
      <p:sp>
        <p:nvSpPr>
          <p:cNvPr id="409" name="Shape 8"/>
          <p:cNvSpPr/>
          <p:nvPr/>
        </p:nvSpPr>
        <p:spPr>
          <a:xfrm>
            <a:off x="914400" y="1828800"/>
            <a:ext cx="1947240" cy="712800"/>
          </a:xfrm>
          <a:prstGeom prst="roundRect">
            <a:avLst>
              <a:gd name="adj" fmla="val 12821"/>
            </a:avLst>
          </a:prstGeom>
          <a:solidFill>
            <a:srgbClr val="00b078"/>
          </a:solidFill>
          <a:ln w="12700">
            <a:solidFill>
              <a:srgbClr val="00b078">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410" name="Text 9"/>
          <p:cNvSpPr/>
          <p:nvPr/>
        </p:nvSpPr>
        <p:spPr>
          <a:xfrm>
            <a:off x="969120" y="1965960"/>
            <a:ext cx="1837440" cy="4568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50" strike="noStrike" u="none">
                <a:solidFill>
                  <a:srgbClr val="06172f"/>
                </a:solidFill>
                <a:effectLst/>
                <a:uFillTx/>
                <a:latin typeface="Aptos"/>
              </a:rPr>
              <a:t>Steam</a:t>
            </a:r>
            <a:endParaRPr b="0" lang="en-US" sz="1050" strike="noStrike" u="none">
              <a:solidFill>
                <a:srgbClr val="ffffff"/>
              </a:solidFill>
              <a:effectLst/>
              <a:uFillTx/>
              <a:latin typeface="Arial"/>
            </a:endParaRPr>
          </a:p>
        </p:txBody>
      </p:sp>
      <p:sp>
        <p:nvSpPr>
          <p:cNvPr id="411" name="Shape 10"/>
          <p:cNvSpPr/>
          <p:nvPr/>
        </p:nvSpPr>
        <p:spPr>
          <a:xfrm>
            <a:off x="2843640" y="2092680"/>
            <a:ext cx="164160" cy="177840"/>
          </a:xfrm>
          <a:prstGeom prst="rightArrow">
            <a:avLst>
              <a:gd name="adj1" fmla="val 50000"/>
              <a:gd name="adj2" fmla="val 50000"/>
            </a:avLst>
          </a:prstGeom>
          <a:solidFill>
            <a:srgbClr val="b0c1d5"/>
          </a:solidFill>
          <a:ln w="12700">
            <a:solidFill>
              <a:srgbClr val="b0c1d5">
                <a:alpha val="0"/>
              </a:srgbClr>
            </a:solidFill>
            <a:round/>
          </a:ln>
        </p:spPr>
        <p:style>
          <a:lnRef idx="0"/>
          <a:fillRef idx="0"/>
          <a:effectRef idx="0"/>
          <a:fontRef idx="minor"/>
        </p:style>
        <p:txBody>
          <a:bodyPr lIns="90000" rIns="90000" tIns="44280" bIns="44280" anchor="t">
            <a:noAutofit/>
          </a:bodyPr>
          <a:p>
            <a:endParaRPr b="0" lang="en-US" sz="1800" strike="noStrike" u="none">
              <a:solidFill>
                <a:srgbClr val="000000"/>
              </a:solidFill>
              <a:effectLst/>
              <a:uFillTx/>
              <a:latin typeface="Arial"/>
            </a:endParaRPr>
          </a:p>
        </p:txBody>
      </p:sp>
      <p:sp>
        <p:nvSpPr>
          <p:cNvPr id="412" name="Shape 11"/>
          <p:cNvSpPr/>
          <p:nvPr/>
        </p:nvSpPr>
        <p:spPr>
          <a:xfrm>
            <a:off x="2980800" y="1828800"/>
            <a:ext cx="1947240" cy="712800"/>
          </a:xfrm>
          <a:prstGeom prst="roundRect">
            <a:avLst>
              <a:gd name="adj" fmla="val 12821"/>
            </a:avLst>
          </a:prstGeom>
          <a:solidFill>
            <a:srgbClr val="5bd2ff"/>
          </a:solidFill>
          <a:ln w="12700">
            <a:solidFill>
              <a:srgbClr val="5bd2f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13" name="Text 12"/>
          <p:cNvSpPr/>
          <p:nvPr/>
        </p:nvSpPr>
        <p:spPr>
          <a:xfrm>
            <a:off x="3035880" y="1965960"/>
            <a:ext cx="1837440" cy="4568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50" strike="noStrike" u="none">
                <a:solidFill>
                  <a:srgbClr val="06172f"/>
                </a:solidFill>
                <a:effectLst/>
                <a:uFillTx/>
                <a:latin typeface="Aptos"/>
              </a:rPr>
              <a:t>Turbine</a:t>
            </a:r>
            <a:endParaRPr b="0" lang="en-US" sz="1050" strike="noStrike" u="none">
              <a:solidFill>
                <a:srgbClr val="ffffff"/>
              </a:solidFill>
              <a:effectLst/>
              <a:uFillTx/>
              <a:latin typeface="Arial"/>
            </a:endParaRPr>
          </a:p>
          <a:p>
            <a:pPr algn="ctr" defTabSz="914400">
              <a:lnSpc>
                <a:spcPct val="100000"/>
              </a:lnSpc>
              <a:tabLst>
                <a:tab algn="l" pos="0"/>
              </a:tabLst>
            </a:pPr>
            <a:r>
              <a:rPr b="1" lang="en-US" sz="1050" strike="noStrike" u="none">
                <a:solidFill>
                  <a:srgbClr val="06172f"/>
                </a:solidFill>
                <a:effectLst/>
                <a:uFillTx/>
                <a:latin typeface="Aptos"/>
              </a:rPr>
              <a:t>rotation</a:t>
            </a:r>
            <a:endParaRPr b="0" lang="en-US" sz="1050" strike="noStrike" u="none">
              <a:solidFill>
                <a:srgbClr val="ffffff"/>
              </a:solidFill>
              <a:effectLst/>
              <a:uFillTx/>
              <a:latin typeface="Arial"/>
            </a:endParaRPr>
          </a:p>
        </p:txBody>
      </p:sp>
      <p:sp>
        <p:nvSpPr>
          <p:cNvPr id="414" name="Shape 13"/>
          <p:cNvSpPr/>
          <p:nvPr/>
        </p:nvSpPr>
        <p:spPr>
          <a:xfrm>
            <a:off x="4910400" y="2092680"/>
            <a:ext cx="164160" cy="177840"/>
          </a:xfrm>
          <a:prstGeom prst="rightArrow">
            <a:avLst>
              <a:gd name="adj1" fmla="val 50000"/>
              <a:gd name="adj2" fmla="val 50000"/>
            </a:avLst>
          </a:prstGeom>
          <a:solidFill>
            <a:srgbClr val="b0c1d5"/>
          </a:solidFill>
          <a:ln w="12700">
            <a:solidFill>
              <a:srgbClr val="b0c1d5">
                <a:alpha val="0"/>
              </a:srgbClr>
            </a:solidFill>
            <a:round/>
          </a:ln>
        </p:spPr>
        <p:style>
          <a:lnRef idx="0"/>
          <a:fillRef idx="0"/>
          <a:effectRef idx="0"/>
          <a:fontRef idx="minor"/>
        </p:style>
        <p:txBody>
          <a:bodyPr lIns="90000" rIns="90000" tIns="44280" bIns="44280" anchor="t">
            <a:noAutofit/>
          </a:bodyPr>
          <a:p>
            <a:endParaRPr b="0" lang="en-US" sz="1800" strike="noStrike" u="none">
              <a:solidFill>
                <a:srgbClr val="000000"/>
              </a:solidFill>
              <a:effectLst/>
              <a:uFillTx/>
              <a:latin typeface="Arial"/>
            </a:endParaRPr>
          </a:p>
        </p:txBody>
      </p:sp>
      <p:sp>
        <p:nvSpPr>
          <p:cNvPr id="415" name="Shape 14"/>
          <p:cNvSpPr/>
          <p:nvPr/>
        </p:nvSpPr>
        <p:spPr>
          <a:xfrm>
            <a:off x="5047560" y="1828800"/>
            <a:ext cx="1947240" cy="712800"/>
          </a:xfrm>
          <a:prstGeom prst="roundRect">
            <a:avLst>
              <a:gd name="adj" fmla="val 12821"/>
            </a:avLst>
          </a:prstGeom>
          <a:solidFill>
            <a:srgbClr val="50d69b"/>
          </a:solidFill>
          <a:ln w="12700">
            <a:solidFill>
              <a:srgbClr val="50d69b">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16" name="Text 15"/>
          <p:cNvSpPr/>
          <p:nvPr/>
        </p:nvSpPr>
        <p:spPr>
          <a:xfrm>
            <a:off x="5102280" y="1965960"/>
            <a:ext cx="1837440" cy="4568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50" strike="noStrike" u="none">
                <a:solidFill>
                  <a:srgbClr val="06172f"/>
                </a:solidFill>
                <a:effectLst/>
                <a:uFillTx/>
                <a:latin typeface="Aptos"/>
              </a:rPr>
              <a:t>Generator</a:t>
            </a:r>
            <a:endParaRPr b="0" lang="en-US" sz="1050" strike="noStrike" u="none">
              <a:solidFill>
                <a:srgbClr val="ffffff"/>
              </a:solidFill>
              <a:effectLst/>
              <a:uFillTx/>
              <a:latin typeface="Arial"/>
            </a:endParaRPr>
          </a:p>
        </p:txBody>
      </p:sp>
      <p:sp>
        <p:nvSpPr>
          <p:cNvPr id="417" name="Shape 16"/>
          <p:cNvSpPr/>
          <p:nvPr/>
        </p:nvSpPr>
        <p:spPr>
          <a:xfrm>
            <a:off x="6976800" y="2092680"/>
            <a:ext cx="164160" cy="177840"/>
          </a:xfrm>
          <a:prstGeom prst="rightArrow">
            <a:avLst>
              <a:gd name="adj1" fmla="val 50000"/>
              <a:gd name="adj2" fmla="val 50000"/>
            </a:avLst>
          </a:prstGeom>
          <a:solidFill>
            <a:srgbClr val="b0c1d5"/>
          </a:solidFill>
          <a:ln w="12700">
            <a:solidFill>
              <a:srgbClr val="b0c1d5">
                <a:alpha val="0"/>
              </a:srgbClr>
            </a:solidFill>
            <a:round/>
          </a:ln>
        </p:spPr>
        <p:style>
          <a:lnRef idx="0"/>
          <a:fillRef idx="0"/>
          <a:effectRef idx="0"/>
          <a:fontRef idx="minor"/>
        </p:style>
        <p:txBody>
          <a:bodyPr lIns="90000" rIns="90000" tIns="44280" bIns="44280" anchor="t">
            <a:noAutofit/>
          </a:bodyPr>
          <a:p>
            <a:endParaRPr b="0" lang="en-US" sz="1800" strike="noStrike" u="none">
              <a:solidFill>
                <a:srgbClr val="000000"/>
              </a:solidFill>
              <a:effectLst/>
              <a:uFillTx/>
              <a:latin typeface="Arial"/>
            </a:endParaRPr>
          </a:p>
        </p:txBody>
      </p:sp>
      <p:sp>
        <p:nvSpPr>
          <p:cNvPr id="418" name="Shape 17"/>
          <p:cNvSpPr/>
          <p:nvPr/>
        </p:nvSpPr>
        <p:spPr>
          <a:xfrm>
            <a:off x="7113960" y="1828800"/>
            <a:ext cx="1947240" cy="712800"/>
          </a:xfrm>
          <a:prstGeom prst="roundRect">
            <a:avLst>
              <a:gd name="adj" fmla="val 12821"/>
            </a:avLst>
          </a:prstGeom>
          <a:solidFill>
            <a:srgbClr val="1c69a2"/>
          </a:solidFill>
          <a:ln w="12700">
            <a:solidFill>
              <a:srgbClr val="1c69a2">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419" name="Text 18"/>
          <p:cNvSpPr/>
          <p:nvPr/>
        </p:nvSpPr>
        <p:spPr>
          <a:xfrm>
            <a:off x="7169040" y="1965960"/>
            <a:ext cx="1837440" cy="4568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50" strike="noStrike" u="none">
                <a:solidFill>
                  <a:srgbClr val="06172f"/>
                </a:solidFill>
                <a:effectLst/>
                <a:uFillTx/>
                <a:latin typeface="Aptos"/>
              </a:rPr>
              <a:t>Transformer</a:t>
            </a:r>
            <a:endParaRPr b="0" lang="en-US" sz="1050" strike="noStrike" u="none">
              <a:solidFill>
                <a:srgbClr val="ffffff"/>
              </a:solidFill>
              <a:effectLst/>
              <a:uFillTx/>
              <a:latin typeface="Arial"/>
            </a:endParaRPr>
          </a:p>
        </p:txBody>
      </p:sp>
      <p:sp>
        <p:nvSpPr>
          <p:cNvPr id="420" name="Shape 19"/>
          <p:cNvSpPr/>
          <p:nvPr/>
        </p:nvSpPr>
        <p:spPr>
          <a:xfrm>
            <a:off x="9043560" y="2092680"/>
            <a:ext cx="164160" cy="177840"/>
          </a:xfrm>
          <a:prstGeom prst="rightArrow">
            <a:avLst>
              <a:gd name="adj1" fmla="val 50000"/>
              <a:gd name="adj2" fmla="val 50000"/>
            </a:avLst>
          </a:prstGeom>
          <a:solidFill>
            <a:srgbClr val="b0c1d5"/>
          </a:solidFill>
          <a:ln w="12700">
            <a:solidFill>
              <a:srgbClr val="b0c1d5">
                <a:alpha val="0"/>
              </a:srgbClr>
            </a:solidFill>
            <a:round/>
          </a:ln>
        </p:spPr>
        <p:style>
          <a:lnRef idx="0"/>
          <a:fillRef idx="0"/>
          <a:effectRef idx="0"/>
          <a:fontRef idx="minor"/>
        </p:style>
        <p:txBody>
          <a:bodyPr lIns="90000" rIns="90000" tIns="44280" bIns="44280" anchor="t">
            <a:noAutofit/>
          </a:bodyPr>
          <a:p>
            <a:endParaRPr b="0" lang="en-US" sz="1800" strike="noStrike" u="none">
              <a:solidFill>
                <a:srgbClr val="000000"/>
              </a:solidFill>
              <a:effectLst/>
              <a:uFillTx/>
              <a:latin typeface="Arial"/>
            </a:endParaRPr>
          </a:p>
        </p:txBody>
      </p:sp>
      <p:sp>
        <p:nvSpPr>
          <p:cNvPr id="421" name="Shape 20"/>
          <p:cNvSpPr/>
          <p:nvPr/>
        </p:nvSpPr>
        <p:spPr>
          <a:xfrm>
            <a:off x="9180720" y="1828800"/>
            <a:ext cx="1947240" cy="712800"/>
          </a:xfrm>
          <a:prstGeom prst="roundRect">
            <a:avLst>
              <a:gd name="adj" fmla="val 12821"/>
            </a:avLst>
          </a:prstGeom>
          <a:solidFill>
            <a:srgbClr val="f0be49"/>
          </a:solidFill>
          <a:ln w="12700">
            <a:solidFill>
              <a:srgbClr val="f0be49">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22" name="Text 21"/>
          <p:cNvSpPr/>
          <p:nvPr/>
        </p:nvSpPr>
        <p:spPr>
          <a:xfrm>
            <a:off x="9235440" y="1965960"/>
            <a:ext cx="1837440" cy="4568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50" strike="noStrike" u="none">
                <a:solidFill>
                  <a:srgbClr val="06172f"/>
                </a:solidFill>
                <a:effectLst/>
                <a:uFillTx/>
                <a:latin typeface="Aptos"/>
              </a:rPr>
              <a:t>National</a:t>
            </a:r>
            <a:endParaRPr b="0" lang="en-US" sz="1050" strike="noStrike" u="none">
              <a:solidFill>
                <a:srgbClr val="ffffff"/>
              </a:solidFill>
              <a:effectLst/>
              <a:uFillTx/>
              <a:latin typeface="Arial"/>
            </a:endParaRPr>
          </a:p>
          <a:p>
            <a:pPr algn="ctr" defTabSz="914400">
              <a:lnSpc>
                <a:spcPct val="100000"/>
              </a:lnSpc>
              <a:tabLst>
                <a:tab algn="l" pos="0"/>
              </a:tabLst>
            </a:pPr>
            <a:r>
              <a:rPr b="1" lang="en-US" sz="1050" strike="noStrike" u="none">
                <a:solidFill>
                  <a:srgbClr val="06172f"/>
                </a:solidFill>
                <a:effectLst/>
                <a:uFillTx/>
                <a:latin typeface="Aptos"/>
              </a:rPr>
              <a:t>Grid</a:t>
            </a:r>
            <a:endParaRPr b="0" lang="en-US" sz="1050" strike="noStrike" u="none">
              <a:solidFill>
                <a:srgbClr val="ffffff"/>
              </a:solidFill>
              <a:effectLst/>
              <a:uFillTx/>
              <a:latin typeface="Arial"/>
            </a:endParaRPr>
          </a:p>
        </p:txBody>
      </p:sp>
      <p:sp>
        <p:nvSpPr>
          <p:cNvPr id="423" name="Shape 22"/>
          <p:cNvSpPr/>
          <p:nvPr/>
        </p:nvSpPr>
        <p:spPr>
          <a:xfrm>
            <a:off x="777240" y="3063240"/>
            <a:ext cx="5028840" cy="1416960"/>
          </a:xfrm>
          <a:prstGeom prst="roundRect">
            <a:avLst>
              <a:gd name="adj" fmla="val 7742"/>
            </a:avLst>
          </a:prstGeom>
          <a:solidFill>
            <a:srgbClr val="0e2d4f">
              <a:alpha val="93000"/>
            </a:srgbClr>
          </a:solidFill>
          <a:ln w="12700">
            <a:solidFill>
              <a:srgbClr val="00b078">
                <a:alpha val="7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424" name="Text 23"/>
          <p:cNvSpPr/>
          <p:nvPr/>
        </p:nvSpPr>
        <p:spPr>
          <a:xfrm>
            <a:off x="941760" y="3182040"/>
            <a:ext cx="469980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50d69b"/>
                </a:solidFill>
                <a:effectLst/>
                <a:uFillTx/>
                <a:latin typeface="Aptos"/>
              </a:rPr>
              <a:t>Turbine function</a:t>
            </a:r>
            <a:endParaRPr b="0" lang="en-US" sz="1600" strike="noStrike" u="none">
              <a:solidFill>
                <a:srgbClr val="ffffff"/>
              </a:solidFill>
              <a:effectLst/>
              <a:uFillTx/>
              <a:latin typeface="Arial"/>
            </a:endParaRPr>
          </a:p>
        </p:txBody>
      </p:sp>
      <p:sp>
        <p:nvSpPr>
          <p:cNvPr id="425" name="Text 24"/>
          <p:cNvSpPr/>
          <p:nvPr/>
        </p:nvSpPr>
        <p:spPr>
          <a:xfrm>
            <a:off x="996840" y="3566160"/>
            <a:ext cx="4590000" cy="849960"/>
          </a:xfrm>
          <a:prstGeom prst="rect">
            <a:avLst/>
          </a:prstGeom>
          <a:noFill/>
          <a:ln w="0">
            <a:noFill/>
          </a:ln>
        </p:spPr>
        <p:style>
          <a:lnRef idx="0"/>
          <a:fillRef idx="0"/>
          <a:effectRef idx="0"/>
          <a:fontRef idx="minor"/>
        </p:style>
        <p:txBody>
          <a:bodyPr lIns="1080" rIns="1080" tIns="1080" bIns="1080" anchor="t">
            <a:normAutofit/>
          </a:bodyPr>
          <a:p>
            <a:pPr defTabSz="914400">
              <a:lnSpc>
                <a:spcPct val="100000"/>
              </a:lnSpc>
            </a:pPr>
            <a:r>
              <a:rPr b="0" lang="en-US" sz="1300" strike="noStrike" u="none">
                <a:solidFill>
                  <a:srgbClr val="f5f8fc"/>
                </a:solidFill>
                <a:effectLst/>
                <a:uFillTx/>
                <a:latin typeface="Aptos"/>
                <a:ea typeface="Aptos"/>
              </a:rPr>
              <a:t>Steam produced through heat exchange rotates turbine blades, converting thermal energy into mechanical energy.</a:t>
            </a:r>
            <a:endParaRPr b="0" lang="en-US" sz="1300" strike="noStrike" u="none">
              <a:solidFill>
                <a:srgbClr val="ffffff"/>
              </a:solidFill>
              <a:effectLst/>
              <a:uFillTx/>
              <a:latin typeface="Arial"/>
            </a:endParaRPr>
          </a:p>
        </p:txBody>
      </p:sp>
      <p:sp>
        <p:nvSpPr>
          <p:cNvPr id="426" name="Shape 25"/>
          <p:cNvSpPr/>
          <p:nvPr/>
        </p:nvSpPr>
        <p:spPr>
          <a:xfrm>
            <a:off x="6355080" y="3063240"/>
            <a:ext cx="5028840" cy="1416960"/>
          </a:xfrm>
          <a:prstGeom prst="roundRect">
            <a:avLst>
              <a:gd name="adj" fmla="val 7742"/>
            </a:avLst>
          </a:prstGeom>
          <a:solidFill>
            <a:srgbClr val="0e2d4f">
              <a:alpha val="93000"/>
            </a:srgbClr>
          </a:solidFill>
          <a:ln w="12700">
            <a:solidFill>
              <a:srgbClr val="5bd2ff">
                <a:alpha val="7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427" name="Text 26"/>
          <p:cNvSpPr/>
          <p:nvPr/>
        </p:nvSpPr>
        <p:spPr>
          <a:xfrm>
            <a:off x="6519600" y="3182040"/>
            <a:ext cx="469980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50d69b"/>
                </a:solidFill>
                <a:effectLst/>
                <a:uFillTx/>
                <a:latin typeface="Aptos"/>
              </a:rPr>
              <a:t>Generator function</a:t>
            </a:r>
            <a:endParaRPr b="0" lang="en-US" sz="1600" strike="noStrike" u="none">
              <a:solidFill>
                <a:srgbClr val="ffffff"/>
              </a:solidFill>
              <a:effectLst/>
              <a:uFillTx/>
              <a:latin typeface="Arial"/>
            </a:endParaRPr>
          </a:p>
        </p:txBody>
      </p:sp>
      <p:sp>
        <p:nvSpPr>
          <p:cNvPr id="428" name="Text 27"/>
          <p:cNvSpPr/>
          <p:nvPr/>
        </p:nvSpPr>
        <p:spPr>
          <a:xfrm>
            <a:off x="6574680" y="3566160"/>
            <a:ext cx="4590000" cy="849960"/>
          </a:xfrm>
          <a:prstGeom prst="rect">
            <a:avLst/>
          </a:prstGeom>
          <a:noFill/>
          <a:ln w="0">
            <a:noFill/>
          </a:ln>
        </p:spPr>
        <p:style>
          <a:lnRef idx="0"/>
          <a:fillRef idx="0"/>
          <a:effectRef idx="0"/>
          <a:fontRef idx="minor"/>
        </p:style>
        <p:txBody>
          <a:bodyPr lIns="1080" rIns="1080" tIns="1080" bIns="1080" anchor="t">
            <a:normAutofit/>
          </a:bodyPr>
          <a:p>
            <a:pPr defTabSz="914400">
              <a:lnSpc>
                <a:spcPct val="100000"/>
              </a:lnSpc>
            </a:pPr>
            <a:r>
              <a:rPr b="0" lang="en-US" sz="1300" strike="noStrike" u="none">
                <a:solidFill>
                  <a:srgbClr val="f5f8fc"/>
                </a:solidFill>
                <a:effectLst/>
                <a:uFillTx/>
                <a:latin typeface="Aptos"/>
                <a:ea typeface="Aptos"/>
              </a:rPr>
              <a:t>The generator converts mechanical rotation into electrical energy for transmission through the national grid.</a:t>
            </a:r>
            <a:endParaRPr b="0" lang="en-US" sz="1300" strike="noStrike" u="none">
              <a:solidFill>
                <a:srgbClr val="ffffff"/>
              </a:solidFill>
              <a:effectLst/>
              <a:uFillTx/>
              <a:latin typeface="Arial"/>
            </a:endParaRPr>
          </a:p>
        </p:txBody>
      </p:sp>
      <p:sp>
        <p:nvSpPr>
          <p:cNvPr id="429" name="Shape 28"/>
          <p:cNvSpPr/>
          <p:nvPr/>
        </p:nvSpPr>
        <p:spPr>
          <a:xfrm>
            <a:off x="777240" y="4800600"/>
            <a:ext cx="10606680" cy="914040"/>
          </a:xfrm>
          <a:prstGeom prst="roundRect">
            <a:avLst>
              <a:gd name="adj" fmla="val 12000"/>
            </a:avLst>
          </a:prstGeom>
          <a:solidFill>
            <a:srgbClr val="0e2d4f">
              <a:alpha val="93000"/>
            </a:srgbClr>
          </a:solidFill>
          <a:ln w="12700">
            <a:solidFill>
              <a:srgbClr val="f0be49">
                <a:alpha val="7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430" name="Text 29"/>
          <p:cNvSpPr/>
          <p:nvPr/>
        </p:nvSpPr>
        <p:spPr>
          <a:xfrm>
            <a:off x="941760" y="4919400"/>
            <a:ext cx="1027764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50d69b"/>
                </a:solidFill>
                <a:effectLst/>
                <a:uFillTx/>
                <a:latin typeface="Aptos"/>
              </a:rPr>
              <a:t>Environmental connection</a:t>
            </a:r>
            <a:endParaRPr b="0" lang="en-US" sz="1600" strike="noStrike" u="none">
              <a:solidFill>
                <a:srgbClr val="ffffff"/>
              </a:solidFill>
              <a:effectLst/>
              <a:uFillTx/>
              <a:latin typeface="Arial"/>
            </a:endParaRPr>
          </a:p>
        </p:txBody>
      </p:sp>
      <p:sp>
        <p:nvSpPr>
          <p:cNvPr id="431" name="Text 30"/>
          <p:cNvSpPr/>
          <p:nvPr/>
        </p:nvSpPr>
        <p:spPr>
          <a:xfrm>
            <a:off x="996840" y="5303520"/>
            <a:ext cx="10167840" cy="347040"/>
          </a:xfrm>
          <a:prstGeom prst="rect">
            <a:avLst/>
          </a:prstGeom>
          <a:noFill/>
          <a:ln w="0">
            <a:noFill/>
          </a:ln>
        </p:spPr>
        <p:style>
          <a:lnRef idx="0"/>
          <a:fillRef idx="0"/>
          <a:effectRef idx="0"/>
          <a:fontRef idx="minor"/>
        </p:style>
        <p:txBody>
          <a:bodyPr lIns="1080" rIns="1080" tIns="1080" bIns="1080" anchor="t">
            <a:normAutofit fontScale="92500" lnSpcReduction="9999"/>
          </a:bodyPr>
          <a:p>
            <a:pPr defTabSz="914400">
              <a:lnSpc>
                <a:spcPct val="100000"/>
              </a:lnSpc>
            </a:pPr>
            <a:r>
              <a:rPr b="0" lang="en-US" sz="1300" strike="noStrike" u="none">
                <a:solidFill>
                  <a:srgbClr val="f5f8fc"/>
                </a:solidFill>
                <a:effectLst/>
                <a:uFillTx/>
                <a:latin typeface="Aptos"/>
                <a:ea typeface="Aptos"/>
              </a:rPr>
              <a:t>The turbine island is not radioactive like the reactor core, but it is linked with cooling water, condenser operation and thermal discharge management.</a:t>
            </a:r>
            <a:endParaRPr b="0" lang="en-US" sz="1300" strike="noStrike" u="none">
              <a:solidFill>
                <a:srgbClr val="ffffff"/>
              </a:solidFill>
              <a:effectLst/>
              <a:uFillTx/>
              <a:latin typeface="Arial"/>
            </a:endParaRPr>
          </a:p>
        </p:txBody>
      </p:sp>
    </p:spTree>
  </p:cSld>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6172f"/>
        </a:solidFill>
      </p:bgPr>
    </p:bg>
    <p:spTree>
      <p:nvGrpSpPr>
        <p:cNvPr id="1" name=""/>
        <p:cNvGrpSpPr/>
        <p:nvPr/>
      </p:nvGrpSpPr>
      <p:grpSpPr>
        <a:xfrm>
          <a:off x="0" y="0"/>
          <a:ext cx="0" cy="0"/>
          <a:chOff x="0" y="0"/>
          <a:chExt cx="0" cy="0"/>
        </a:xfrm>
      </p:grpSpPr>
      <p:sp>
        <p:nvSpPr>
          <p:cNvPr id="432" name="Shape 0"/>
          <p:cNvSpPr/>
          <p:nvPr/>
        </p:nvSpPr>
        <p:spPr>
          <a:xfrm>
            <a:off x="0" y="0"/>
            <a:ext cx="12191400" cy="6857640"/>
          </a:xfrm>
          <a:prstGeom prst="rect">
            <a:avLst/>
          </a:prstGeom>
          <a:solidFill>
            <a:srgbClr val="06172f"/>
          </a:solidFill>
          <a:ln w="12700">
            <a:solidFill>
              <a:srgbClr val="06172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433" name="Shape 1"/>
          <p:cNvSpPr/>
          <p:nvPr/>
        </p:nvSpPr>
        <p:spPr>
          <a:xfrm>
            <a:off x="7680960" y="-1005840"/>
            <a:ext cx="4388760" cy="2925720"/>
          </a:xfrm>
          <a:prstGeom prst="arc">
            <a:avLst>
              <a:gd name="adj1" fmla="val 16200000"/>
              <a:gd name="adj2" fmla="val 0"/>
            </a:avLst>
          </a:prstGeom>
          <a:solidFill>
            <a:srgbClr val="0e3a68">
              <a:alpha val="75000"/>
            </a:srgbClr>
          </a:solidFill>
          <a:ln w="12700">
            <a:solidFill>
              <a:srgbClr val="0e3a68">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434" name="Shape 2"/>
          <p:cNvSpPr/>
          <p:nvPr/>
        </p:nvSpPr>
        <p:spPr>
          <a:xfrm>
            <a:off x="8778240" y="-777240"/>
            <a:ext cx="3474360" cy="2285640"/>
          </a:xfrm>
          <a:prstGeom prst="arc">
            <a:avLst>
              <a:gd name="adj1" fmla="val 16200000"/>
              <a:gd name="adj2" fmla="val 0"/>
            </a:avLst>
          </a:prstGeom>
          <a:solidFill>
            <a:srgbClr val="0b4d5e">
              <a:alpha val="65000"/>
            </a:srgbClr>
          </a:solidFill>
          <a:ln w="12700">
            <a:solidFill>
              <a:srgbClr val="0b4d5e">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435" name="Shape 3"/>
          <p:cNvSpPr/>
          <p:nvPr/>
        </p:nvSpPr>
        <p:spPr>
          <a:xfrm>
            <a:off x="0" y="0"/>
            <a:ext cx="109440" cy="6857640"/>
          </a:xfrm>
          <a:prstGeom prst="rect">
            <a:avLst/>
          </a:prstGeom>
          <a:solidFill>
            <a:srgbClr val="00b078"/>
          </a:solidFill>
          <a:ln w="12700">
            <a:solidFill>
              <a:srgbClr val="00b078">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436" name="Shape 4"/>
          <p:cNvSpPr/>
          <p:nvPr/>
        </p:nvSpPr>
        <p:spPr>
          <a:xfrm>
            <a:off x="320040" y="6565320"/>
            <a:ext cx="11521080" cy="16200"/>
          </a:xfrm>
          <a:prstGeom prst="rect">
            <a:avLst/>
          </a:prstGeom>
          <a:solidFill>
            <a:srgbClr val="435d78"/>
          </a:solidFill>
          <a:ln w="12700">
            <a:solidFill>
              <a:srgbClr val="435d78">
                <a:alpha val="0"/>
              </a:srgbClr>
            </a:solidFill>
            <a:round/>
          </a:ln>
        </p:spPr>
        <p:style>
          <a:lnRef idx="0"/>
          <a:fillRef idx="0"/>
          <a:effectRef idx="0"/>
          <a:fontRef idx="minor"/>
        </p:style>
        <p:txBody>
          <a:bodyPr lIns="90000" rIns="90000" tIns="-28440" bIns="-28440" anchor="t">
            <a:noAutofit/>
          </a:bodyPr>
          <a:p>
            <a:endParaRPr b="0" lang="en-US" sz="1800" strike="noStrike" u="none">
              <a:solidFill>
                <a:srgbClr val="ffffff"/>
              </a:solidFill>
              <a:effectLst/>
              <a:uFillTx/>
              <a:latin typeface="Arial"/>
            </a:endParaRPr>
          </a:p>
        </p:txBody>
      </p:sp>
      <p:sp>
        <p:nvSpPr>
          <p:cNvPr id="437" name="Text 5"/>
          <p:cNvSpPr/>
          <p:nvPr/>
        </p:nvSpPr>
        <p:spPr>
          <a:xfrm>
            <a:off x="11356920" y="6602040"/>
            <a:ext cx="502560" cy="13680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50" strike="noStrike" u="none">
                <a:solidFill>
                  <a:srgbClr val="b0c1d5"/>
                </a:solidFill>
                <a:effectLst/>
                <a:uFillTx/>
                <a:latin typeface="Aptos"/>
                <a:ea typeface="Aptos"/>
              </a:rPr>
              <a:t>15</a:t>
            </a:r>
            <a:endParaRPr b="0" lang="en-US" sz="950" strike="noStrike" u="none">
              <a:solidFill>
                <a:srgbClr val="ffffff"/>
              </a:solidFill>
              <a:effectLst/>
              <a:uFillTx/>
              <a:latin typeface="Arial"/>
            </a:endParaRPr>
          </a:p>
        </p:txBody>
      </p:sp>
      <p:sp>
        <p:nvSpPr>
          <p:cNvPr id="438" name="Text 6"/>
          <p:cNvSpPr/>
          <p:nvPr/>
        </p:nvSpPr>
        <p:spPr>
          <a:xfrm>
            <a:off x="475560" y="228600"/>
            <a:ext cx="10972440" cy="383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500" strike="noStrike" u="none">
                <a:solidFill>
                  <a:srgbClr val="f5f8fc"/>
                </a:solidFill>
                <a:effectLst/>
                <a:uFillTx/>
                <a:latin typeface="Aptos Display"/>
                <a:ea typeface="Aptos Display"/>
              </a:rPr>
              <a:t>Feed Water System</a:t>
            </a:r>
            <a:endParaRPr b="0" lang="en-US" sz="2500" strike="noStrike" u="none">
              <a:solidFill>
                <a:srgbClr val="ffffff"/>
              </a:solidFill>
              <a:effectLst/>
              <a:uFillTx/>
              <a:latin typeface="Arial"/>
            </a:endParaRPr>
          </a:p>
        </p:txBody>
      </p:sp>
      <p:sp>
        <p:nvSpPr>
          <p:cNvPr id="439" name="Text 7"/>
          <p:cNvSpPr/>
          <p:nvPr/>
        </p:nvSpPr>
        <p:spPr>
          <a:xfrm>
            <a:off x="502920" y="704160"/>
            <a:ext cx="10835280" cy="255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50" strike="noStrike" u="none">
                <a:solidFill>
                  <a:srgbClr val="b0c1d5"/>
                </a:solidFill>
                <a:effectLst/>
                <a:uFillTx/>
                <a:latin typeface="Aptos"/>
              </a:rPr>
              <a:t>Water circulation and condenser support</a:t>
            </a:r>
            <a:endParaRPr b="0" lang="en-US" sz="1250" strike="noStrike" u="none">
              <a:solidFill>
                <a:srgbClr val="ffffff"/>
              </a:solidFill>
              <a:effectLst/>
              <a:uFillTx/>
              <a:latin typeface="Arial"/>
            </a:endParaRPr>
          </a:p>
        </p:txBody>
      </p:sp>
      <p:sp>
        <p:nvSpPr>
          <p:cNvPr id="440" name="Shape 8"/>
          <p:cNvSpPr/>
          <p:nvPr/>
        </p:nvSpPr>
        <p:spPr>
          <a:xfrm>
            <a:off x="685800" y="1234440"/>
            <a:ext cx="5303160" cy="4480200"/>
          </a:xfrm>
          <a:prstGeom prst="roundRect">
            <a:avLst>
              <a:gd name="adj" fmla="val 2449"/>
            </a:avLst>
          </a:prstGeom>
          <a:solidFill>
            <a:srgbClr val="00b078">
              <a:alpha val="95000"/>
            </a:srgbClr>
          </a:solidFill>
          <a:ln w="12700">
            <a:solidFill>
              <a:srgbClr val="00b078">
                <a:alpha val="7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441" name="Shape 9"/>
          <p:cNvSpPr/>
          <p:nvPr/>
        </p:nvSpPr>
        <p:spPr>
          <a:xfrm>
            <a:off x="1280160" y="1600200"/>
            <a:ext cx="2102760" cy="658080"/>
          </a:xfrm>
          <a:prstGeom prst="roundRect">
            <a:avLst>
              <a:gd name="adj" fmla="val 11111"/>
            </a:avLst>
          </a:prstGeom>
          <a:solidFill>
            <a:srgbClr val="5bd2ff"/>
          </a:solidFill>
          <a:ln w="12700">
            <a:solidFill>
              <a:srgbClr val="5bd2f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42" name="Text 10"/>
          <p:cNvSpPr/>
          <p:nvPr/>
        </p:nvSpPr>
        <p:spPr>
          <a:xfrm>
            <a:off x="1389960" y="1710000"/>
            <a:ext cx="1883160" cy="4752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100" strike="noStrike" u="none">
                <a:solidFill>
                  <a:srgbClr val="06172f"/>
                </a:solidFill>
                <a:effectLst/>
                <a:uFillTx/>
                <a:latin typeface="Aptos"/>
              </a:rPr>
              <a:t>Condenser</a:t>
            </a:r>
            <a:endParaRPr b="0" lang="en-US" sz="1100" strike="noStrike" u="none">
              <a:solidFill>
                <a:srgbClr val="ffffff"/>
              </a:solidFill>
              <a:effectLst/>
              <a:uFillTx/>
              <a:latin typeface="Arial"/>
            </a:endParaRPr>
          </a:p>
        </p:txBody>
      </p:sp>
      <p:sp>
        <p:nvSpPr>
          <p:cNvPr id="443" name="Shape 11"/>
          <p:cNvSpPr/>
          <p:nvPr/>
        </p:nvSpPr>
        <p:spPr>
          <a:xfrm>
            <a:off x="2221920" y="2240280"/>
            <a:ext cx="219240" cy="145800"/>
          </a:xfrm>
          <a:prstGeom prst="downArrow">
            <a:avLst>
              <a:gd name="adj1" fmla="val 50000"/>
              <a:gd name="adj2" fmla="val 50000"/>
            </a:avLst>
          </a:prstGeom>
          <a:solidFill>
            <a:srgbClr val="b0c1d5"/>
          </a:solidFill>
          <a:ln w="12700">
            <a:solidFill>
              <a:srgbClr val="b0c1d5">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44" name="Shape 12"/>
          <p:cNvSpPr/>
          <p:nvPr/>
        </p:nvSpPr>
        <p:spPr>
          <a:xfrm>
            <a:off x="1280160" y="2331720"/>
            <a:ext cx="2102760" cy="658080"/>
          </a:xfrm>
          <a:prstGeom prst="roundRect">
            <a:avLst>
              <a:gd name="adj" fmla="val 11111"/>
            </a:avLst>
          </a:prstGeom>
          <a:solidFill>
            <a:srgbClr val="50d69b"/>
          </a:solidFill>
          <a:ln w="12700">
            <a:solidFill>
              <a:srgbClr val="50d69b">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45" name="Text 13"/>
          <p:cNvSpPr/>
          <p:nvPr/>
        </p:nvSpPr>
        <p:spPr>
          <a:xfrm>
            <a:off x="1389960" y="2441520"/>
            <a:ext cx="1883160" cy="4752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100" strike="noStrike" u="none">
                <a:solidFill>
                  <a:srgbClr val="06172f"/>
                </a:solidFill>
                <a:effectLst/>
                <a:uFillTx/>
                <a:latin typeface="Aptos"/>
              </a:rPr>
              <a:t>Feed water pump</a:t>
            </a:r>
            <a:endParaRPr b="0" lang="en-US" sz="1100" strike="noStrike" u="none">
              <a:solidFill>
                <a:srgbClr val="ffffff"/>
              </a:solidFill>
              <a:effectLst/>
              <a:uFillTx/>
              <a:latin typeface="Arial"/>
            </a:endParaRPr>
          </a:p>
        </p:txBody>
      </p:sp>
      <p:sp>
        <p:nvSpPr>
          <p:cNvPr id="446" name="Shape 14"/>
          <p:cNvSpPr/>
          <p:nvPr/>
        </p:nvSpPr>
        <p:spPr>
          <a:xfrm>
            <a:off x="2221920" y="2971800"/>
            <a:ext cx="219240" cy="145800"/>
          </a:xfrm>
          <a:prstGeom prst="downArrow">
            <a:avLst>
              <a:gd name="adj1" fmla="val 50000"/>
              <a:gd name="adj2" fmla="val 50000"/>
            </a:avLst>
          </a:prstGeom>
          <a:solidFill>
            <a:srgbClr val="b0c1d5"/>
          </a:solidFill>
          <a:ln w="12700">
            <a:solidFill>
              <a:srgbClr val="b0c1d5">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47" name="Shape 15"/>
          <p:cNvSpPr/>
          <p:nvPr/>
        </p:nvSpPr>
        <p:spPr>
          <a:xfrm>
            <a:off x="1280160" y="3063240"/>
            <a:ext cx="2102760" cy="658080"/>
          </a:xfrm>
          <a:prstGeom prst="roundRect">
            <a:avLst>
              <a:gd name="adj" fmla="val 11111"/>
            </a:avLst>
          </a:prstGeom>
          <a:solidFill>
            <a:srgbClr val="00b078"/>
          </a:solidFill>
          <a:ln w="12700">
            <a:solidFill>
              <a:srgbClr val="00b078">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448" name="Text 16"/>
          <p:cNvSpPr/>
          <p:nvPr/>
        </p:nvSpPr>
        <p:spPr>
          <a:xfrm>
            <a:off x="1389960" y="3173040"/>
            <a:ext cx="1883160" cy="4752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100" strike="noStrike" u="none">
                <a:solidFill>
                  <a:srgbClr val="06172f"/>
                </a:solidFill>
                <a:effectLst/>
                <a:uFillTx/>
                <a:latin typeface="Aptos"/>
              </a:rPr>
              <a:t>Steam generator</a:t>
            </a:r>
            <a:endParaRPr b="0" lang="en-US" sz="1100" strike="noStrike" u="none">
              <a:solidFill>
                <a:srgbClr val="ffffff"/>
              </a:solidFill>
              <a:effectLst/>
              <a:uFillTx/>
              <a:latin typeface="Arial"/>
            </a:endParaRPr>
          </a:p>
        </p:txBody>
      </p:sp>
      <p:sp>
        <p:nvSpPr>
          <p:cNvPr id="449" name="Shape 17"/>
          <p:cNvSpPr/>
          <p:nvPr/>
        </p:nvSpPr>
        <p:spPr>
          <a:xfrm>
            <a:off x="2221920" y="3703320"/>
            <a:ext cx="219240" cy="145800"/>
          </a:xfrm>
          <a:prstGeom prst="downArrow">
            <a:avLst>
              <a:gd name="adj1" fmla="val 50000"/>
              <a:gd name="adj2" fmla="val 50000"/>
            </a:avLst>
          </a:prstGeom>
          <a:solidFill>
            <a:srgbClr val="b0c1d5"/>
          </a:solidFill>
          <a:ln w="12700">
            <a:solidFill>
              <a:srgbClr val="b0c1d5">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50" name="Shape 18"/>
          <p:cNvSpPr/>
          <p:nvPr/>
        </p:nvSpPr>
        <p:spPr>
          <a:xfrm>
            <a:off x="1280160" y="3794760"/>
            <a:ext cx="2102760" cy="658080"/>
          </a:xfrm>
          <a:prstGeom prst="roundRect">
            <a:avLst>
              <a:gd name="adj" fmla="val 11111"/>
            </a:avLst>
          </a:prstGeom>
          <a:solidFill>
            <a:srgbClr val="f0be49"/>
          </a:solidFill>
          <a:ln w="12700">
            <a:solidFill>
              <a:srgbClr val="f0be49">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51" name="Text 19"/>
          <p:cNvSpPr/>
          <p:nvPr/>
        </p:nvSpPr>
        <p:spPr>
          <a:xfrm>
            <a:off x="1389960" y="3904560"/>
            <a:ext cx="1883160" cy="4752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100" strike="noStrike" u="none">
                <a:solidFill>
                  <a:srgbClr val="06172f"/>
                </a:solidFill>
                <a:effectLst/>
                <a:uFillTx/>
                <a:latin typeface="Aptos"/>
              </a:rPr>
              <a:t>Steam to turbine</a:t>
            </a:r>
            <a:endParaRPr b="0" lang="en-US" sz="1100" strike="noStrike" u="none">
              <a:solidFill>
                <a:srgbClr val="ffffff"/>
              </a:solidFill>
              <a:effectLst/>
              <a:uFillTx/>
              <a:latin typeface="Arial"/>
            </a:endParaRPr>
          </a:p>
        </p:txBody>
      </p:sp>
      <p:sp>
        <p:nvSpPr>
          <p:cNvPr id="452" name="Shape 20"/>
          <p:cNvSpPr/>
          <p:nvPr/>
        </p:nvSpPr>
        <p:spPr>
          <a:xfrm>
            <a:off x="2221920" y="4434840"/>
            <a:ext cx="219240" cy="145800"/>
          </a:xfrm>
          <a:prstGeom prst="downArrow">
            <a:avLst>
              <a:gd name="adj1" fmla="val 50000"/>
              <a:gd name="adj2" fmla="val 50000"/>
            </a:avLst>
          </a:prstGeom>
          <a:solidFill>
            <a:srgbClr val="b0c1d5"/>
          </a:solidFill>
          <a:ln w="12700">
            <a:solidFill>
              <a:srgbClr val="b0c1d5">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53" name="Shape 21"/>
          <p:cNvSpPr/>
          <p:nvPr/>
        </p:nvSpPr>
        <p:spPr>
          <a:xfrm>
            <a:off x="1280160" y="4526280"/>
            <a:ext cx="2102760" cy="658080"/>
          </a:xfrm>
          <a:prstGeom prst="roundRect">
            <a:avLst>
              <a:gd name="adj" fmla="val 11111"/>
            </a:avLst>
          </a:prstGeom>
          <a:solidFill>
            <a:srgbClr val="5bd2ff"/>
          </a:solidFill>
          <a:ln w="12700">
            <a:solidFill>
              <a:srgbClr val="5bd2f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54" name="Text 22"/>
          <p:cNvSpPr/>
          <p:nvPr/>
        </p:nvSpPr>
        <p:spPr>
          <a:xfrm>
            <a:off x="1389960" y="4636080"/>
            <a:ext cx="1883160" cy="4752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100" strike="noStrike" u="none">
                <a:solidFill>
                  <a:srgbClr val="06172f"/>
                </a:solidFill>
                <a:effectLst/>
                <a:uFillTx/>
                <a:latin typeface="Aptos"/>
              </a:rPr>
              <a:t>Condensation return</a:t>
            </a:r>
            <a:endParaRPr b="0" lang="en-US" sz="1100" strike="noStrike" u="none">
              <a:solidFill>
                <a:srgbClr val="ffffff"/>
              </a:solidFill>
              <a:effectLst/>
              <a:uFillTx/>
              <a:latin typeface="Arial"/>
            </a:endParaRPr>
          </a:p>
        </p:txBody>
      </p:sp>
      <p:sp>
        <p:nvSpPr>
          <p:cNvPr id="455" name="Text 23"/>
          <p:cNvSpPr/>
          <p:nvPr/>
        </p:nvSpPr>
        <p:spPr>
          <a:xfrm>
            <a:off x="1051560" y="5486400"/>
            <a:ext cx="2925720" cy="2282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50" strike="noStrike" u="none">
                <a:solidFill>
                  <a:srgbClr val="f5f8fc"/>
                </a:solidFill>
                <a:effectLst/>
                <a:uFillTx/>
                <a:latin typeface="Aptos"/>
              </a:rPr>
              <a:t>Closed steam-water cycle</a:t>
            </a:r>
            <a:endParaRPr b="0" lang="en-US" sz="1250" strike="noStrike" u="none">
              <a:solidFill>
                <a:srgbClr val="ffffff"/>
              </a:solidFill>
              <a:effectLst/>
              <a:uFillTx/>
              <a:latin typeface="Arial"/>
            </a:endParaRPr>
          </a:p>
        </p:txBody>
      </p:sp>
      <p:sp>
        <p:nvSpPr>
          <p:cNvPr id="456" name="Shape 24"/>
          <p:cNvSpPr/>
          <p:nvPr/>
        </p:nvSpPr>
        <p:spPr>
          <a:xfrm>
            <a:off x="6355080" y="1417320"/>
            <a:ext cx="4891680" cy="1371240"/>
          </a:xfrm>
          <a:prstGeom prst="roundRect">
            <a:avLst>
              <a:gd name="adj" fmla="val 8000"/>
            </a:avLst>
          </a:prstGeom>
          <a:solidFill>
            <a:srgbClr val="0e2d4f">
              <a:alpha val="93000"/>
            </a:srgbClr>
          </a:solidFill>
          <a:ln w="12700">
            <a:solidFill>
              <a:srgbClr val="50d69b">
                <a:alpha val="7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457" name="Text 25"/>
          <p:cNvSpPr/>
          <p:nvPr/>
        </p:nvSpPr>
        <p:spPr>
          <a:xfrm>
            <a:off x="6519600" y="1536120"/>
            <a:ext cx="456264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50d69b"/>
                </a:solidFill>
                <a:effectLst/>
                <a:uFillTx/>
                <a:latin typeface="Aptos"/>
              </a:rPr>
              <a:t>Purpose</a:t>
            </a:r>
            <a:endParaRPr b="0" lang="en-US" sz="1600" strike="noStrike" u="none">
              <a:solidFill>
                <a:srgbClr val="ffffff"/>
              </a:solidFill>
              <a:effectLst/>
              <a:uFillTx/>
              <a:latin typeface="Arial"/>
            </a:endParaRPr>
          </a:p>
        </p:txBody>
      </p:sp>
      <p:sp>
        <p:nvSpPr>
          <p:cNvPr id="458" name="Text 26"/>
          <p:cNvSpPr/>
          <p:nvPr/>
        </p:nvSpPr>
        <p:spPr>
          <a:xfrm>
            <a:off x="6574680" y="1920240"/>
            <a:ext cx="4452840" cy="804240"/>
          </a:xfrm>
          <a:prstGeom prst="rect">
            <a:avLst/>
          </a:prstGeom>
          <a:noFill/>
          <a:ln w="0">
            <a:noFill/>
          </a:ln>
        </p:spPr>
        <p:style>
          <a:lnRef idx="0"/>
          <a:fillRef idx="0"/>
          <a:effectRef idx="0"/>
          <a:fontRef idx="minor"/>
        </p:style>
        <p:txBody>
          <a:bodyPr lIns="1080" rIns="1080" tIns="1080" bIns="1080" anchor="t">
            <a:normAutofit/>
          </a:bodyPr>
          <a:p>
            <a:pPr defTabSz="914400">
              <a:lnSpc>
                <a:spcPct val="100000"/>
              </a:lnSpc>
            </a:pPr>
            <a:r>
              <a:rPr b="0" lang="en-US" sz="1300" strike="noStrike" u="none">
                <a:solidFill>
                  <a:srgbClr val="f5f8fc"/>
                </a:solidFill>
                <a:effectLst/>
                <a:uFillTx/>
                <a:latin typeface="Aptos"/>
                <a:ea typeface="Aptos"/>
              </a:rPr>
              <a:t>The feed water system returns condensed water to the steam generator, helping maintain continuous electricity generation.</a:t>
            </a:r>
            <a:endParaRPr b="0" lang="en-US" sz="1300" strike="noStrike" u="none">
              <a:solidFill>
                <a:srgbClr val="ffffff"/>
              </a:solidFill>
              <a:effectLst/>
              <a:uFillTx/>
              <a:latin typeface="Arial"/>
            </a:endParaRPr>
          </a:p>
        </p:txBody>
      </p:sp>
      <p:sp>
        <p:nvSpPr>
          <p:cNvPr id="459" name="Shape 27"/>
          <p:cNvSpPr/>
          <p:nvPr/>
        </p:nvSpPr>
        <p:spPr>
          <a:xfrm>
            <a:off x="6355080" y="3063240"/>
            <a:ext cx="4891680" cy="1371240"/>
          </a:xfrm>
          <a:prstGeom prst="roundRect">
            <a:avLst>
              <a:gd name="adj" fmla="val 8000"/>
            </a:avLst>
          </a:prstGeom>
          <a:solidFill>
            <a:srgbClr val="0e2d4f">
              <a:alpha val="93000"/>
            </a:srgbClr>
          </a:solidFill>
          <a:ln w="12700">
            <a:solidFill>
              <a:srgbClr val="5bd2ff">
                <a:alpha val="7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460" name="Text 28"/>
          <p:cNvSpPr/>
          <p:nvPr/>
        </p:nvSpPr>
        <p:spPr>
          <a:xfrm>
            <a:off x="6519600" y="3182040"/>
            <a:ext cx="456264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50d69b"/>
                </a:solidFill>
                <a:effectLst/>
                <a:uFillTx/>
                <a:latin typeface="Aptos"/>
              </a:rPr>
              <a:t>Environmental relevance</a:t>
            </a:r>
            <a:endParaRPr b="0" lang="en-US" sz="1600" strike="noStrike" u="none">
              <a:solidFill>
                <a:srgbClr val="ffffff"/>
              </a:solidFill>
              <a:effectLst/>
              <a:uFillTx/>
              <a:latin typeface="Arial"/>
            </a:endParaRPr>
          </a:p>
        </p:txBody>
      </p:sp>
      <p:sp>
        <p:nvSpPr>
          <p:cNvPr id="461" name="Text 29"/>
          <p:cNvSpPr/>
          <p:nvPr/>
        </p:nvSpPr>
        <p:spPr>
          <a:xfrm>
            <a:off x="6574680" y="3566160"/>
            <a:ext cx="4452840" cy="804240"/>
          </a:xfrm>
          <a:prstGeom prst="rect">
            <a:avLst/>
          </a:prstGeom>
          <a:noFill/>
          <a:ln w="0">
            <a:noFill/>
          </a:ln>
        </p:spPr>
        <p:style>
          <a:lnRef idx="0"/>
          <a:fillRef idx="0"/>
          <a:effectRef idx="0"/>
          <a:fontRef idx="minor"/>
        </p:style>
        <p:txBody>
          <a:bodyPr lIns="1080" rIns="1080" tIns="1080" bIns="1080" anchor="t">
            <a:normAutofit/>
          </a:bodyPr>
          <a:p>
            <a:pPr defTabSz="914400">
              <a:lnSpc>
                <a:spcPct val="100000"/>
              </a:lnSpc>
            </a:pPr>
            <a:r>
              <a:rPr b="0" lang="en-US" sz="1300" strike="noStrike" u="none">
                <a:solidFill>
                  <a:srgbClr val="f5f8fc"/>
                </a:solidFill>
                <a:effectLst/>
                <a:uFillTx/>
                <a:latin typeface="Aptos"/>
                <a:ea typeface="Aptos"/>
              </a:rPr>
              <a:t>Feed-water and condenser performance influence cooling-water demand, discharge temperature and plant efficiency.</a:t>
            </a:r>
            <a:endParaRPr b="0" lang="en-US" sz="1300" strike="noStrike" u="none">
              <a:solidFill>
                <a:srgbClr val="ffffff"/>
              </a:solidFill>
              <a:effectLst/>
              <a:uFillTx/>
              <a:latin typeface="Arial"/>
            </a:endParaRPr>
          </a:p>
        </p:txBody>
      </p:sp>
      <p:sp>
        <p:nvSpPr>
          <p:cNvPr id="462" name="Shape 30"/>
          <p:cNvSpPr/>
          <p:nvPr/>
        </p:nvSpPr>
        <p:spPr>
          <a:xfrm>
            <a:off x="6355080" y="4709160"/>
            <a:ext cx="4891680" cy="1142640"/>
          </a:xfrm>
          <a:prstGeom prst="roundRect">
            <a:avLst>
              <a:gd name="adj" fmla="val 9600"/>
            </a:avLst>
          </a:prstGeom>
          <a:solidFill>
            <a:srgbClr val="0e2d4f">
              <a:alpha val="93000"/>
            </a:srgbClr>
          </a:solidFill>
          <a:ln w="12700">
            <a:solidFill>
              <a:srgbClr val="f0be49">
                <a:alpha val="7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463" name="Text 31"/>
          <p:cNvSpPr/>
          <p:nvPr/>
        </p:nvSpPr>
        <p:spPr>
          <a:xfrm>
            <a:off x="6519600" y="4827960"/>
            <a:ext cx="456264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50d69b"/>
                </a:solidFill>
                <a:effectLst/>
                <a:uFillTx/>
                <a:latin typeface="Aptos"/>
              </a:rPr>
              <a:t>Monitoring relevance</a:t>
            </a:r>
            <a:endParaRPr b="0" lang="en-US" sz="1600" strike="noStrike" u="none">
              <a:solidFill>
                <a:srgbClr val="ffffff"/>
              </a:solidFill>
              <a:effectLst/>
              <a:uFillTx/>
              <a:latin typeface="Arial"/>
            </a:endParaRPr>
          </a:p>
        </p:txBody>
      </p:sp>
      <p:sp>
        <p:nvSpPr>
          <p:cNvPr id="464" name="Text 32"/>
          <p:cNvSpPr/>
          <p:nvPr/>
        </p:nvSpPr>
        <p:spPr>
          <a:xfrm>
            <a:off x="6574680" y="5212080"/>
            <a:ext cx="4452840" cy="575640"/>
          </a:xfrm>
          <a:prstGeom prst="rect">
            <a:avLst/>
          </a:prstGeom>
          <a:noFill/>
          <a:ln w="0">
            <a:noFill/>
          </a:ln>
        </p:spPr>
        <p:style>
          <a:lnRef idx="0"/>
          <a:fillRef idx="0"/>
          <a:effectRef idx="0"/>
          <a:fontRef idx="minor"/>
        </p:style>
        <p:txBody>
          <a:bodyPr lIns="1080" rIns="1080" tIns="1080" bIns="1080" anchor="t">
            <a:normAutofit lnSpcReduction="9999"/>
          </a:bodyPr>
          <a:p>
            <a:pPr defTabSz="914400">
              <a:lnSpc>
                <a:spcPct val="100000"/>
              </a:lnSpc>
            </a:pPr>
            <a:r>
              <a:rPr b="0" lang="en-US" sz="1300" strike="noStrike" u="none">
                <a:solidFill>
                  <a:srgbClr val="f5f8fc"/>
                </a:solidFill>
                <a:effectLst/>
                <a:uFillTx/>
                <a:latin typeface="Aptos"/>
                <a:ea typeface="Aptos"/>
              </a:rPr>
              <a:t>EIA should treat water circulation, temperature control and river-interface performance as operational monitoring priorities.</a:t>
            </a:r>
            <a:endParaRPr b="0" lang="en-US" sz="1300" strike="noStrike" u="none">
              <a:solidFill>
                <a:srgbClr val="ffffff"/>
              </a:solidFill>
              <a:effectLst/>
              <a:uFillTx/>
              <a:latin typeface="Arial"/>
            </a:endParaRPr>
          </a:p>
        </p:txBody>
      </p:sp>
    </p:spTree>
  </p:cSld>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6172f"/>
        </a:solidFill>
      </p:bgPr>
    </p:bg>
    <p:spTree>
      <p:nvGrpSpPr>
        <p:cNvPr id="1" name=""/>
        <p:cNvGrpSpPr/>
        <p:nvPr/>
      </p:nvGrpSpPr>
      <p:grpSpPr>
        <a:xfrm>
          <a:off x="0" y="0"/>
          <a:ext cx="0" cy="0"/>
          <a:chOff x="0" y="0"/>
          <a:chExt cx="0" cy="0"/>
        </a:xfrm>
      </p:grpSpPr>
      <p:sp>
        <p:nvSpPr>
          <p:cNvPr id="465" name="Shape 0"/>
          <p:cNvSpPr/>
          <p:nvPr/>
        </p:nvSpPr>
        <p:spPr>
          <a:xfrm>
            <a:off x="0" y="0"/>
            <a:ext cx="12191400" cy="6857640"/>
          </a:xfrm>
          <a:prstGeom prst="rect">
            <a:avLst/>
          </a:prstGeom>
          <a:solidFill>
            <a:srgbClr val="06172f"/>
          </a:solidFill>
          <a:ln w="12700">
            <a:solidFill>
              <a:srgbClr val="06172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466" name="Shape 1"/>
          <p:cNvSpPr/>
          <p:nvPr/>
        </p:nvSpPr>
        <p:spPr>
          <a:xfrm>
            <a:off x="7680960" y="-1005840"/>
            <a:ext cx="4388760" cy="2925720"/>
          </a:xfrm>
          <a:prstGeom prst="arc">
            <a:avLst>
              <a:gd name="adj1" fmla="val 16200000"/>
              <a:gd name="adj2" fmla="val 0"/>
            </a:avLst>
          </a:prstGeom>
          <a:solidFill>
            <a:srgbClr val="0e3a68">
              <a:alpha val="75000"/>
            </a:srgbClr>
          </a:solidFill>
          <a:ln w="12700">
            <a:solidFill>
              <a:srgbClr val="0e3a68">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467" name="Shape 2"/>
          <p:cNvSpPr/>
          <p:nvPr/>
        </p:nvSpPr>
        <p:spPr>
          <a:xfrm>
            <a:off x="8778240" y="-777240"/>
            <a:ext cx="3474360" cy="2285640"/>
          </a:xfrm>
          <a:prstGeom prst="arc">
            <a:avLst>
              <a:gd name="adj1" fmla="val 16200000"/>
              <a:gd name="adj2" fmla="val 0"/>
            </a:avLst>
          </a:prstGeom>
          <a:solidFill>
            <a:srgbClr val="0b4d5e">
              <a:alpha val="65000"/>
            </a:srgbClr>
          </a:solidFill>
          <a:ln w="12700">
            <a:solidFill>
              <a:srgbClr val="0b4d5e">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468" name="Shape 3"/>
          <p:cNvSpPr/>
          <p:nvPr/>
        </p:nvSpPr>
        <p:spPr>
          <a:xfrm>
            <a:off x="0" y="0"/>
            <a:ext cx="109440" cy="6857640"/>
          </a:xfrm>
          <a:prstGeom prst="rect">
            <a:avLst/>
          </a:prstGeom>
          <a:solidFill>
            <a:srgbClr val="00b078"/>
          </a:solidFill>
          <a:ln w="12700">
            <a:solidFill>
              <a:srgbClr val="00b078">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469" name="Shape 4"/>
          <p:cNvSpPr/>
          <p:nvPr/>
        </p:nvSpPr>
        <p:spPr>
          <a:xfrm>
            <a:off x="320040" y="6565320"/>
            <a:ext cx="11521080" cy="16200"/>
          </a:xfrm>
          <a:prstGeom prst="rect">
            <a:avLst/>
          </a:prstGeom>
          <a:solidFill>
            <a:srgbClr val="435d78"/>
          </a:solidFill>
          <a:ln w="12700">
            <a:solidFill>
              <a:srgbClr val="435d78">
                <a:alpha val="0"/>
              </a:srgbClr>
            </a:solidFill>
            <a:round/>
          </a:ln>
        </p:spPr>
        <p:style>
          <a:lnRef idx="0"/>
          <a:fillRef idx="0"/>
          <a:effectRef idx="0"/>
          <a:fontRef idx="minor"/>
        </p:style>
        <p:txBody>
          <a:bodyPr lIns="90000" rIns="90000" tIns="-28440" bIns="-28440" anchor="t">
            <a:noAutofit/>
          </a:bodyPr>
          <a:p>
            <a:endParaRPr b="0" lang="en-US" sz="1800" strike="noStrike" u="none">
              <a:solidFill>
                <a:srgbClr val="ffffff"/>
              </a:solidFill>
              <a:effectLst/>
              <a:uFillTx/>
              <a:latin typeface="Arial"/>
            </a:endParaRPr>
          </a:p>
        </p:txBody>
      </p:sp>
      <p:sp>
        <p:nvSpPr>
          <p:cNvPr id="470" name="Text 5"/>
          <p:cNvSpPr/>
          <p:nvPr/>
        </p:nvSpPr>
        <p:spPr>
          <a:xfrm>
            <a:off x="11356920" y="6602040"/>
            <a:ext cx="502560" cy="13680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50" strike="noStrike" u="none">
                <a:solidFill>
                  <a:srgbClr val="b0c1d5"/>
                </a:solidFill>
                <a:effectLst/>
                <a:uFillTx/>
                <a:latin typeface="Aptos"/>
                <a:ea typeface="Aptos"/>
              </a:rPr>
              <a:t>16</a:t>
            </a:r>
            <a:endParaRPr b="0" lang="en-US" sz="950" strike="noStrike" u="none">
              <a:solidFill>
                <a:srgbClr val="ffffff"/>
              </a:solidFill>
              <a:effectLst/>
              <a:uFillTx/>
              <a:latin typeface="Arial"/>
            </a:endParaRPr>
          </a:p>
        </p:txBody>
      </p:sp>
      <p:sp>
        <p:nvSpPr>
          <p:cNvPr id="471" name="Text 6"/>
          <p:cNvSpPr/>
          <p:nvPr/>
        </p:nvSpPr>
        <p:spPr>
          <a:xfrm>
            <a:off x="475560" y="228600"/>
            <a:ext cx="10972440" cy="383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500" strike="noStrike" u="none">
                <a:solidFill>
                  <a:srgbClr val="f5f8fc"/>
                </a:solidFill>
                <a:effectLst/>
                <a:uFillTx/>
                <a:latin typeface="Aptos Display"/>
                <a:ea typeface="Aptos Display"/>
              </a:rPr>
              <a:t>Electricity Generation Process</a:t>
            </a:r>
            <a:endParaRPr b="0" lang="en-US" sz="2500" strike="noStrike" u="none">
              <a:solidFill>
                <a:srgbClr val="ffffff"/>
              </a:solidFill>
              <a:effectLst/>
              <a:uFillTx/>
              <a:latin typeface="Arial"/>
            </a:endParaRPr>
          </a:p>
        </p:txBody>
      </p:sp>
      <p:sp>
        <p:nvSpPr>
          <p:cNvPr id="472" name="Text 7"/>
          <p:cNvSpPr/>
          <p:nvPr/>
        </p:nvSpPr>
        <p:spPr>
          <a:xfrm>
            <a:off x="502920" y="704160"/>
            <a:ext cx="10835280" cy="255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50" strike="noStrike" u="none">
                <a:solidFill>
                  <a:srgbClr val="b0c1d5"/>
                </a:solidFill>
                <a:effectLst/>
                <a:uFillTx/>
                <a:latin typeface="Aptos"/>
              </a:rPr>
              <a:t>Uranium fuel to grid supply</a:t>
            </a:r>
            <a:endParaRPr b="0" lang="en-US" sz="1250" strike="noStrike" u="none">
              <a:solidFill>
                <a:srgbClr val="ffffff"/>
              </a:solidFill>
              <a:effectLst/>
              <a:uFillTx/>
              <a:latin typeface="Arial"/>
            </a:endParaRPr>
          </a:p>
        </p:txBody>
      </p:sp>
      <p:sp>
        <p:nvSpPr>
          <p:cNvPr id="473" name="Shape 8"/>
          <p:cNvSpPr/>
          <p:nvPr/>
        </p:nvSpPr>
        <p:spPr>
          <a:xfrm>
            <a:off x="411480" y="1417320"/>
            <a:ext cx="1500480" cy="685440"/>
          </a:xfrm>
          <a:prstGeom prst="roundRect">
            <a:avLst>
              <a:gd name="adj" fmla="val 13333"/>
            </a:avLst>
          </a:prstGeom>
          <a:solidFill>
            <a:srgbClr val="00b078"/>
          </a:solidFill>
          <a:ln w="12700">
            <a:solidFill>
              <a:srgbClr val="00b078">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474" name="Text 9"/>
          <p:cNvSpPr/>
          <p:nvPr/>
        </p:nvSpPr>
        <p:spPr>
          <a:xfrm>
            <a:off x="466200" y="1554480"/>
            <a:ext cx="1390680" cy="4294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50" strike="noStrike" u="none">
                <a:solidFill>
                  <a:srgbClr val="06172f"/>
                </a:solidFill>
                <a:effectLst/>
                <a:uFillTx/>
                <a:latin typeface="Aptos"/>
              </a:rPr>
              <a:t>Uranium</a:t>
            </a:r>
            <a:endParaRPr b="0" lang="en-US" sz="1050" strike="noStrike" u="none">
              <a:solidFill>
                <a:srgbClr val="ffffff"/>
              </a:solidFill>
              <a:effectLst/>
              <a:uFillTx/>
              <a:latin typeface="Arial"/>
            </a:endParaRPr>
          </a:p>
          <a:p>
            <a:pPr algn="ctr" defTabSz="914400">
              <a:lnSpc>
                <a:spcPct val="100000"/>
              </a:lnSpc>
              <a:tabLst>
                <a:tab algn="l" pos="0"/>
              </a:tabLst>
            </a:pPr>
            <a:r>
              <a:rPr b="1" lang="en-US" sz="1050" strike="noStrike" u="none">
                <a:solidFill>
                  <a:srgbClr val="06172f"/>
                </a:solidFill>
                <a:effectLst/>
                <a:uFillTx/>
                <a:latin typeface="Aptos"/>
              </a:rPr>
              <a:t>Fuel</a:t>
            </a:r>
            <a:endParaRPr b="0" lang="en-US" sz="1050" strike="noStrike" u="none">
              <a:solidFill>
                <a:srgbClr val="ffffff"/>
              </a:solidFill>
              <a:effectLst/>
              <a:uFillTx/>
              <a:latin typeface="Arial"/>
            </a:endParaRPr>
          </a:p>
        </p:txBody>
      </p:sp>
      <p:sp>
        <p:nvSpPr>
          <p:cNvPr id="475" name="Shape 10"/>
          <p:cNvSpPr/>
          <p:nvPr/>
        </p:nvSpPr>
        <p:spPr>
          <a:xfrm>
            <a:off x="1893960" y="1671120"/>
            <a:ext cx="164160" cy="171000"/>
          </a:xfrm>
          <a:prstGeom prst="rightArrow">
            <a:avLst>
              <a:gd name="adj1" fmla="val 50000"/>
              <a:gd name="adj2" fmla="val 50000"/>
            </a:avLst>
          </a:prstGeom>
          <a:solidFill>
            <a:srgbClr val="b0c1d5"/>
          </a:solidFill>
          <a:ln w="12700">
            <a:solidFill>
              <a:srgbClr val="b0c1d5">
                <a:alpha val="0"/>
              </a:srgbClr>
            </a:solidFill>
            <a:round/>
          </a:ln>
        </p:spPr>
        <p:style>
          <a:lnRef idx="0"/>
          <a:fillRef idx="0"/>
          <a:effectRef idx="0"/>
          <a:fontRef idx="minor"/>
        </p:style>
        <p:txBody>
          <a:bodyPr lIns="90000" rIns="90000" tIns="40680" bIns="40680" anchor="t">
            <a:noAutofit/>
          </a:bodyPr>
          <a:p>
            <a:endParaRPr b="0" lang="en-US" sz="1800" strike="noStrike" u="none">
              <a:solidFill>
                <a:srgbClr val="000000"/>
              </a:solidFill>
              <a:effectLst/>
              <a:uFillTx/>
              <a:latin typeface="Arial"/>
            </a:endParaRPr>
          </a:p>
        </p:txBody>
      </p:sp>
      <p:sp>
        <p:nvSpPr>
          <p:cNvPr id="476" name="Shape 11"/>
          <p:cNvSpPr/>
          <p:nvPr/>
        </p:nvSpPr>
        <p:spPr>
          <a:xfrm>
            <a:off x="2031120" y="1417320"/>
            <a:ext cx="1500480" cy="685440"/>
          </a:xfrm>
          <a:prstGeom prst="roundRect">
            <a:avLst>
              <a:gd name="adj" fmla="val 13333"/>
            </a:avLst>
          </a:prstGeom>
          <a:solidFill>
            <a:srgbClr val="5bd2ff"/>
          </a:solidFill>
          <a:ln w="12700">
            <a:solidFill>
              <a:srgbClr val="5bd2f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77" name="Text 12"/>
          <p:cNvSpPr/>
          <p:nvPr/>
        </p:nvSpPr>
        <p:spPr>
          <a:xfrm>
            <a:off x="2086200" y="1554480"/>
            <a:ext cx="1390680" cy="4294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50" strike="noStrike" u="none">
                <a:solidFill>
                  <a:srgbClr val="06172f"/>
                </a:solidFill>
                <a:effectLst/>
                <a:uFillTx/>
                <a:latin typeface="Aptos"/>
              </a:rPr>
              <a:t>Reactor</a:t>
            </a:r>
            <a:endParaRPr b="0" lang="en-US" sz="1050" strike="noStrike" u="none">
              <a:solidFill>
                <a:srgbClr val="ffffff"/>
              </a:solidFill>
              <a:effectLst/>
              <a:uFillTx/>
              <a:latin typeface="Arial"/>
            </a:endParaRPr>
          </a:p>
          <a:p>
            <a:pPr algn="ctr" defTabSz="914400">
              <a:lnSpc>
                <a:spcPct val="100000"/>
              </a:lnSpc>
              <a:tabLst>
                <a:tab algn="l" pos="0"/>
              </a:tabLst>
            </a:pPr>
            <a:r>
              <a:rPr b="1" lang="en-US" sz="1050" strike="noStrike" u="none">
                <a:solidFill>
                  <a:srgbClr val="06172f"/>
                </a:solidFill>
                <a:effectLst/>
                <a:uFillTx/>
                <a:latin typeface="Aptos"/>
              </a:rPr>
              <a:t>Core</a:t>
            </a:r>
            <a:endParaRPr b="0" lang="en-US" sz="1050" strike="noStrike" u="none">
              <a:solidFill>
                <a:srgbClr val="ffffff"/>
              </a:solidFill>
              <a:effectLst/>
              <a:uFillTx/>
              <a:latin typeface="Arial"/>
            </a:endParaRPr>
          </a:p>
        </p:txBody>
      </p:sp>
      <p:sp>
        <p:nvSpPr>
          <p:cNvPr id="478" name="Shape 13"/>
          <p:cNvSpPr/>
          <p:nvPr/>
        </p:nvSpPr>
        <p:spPr>
          <a:xfrm>
            <a:off x="3513960" y="1671120"/>
            <a:ext cx="164160" cy="171000"/>
          </a:xfrm>
          <a:prstGeom prst="rightArrow">
            <a:avLst>
              <a:gd name="adj1" fmla="val 50000"/>
              <a:gd name="adj2" fmla="val 50000"/>
            </a:avLst>
          </a:prstGeom>
          <a:solidFill>
            <a:srgbClr val="b0c1d5"/>
          </a:solidFill>
          <a:ln w="12700">
            <a:solidFill>
              <a:srgbClr val="b0c1d5">
                <a:alpha val="0"/>
              </a:srgbClr>
            </a:solidFill>
            <a:round/>
          </a:ln>
        </p:spPr>
        <p:style>
          <a:lnRef idx="0"/>
          <a:fillRef idx="0"/>
          <a:effectRef idx="0"/>
          <a:fontRef idx="minor"/>
        </p:style>
        <p:txBody>
          <a:bodyPr lIns="90000" rIns="90000" tIns="40680" bIns="40680" anchor="t">
            <a:noAutofit/>
          </a:bodyPr>
          <a:p>
            <a:endParaRPr b="0" lang="en-US" sz="1800" strike="noStrike" u="none">
              <a:solidFill>
                <a:srgbClr val="000000"/>
              </a:solidFill>
              <a:effectLst/>
              <a:uFillTx/>
              <a:latin typeface="Arial"/>
            </a:endParaRPr>
          </a:p>
        </p:txBody>
      </p:sp>
      <p:sp>
        <p:nvSpPr>
          <p:cNvPr id="479" name="Shape 14"/>
          <p:cNvSpPr/>
          <p:nvPr/>
        </p:nvSpPr>
        <p:spPr>
          <a:xfrm>
            <a:off x="3651120" y="1417320"/>
            <a:ext cx="1500480" cy="685440"/>
          </a:xfrm>
          <a:prstGeom prst="roundRect">
            <a:avLst>
              <a:gd name="adj" fmla="val 13333"/>
            </a:avLst>
          </a:prstGeom>
          <a:solidFill>
            <a:srgbClr val="50d69b"/>
          </a:solidFill>
          <a:ln w="12700">
            <a:solidFill>
              <a:srgbClr val="50d69b">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80" name="Text 15"/>
          <p:cNvSpPr/>
          <p:nvPr/>
        </p:nvSpPr>
        <p:spPr>
          <a:xfrm>
            <a:off x="3705840" y="1554480"/>
            <a:ext cx="1390680" cy="4294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50" strike="noStrike" u="none">
                <a:solidFill>
                  <a:srgbClr val="06172f"/>
                </a:solidFill>
                <a:effectLst/>
                <a:uFillTx/>
                <a:latin typeface="Aptos"/>
              </a:rPr>
              <a:t>Heat</a:t>
            </a:r>
            <a:endParaRPr b="0" lang="en-US" sz="1050" strike="noStrike" u="none">
              <a:solidFill>
                <a:srgbClr val="ffffff"/>
              </a:solidFill>
              <a:effectLst/>
              <a:uFillTx/>
              <a:latin typeface="Arial"/>
            </a:endParaRPr>
          </a:p>
        </p:txBody>
      </p:sp>
      <p:sp>
        <p:nvSpPr>
          <p:cNvPr id="481" name="Shape 16"/>
          <p:cNvSpPr/>
          <p:nvPr/>
        </p:nvSpPr>
        <p:spPr>
          <a:xfrm>
            <a:off x="5133600" y="1671120"/>
            <a:ext cx="164160" cy="171000"/>
          </a:xfrm>
          <a:prstGeom prst="rightArrow">
            <a:avLst>
              <a:gd name="adj1" fmla="val 50000"/>
              <a:gd name="adj2" fmla="val 50000"/>
            </a:avLst>
          </a:prstGeom>
          <a:solidFill>
            <a:srgbClr val="b0c1d5"/>
          </a:solidFill>
          <a:ln w="12700">
            <a:solidFill>
              <a:srgbClr val="b0c1d5">
                <a:alpha val="0"/>
              </a:srgbClr>
            </a:solidFill>
            <a:round/>
          </a:ln>
        </p:spPr>
        <p:style>
          <a:lnRef idx="0"/>
          <a:fillRef idx="0"/>
          <a:effectRef idx="0"/>
          <a:fontRef idx="minor"/>
        </p:style>
        <p:txBody>
          <a:bodyPr lIns="90000" rIns="90000" tIns="40680" bIns="40680" anchor="t">
            <a:noAutofit/>
          </a:bodyPr>
          <a:p>
            <a:endParaRPr b="0" lang="en-US" sz="1800" strike="noStrike" u="none">
              <a:solidFill>
                <a:srgbClr val="000000"/>
              </a:solidFill>
              <a:effectLst/>
              <a:uFillTx/>
              <a:latin typeface="Arial"/>
            </a:endParaRPr>
          </a:p>
        </p:txBody>
      </p:sp>
      <p:sp>
        <p:nvSpPr>
          <p:cNvPr id="482" name="Shape 17"/>
          <p:cNvSpPr/>
          <p:nvPr/>
        </p:nvSpPr>
        <p:spPr>
          <a:xfrm>
            <a:off x="5270760" y="1417320"/>
            <a:ext cx="1500480" cy="685440"/>
          </a:xfrm>
          <a:prstGeom prst="roundRect">
            <a:avLst>
              <a:gd name="adj" fmla="val 13333"/>
            </a:avLst>
          </a:prstGeom>
          <a:solidFill>
            <a:srgbClr val="1c69a2"/>
          </a:solidFill>
          <a:ln w="12700">
            <a:solidFill>
              <a:srgbClr val="1c69a2">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483" name="Text 18"/>
          <p:cNvSpPr/>
          <p:nvPr/>
        </p:nvSpPr>
        <p:spPr>
          <a:xfrm>
            <a:off x="5325840" y="1554480"/>
            <a:ext cx="1390680" cy="4294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50" strike="noStrike" u="none">
                <a:solidFill>
                  <a:srgbClr val="06172f"/>
                </a:solidFill>
                <a:effectLst/>
                <a:uFillTx/>
                <a:latin typeface="Aptos"/>
              </a:rPr>
              <a:t>Steam</a:t>
            </a:r>
            <a:endParaRPr b="0" lang="en-US" sz="1050" strike="noStrike" u="none">
              <a:solidFill>
                <a:srgbClr val="ffffff"/>
              </a:solidFill>
              <a:effectLst/>
              <a:uFillTx/>
              <a:latin typeface="Arial"/>
            </a:endParaRPr>
          </a:p>
          <a:p>
            <a:pPr algn="ctr" defTabSz="914400">
              <a:lnSpc>
                <a:spcPct val="100000"/>
              </a:lnSpc>
              <a:tabLst>
                <a:tab algn="l" pos="0"/>
              </a:tabLst>
            </a:pPr>
            <a:r>
              <a:rPr b="1" lang="en-US" sz="1050" strike="noStrike" u="none">
                <a:solidFill>
                  <a:srgbClr val="06172f"/>
                </a:solidFill>
                <a:effectLst/>
                <a:uFillTx/>
                <a:latin typeface="Aptos"/>
              </a:rPr>
              <a:t>Generator</a:t>
            </a:r>
            <a:endParaRPr b="0" lang="en-US" sz="1050" strike="noStrike" u="none">
              <a:solidFill>
                <a:srgbClr val="ffffff"/>
              </a:solidFill>
              <a:effectLst/>
              <a:uFillTx/>
              <a:latin typeface="Arial"/>
            </a:endParaRPr>
          </a:p>
        </p:txBody>
      </p:sp>
      <p:sp>
        <p:nvSpPr>
          <p:cNvPr id="484" name="Shape 19"/>
          <p:cNvSpPr/>
          <p:nvPr/>
        </p:nvSpPr>
        <p:spPr>
          <a:xfrm>
            <a:off x="6753600" y="1671120"/>
            <a:ext cx="164160" cy="171000"/>
          </a:xfrm>
          <a:prstGeom prst="rightArrow">
            <a:avLst>
              <a:gd name="adj1" fmla="val 50000"/>
              <a:gd name="adj2" fmla="val 50000"/>
            </a:avLst>
          </a:prstGeom>
          <a:solidFill>
            <a:srgbClr val="b0c1d5"/>
          </a:solidFill>
          <a:ln w="12700">
            <a:solidFill>
              <a:srgbClr val="b0c1d5">
                <a:alpha val="0"/>
              </a:srgbClr>
            </a:solidFill>
            <a:round/>
          </a:ln>
        </p:spPr>
        <p:style>
          <a:lnRef idx="0"/>
          <a:fillRef idx="0"/>
          <a:effectRef idx="0"/>
          <a:fontRef idx="minor"/>
        </p:style>
        <p:txBody>
          <a:bodyPr lIns="90000" rIns="90000" tIns="40680" bIns="40680" anchor="t">
            <a:noAutofit/>
          </a:bodyPr>
          <a:p>
            <a:endParaRPr b="0" lang="en-US" sz="1800" strike="noStrike" u="none">
              <a:solidFill>
                <a:srgbClr val="000000"/>
              </a:solidFill>
              <a:effectLst/>
              <a:uFillTx/>
              <a:latin typeface="Arial"/>
            </a:endParaRPr>
          </a:p>
        </p:txBody>
      </p:sp>
      <p:sp>
        <p:nvSpPr>
          <p:cNvPr id="485" name="Shape 20"/>
          <p:cNvSpPr/>
          <p:nvPr/>
        </p:nvSpPr>
        <p:spPr>
          <a:xfrm>
            <a:off x="6890760" y="1417320"/>
            <a:ext cx="1500480" cy="685440"/>
          </a:xfrm>
          <a:prstGeom prst="roundRect">
            <a:avLst>
              <a:gd name="adj" fmla="val 13333"/>
            </a:avLst>
          </a:prstGeom>
          <a:solidFill>
            <a:srgbClr val="f0be49"/>
          </a:solidFill>
          <a:ln w="12700">
            <a:solidFill>
              <a:srgbClr val="f0be49">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86" name="Text 21"/>
          <p:cNvSpPr/>
          <p:nvPr/>
        </p:nvSpPr>
        <p:spPr>
          <a:xfrm>
            <a:off x="6945480" y="1554480"/>
            <a:ext cx="1390680" cy="4294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50" strike="noStrike" u="none">
                <a:solidFill>
                  <a:srgbClr val="06172f"/>
                </a:solidFill>
                <a:effectLst/>
                <a:uFillTx/>
                <a:latin typeface="Aptos"/>
              </a:rPr>
              <a:t>Turbine</a:t>
            </a:r>
            <a:endParaRPr b="0" lang="en-US" sz="1050" strike="noStrike" u="none">
              <a:solidFill>
                <a:srgbClr val="ffffff"/>
              </a:solidFill>
              <a:effectLst/>
              <a:uFillTx/>
              <a:latin typeface="Arial"/>
            </a:endParaRPr>
          </a:p>
        </p:txBody>
      </p:sp>
      <p:sp>
        <p:nvSpPr>
          <p:cNvPr id="487" name="Shape 22"/>
          <p:cNvSpPr/>
          <p:nvPr/>
        </p:nvSpPr>
        <p:spPr>
          <a:xfrm>
            <a:off x="8373240" y="1671120"/>
            <a:ext cx="164160" cy="171000"/>
          </a:xfrm>
          <a:prstGeom prst="rightArrow">
            <a:avLst>
              <a:gd name="adj1" fmla="val 50000"/>
              <a:gd name="adj2" fmla="val 50000"/>
            </a:avLst>
          </a:prstGeom>
          <a:solidFill>
            <a:srgbClr val="b0c1d5"/>
          </a:solidFill>
          <a:ln w="12700">
            <a:solidFill>
              <a:srgbClr val="b0c1d5">
                <a:alpha val="0"/>
              </a:srgbClr>
            </a:solidFill>
            <a:round/>
          </a:ln>
        </p:spPr>
        <p:style>
          <a:lnRef idx="0"/>
          <a:fillRef idx="0"/>
          <a:effectRef idx="0"/>
          <a:fontRef idx="minor"/>
        </p:style>
        <p:txBody>
          <a:bodyPr lIns="90000" rIns="90000" tIns="40680" bIns="40680" anchor="t">
            <a:noAutofit/>
          </a:bodyPr>
          <a:p>
            <a:endParaRPr b="0" lang="en-US" sz="1800" strike="noStrike" u="none">
              <a:solidFill>
                <a:srgbClr val="000000"/>
              </a:solidFill>
              <a:effectLst/>
              <a:uFillTx/>
              <a:latin typeface="Arial"/>
            </a:endParaRPr>
          </a:p>
        </p:txBody>
      </p:sp>
      <p:sp>
        <p:nvSpPr>
          <p:cNvPr id="488" name="Shape 23"/>
          <p:cNvSpPr/>
          <p:nvPr/>
        </p:nvSpPr>
        <p:spPr>
          <a:xfrm>
            <a:off x="8510400" y="1417320"/>
            <a:ext cx="1500480" cy="685440"/>
          </a:xfrm>
          <a:prstGeom prst="roundRect">
            <a:avLst>
              <a:gd name="adj" fmla="val 13333"/>
            </a:avLst>
          </a:prstGeom>
          <a:solidFill>
            <a:srgbClr val="00b078"/>
          </a:solidFill>
          <a:ln w="12700">
            <a:solidFill>
              <a:srgbClr val="00b078">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489" name="Text 24"/>
          <p:cNvSpPr/>
          <p:nvPr/>
        </p:nvSpPr>
        <p:spPr>
          <a:xfrm>
            <a:off x="8565480" y="1554480"/>
            <a:ext cx="1390680" cy="4294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50" strike="noStrike" u="none">
                <a:solidFill>
                  <a:srgbClr val="06172f"/>
                </a:solidFill>
                <a:effectLst/>
                <a:uFillTx/>
                <a:latin typeface="Aptos"/>
              </a:rPr>
              <a:t>Generator</a:t>
            </a:r>
            <a:endParaRPr b="0" lang="en-US" sz="1050" strike="noStrike" u="none">
              <a:solidFill>
                <a:srgbClr val="ffffff"/>
              </a:solidFill>
              <a:effectLst/>
              <a:uFillTx/>
              <a:latin typeface="Arial"/>
            </a:endParaRPr>
          </a:p>
        </p:txBody>
      </p:sp>
      <p:sp>
        <p:nvSpPr>
          <p:cNvPr id="490" name="Shape 25"/>
          <p:cNvSpPr/>
          <p:nvPr/>
        </p:nvSpPr>
        <p:spPr>
          <a:xfrm>
            <a:off x="9993240" y="1671120"/>
            <a:ext cx="164160" cy="171000"/>
          </a:xfrm>
          <a:prstGeom prst="rightArrow">
            <a:avLst>
              <a:gd name="adj1" fmla="val 50000"/>
              <a:gd name="adj2" fmla="val 50000"/>
            </a:avLst>
          </a:prstGeom>
          <a:solidFill>
            <a:srgbClr val="b0c1d5"/>
          </a:solidFill>
          <a:ln w="12700">
            <a:solidFill>
              <a:srgbClr val="b0c1d5">
                <a:alpha val="0"/>
              </a:srgbClr>
            </a:solidFill>
            <a:round/>
          </a:ln>
        </p:spPr>
        <p:style>
          <a:lnRef idx="0"/>
          <a:fillRef idx="0"/>
          <a:effectRef idx="0"/>
          <a:fontRef idx="minor"/>
        </p:style>
        <p:txBody>
          <a:bodyPr lIns="90000" rIns="90000" tIns="40680" bIns="40680" anchor="t">
            <a:noAutofit/>
          </a:bodyPr>
          <a:p>
            <a:endParaRPr b="0" lang="en-US" sz="1800" strike="noStrike" u="none">
              <a:solidFill>
                <a:srgbClr val="000000"/>
              </a:solidFill>
              <a:effectLst/>
              <a:uFillTx/>
              <a:latin typeface="Arial"/>
            </a:endParaRPr>
          </a:p>
        </p:txBody>
      </p:sp>
      <p:sp>
        <p:nvSpPr>
          <p:cNvPr id="491" name="Shape 26"/>
          <p:cNvSpPr/>
          <p:nvPr/>
        </p:nvSpPr>
        <p:spPr>
          <a:xfrm>
            <a:off x="10130400" y="1417320"/>
            <a:ext cx="1500480" cy="685440"/>
          </a:xfrm>
          <a:prstGeom prst="roundRect">
            <a:avLst>
              <a:gd name="adj" fmla="val 13333"/>
            </a:avLst>
          </a:prstGeom>
          <a:solidFill>
            <a:srgbClr val="00b078"/>
          </a:solidFill>
          <a:ln w="12700">
            <a:solidFill>
              <a:srgbClr val="00b078">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492" name="Text 27"/>
          <p:cNvSpPr/>
          <p:nvPr/>
        </p:nvSpPr>
        <p:spPr>
          <a:xfrm>
            <a:off x="10185120" y="1554480"/>
            <a:ext cx="1390680" cy="4294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50" strike="noStrike" u="none">
                <a:solidFill>
                  <a:srgbClr val="06172f"/>
                </a:solidFill>
                <a:effectLst/>
                <a:uFillTx/>
                <a:latin typeface="Aptos"/>
              </a:rPr>
              <a:t>Electricity</a:t>
            </a:r>
            <a:endParaRPr b="0" lang="en-US" sz="1050" strike="noStrike" u="none">
              <a:solidFill>
                <a:srgbClr val="ffffff"/>
              </a:solidFill>
              <a:effectLst/>
              <a:uFillTx/>
              <a:latin typeface="Arial"/>
            </a:endParaRPr>
          </a:p>
        </p:txBody>
      </p:sp>
      <p:sp>
        <p:nvSpPr>
          <p:cNvPr id="493" name="Text 28"/>
          <p:cNvSpPr/>
          <p:nvPr/>
        </p:nvSpPr>
        <p:spPr>
          <a:xfrm>
            <a:off x="777240" y="2743200"/>
            <a:ext cx="5577480" cy="2468520"/>
          </a:xfrm>
          <a:prstGeom prst="rect">
            <a:avLst/>
          </a:prstGeom>
          <a:noFill/>
          <a:ln w="0">
            <a:noFill/>
          </a:ln>
        </p:spPr>
        <p:style>
          <a:lnRef idx="0"/>
          <a:fillRef idx="0"/>
          <a:effectRef idx="0"/>
          <a:fontRef idx="minor"/>
        </p:style>
        <p:txBody>
          <a:bodyPr lIns="1080" rIns="1080" tIns="1080" bIns="1080" anchor="t">
            <a:normAutofit/>
          </a:bodyPr>
          <a:p>
            <a:pPr defTabSz="914400">
              <a:lnSpc>
                <a:spcPct val="100000"/>
              </a:lnSpc>
            </a:pPr>
            <a:r>
              <a:rPr b="0" lang="en-US" sz="1450" strike="noStrike" u="none">
                <a:solidFill>
                  <a:srgbClr val="f5f8fc"/>
                </a:solidFill>
                <a:effectLst/>
                <a:uFillTx/>
                <a:latin typeface="Aptos"/>
                <a:ea typeface="Aptos"/>
              </a:rPr>
              <a:t>Nuclear fission in the reactor core produces heat rather than combustion gases.</a:t>
            </a:r>
            <a:endParaRPr b="0" lang="en-US" sz="1450" strike="noStrike" u="none">
              <a:solidFill>
                <a:srgbClr val="ffffff"/>
              </a:solidFill>
              <a:effectLst/>
              <a:uFillTx/>
              <a:latin typeface="Arial"/>
            </a:endParaRPr>
          </a:p>
          <a:p>
            <a:pPr defTabSz="914400">
              <a:lnSpc>
                <a:spcPct val="100000"/>
              </a:lnSpc>
            </a:pPr>
            <a:r>
              <a:rPr b="0" lang="en-US" sz="1450" strike="noStrike" u="none">
                <a:solidFill>
                  <a:srgbClr val="f5f8fc"/>
                </a:solidFill>
                <a:effectLst/>
                <a:uFillTx/>
                <a:latin typeface="Aptos"/>
                <a:ea typeface="Aptos"/>
              </a:rPr>
              <a:t>Heat is transferred to generate steam, which drives the turbine-generator system.</a:t>
            </a:r>
            <a:endParaRPr b="0" lang="en-US" sz="1450" strike="noStrike" u="none">
              <a:solidFill>
                <a:srgbClr val="ffffff"/>
              </a:solidFill>
              <a:effectLst/>
              <a:uFillTx/>
              <a:latin typeface="Arial"/>
            </a:endParaRPr>
          </a:p>
          <a:p>
            <a:pPr defTabSz="914400">
              <a:lnSpc>
                <a:spcPct val="100000"/>
              </a:lnSpc>
            </a:pPr>
            <a:r>
              <a:rPr b="0" lang="en-US" sz="1450" strike="noStrike" u="none">
                <a:solidFill>
                  <a:srgbClr val="f5f8fc"/>
                </a:solidFill>
                <a:effectLst/>
                <a:uFillTx/>
                <a:latin typeface="Aptos"/>
                <a:ea typeface="Aptos"/>
              </a:rPr>
              <a:t>Electricity is transmitted through high-voltage lines into the national grid.</a:t>
            </a:r>
            <a:endParaRPr b="0" lang="en-US" sz="1450" strike="noStrike" u="none">
              <a:solidFill>
                <a:srgbClr val="ffffff"/>
              </a:solidFill>
              <a:effectLst/>
              <a:uFillTx/>
              <a:latin typeface="Arial"/>
            </a:endParaRPr>
          </a:p>
          <a:p>
            <a:pPr defTabSz="914400">
              <a:lnSpc>
                <a:spcPct val="100000"/>
              </a:lnSpc>
            </a:pPr>
            <a:r>
              <a:rPr b="0" lang="en-US" sz="1450" strike="noStrike" u="none">
                <a:solidFill>
                  <a:srgbClr val="f5f8fc"/>
                </a:solidFill>
                <a:effectLst/>
                <a:uFillTx/>
                <a:latin typeface="Aptos"/>
                <a:ea typeface="Aptos"/>
              </a:rPr>
              <a:t>Environmental attention focuses on heat control, coolant integrity, radiation safety and waste management.</a:t>
            </a:r>
            <a:endParaRPr b="0" lang="en-US" sz="1450" strike="noStrike" u="none">
              <a:solidFill>
                <a:srgbClr val="ffffff"/>
              </a:solidFill>
              <a:effectLst/>
              <a:uFillTx/>
              <a:latin typeface="Arial"/>
            </a:endParaRPr>
          </a:p>
        </p:txBody>
      </p:sp>
      <p:pic>
        <p:nvPicPr>
          <p:cNvPr id="494" name="Image 0" descr="/mnt/data/wide_panoramic_landscape_scene_of_a_modern_industr_batch_1.png"/>
          <p:cNvPicPr/>
          <p:nvPr/>
        </p:nvPicPr>
        <p:blipFill>
          <a:blip r:embed="rId1"/>
          <a:srcRect l="1619" t="0" r="1619" b="0"/>
          <a:stretch/>
        </p:blipFill>
        <p:spPr>
          <a:xfrm>
            <a:off x="6629400" y="2606040"/>
            <a:ext cx="4480200" cy="2605680"/>
          </a:xfrm>
          <a:prstGeom prst="rect">
            <a:avLst/>
          </a:prstGeom>
          <a:noFill/>
          <a:ln w="0">
            <a:noFill/>
          </a:ln>
        </p:spPr>
      </p:pic>
      <p:sp>
        <p:nvSpPr>
          <p:cNvPr id="495" name="Shape 29"/>
          <p:cNvSpPr/>
          <p:nvPr/>
        </p:nvSpPr>
        <p:spPr>
          <a:xfrm>
            <a:off x="6629400" y="2606040"/>
            <a:ext cx="4480200" cy="2605680"/>
          </a:xfrm>
          <a:prstGeom prst="roundRect">
            <a:avLst>
              <a:gd name="adj" fmla="val 2807"/>
            </a:avLst>
          </a:prstGeom>
          <a:noFill/>
          <a:ln w="15240">
            <a:solidFill>
              <a:srgbClr val="5bd2ff">
                <a:alpha val="75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Tree>
  </p:cSld>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6172f"/>
        </a:solidFill>
      </p:bgPr>
    </p:bg>
    <p:spTree>
      <p:nvGrpSpPr>
        <p:cNvPr id="1" name=""/>
        <p:cNvGrpSpPr/>
        <p:nvPr/>
      </p:nvGrpSpPr>
      <p:grpSpPr>
        <a:xfrm>
          <a:off x="0" y="0"/>
          <a:ext cx="0" cy="0"/>
          <a:chOff x="0" y="0"/>
          <a:chExt cx="0" cy="0"/>
        </a:xfrm>
      </p:grpSpPr>
      <p:sp>
        <p:nvSpPr>
          <p:cNvPr id="496" name="Shape 0"/>
          <p:cNvSpPr/>
          <p:nvPr/>
        </p:nvSpPr>
        <p:spPr>
          <a:xfrm>
            <a:off x="0" y="0"/>
            <a:ext cx="12191400" cy="6857640"/>
          </a:xfrm>
          <a:prstGeom prst="rect">
            <a:avLst/>
          </a:prstGeom>
          <a:solidFill>
            <a:srgbClr val="06172f"/>
          </a:solidFill>
          <a:ln w="12700">
            <a:solidFill>
              <a:srgbClr val="06172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497" name="Shape 1"/>
          <p:cNvSpPr/>
          <p:nvPr/>
        </p:nvSpPr>
        <p:spPr>
          <a:xfrm>
            <a:off x="7680960" y="-1005840"/>
            <a:ext cx="4388760" cy="2925720"/>
          </a:xfrm>
          <a:prstGeom prst="arc">
            <a:avLst>
              <a:gd name="adj1" fmla="val 16200000"/>
              <a:gd name="adj2" fmla="val 0"/>
            </a:avLst>
          </a:prstGeom>
          <a:solidFill>
            <a:srgbClr val="0e3a68">
              <a:alpha val="75000"/>
            </a:srgbClr>
          </a:solidFill>
          <a:ln w="12700">
            <a:solidFill>
              <a:srgbClr val="0e3a68">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498" name="Shape 2"/>
          <p:cNvSpPr/>
          <p:nvPr/>
        </p:nvSpPr>
        <p:spPr>
          <a:xfrm>
            <a:off x="8778240" y="-777240"/>
            <a:ext cx="3474360" cy="2285640"/>
          </a:xfrm>
          <a:prstGeom prst="arc">
            <a:avLst>
              <a:gd name="adj1" fmla="val 16200000"/>
              <a:gd name="adj2" fmla="val 0"/>
            </a:avLst>
          </a:prstGeom>
          <a:solidFill>
            <a:srgbClr val="0b4d5e">
              <a:alpha val="65000"/>
            </a:srgbClr>
          </a:solidFill>
          <a:ln w="12700">
            <a:solidFill>
              <a:srgbClr val="0b4d5e">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499" name="Shape 3"/>
          <p:cNvSpPr/>
          <p:nvPr/>
        </p:nvSpPr>
        <p:spPr>
          <a:xfrm>
            <a:off x="0" y="0"/>
            <a:ext cx="109440" cy="6857640"/>
          </a:xfrm>
          <a:prstGeom prst="rect">
            <a:avLst/>
          </a:prstGeom>
          <a:solidFill>
            <a:srgbClr val="00b078"/>
          </a:solidFill>
          <a:ln w="12700">
            <a:solidFill>
              <a:srgbClr val="00b078">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500" name="Shape 4"/>
          <p:cNvSpPr/>
          <p:nvPr/>
        </p:nvSpPr>
        <p:spPr>
          <a:xfrm>
            <a:off x="320040" y="6565320"/>
            <a:ext cx="11521080" cy="16200"/>
          </a:xfrm>
          <a:prstGeom prst="rect">
            <a:avLst/>
          </a:prstGeom>
          <a:solidFill>
            <a:srgbClr val="435d78"/>
          </a:solidFill>
          <a:ln w="12700">
            <a:solidFill>
              <a:srgbClr val="435d78">
                <a:alpha val="0"/>
              </a:srgbClr>
            </a:solidFill>
            <a:round/>
          </a:ln>
        </p:spPr>
        <p:style>
          <a:lnRef idx="0"/>
          <a:fillRef idx="0"/>
          <a:effectRef idx="0"/>
          <a:fontRef idx="minor"/>
        </p:style>
        <p:txBody>
          <a:bodyPr lIns="90000" rIns="90000" tIns="-28440" bIns="-28440" anchor="t">
            <a:noAutofit/>
          </a:bodyPr>
          <a:p>
            <a:endParaRPr b="0" lang="en-US" sz="1800" strike="noStrike" u="none">
              <a:solidFill>
                <a:srgbClr val="ffffff"/>
              </a:solidFill>
              <a:effectLst/>
              <a:uFillTx/>
              <a:latin typeface="Arial"/>
            </a:endParaRPr>
          </a:p>
        </p:txBody>
      </p:sp>
      <p:sp>
        <p:nvSpPr>
          <p:cNvPr id="501" name="Text 5"/>
          <p:cNvSpPr/>
          <p:nvPr/>
        </p:nvSpPr>
        <p:spPr>
          <a:xfrm>
            <a:off x="11356920" y="6602040"/>
            <a:ext cx="502560" cy="13680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50" strike="noStrike" u="none">
                <a:solidFill>
                  <a:srgbClr val="b0c1d5"/>
                </a:solidFill>
                <a:effectLst/>
                <a:uFillTx/>
                <a:latin typeface="Aptos"/>
                <a:ea typeface="Aptos"/>
              </a:rPr>
              <a:t>17</a:t>
            </a:r>
            <a:endParaRPr b="0" lang="en-US" sz="950" strike="noStrike" u="none">
              <a:solidFill>
                <a:srgbClr val="ffffff"/>
              </a:solidFill>
              <a:effectLst/>
              <a:uFillTx/>
              <a:latin typeface="Arial"/>
            </a:endParaRPr>
          </a:p>
        </p:txBody>
      </p:sp>
      <p:sp>
        <p:nvSpPr>
          <p:cNvPr id="502" name="Text 6"/>
          <p:cNvSpPr/>
          <p:nvPr/>
        </p:nvSpPr>
        <p:spPr>
          <a:xfrm>
            <a:off x="475560" y="228600"/>
            <a:ext cx="10972440" cy="383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500" strike="noStrike" u="none">
                <a:solidFill>
                  <a:srgbClr val="f5f8fc"/>
                </a:solidFill>
                <a:effectLst/>
                <a:uFillTx/>
                <a:latin typeface="Aptos Display"/>
                <a:ea typeface="Aptos Display"/>
              </a:rPr>
              <a:t>Environmental Impact Assessment</a:t>
            </a:r>
            <a:endParaRPr b="0" lang="en-US" sz="2500" strike="noStrike" u="none">
              <a:solidFill>
                <a:srgbClr val="ffffff"/>
              </a:solidFill>
              <a:effectLst/>
              <a:uFillTx/>
              <a:latin typeface="Arial"/>
            </a:endParaRPr>
          </a:p>
        </p:txBody>
      </p:sp>
      <p:sp>
        <p:nvSpPr>
          <p:cNvPr id="503" name="Text 7"/>
          <p:cNvSpPr/>
          <p:nvPr/>
        </p:nvSpPr>
        <p:spPr>
          <a:xfrm>
            <a:off x="502920" y="704160"/>
            <a:ext cx="10835280" cy="255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50" strike="noStrike" u="none">
                <a:solidFill>
                  <a:srgbClr val="b0c1d5"/>
                </a:solidFill>
                <a:effectLst/>
                <a:uFillTx/>
                <a:latin typeface="Aptos"/>
              </a:rPr>
              <a:t>Impact framework for RNPP</a:t>
            </a:r>
            <a:endParaRPr b="0" lang="en-US" sz="1250" strike="noStrike" u="none">
              <a:solidFill>
                <a:srgbClr val="ffffff"/>
              </a:solidFill>
              <a:effectLst/>
              <a:uFillTx/>
              <a:latin typeface="Arial"/>
            </a:endParaRPr>
          </a:p>
        </p:txBody>
      </p:sp>
      <p:sp>
        <p:nvSpPr>
          <p:cNvPr id="504" name="Shape 8"/>
          <p:cNvSpPr/>
          <p:nvPr/>
        </p:nvSpPr>
        <p:spPr>
          <a:xfrm>
            <a:off x="777240" y="1143000"/>
            <a:ext cx="2331360" cy="651600"/>
          </a:xfrm>
          <a:prstGeom prst="roundRect">
            <a:avLst>
              <a:gd name="adj" fmla="val 11222"/>
            </a:avLst>
          </a:prstGeom>
          <a:solidFill>
            <a:srgbClr val="00b078"/>
          </a:solidFill>
          <a:ln w="12700">
            <a:solidFill>
              <a:srgbClr val="00b078">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505" name="Text 9"/>
          <p:cNvSpPr/>
          <p:nvPr/>
        </p:nvSpPr>
        <p:spPr>
          <a:xfrm>
            <a:off x="887040" y="1252800"/>
            <a:ext cx="2111760" cy="4687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100" strike="noStrike" u="none">
                <a:solidFill>
                  <a:srgbClr val="06172f"/>
                </a:solidFill>
                <a:effectLst/>
                <a:uFillTx/>
                <a:latin typeface="Aptos"/>
              </a:rPr>
              <a:t>Project</a:t>
            </a:r>
            <a:endParaRPr b="0" lang="en-US" sz="1100" strike="noStrike" u="none">
              <a:solidFill>
                <a:srgbClr val="ffffff"/>
              </a:solidFill>
              <a:effectLst/>
              <a:uFillTx/>
              <a:latin typeface="Arial"/>
            </a:endParaRPr>
          </a:p>
          <a:p>
            <a:pPr algn="ctr" defTabSz="914400">
              <a:lnSpc>
                <a:spcPct val="100000"/>
              </a:lnSpc>
              <a:tabLst>
                <a:tab algn="l" pos="0"/>
              </a:tabLst>
            </a:pPr>
            <a:r>
              <a:rPr b="1" lang="en-US" sz="1100" strike="noStrike" u="none">
                <a:solidFill>
                  <a:srgbClr val="06172f"/>
                </a:solidFill>
                <a:effectLst/>
                <a:uFillTx/>
                <a:latin typeface="Aptos"/>
              </a:rPr>
              <a:t>activities</a:t>
            </a:r>
            <a:endParaRPr b="0" lang="en-US" sz="1100" strike="noStrike" u="none">
              <a:solidFill>
                <a:srgbClr val="ffffff"/>
              </a:solidFill>
              <a:effectLst/>
              <a:uFillTx/>
              <a:latin typeface="Arial"/>
            </a:endParaRPr>
          </a:p>
        </p:txBody>
      </p:sp>
      <p:sp>
        <p:nvSpPr>
          <p:cNvPr id="506" name="Shape 10"/>
          <p:cNvSpPr/>
          <p:nvPr/>
        </p:nvSpPr>
        <p:spPr>
          <a:xfrm>
            <a:off x="1833480" y="1776600"/>
            <a:ext cx="219240" cy="145800"/>
          </a:xfrm>
          <a:prstGeom prst="downArrow">
            <a:avLst>
              <a:gd name="adj1" fmla="val 50000"/>
              <a:gd name="adj2" fmla="val 50000"/>
            </a:avLst>
          </a:prstGeom>
          <a:solidFill>
            <a:srgbClr val="b0c1d5"/>
          </a:solidFill>
          <a:ln w="12700">
            <a:solidFill>
              <a:srgbClr val="b0c1d5">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07" name="Shape 11"/>
          <p:cNvSpPr/>
          <p:nvPr/>
        </p:nvSpPr>
        <p:spPr>
          <a:xfrm>
            <a:off x="777240" y="1868040"/>
            <a:ext cx="2331360" cy="651600"/>
          </a:xfrm>
          <a:prstGeom prst="roundRect">
            <a:avLst>
              <a:gd name="adj" fmla="val 11222"/>
            </a:avLst>
          </a:prstGeom>
          <a:solidFill>
            <a:srgbClr val="5bd2ff"/>
          </a:solidFill>
          <a:ln w="12700">
            <a:solidFill>
              <a:srgbClr val="5bd2f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08" name="Text 12"/>
          <p:cNvSpPr/>
          <p:nvPr/>
        </p:nvSpPr>
        <p:spPr>
          <a:xfrm>
            <a:off x="887040" y="1977840"/>
            <a:ext cx="2111760" cy="4687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100" strike="noStrike" u="none">
                <a:solidFill>
                  <a:srgbClr val="06172f"/>
                </a:solidFill>
                <a:effectLst/>
                <a:uFillTx/>
                <a:latin typeface="Aptos"/>
              </a:rPr>
              <a:t>Impact</a:t>
            </a:r>
            <a:endParaRPr b="0" lang="en-US" sz="1100" strike="noStrike" u="none">
              <a:solidFill>
                <a:srgbClr val="ffffff"/>
              </a:solidFill>
              <a:effectLst/>
              <a:uFillTx/>
              <a:latin typeface="Arial"/>
            </a:endParaRPr>
          </a:p>
          <a:p>
            <a:pPr algn="ctr" defTabSz="914400">
              <a:lnSpc>
                <a:spcPct val="100000"/>
              </a:lnSpc>
              <a:tabLst>
                <a:tab algn="l" pos="0"/>
              </a:tabLst>
            </a:pPr>
            <a:r>
              <a:rPr b="1" lang="en-US" sz="1100" strike="noStrike" u="none">
                <a:solidFill>
                  <a:srgbClr val="06172f"/>
                </a:solidFill>
                <a:effectLst/>
                <a:uFillTx/>
                <a:latin typeface="Aptos"/>
              </a:rPr>
              <a:t>identification</a:t>
            </a:r>
            <a:endParaRPr b="0" lang="en-US" sz="1100" strike="noStrike" u="none">
              <a:solidFill>
                <a:srgbClr val="ffffff"/>
              </a:solidFill>
              <a:effectLst/>
              <a:uFillTx/>
              <a:latin typeface="Arial"/>
            </a:endParaRPr>
          </a:p>
        </p:txBody>
      </p:sp>
      <p:sp>
        <p:nvSpPr>
          <p:cNvPr id="509" name="Shape 13"/>
          <p:cNvSpPr/>
          <p:nvPr/>
        </p:nvSpPr>
        <p:spPr>
          <a:xfrm>
            <a:off x="1833480" y="2501640"/>
            <a:ext cx="219240" cy="145800"/>
          </a:xfrm>
          <a:prstGeom prst="downArrow">
            <a:avLst>
              <a:gd name="adj1" fmla="val 50000"/>
              <a:gd name="adj2" fmla="val 50000"/>
            </a:avLst>
          </a:prstGeom>
          <a:solidFill>
            <a:srgbClr val="b0c1d5"/>
          </a:solidFill>
          <a:ln w="12700">
            <a:solidFill>
              <a:srgbClr val="b0c1d5">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10" name="Shape 14"/>
          <p:cNvSpPr/>
          <p:nvPr/>
        </p:nvSpPr>
        <p:spPr>
          <a:xfrm>
            <a:off x="777240" y="2593080"/>
            <a:ext cx="2331360" cy="651600"/>
          </a:xfrm>
          <a:prstGeom prst="roundRect">
            <a:avLst>
              <a:gd name="adj" fmla="val 11222"/>
            </a:avLst>
          </a:prstGeom>
          <a:solidFill>
            <a:srgbClr val="50d69b"/>
          </a:solidFill>
          <a:ln w="12700">
            <a:solidFill>
              <a:srgbClr val="50d69b">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11" name="Text 15"/>
          <p:cNvSpPr/>
          <p:nvPr/>
        </p:nvSpPr>
        <p:spPr>
          <a:xfrm>
            <a:off x="887040" y="2702880"/>
            <a:ext cx="2111760" cy="4687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100" strike="noStrike" u="none">
                <a:solidFill>
                  <a:srgbClr val="06172f"/>
                </a:solidFill>
                <a:effectLst/>
                <a:uFillTx/>
                <a:latin typeface="Aptos"/>
              </a:rPr>
              <a:t>Impact</a:t>
            </a:r>
            <a:endParaRPr b="0" lang="en-US" sz="1100" strike="noStrike" u="none">
              <a:solidFill>
                <a:srgbClr val="ffffff"/>
              </a:solidFill>
              <a:effectLst/>
              <a:uFillTx/>
              <a:latin typeface="Arial"/>
            </a:endParaRPr>
          </a:p>
          <a:p>
            <a:pPr algn="ctr" defTabSz="914400">
              <a:lnSpc>
                <a:spcPct val="100000"/>
              </a:lnSpc>
              <a:tabLst>
                <a:tab algn="l" pos="0"/>
              </a:tabLst>
            </a:pPr>
            <a:r>
              <a:rPr b="1" lang="en-US" sz="1100" strike="noStrike" u="none">
                <a:solidFill>
                  <a:srgbClr val="06172f"/>
                </a:solidFill>
                <a:effectLst/>
                <a:uFillTx/>
                <a:latin typeface="Aptos"/>
              </a:rPr>
              <a:t>prediction</a:t>
            </a:r>
            <a:endParaRPr b="0" lang="en-US" sz="1100" strike="noStrike" u="none">
              <a:solidFill>
                <a:srgbClr val="ffffff"/>
              </a:solidFill>
              <a:effectLst/>
              <a:uFillTx/>
              <a:latin typeface="Arial"/>
            </a:endParaRPr>
          </a:p>
        </p:txBody>
      </p:sp>
      <p:sp>
        <p:nvSpPr>
          <p:cNvPr id="512" name="Shape 16"/>
          <p:cNvSpPr/>
          <p:nvPr/>
        </p:nvSpPr>
        <p:spPr>
          <a:xfrm>
            <a:off x="1833480" y="3226680"/>
            <a:ext cx="219240" cy="145800"/>
          </a:xfrm>
          <a:prstGeom prst="downArrow">
            <a:avLst>
              <a:gd name="adj1" fmla="val 50000"/>
              <a:gd name="adj2" fmla="val 50000"/>
            </a:avLst>
          </a:prstGeom>
          <a:solidFill>
            <a:srgbClr val="b0c1d5"/>
          </a:solidFill>
          <a:ln w="12700">
            <a:solidFill>
              <a:srgbClr val="b0c1d5">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13" name="Shape 17"/>
          <p:cNvSpPr/>
          <p:nvPr/>
        </p:nvSpPr>
        <p:spPr>
          <a:xfrm>
            <a:off x="777240" y="3318120"/>
            <a:ext cx="2331360" cy="651600"/>
          </a:xfrm>
          <a:prstGeom prst="roundRect">
            <a:avLst>
              <a:gd name="adj" fmla="val 11222"/>
            </a:avLst>
          </a:prstGeom>
          <a:solidFill>
            <a:srgbClr val="1c69a2"/>
          </a:solidFill>
          <a:ln w="12700">
            <a:solidFill>
              <a:srgbClr val="1c69a2">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514" name="Text 18"/>
          <p:cNvSpPr/>
          <p:nvPr/>
        </p:nvSpPr>
        <p:spPr>
          <a:xfrm>
            <a:off x="887040" y="3427560"/>
            <a:ext cx="2111760" cy="4687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100" strike="noStrike" u="none">
                <a:solidFill>
                  <a:srgbClr val="06172f"/>
                </a:solidFill>
                <a:effectLst/>
                <a:uFillTx/>
                <a:latin typeface="Aptos"/>
              </a:rPr>
              <a:t>Impact</a:t>
            </a:r>
            <a:endParaRPr b="0" lang="en-US" sz="1100" strike="noStrike" u="none">
              <a:solidFill>
                <a:srgbClr val="ffffff"/>
              </a:solidFill>
              <a:effectLst/>
              <a:uFillTx/>
              <a:latin typeface="Arial"/>
            </a:endParaRPr>
          </a:p>
          <a:p>
            <a:pPr algn="ctr" defTabSz="914400">
              <a:lnSpc>
                <a:spcPct val="100000"/>
              </a:lnSpc>
              <a:tabLst>
                <a:tab algn="l" pos="0"/>
              </a:tabLst>
            </a:pPr>
            <a:r>
              <a:rPr b="1" lang="en-US" sz="1100" strike="noStrike" u="none">
                <a:solidFill>
                  <a:srgbClr val="06172f"/>
                </a:solidFill>
                <a:effectLst/>
                <a:uFillTx/>
                <a:latin typeface="Aptos"/>
              </a:rPr>
              <a:t>evaluation</a:t>
            </a:r>
            <a:endParaRPr b="0" lang="en-US" sz="1100" strike="noStrike" u="none">
              <a:solidFill>
                <a:srgbClr val="ffffff"/>
              </a:solidFill>
              <a:effectLst/>
              <a:uFillTx/>
              <a:latin typeface="Arial"/>
            </a:endParaRPr>
          </a:p>
        </p:txBody>
      </p:sp>
      <p:sp>
        <p:nvSpPr>
          <p:cNvPr id="515" name="Shape 19"/>
          <p:cNvSpPr/>
          <p:nvPr/>
        </p:nvSpPr>
        <p:spPr>
          <a:xfrm>
            <a:off x="1833480" y="3951360"/>
            <a:ext cx="219240" cy="145800"/>
          </a:xfrm>
          <a:prstGeom prst="downArrow">
            <a:avLst>
              <a:gd name="adj1" fmla="val 50000"/>
              <a:gd name="adj2" fmla="val 50000"/>
            </a:avLst>
          </a:prstGeom>
          <a:solidFill>
            <a:srgbClr val="b0c1d5"/>
          </a:solidFill>
          <a:ln w="12700">
            <a:solidFill>
              <a:srgbClr val="b0c1d5">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16" name="Shape 20"/>
          <p:cNvSpPr/>
          <p:nvPr/>
        </p:nvSpPr>
        <p:spPr>
          <a:xfrm>
            <a:off x="777240" y="4042800"/>
            <a:ext cx="2331360" cy="651600"/>
          </a:xfrm>
          <a:prstGeom prst="roundRect">
            <a:avLst>
              <a:gd name="adj" fmla="val 11222"/>
            </a:avLst>
          </a:prstGeom>
          <a:solidFill>
            <a:srgbClr val="f0be49"/>
          </a:solidFill>
          <a:ln w="12700">
            <a:solidFill>
              <a:srgbClr val="f0be49">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17" name="Text 21"/>
          <p:cNvSpPr/>
          <p:nvPr/>
        </p:nvSpPr>
        <p:spPr>
          <a:xfrm>
            <a:off x="887040" y="4152600"/>
            <a:ext cx="2111760" cy="4687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100" strike="noStrike" u="none">
                <a:solidFill>
                  <a:srgbClr val="06172f"/>
                </a:solidFill>
                <a:effectLst/>
                <a:uFillTx/>
                <a:latin typeface="Aptos"/>
              </a:rPr>
              <a:t>Mitigation</a:t>
            </a:r>
            <a:endParaRPr b="0" lang="en-US" sz="1100" strike="noStrike" u="none">
              <a:solidFill>
                <a:srgbClr val="ffffff"/>
              </a:solidFill>
              <a:effectLst/>
              <a:uFillTx/>
              <a:latin typeface="Arial"/>
            </a:endParaRPr>
          </a:p>
        </p:txBody>
      </p:sp>
      <p:sp>
        <p:nvSpPr>
          <p:cNvPr id="518" name="Shape 22"/>
          <p:cNvSpPr/>
          <p:nvPr/>
        </p:nvSpPr>
        <p:spPr>
          <a:xfrm>
            <a:off x="1833480" y="4676400"/>
            <a:ext cx="219240" cy="145800"/>
          </a:xfrm>
          <a:prstGeom prst="downArrow">
            <a:avLst>
              <a:gd name="adj1" fmla="val 50000"/>
              <a:gd name="adj2" fmla="val 50000"/>
            </a:avLst>
          </a:prstGeom>
          <a:solidFill>
            <a:srgbClr val="b0c1d5"/>
          </a:solidFill>
          <a:ln w="12700">
            <a:solidFill>
              <a:srgbClr val="b0c1d5">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19" name="Shape 23"/>
          <p:cNvSpPr/>
          <p:nvPr/>
        </p:nvSpPr>
        <p:spPr>
          <a:xfrm>
            <a:off x="777240" y="4767840"/>
            <a:ext cx="2331360" cy="651600"/>
          </a:xfrm>
          <a:prstGeom prst="roundRect">
            <a:avLst>
              <a:gd name="adj" fmla="val 11222"/>
            </a:avLst>
          </a:prstGeom>
          <a:solidFill>
            <a:srgbClr val="00b078"/>
          </a:solidFill>
          <a:ln w="12700">
            <a:solidFill>
              <a:srgbClr val="00b078">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520" name="Text 24"/>
          <p:cNvSpPr/>
          <p:nvPr/>
        </p:nvSpPr>
        <p:spPr>
          <a:xfrm>
            <a:off x="887040" y="4877640"/>
            <a:ext cx="2111760" cy="4687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100" strike="noStrike" u="none">
                <a:solidFill>
                  <a:srgbClr val="06172f"/>
                </a:solidFill>
                <a:effectLst/>
                <a:uFillTx/>
                <a:latin typeface="Aptos"/>
              </a:rPr>
              <a:t>Monitoring</a:t>
            </a:r>
            <a:endParaRPr b="0" lang="en-US" sz="1100" strike="noStrike" u="none">
              <a:solidFill>
                <a:srgbClr val="ffffff"/>
              </a:solidFill>
              <a:effectLst/>
              <a:uFillTx/>
              <a:latin typeface="Arial"/>
            </a:endParaRPr>
          </a:p>
        </p:txBody>
      </p:sp>
      <p:sp>
        <p:nvSpPr>
          <p:cNvPr id="521" name="Shape 25"/>
          <p:cNvSpPr/>
          <p:nvPr/>
        </p:nvSpPr>
        <p:spPr>
          <a:xfrm>
            <a:off x="1833480" y="5401440"/>
            <a:ext cx="219240" cy="145800"/>
          </a:xfrm>
          <a:prstGeom prst="downArrow">
            <a:avLst>
              <a:gd name="adj1" fmla="val 50000"/>
              <a:gd name="adj2" fmla="val 50000"/>
            </a:avLst>
          </a:prstGeom>
          <a:solidFill>
            <a:srgbClr val="b0c1d5"/>
          </a:solidFill>
          <a:ln w="12700">
            <a:solidFill>
              <a:srgbClr val="b0c1d5">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22" name="Shape 26"/>
          <p:cNvSpPr/>
          <p:nvPr/>
        </p:nvSpPr>
        <p:spPr>
          <a:xfrm>
            <a:off x="777240" y="5492880"/>
            <a:ext cx="2331360" cy="651600"/>
          </a:xfrm>
          <a:prstGeom prst="roundRect">
            <a:avLst>
              <a:gd name="adj" fmla="val 11222"/>
            </a:avLst>
          </a:prstGeom>
          <a:solidFill>
            <a:srgbClr val="5bd2ff"/>
          </a:solidFill>
          <a:ln w="12700">
            <a:solidFill>
              <a:srgbClr val="5bd2f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23" name="Text 27"/>
          <p:cNvSpPr/>
          <p:nvPr/>
        </p:nvSpPr>
        <p:spPr>
          <a:xfrm>
            <a:off x="887040" y="5602680"/>
            <a:ext cx="2111760" cy="4687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100" strike="noStrike" u="none">
                <a:solidFill>
                  <a:srgbClr val="06172f"/>
                </a:solidFill>
                <a:effectLst/>
                <a:uFillTx/>
                <a:latin typeface="Aptos"/>
              </a:rPr>
              <a:t>Review</a:t>
            </a:r>
            <a:endParaRPr b="0" lang="en-US" sz="1100" strike="noStrike" u="none">
              <a:solidFill>
                <a:srgbClr val="ffffff"/>
              </a:solidFill>
              <a:effectLst/>
              <a:uFillTx/>
              <a:latin typeface="Arial"/>
            </a:endParaRPr>
          </a:p>
        </p:txBody>
      </p:sp>
      <p:sp>
        <p:nvSpPr>
          <p:cNvPr id="524" name="Shape 28"/>
          <p:cNvSpPr/>
          <p:nvPr/>
        </p:nvSpPr>
        <p:spPr>
          <a:xfrm>
            <a:off x="3657600" y="1234440"/>
            <a:ext cx="7680600" cy="1234080"/>
          </a:xfrm>
          <a:prstGeom prst="roundRect">
            <a:avLst>
              <a:gd name="adj" fmla="val 8889"/>
            </a:avLst>
          </a:prstGeom>
          <a:solidFill>
            <a:srgbClr val="0e2d4f">
              <a:alpha val="93000"/>
            </a:srgbClr>
          </a:solidFill>
          <a:ln w="12700">
            <a:solidFill>
              <a:srgbClr val="50d69b">
                <a:alpha val="7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525" name="Text 29"/>
          <p:cNvSpPr/>
          <p:nvPr/>
        </p:nvSpPr>
        <p:spPr>
          <a:xfrm>
            <a:off x="3822120" y="1353240"/>
            <a:ext cx="735156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50d69b"/>
                </a:solidFill>
                <a:effectLst/>
                <a:uFillTx/>
                <a:latin typeface="Aptos"/>
              </a:rPr>
              <a:t>Baseline environment</a:t>
            </a:r>
            <a:endParaRPr b="0" lang="en-US" sz="1600" strike="noStrike" u="none">
              <a:solidFill>
                <a:srgbClr val="ffffff"/>
              </a:solidFill>
              <a:effectLst/>
              <a:uFillTx/>
              <a:latin typeface="Arial"/>
            </a:endParaRPr>
          </a:p>
        </p:txBody>
      </p:sp>
      <p:sp>
        <p:nvSpPr>
          <p:cNvPr id="526" name="Text 30"/>
          <p:cNvSpPr/>
          <p:nvPr/>
        </p:nvSpPr>
        <p:spPr>
          <a:xfrm>
            <a:off x="3877200" y="1737360"/>
            <a:ext cx="7241760" cy="667080"/>
          </a:xfrm>
          <a:prstGeom prst="rect">
            <a:avLst/>
          </a:prstGeom>
          <a:noFill/>
          <a:ln w="0">
            <a:noFill/>
          </a:ln>
        </p:spPr>
        <p:style>
          <a:lnRef idx="0"/>
          <a:fillRef idx="0"/>
          <a:effectRef idx="0"/>
          <a:fontRef idx="minor"/>
        </p:style>
        <p:txBody>
          <a:bodyPr lIns="1080" rIns="1080" tIns="1080" bIns="1080" anchor="t">
            <a:normAutofit/>
          </a:bodyPr>
          <a:p>
            <a:pPr defTabSz="914400">
              <a:lnSpc>
                <a:spcPct val="100000"/>
              </a:lnSpc>
            </a:pPr>
            <a:r>
              <a:rPr b="0" lang="en-US" sz="1300" strike="noStrike" u="none">
                <a:solidFill>
                  <a:srgbClr val="f5f8fc"/>
                </a:solidFill>
                <a:effectLst/>
                <a:uFillTx/>
                <a:latin typeface="Aptos"/>
                <a:ea typeface="Aptos"/>
              </a:rPr>
              <a:t>EIA begins by understanding the Padma River, local ecology, land use, population, water quality and background radiation context.</a:t>
            </a:r>
            <a:endParaRPr b="0" lang="en-US" sz="1300" strike="noStrike" u="none">
              <a:solidFill>
                <a:srgbClr val="ffffff"/>
              </a:solidFill>
              <a:effectLst/>
              <a:uFillTx/>
              <a:latin typeface="Arial"/>
            </a:endParaRPr>
          </a:p>
        </p:txBody>
      </p:sp>
      <p:sp>
        <p:nvSpPr>
          <p:cNvPr id="527" name="Shape 31"/>
          <p:cNvSpPr/>
          <p:nvPr/>
        </p:nvSpPr>
        <p:spPr>
          <a:xfrm>
            <a:off x="3657600" y="2743200"/>
            <a:ext cx="7680600" cy="1234080"/>
          </a:xfrm>
          <a:prstGeom prst="roundRect">
            <a:avLst>
              <a:gd name="adj" fmla="val 8889"/>
            </a:avLst>
          </a:prstGeom>
          <a:solidFill>
            <a:srgbClr val="0e2d4f">
              <a:alpha val="93000"/>
            </a:srgbClr>
          </a:solidFill>
          <a:ln w="12700">
            <a:solidFill>
              <a:srgbClr val="5bd2ff">
                <a:alpha val="7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528" name="Text 32"/>
          <p:cNvSpPr/>
          <p:nvPr/>
        </p:nvSpPr>
        <p:spPr>
          <a:xfrm>
            <a:off x="3822120" y="2862000"/>
            <a:ext cx="735156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50d69b"/>
                </a:solidFill>
                <a:effectLst/>
                <a:uFillTx/>
                <a:latin typeface="Aptos"/>
              </a:rPr>
              <a:t>Impact pathways</a:t>
            </a:r>
            <a:endParaRPr b="0" lang="en-US" sz="1600" strike="noStrike" u="none">
              <a:solidFill>
                <a:srgbClr val="ffffff"/>
              </a:solidFill>
              <a:effectLst/>
              <a:uFillTx/>
              <a:latin typeface="Arial"/>
            </a:endParaRPr>
          </a:p>
        </p:txBody>
      </p:sp>
      <p:sp>
        <p:nvSpPr>
          <p:cNvPr id="529" name="Text 33"/>
          <p:cNvSpPr/>
          <p:nvPr/>
        </p:nvSpPr>
        <p:spPr>
          <a:xfrm>
            <a:off x="3877200" y="3246120"/>
            <a:ext cx="7241760" cy="667080"/>
          </a:xfrm>
          <a:prstGeom prst="rect">
            <a:avLst/>
          </a:prstGeom>
          <a:noFill/>
          <a:ln w="0">
            <a:noFill/>
          </a:ln>
        </p:spPr>
        <p:style>
          <a:lnRef idx="0"/>
          <a:fillRef idx="0"/>
          <a:effectRef idx="0"/>
          <a:fontRef idx="minor"/>
        </p:style>
        <p:txBody>
          <a:bodyPr lIns="1080" rIns="1080" tIns="1080" bIns="1080" anchor="t">
            <a:normAutofit/>
          </a:bodyPr>
          <a:p>
            <a:pPr defTabSz="914400">
              <a:lnSpc>
                <a:spcPct val="100000"/>
              </a:lnSpc>
            </a:pPr>
            <a:r>
              <a:rPr b="0" lang="en-US" sz="1300" strike="noStrike" u="none">
                <a:solidFill>
                  <a:srgbClr val="f5f8fc"/>
                </a:solidFill>
                <a:effectLst/>
                <a:uFillTx/>
                <a:latin typeface="Aptos"/>
                <a:ea typeface="Aptos"/>
              </a:rPr>
              <a:t>Project activities may affect air quality, water temperature, aquatic ecology, radioactive waste handling, land use and community perception.</a:t>
            </a:r>
            <a:endParaRPr b="0" lang="en-US" sz="1300" strike="noStrike" u="none">
              <a:solidFill>
                <a:srgbClr val="ffffff"/>
              </a:solidFill>
              <a:effectLst/>
              <a:uFillTx/>
              <a:latin typeface="Arial"/>
            </a:endParaRPr>
          </a:p>
        </p:txBody>
      </p:sp>
      <p:sp>
        <p:nvSpPr>
          <p:cNvPr id="530" name="Shape 34"/>
          <p:cNvSpPr/>
          <p:nvPr/>
        </p:nvSpPr>
        <p:spPr>
          <a:xfrm>
            <a:off x="3657600" y="4251960"/>
            <a:ext cx="7680600" cy="1142640"/>
          </a:xfrm>
          <a:prstGeom prst="roundRect">
            <a:avLst>
              <a:gd name="adj" fmla="val 9600"/>
            </a:avLst>
          </a:prstGeom>
          <a:solidFill>
            <a:srgbClr val="0e2d4f">
              <a:alpha val="93000"/>
            </a:srgbClr>
          </a:solidFill>
          <a:ln w="12700">
            <a:solidFill>
              <a:srgbClr val="f0be49">
                <a:alpha val="7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531" name="Text 35"/>
          <p:cNvSpPr/>
          <p:nvPr/>
        </p:nvSpPr>
        <p:spPr>
          <a:xfrm>
            <a:off x="3822120" y="4370760"/>
            <a:ext cx="735156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50d69b"/>
                </a:solidFill>
                <a:effectLst/>
                <a:uFillTx/>
                <a:latin typeface="Aptos"/>
              </a:rPr>
              <a:t>Management response</a:t>
            </a:r>
            <a:endParaRPr b="0" lang="en-US" sz="1600" strike="noStrike" u="none">
              <a:solidFill>
                <a:srgbClr val="ffffff"/>
              </a:solidFill>
              <a:effectLst/>
              <a:uFillTx/>
              <a:latin typeface="Arial"/>
            </a:endParaRPr>
          </a:p>
        </p:txBody>
      </p:sp>
      <p:sp>
        <p:nvSpPr>
          <p:cNvPr id="532" name="Text 36"/>
          <p:cNvSpPr/>
          <p:nvPr/>
        </p:nvSpPr>
        <p:spPr>
          <a:xfrm>
            <a:off x="3877200" y="4754880"/>
            <a:ext cx="7241760" cy="575640"/>
          </a:xfrm>
          <a:prstGeom prst="rect">
            <a:avLst/>
          </a:prstGeom>
          <a:noFill/>
          <a:ln w="0">
            <a:noFill/>
          </a:ln>
        </p:spPr>
        <p:style>
          <a:lnRef idx="0"/>
          <a:fillRef idx="0"/>
          <a:effectRef idx="0"/>
          <a:fontRef idx="minor"/>
        </p:style>
        <p:txBody>
          <a:bodyPr lIns="1080" rIns="1080" tIns="1080" bIns="1080" anchor="t">
            <a:normAutofit/>
          </a:bodyPr>
          <a:p>
            <a:pPr defTabSz="914400">
              <a:lnSpc>
                <a:spcPct val="100000"/>
              </a:lnSpc>
            </a:pPr>
            <a:r>
              <a:rPr b="0" lang="en-US" sz="1300" strike="noStrike" u="none">
                <a:solidFill>
                  <a:srgbClr val="f5f8fc"/>
                </a:solidFill>
                <a:effectLst/>
                <a:uFillTx/>
                <a:latin typeface="Aptos"/>
                <a:ea typeface="Aptos"/>
              </a:rPr>
              <a:t>Mitigation and monitoring convert environmental risks into manageable operational responsibilities through EMP implementation.</a:t>
            </a:r>
            <a:endParaRPr b="0" lang="en-US" sz="1300" strike="noStrike" u="none">
              <a:solidFill>
                <a:srgbClr val="ffffff"/>
              </a:solidFill>
              <a:effectLst/>
              <a:uFillTx/>
              <a:latin typeface="Arial"/>
            </a:endParaRPr>
          </a:p>
        </p:txBody>
      </p:sp>
    </p:spTree>
  </p:cSld>
  <p:transition spd="med">
    <p:fade/>
  </p:transition>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6172f"/>
        </a:solidFill>
      </p:bgPr>
    </p:bg>
    <p:spTree>
      <p:nvGrpSpPr>
        <p:cNvPr id="1" name=""/>
        <p:cNvGrpSpPr/>
        <p:nvPr/>
      </p:nvGrpSpPr>
      <p:grpSpPr>
        <a:xfrm>
          <a:off x="0" y="0"/>
          <a:ext cx="0" cy="0"/>
          <a:chOff x="0" y="0"/>
          <a:chExt cx="0" cy="0"/>
        </a:xfrm>
      </p:grpSpPr>
      <p:sp>
        <p:nvSpPr>
          <p:cNvPr id="533" name="Shape 0"/>
          <p:cNvSpPr/>
          <p:nvPr/>
        </p:nvSpPr>
        <p:spPr>
          <a:xfrm>
            <a:off x="0" y="0"/>
            <a:ext cx="12191400" cy="6857640"/>
          </a:xfrm>
          <a:prstGeom prst="rect">
            <a:avLst/>
          </a:prstGeom>
          <a:solidFill>
            <a:srgbClr val="06172f"/>
          </a:solidFill>
          <a:ln w="12700">
            <a:solidFill>
              <a:srgbClr val="06172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534" name="Shape 1"/>
          <p:cNvSpPr/>
          <p:nvPr/>
        </p:nvSpPr>
        <p:spPr>
          <a:xfrm>
            <a:off x="7680960" y="-1005840"/>
            <a:ext cx="4388760" cy="2925720"/>
          </a:xfrm>
          <a:prstGeom prst="arc">
            <a:avLst>
              <a:gd name="adj1" fmla="val 16200000"/>
              <a:gd name="adj2" fmla="val 0"/>
            </a:avLst>
          </a:prstGeom>
          <a:solidFill>
            <a:srgbClr val="0e3a68">
              <a:alpha val="75000"/>
            </a:srgbClr>
          </a:solidFill>
          <a:ln w="12700">
            <a:solidFill>
              <a:srgbClr val="0e3a68">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535" name="Shape 2"/>
          <p:cNvSpPr/>
          <p:nvPr/>
        </p:nvSpPr>
        <p:spPr>
          <a:xfrm>
            <a:off x="8778240" y="-777240"/>
            <a:ext cx="3474360" cy="2285640"/>
          </a:xfrm>
          <a:prstGeom prst="arc">
            <a:avLst>
              <a:gd name="adj1" fmla="val 16200000"/>
              <a:gd name="adj2" fmla="val 0"/>
            </a:avLst>
          </a:prstGeom>
          <a:solidFill>
            <a:srgbClr val="0b4d5e">
              <a:alpha val="65000"/>
            </a:srgbClr>
          </a:solidFill>
          <a:ln w="12700">
            <a:solidFill>
              <a:srgbClr val="0b4d5e">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536" name="Shape 3"/>
          <p:cNvSpPr/>
          <p:nvPr/>
        </p:nvSpPr>
        <p:spPr>
          <a:xfrm>
            <a:off x="0" y="0"/>
            <a:ext cx="109440" cy="6857640"/>
          </a:xfrm>
          <a:prstGeom prst="rect">
            <a:avLst/>
          </a:prstGeom>
          <a:solidFill>
            <a:srgbClr val="00b078"/>
          </a:solidFill>
          <a:ln w="12700">
            <a:solidFill>
              <a:srgbClr val="00b078">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537" name="Shape 4"/>
          <p:cNvSpPr/>
          <p:nvPr/>
        </p:nvSpPr>
        <p:spPr>
          <a:xfrm>
            <a:off x="320040" y="6565320"/>
            <a:ext cx="11521080" cy="16200"/>
          </a:xfrm>
          <a:prstGeom prst="rect">
            <a:avLst/>
          </a:prstGeom>
          <a:solidFill>
            <a:srgbClr val="435d78"/>
          </a:solidFill>
          <a:ln w="12700">
            <a:solidFill>
              <a:srgbClr val="435d78">
                <a:alpha val="0"/>
              </a:srgbClr>
            </a:solidFill>
            <a:round/>
          </a:ln>
        </p:spPr>
        <p:style>
          <a:lnRef idx="0"/>
          <a:fillRef idx="0"/>
          <a:effectRef idx="0"/>
          <a:fontRef idx="minor"/>
        </p:style>
        <p:txBody>
          <a:bodyPr lIns="90000" rIns="90000" tIns="-28440" bIns="-28440" anchor="t">
            <a:noAutofit/>
          </a:bodyPr>
          <a:p>
            <a:endParaRPr b="0" lang="en-US" sz="1800" strike="noStrike" u="none">
              <a:solidFill>
                <a:srgbClr val="ffffff"/>
              </a:solidFill>
              <a:effectLst/>
              <a:uFillTx/>
              <a:latin typeface="Arial"/>
            </a:endParaRPr>
          </a:p>
        </p:txBody>
      </p:sp>
      <p:sp>
        <p:nvSpPr>
          <p:cNvPr id="538" name="Text 5"/>
          <p:cNvSpPr/>
          <p:nvPr/>
        </p:nvSpPr>
        <p:spPr>
          <a:xfrm>
            <a:off x="11356920" y="6602040"/>
            <a:ext cx="502560" cy="13680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50" strike="noStrike" u="none">
                <a:solidFill>
                  <a:srgbClr val="b0c1d5"/>
                </a:solidFill>
                <a:effectLst/>
                <a:uFillTx/>
                <a:latin typeface="Aptos"/>
                <a:ea typeface="Aptos"/>
              </a:rPr>
              <a:t>18</a:t>
            </a:r>
            <a:endParaRPr b="0" lang="en-US" sz="950" strike="noStrike" u="none">
              <a:solidFill>
                <a:srgbClr val="ffffff"/>
              </a:solidFill>
              <a:effectLst/>
              <a:uFillTx/>
              <a:latin typeface="Arial"/>
            </a:endParaRPr>
          </a:p>
        </p:txBody>
      </p:sp>
      <p:sp>
        <p:nvSpPr>
          <p:cNvPr id="539" name="Text 6"/>
          <p:cNvSpPr/>
          <p:nvPr/>
        </p:nvSpPr>
        <p:spPr>
          <a:xfrm>
            <a:off x="475560" y="228600"/>
            <a:ext cx="10972440" cy="383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500" strike="noStrike" u="none">
                <a:solidFill>
                  <a:srgbClr val="f5f8fc"/>
                </a:solidFill>
                <a:effectLst/>
                <a:uFillTx/>
                <a:latin typeface="Aptos Display"/>
                <a:ea typeface="Aptos Display"/>
              </a:rPr>
              <a:t>Population Density</a:t>
            </a:r>
            <a:endParaRPr b="0" lang="en-US" sz="2500" strike="noStrike" u="none">
              <a:solidFill>
                <a:srgbClr val="ffffff"/>
              </a:solidFill>
              <a:effectLst/>
              <a:uFillTx/>
              <a:latin typeface="Arial"/>
            </a:endParaRPr>
          </a:p>
        </p:txBody>
      </p:sp>
      <p:sp>
        <p:nvSpPr>
          <p:cNvPr id="540" name="Text 7"/>
          <p:cNvSpPr/>
          <p:nvPr/>
        </p:nvSpPr>
        <p:spPr>
          <a:xfrm>
            <a:off x="502920" y="704160"/>
            <a:ext cx="10835280" cy="255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50" strike="noStrike" u="none">
                <a:solidFill>
                  <a:srgbClr val="b0c1d5"/>
                </a:solidFill>
                <a:effectLst/>
                <a:uFillTx/>
                <a:latin typeface="Aptos"/>
              </a:rPr>
              <a:t>Community exposure and planning relevance</a:t>
            </a:r>
            <a:endParaRPr b="0" lang="en-US" sz="1250" strike="noStrike" u="none">
              <a:solidFill>
                <a:srgbClr val="ffffff"/>
              </a:solidFill>
              <a:effectLst/>
              <a:uFillTx/>
              <a:latin typeface="Arial"/>
            </a:endParaRPr>
          </a:p>
        </p:txBody>
      </p:sp>
      <p:sp>
        <p:nvSpPr>
          <p:cNvPr id="541" name="Shape 8"/>
          <p:cNvSpPr/>
          <p:nvPr/>
        </p:nvSpPr>
        <p:spPr>
          <a:xfrm>
            <a:off x="685800" y="1234440"/>
            <a:ext cx="5166000" cy="4525920"/>
          </a:xfrm>
          <a:prstGeom prst="roundRect">
            <a:avLst>
              <a:gd name="adj" fmla="val 2424"/>
            </a:avLst>
          </a:prstGeom>
          <a:solidFill>
            <a:srgbClr val="00b078">
              <a:alpha val="95000"/>
            </a:srgbClr>
          </a:solidFill>
          <a:ln w="12700">
            <a:solidFill>
              <a:srgbClr val="00b078">
                <a:alpha val="7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542" name="Shape 9"/>
          <p:cNvSpPr/>
          <p:nvPr/>
        </p:nvSpPr>
        <p:spPr>
          <a:xfrm>
            <a:off x="868680" y="1600200"/>
            <a:ext cx="164160" cy="164160"/>
          </a:xfrm>
          <a:prstGeom prst="ellipse">
            <a:avLst/>
          </a:prstGeom>
          <a:solidFill>
            <a:srgbClr val="e15a5a">
              <a:alpha val="90000"/>
            </a:srgbClr>
          </a:solidFill>
          <a:ln w="12700">
            <a:solidFill>
              <a:srgbClr val="e15a5a">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543" name="Shape 10"/>
          <p:cNvSpPr/>
          <p:nvPr/>
        </p:nvSpPr>
        <p:spPr>
          <a:xfrm>
            <a:off x="1325880" y="1600200"/>
            <a:ext cx="164160" cy="164160"/>
          </a:xfrm>
          <a:prstGeom prst="ellipse">
            <a:avLst/>
          </a:prstGeom>
          <a:solidFill>
            <a:srgbClr val="50d69b">
              <a:alpha val="90000"/>
            </a:srgbClr>
          </a:solidFill>
          <a:ln w="12700">
            <a:solidFill>
              <a:srgbClr val="50d69b">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44" name="Shape 11"/>
          <p:cNvSpPr/>
          <p:nvPr/>
        </p:nvSpPr>
        <p:spPr>
          <a:xfrm>
            <a:off x="1783080" y="1600200"/>
            <a:ext cx="164160" cy="164160"/>
          </a:xfrm>
          <a:prstGeom prst="ellipse">
            <a:avLst/>
          </a:prstGeom>
          <a:solidFill>
            <a:srgbClr val="50d69b">
              <a:alpha val="90000"/>
            </a:srgbClr>
          </a:solidFill>
          <a:ln w="12700">
            <a:solidFill>
              <a:srgbClr val="50d69b">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45" name="Shape 12"/>
          <p:cNvSpPr/>
          <p:nvPr/>
        </p:nvSpPr>
        <p:spPr>
          <a:xfrm>
            <a:off x="2240280" y="1600200"/>
            <a:ext cx="164160" cy="164160"/>
          </a:xfrm>
          <a:prstGeom prst="ellipse">
            <a:avLst/>
          </a:prstGeom>
          <a:solidFill>
            <a:srgbClr val="f0be49">
              <a:alpha val="90000"/>
            </a:srgbClr>
          </a:solidFill>
          <a:ln w="12700">
            <a:solidFill>
              <a:srgbClr val="f0be49">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46" name="Shape 13"/>
          <p:cNvSpPr/>
          <p:nvPr/>
        </p:nvSpPr>
        <p:spPr>
          <a:xfrm>
            <a:off x="2697480" y="1600200"/>
            <a:ext cx="164160" cy="164160"/>
          </a:xfrm>
          <a:prstGeom prst="ellipse">
            <a:avLst/>
          </a:prstGeom>
          <a:solidFill>
            <a:srgbClr val="50d69b">
              <a:alpha val="90000"/>
            </a:srgbClr>
          </a:solidFill>
          <a:ln w="12700">
            <a:solidFill>
              <a:srgbClr val="50d69b">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47" name="Shape 14"/>
          <p:cNvSpPr/>
          <p:nvPr/>
        </p:nvSpPr>
        <p:spPr>
          <a:xfrm>
            <a:off x="3154680" y="1600200"/>
            <a:ext cx="164160" cy="164160"/>
          </a:xfrm>
          <a:prstGeom prst="ellipse">
            <a:avLst/>
          </a:prstGeom>
          <a:solidFill>
            <a:srgbClr val="e15a5a">
              <a:alpha val="90000"/>
            </a:srgbClr>
          </a:solidFill>
          <a:ln w="12700">
            <a:solidFill>
              <a:srgbClr val="e15a5a">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548" name="Shape 15"/>
          <p:cNvSpPr/>
          <p:nvPr/>
        </p:nvSpPr>
        <p:spPr>
          <a:xfrm>
            <a:off x="3611880" y="1600200"/>
            <a:ext cx="164160" cy="164160"/>
          </a:xfrm>
          <a:prstGeom prst="ellipse">
            <a:avLst/>
          </a:prstGeom>
          <a:solidFill>
            <a:srgbClr val="f0be49">
              <a:alpha val="90000"/>
            </a:srgbClr>
          </a:solidFill>
          <a:ln w="12700">
            <a:solidFill>
              <a:srgbClr val="f0be49">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49" name="Shape 16"/>
          <p:cNvSpPr/>
          <p:nvPr/>
        </p:nvSpPr>
        <p:spPr>
          <a:xfrm>
            <a:off x="4069080" y="1600200"/>
            <a:ext cx="164160" cy="164160"/>
          </a:xfrm>
          <a:prstGeom prst="ellipse">
            <a:avLst/>
          </a:prstGeom>
          <a:solidFill>
            <a:srgbClr val="50d69b">
              <a:alpha val="90000"/>
            </a:srgbClr>
          </a:solidFill>
          <a:ln w="12700">
            <a:solidFill>
              <a:srgbClr val="50d69b">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50" name="Shape 17"/>
          <p:cNvSpPr/>
          <p:nvPr/>
        </p:nvSpPr>
        <p:spPr>
          <a:xfrm>
            <a:off x="4526280" y="1600200"/>
            <a:ext cx="164160" cy="164160"/>
          </a:xfrm>
          <a:prstGeom prst="ellipse">
            <a:avLst/>
          </a:prstGeom>
          <a:solidFill>
            <a:srgbClr val="50d69b">
              <a:alpha val="90000"/>
            </a:srgbClr>
          </a:solidFill>
          <a:ln w="12700">
            <a:solidFill>
              <a:srgbClr val="50d69b">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51" name="Shape 18"/>
          <p:cNvSpPr/>
          <p:nvPr/>
        </p:nvSpPr>
        <p:spPr>
          <a:xfrm>
            <a:off x="4983480" y="1600200"/>
            <a:ext cx="164160" cy="164160"/>
          </a:xfrm>
          <a:prstGeom prst="ellipse">
            <a:avLst/>
          </a:prstGeom>
          <a:solidFill>
            <a:srgbClr val="f0be49">
              <a:alpha val="90000"/>
            </a:srgbClr>
          </a:solidFill>
          <a:ln w="12700">
            <a:solidFill>
              <a:srgbClr val="f0be49">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52" name="Shape 19"/>
          <p:cNvSpPr/>
          <p:nvPr/>
        </p:nvSpPr>
        <p:spPr>
          <a:xfrm>
            <a:off x="868680" y="2194560"/>
            <a:ext cx="164160" cy="164160"/>
          </a:xfrm>
          <a:prstGeom prst="ellipse">
            <a:avLst/>
          </a:prstGeom>
          <a:solidFill>
            <a:srgbClr val="e15a5a">
              <a:alpha val="90000"/>
            </a:srgbClr>
          </a:solidFill>
          <a:ln w="12700">
            <a:solidFill>
              <a:srgbClr val="e15a5a">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553" name="Shape 20"/>
          <p:cNvSpPr/>
          <p:nvPr/>
        </p:nvSpPr>
        <p:spPr>
          <a:xfrm>
            <a:off x="1325880" y="2194560"/>
            <a:ext cx="164160" cy="164160"/>
          </a:xfrm>
          <a:prstGeom prst="ellipse">
            <a:avLst/>
          </a:prstGeom>
          <a:solidFill>
            <a:srgbClr val="50d69b">
              <a:alpha val="90000"/>
            </a:srgbClr>
          </a:solidFill>
          <a:ln w="12700">
            <a:solidFill>
              <a:srgbClr val="50d69b">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54" name="Shape 21"/>
          <p:cNvSpPr/>
          <p:nvPr/>
        </p:nvSpPr>
        <p:spPr>
          <a:xfrm>
            <a:off x="1783080" y="2194560"/>
            <a:ext cx="164160" cy="164160"/>
          </a:xfrm>
          <a:prstGeom prst="ellipse">
            <a:avLst/>
          </a:prstGeom>
          <a:solidFill>
            <a:srgbClr val="f0be49">
              <a:alpha val="90000"/>
            </a:srgbClr>
          </a:solidFill>
          <a:ln w="12700">
            <a:solidFill>
              <a:srgbClr val="f0be49">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55" name="Shape 22"/>
          <p:cNvSpPr/>
          <p:nvPr/>
        </p:nvSpPr>
        <p:spPr>
          <a:xfrm>
            <a:off x="2240280" y="2194560"/>
            <a:ext cx="164160" cy="164160"/>
          </a:xfrm>
          <a:prstGeom prst="ellipse">
            <a:avLst/>
          </a:prstGeom>
          <a:solidFill>
            <a:srgbClr val="50d69b">
              <a:alpha val="90000"/>
            </a:srgbClr>
          </a:solidFill>
          <a:ln w="12700">
            <a:solidFill>
              <a:srgbClr val="50d69b">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56" name="Shape 23"/>
          <p:cNvSpPr/>
          <p:nvPr/>
        </p:nvSpPr>
        <p:spPr>
          <a:xfrm>
            <a:off x="2697480" y="2194560"/>
            <a:ext cx="164160" cy="164160"/>
          </a:xfrm>
          <a:prstGeom prst="ellipse">
            <a:avLst/>
          </a:prstGeom>
          <a:solidFill>
            <a:srgbClr val="50d69b">
              <a:alpha val="90000"/>
            </a:srgbClr>
          </a:solidFill>
          <a:ln w="12700">
            <a:solidFill>
              <a:srgbClr val="50d69b">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57" name="Shape 24"/>
          <p:cNvSpPr/>
          <p:nvPr/>
        </p:nvSpPr>
        <p:spPr>
          <a:xfrm>
            <a:off x="3154680" y="2194560"/>
            <a:ext cx="164160" cy="164160"/>
          </a:xfrm>
          <a:prstGeom prst="ellipse">
            <a:avLst/>
          </a:prstGeom>
          <a:solidFill>
            <a:srgbClr val="e15a5a">
              <a:alpha val="90000"/>
            </a:srgbClr>
          </a:solidFill>
          <a:ln w="12700">
            <a:solidFill>
              <a:srgbClr val="e15a5a">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558" name="Shape 25"/>
          <p:cNvSpPr/>
          <p:nvPr/>
        </p:nvSpPr>
        <p:spPr>
          <a:xfrm>
            <a:off x="3611880" y="2194560"/>
            <a:ext cx="164160" cy="164160"/>
          </a:xfrm>
          <a:prstGeom prst="ellipse">
            <a:avLst/>
          </a:prstGeom>
          <a:solidFill>
            <a:srgbClr val="50d69b">
              <a:alpha val="90000"/>
            </a:srgbClr>
          </a:solidFill>
          <a:ln w="12700">
            <a:solidFill>
              <a:srgbClr val="50d69b">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59" name="Shape 26"/>
          <p:cNvSpPr/>
          <p:nvPr/>
        </p:nvSpPr>
        <p:spPr>
          <a:xfrm>
            <a:off x="4069080" y="2194560"/>
            <a:ext cx="164160" cy="164160"/>
          </a:xfrm>
          <a:prstGeom prst="ellipse">
            <a:avLst/>
          </a:prstGeom>
          <a:solidFill>
            <a:srgbClr val="50d69b">
              <a:alpha val="90000"/>
            </a:srgbClr>
          </a:solidFill>
          <a:ln w="12700">
            <a:solidFill>
              <a:srgbClr val="50d69b">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60" name="Shape 27"/>
          <p:cNvSpPr/>
          <p:nvPr/>
        </p:nvSpPr>
        <p:spPr>
          <a:xfrm>
            <a:off x="4526280" y="2194560"/>
            <a:ext cx="164160" cy="164160"/>
          </a:xfrm>
          <a:prstGeom prst="ellipse">
            <a:avLst/>
          </a:prstGeom>
          <a:solidFill>
            <a:srgbClr val="f0be49">
              <a:alpha val="90000"/>
            </a:srgbClr>
          </a:solidFill>
          <a:ln w="12700">
            <a:solidFill>
              <a:srgbClr val="f0be49">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61" name="Shape 28"/>
          <p:cNvSpPr/>
          <p:nvPr/>
        </p:nvSpPr>
        <p:spPr>
          <a:xfrm>
            <a:off x="4983480" y="2194560"/>
            <a:ext cx="164160" cy="164160"/>
          </a:xfrm>
          <a:prstGeom prst="ellipse">
            <a:avLst/>
          </a:prstGeom>
          <a:solidFill>
            <a:srgbClr val="50d69b">
              <a:alpha val="90000"/>
            </a:srgbClr>
          </a:solidFill>
          <a:ln w="12700">
            <a:solidFill>
              <a:srgbClr val="50d69b">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62" name="Shape 29"/>
          <p:cNvSpPr/>
          <p:nvPr/>
        </p:nvSpPr>
        <p:spPr>
          <a:xfrm>
            <a:off x="868680" y="2788920"/>
            <a:ext cx="164160" cy="164160"/>
          </a:xfrm>
          <a:prstGeom prst="ellipse">
            <a:avLst/>
          </a:prstGeom>
          <a:solidFill>
            <a:srgbClr val="e15a5a">
              <a:alpha val="90000"/>
            </a:srgbClr>
          </a:solidFill>
          <a:ln w="12700">
            <a:solidFill>
              <a:srgbClr val="e15a5a">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563" name="Shape 30"/>
          <p:cNvSpPr/>
          <p:nvPr/>
        </p:nvSpPr>
        <p:spPr>
          <a:xfrm>
            <a:off x="1325880" y="2788920"/>
            <a:ext cx="164160" cy="164160"/>
          </a:xfrm>
          <a:prstGeom prst="ellipse">
            <a:avLst/>
          </a:prstGeom>
          <a:solidFill>
            <a:srgbClr val="f0be49">
              <a:alpha val="90000"/>
            </a:srgbClr>
          </a:solidFill>
          <a:ln w="12700">
            <a:solidFill>
              <a:srgbClr val="f0be49">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64" name="Shape 31"/>
          <p:cNvSpPr/>
          <p:nvPr/>
        </p:nvSpPr>
        <p:spPr>
          <a:xfrm>
            <a:off x="1783080" y="2788920"/>
            <a:ext cx="164160" cy="164160"/>
          </a:xfrm>
          <a:prstGeom prst="ellipse">
            <a:avLst/>
          </a:prstGeom>
          <a:solidFill>
            <a:srgbClr val="50d69b">
              <a:alpha val="90000"/>
            </a:srgbClr>
          </a:solidFill>
          <a:ln w="12700">
            <a:solidFill>
              <a:srgbClr val="50d69b">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65" name="Shape 32"/>
          <p:cNvSpPr/>
          <p:nvPr/>
        </p:nvSpPr>
        <p:spPr>
          <a:xfrm>
            <a:off x="2240280" y="2788920"/>
            <a:ext cx="164160" cy="164160"/>
          </a:xfrm>
          <a:prstGeom prst="ellipse">
            <a:avLst/>
          </a:prstGeom>
          <a:solidFill>
            <a:srgbClr val="50d69b">
              <a:alpha val="90000"/>
            </a:srgbClr>
          </a:solidFill>
          <a:ln w="12700">
            <a:solidFill>
              <a:srgbClr val="50d69b">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66" name="Shape 33"/>
          <p:cNvSpPr/>
          <p:nvPr/>
        </p:nvSpPr>
        <p:spPr>
          <a:xfrm>
            <a:off x="2697480" y="2788920"/>
            <a:ext cx="164160" cy="164160"/>
          </a:xfrm>
          <a:prstGeom prst="ellipse">
            <a:avLst/>
          </a:prstGeom>
          <a:solidFill>
            <a:srgbClr val="f0be49">
              <a:alpha val="90000"/>
            </a:srgbClr>
          </a:solidFill>
          <a:ln w="12700">
            <a:solidFill>
              <a:srgbClr val="f0be49">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67" name="Shape 34"/>
          <p:cNvSpPr/>
          <p:nvPr/>
        </p:nvSpPr>
        <p:spPr>
          <a:xfrm>
            <a:off x="3154680" y="2788920"/>
            <a:ext cx="164160" cy="164160"/>
          </a:xfrm>
          <a:prstGeom prst="ellipse">
            <a:avLst/>
          </a:prstGeom>
          <a:solidFill>
            <a:srgbClr val="e15a5a">
              <a:alpha val="90000"/>
            </a:srgbClr>
          </a:solidFill>
          <a:ln w="12700">
            <a:solidFill>
              <a:srgbClr val="e15a5a">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568" name="Shape 35"/>
          <p:cNvSpPr/>
          <p:nvPr/>
        </p:nvSpPr>
        <p:spPr>
          <a:xfrm>
            <a:off x="3611880" y="2788920"/>
            <a:ext cx="164160" cy="164160"/>
          </a:xfrm>
          <a:prstGeom prst="ellipse">
            <a:avLst/>
          </a:prstGeom>
          <a:solidFill>
            <a:srgbClr val="50d69b">
              <a:alpha val="90000"/>
            </a:srgbClr>
          </a:solidFill>
          <a:ln w="12700">
            <a:solidFill>
              <a:srgbClr val="50d69b">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69" name="Shape 36"/>
          <p:cNvSpPr/>
          <p:nvPr/>
        </p:nvSpPr>
        <p:spPr>
          <a:xfrm>
            <a:off x="4069080" y="2788920"/>
            <a:ext cx="164160" cy="164160"/>
          </a:xfrm>
          <a:prstGeom prst="ellipse">
            <a:avLst/>
          </a:prstGeom>
          <a:solidFill>
            <a:srgbClr val="f0be49">
              <a:alpha val="90000"/>
            </a:srgbClr>
          </a:solidFill>
          <a:ln w="12700">
            <a:solidFill>
              <a:srgbClr val="f0be49">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70" name="Shape 37"/>
          <p:cNvSpPr/>
          <p:nvPr/>
        </p:nvSpPr>
        <p:spPr>
          <a:xfrm>
            <a:off x="4526280" y="2788920"/>
            <a:ext cx="164160" cy="164160"/>
          </a:xfrm>
          <a:prstGeom prst="ellipse">
            <a:avLst/>
          </a:prstGeom>
          <a:solidFill>
            <a:srgbClr val="50d69b">
              <a:alpha val="90000"/>
            </a:srgbClr>
          </a:solidFill>
          <a:ln w="12700">
            <a:solidFill>
              <a:srgbClr val="50d69b">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71" name="Shape 38"/>
          <p:cNvSpPr/>
          <p:nvPr/>
        </p:nvSpPr>
        <p:spPr>
          <a:xfrm>
            <a:off x="4983480" y="2788920"/>
            <a:ext cx="164160" cy="164160"/>
          </a:xfrm>
          <a:prstGeom prst="ellipse">
            <a:avLst/>
          </a:prstGeom>
          <a:solidFill>
            <a:srgbClr val="50d69b">
              <a:alpha val="90000"/>
            </a:srgbClr>
          </a:solidFill>
          <a:ln w="12700">
            <a:solidFill>
              <a:srgbClr val="50d69b">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72" name="Shape 39"/>
          <p:cNvSpPr/>
          <p:nvPr/>
        </p:nvSpPr>
        <p:spPr>
          <a:xfrm>
            <a:off x="868680" y="3383280"/>
            <a:ext cx="164160" cy="164160"/>
          </a:xfrm>
          <a:prstGeom prst="ellipse">
            <a:avLst/>
          </a:prstGeom>
          <a:solidFill>
            <a:srgbClr val="e15a5a">
              <a:alpha val="90000"/>
            </a:srgbClr>
          </a:solidFill>
          <a:ln w="12700">
            <a:solidFill>
              <a:srgbClr val="e15a5a">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573" name="Shape 40"/>
          <p:cNvSpPr/>
          <p:nvPr/>
        </p:nvSpPr>
        <p:spPr>
          <a:xfrm>
            <a:off x="1325880" y="3383280"/>
            <a:ext cx="164160" cy="164160"/>
          </a:xfrm>
          <a:prstGeom prst="ellipse">
            <a:avLst/>
          </a:prstGeom>
          <a:solidFill>
            <a:srgbClr val="50d69b">
              <a:alpha val="90000"/>
            </a:srgbClr>
          </a:solidFill>
          <a:ln w="12700">
            <a:solidFill>
              <a:srgbClr val="50d69b">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74" name="Shape 41"/>
          <p:cNvSpPr/>
          <p:nvPr/>
        </p:nvSpPr>
        <p:spPr>
          <a:xfrm>
            <a:off x="1783080" y="3383280"/>
            <a:ext cx="164160" cy="164160"/>
          </a:xfrm>
          <a:prstGeom prst="ellipse">
            <a:avLst/>
          </a:prstGeom>
          <a:solidFill>
            <a:srgbClr val="50d69b">
              <a:alpha val="90000"/>
            </a:srgbClr>
          </a:solidFill>
          <a:ln w="12700">
            <a:solidFill>
              <a:srgbClr val="50d69b">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75" name="Shape 42"/>
          <p:cNvSpPr/>
          <p:nvPr/>
        </p:nvSpPr>
        <p:spPr>
          <a:xfrm>
            <a:off x="2240280" y="3383280"/>
            <a:ext cx="164160" cy="164160"/>
          </a:xfrm>
          <a:prstGeom prst="ellipse">
            <a:avLst/>
          </a:prstGeom>
          <a:solidFill>
            <a:srgbClr val="f0be49">
              <a:alpha val="90000"/>
            </a:srgbClr>
          </a:solidFill>
          <a:ln w="12700">
            <a:solidFill>
              <a:srgbClr val="f0be49">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76" name="Shape 43"/>
          <p:cNvSpPr/>
          <p:nvPr/>
        </p:nvSpPr>
        <p:spPr>
          <a:xfrm>
            <a:off x="2697480" y="3383280"/>
            <a:ext cx="164160" cy="164160"/>
          </a:xfrm>
          <a:prstGeom prst="ellipse">
            <a:avLst/>
          </a:prstGeom>
          <a:solidFill>
            <a:srgbClr val="50d69b">
              <a:alpha val="90000"/>
            </a:srgbClr>
          </a:solidFill>
          <a:ln w="12700">
            <a:solidFill>
              <a:srgbClr val="50d69b">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77" name="Shape 44"/>
          <p:cNvSpPr/>
          <p:nvPr/>
        </p:nvSpPr>
        <p:spPr>
          <a:xfrm>
            <a:off x="3154680" y="3383280"/>
            <a:ext cx="164160" cy="164160"/>
          </a:xfrm>
          <a:prstGeom prst="ellipse">
            <a:avLst/>
          </a:prstGeom>
          <a:solidFill>
            <a:srgbClr val="e15a5a">
              <a:alpha val="90000"/>
            </a:srgbClr>
          </a:solidFill>
          <a:ln w="12700">
            <a:solidFill>
              <a:srgbClr val="e15a5a">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578" name="Shape 45"/>
          <p:cNvSpPr/>
          <p:nvPr/>
        </p:nvSpPr>
        <p:spPr>
          <a:xfrm>
            <a:off x="3611880" y="3383280"/>
            <a:ext cx="164160" cy="164160"/>
          </a:xfrm>
          <a:prstGeom prst="ellipse">
            <a:avLst/>
          </a:prstGeom>
          <a:solidFill>
            <a:srgbClr val="f0be49">
              <a:alpha val="90000"/>
            </a:srgbClr>
          </a:solidFill>
          <a:ln w="12700">
            <a:solidFill>
              <a:srgbClr val="f0be49">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79" name="Shape 46"/>
          <p:cNvSpPr/>
          <p:nvPr/>
        </p:nvSpPr>
        <p:spPr>
          <a:xfrm>
            <a:off x="4069080" y="3383280"/>
            <a:ext cx="164160" cy="164160"/>
          </a:xfrm>
          <a:prstGeom prst="ellipse">
            <a:avLst/>
          </a:prstGeom>
          <a:solidFill>
            <a:srgbClr val="50d69b">
              <a:alpha val="90000"/>
            </a:srgbClr>
          </a:solidFill>
          <a:ln w="12700">
            <a:solidFill>
              <a:srgbClr val="50d69b">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80" name="Shape 47"/>
          <p:cNvSpPr/>
          <p:nvPr/>
        </p:nvSpPr>
        <p:spPr>
          <a:xfrm>
            <a:off x="4526280" y="3383280"/>
            <a:ext cx="164160" cy="164160"/>
          </a:xfrm>
          <a:prstGeom prst="ellipse">
            <a:avLst/>
          </a:prstGeom>
          <a:solidFill>
            <a:srgbClr val="50d69b">
              <a:alpha val="90000"/>
            </a:srgbClr>
          </a:solidFill>
          <a:ln w="12700">
            <a:solidFill>
              <a:srgbClr val="50d69b">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81" name="Shape 48"/>
          <p:cNvSpPr/>
          <p:nvPr/>
        </p:nvSpPr>
        <p:spPr>
          <a:xfrm>
            <a:off x="4983480" y="3383280"/>
            <a:ext cx="164160" cy="164160"/>
          </a:xfrm>
          <a:prstGeom prst="ellipse">
            <a:avLst/>
          </a:prstGeom>
          <a:solidFill>
            <a:srgbClr val="f0be49">
              <a:alpha val="90000"/>
            </a:srgbClr>
          </a:solidFill>
          <a:ln w="12700">
            <a:solidFill>
              <a:srgbClr val="f0be49">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82" name="Shape 49"/>
          <p:cNvSpPr/>
          <p:nvPr/>
        </p:nvSpPr>
        <p:spPr>
          <a:xfrm>
            <a:off x="868680" y="3977640"/>
            <a:ext cx="164160" cy="164160"/>
          </a:xfrm>
          <a:prstGeom prst="ellipse">
            <a:avLst/>
          </a:prstGeom>
          <a:solidFill>
            <a:srgbClr val="e15a5a">
              <a:alpha val="90000"/>
            </a:srgbClr>
          </a:solidFill>
          <a:ln w="12700">
            <a:solidFill>
              <a:srgbClr val="e15a5a">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583" name="Shape 50"/>
          <p:cNvSpPr/>
          <p:nvPr/>
        </p:nvSpPr>
        <p:spPr>
          <a:xfrm>
            <a:off x="1325880" y="3977640"/>
            <a:ext cx="164160" cy="164160"/>
          </a:xfrm>
          <a:prstGeom prst="ellipse">
            <a:avLst/>
          </a:prstGeom>
          <a:solidFill>
            <a:srgbClr val="50d69b">
              <a:alpha val="90000"/>
            </a:srgbClr>
          </a:solidFill>
          <a:ln w="12700">
            <a:solidFill>
              <a:srgbClr val="50d69b">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84" name="Shape 51"/>
          <p:cNvSpPr/>
          <p:nvPr/>
        </p:nvSpPr>
        <p:spPr>
          <a:xfrm>
            <a:off x="1783080" y="3977640"/>
            <a:ext cx="164160" cy="164160"/>
          </a:xfrm>
          <a:prstGeom prst="ellipse">
            <a:avLst/>
          </a:prstGeom>
          <a:solidFill>
            <a:srgbClr val="f0be49">
              <a:alpha val="90000"/>
            </a:srgbClr>
          </a:solidFill>
          <a:ln w="12700">
            <a:solidFill>
              <a:srgbClr val="f0be49">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85" name="Shape 52"/>
          <p:cNvSpPr/>
          <p:nvPr/>
        </p:nvSpPr>
        <p:spPr>
          <a:xfrm>
            <a:off x="2240280" y="3977640"/>
            <a:ext cx="164160" cy="164160"/>
          </a:xfrm>
          <a:prstGeom prst="ellipse">
            <a:avLst/>
          </a:prstGeom>
          <a:solidFill>
            <a:srgbClr val="50d69b">
              <a:alpha val="90000"/>
            </a:srgbClr>
          </a:solidFill>
          <a:ln w="12700">
            <a:solidFill>
              <a:srgbClr val="50d69b">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86" name="Shape 53"/>
          <p:cNvSpPr/>
          <p:nvPr/>
        </p:nvSpPr>
        <p:spPr>
          <a:xfrm>
            <a:off x="2697480" y="3977640"/>
            <a:ext cx="164160" cy="164160"/>
          </a:xfrm>
          <a:prstGeom prst="ellipse">
            <a:avLst/>
          </a:prstGeom>
          <a:solidFill>
            <a:srgbClr val="50d69b">
              <a:alpha val="90000"/>
            </a:srgbClr>
          </a:solidFill>
          <a:ln w="12700">
            <a:solidFill>
              <a:srgbClr val="50d69b">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87" name="Shape 54"/>
          <p:cNvSpPr/>
          <p:nvPr/>
        </p:nvSpPr>
        <p:spPr>
          <a:xfrm>
            <a:off x="3154680" y="3977640"/>
            <a:ext cx="164160" cy="164160"/>
          </a:xfrm>
          <a:prstGeom prst="ellipse">
            <a:avLst/>
          </a:prstGeom>
          <a:solidFill>
            <a:srgbClr val="e15a5a">
              <a:alpha val="90000"/>
            </a:srgbClr>
          </a:solidFill>
          <a:ln w="12700">
            <a:solidFill>
              <a:srgbClr val="e15a5a">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588" name="Shape 55"/>
          <p:cNvSpPr/>
          <p:nvPr/>
        </p:nvSpPr>
        <p:spPr>
          <a:xfrm>
            <a:off x="3611880" y="3977640"/>
            <a:ext cx="164160" cy="164160"/>
          </a:xfrm>
          <a:prstGeom prst="ellipse">
            <a:avLst/>
          </a:prstGeom>
          <a:solidFill>
            <a:srgbClr val="50d69b">
              <a:alpha val="90000"/>
            </a:srgbClr>
          </a:solidFill>
          <a:ln w="12700">
            <a:solidFill>
              <a:srgbClr val="50d69b">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89" name="Shape 56"/>
          <p:cNvSpPr/>
          <p:nvPr/>
        </p:nvSpPr>
        <p:spPr>
          <a:xfrm>
            <a:off x="4069080" y="3977640"/>
            <a:ext cx="164160" cy="164160"/>
          </a:xfrm>
          <a:prstGeom prst="ellipse">
            <a:avLst/>
          </a:prstGeom>
          <a:solidFill>
            <a:srgbClr val="50d69b">
              <a:alpha val="90000"/>
            </a:srgbClr>
          </a:solidFill>
          <a:ln w="12700">
            <a:solidFill>
              <a:srgbClr val="50d69b">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90" name="Shape 57"/>
          <p:cNvSpPr/>
          <p:nvPr/>
        </p:nvSpPr>
        <p:spPr>
          <a:xfrm>
            <a:off x="4526280" y="3977640"/>
            <a:ext cx="164160" cy="164160"/>
          </a:xfrm>
          <a:prstGeom prst="ellipse">
            <a:avLst/>
          </a:prstGeom>
          <a:solidFill>
            <a:srgbClr val="f0be49">
              <a:alpha val="90000"/>
            </a:srgbClr>
          </a:solidFill>
          <a:ln w="12700">
            <a:solidFill>
              <a:srgbClr val="f0be49">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91" name="Shape 58"/>
          <p:cNvSpPr/>
          <p:nvPr/>
        </p:nvSpPr>
        <p:spPr>
          <a:xfrm>
            <a:off x="4983480" y="3977640"/>
            <a:ext cx="164160" cy="164160"/>
          </a:xfrm>
          <a:prstGeom prst="ellipse">
            <a:avLst/>
          </a:prstGeom>
          <a:solidFill>
            <a:srgbClr val="50d69b">
              <a:alpha val="90000"/>
            </a:srgbClr>
          </a:solidFill>
          <a:ln w="12700">
            <a:solidFill>
              <a:srgbClr val="50d69b">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92" name="Shape 59"/>
          <p:cNvSpPr/>
          <p:nvPr/>
        </p:nvSpPr>
        <p:spPr>
          <a:xfrm>
            <a:off x="868680" y="4572000"/>
            <a:ext cx="164160" cy="164160"/>
          </a:xfrm>
          <a:prstGeom prst="ellipse">
            <a:avLst/>
          </a:prstGeom>
          <a:solidFill>
            <a:srgbClr val="e15a5a">
              <a:alpha val="90000"/>
            </a:srgbClr>
          </a:solidFill>
          <a:ln w="12700">
            <a:solidFill>
              <a:srgbClr val="e15a5a">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593" name="Shape 60"/>
          <p:cNvSpPr/>
          <p:nvPr/>
        </p:nvSpPr>
        <p:spPr>
          <a:xfrm>
            <a:off x="1325880" y="4572000"/>
            <a:ext cx="164160" cy="164160"/>
          </a:xfrm>
          <a:prstGeom prst="ellipse">
            <a:avLst/>
          </a:prstGeom>
          <a:solidFill>
            <a:srgbClr val="f0be49">
              <a:alpha val="90000"/>
            </a:srgbClr>
          </a:solidFill>
          <a:ln w="12700">
            <a:solidFill>
              <a:srgbClr val="f0be49">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94" name="Shape 61"/>
          <p:cNvSpPr/>
          <p:nvPr/>
        </p:nvSpPr>
        <p:spPr>
          <a:xfrm>
            <a:off x="1783080" y="4572000"/>
            <a:ext cx="164160" cy="164160"/>
          </a:xfrm>
          <a:prstGeom prst="ellipse">
            <a:avLst/>
          </a:prstGeom>
          <a:solidFill>
            <a:srgbClr val="50d69b">
              <a:alpha val="90000"/>
            </a:srgbClr>
          </a:solidFill>
          <a:ln w="12700">
            <a:solidFill>
              <a:srgbClr val="50d69b">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95" name="Shape 62"/>
          <p:cNvSpPr/>
          <p:nvPr/>
        </p:nvSpPr>
        <p:spPr>
          <a:xfrm>
            <a:off x="2240280" y="4572000"/>
            <a:ext cx="164160" cy="164160"/>
          </a:xfrm>
          <a:prstGeom prst="ellipse">
            <a:avLst/>
          </a:prstGeom>
          <a:solidFill>
            <a:srgbClr val="50d69b">
              <a:alpha val="90000"/>
            </a:srgbClr>
          </a:solidFill>
          <a:ln w="12700">
            <a:solidFill>
              <a:srgbClr val="50d69b">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96" name="Shape 63"/>
          <p:cNvSpPr/>
          <p:nvPr/>
        </p:nvSpPr>
        <p:spPr>
          <a:xfrm>
            <a:off x="2697480" y="4572000"/>
            <a:ext cx="164160" cy="164160"/>
          </a:xfrm>
          <a:prstGeom prst="ellipse">
            <a:avLst/>
          </a:prstGeom>
          <a:solidFill>
            <a:srgbClr val="f0be49">
              <a:alpha val="90000"/>
            </a:srgbClr>
          </a:solidFill>
          <a:ln w="12700">
            <a:solidFill>
              <a:srgbClr val="f0be49">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97" name="Shape 64"/>
          <p:cNvSpPr/>
          <p:nvPr/>
        </p:nvSpPr>
        <p:spPr>
          <a:xfrm>
            <a:off x="3154680" y="4572000"/>
            <a:ext cx="164160" cy="164160"/>
          </a:xfrm>
          <a:prstGeom prst="ellipse">
            <a:avLst/>
          </a:prstGeom>
          <a:solidFill>
            <a:srgbClr val="e15a5a">
              <a:alpha val="90000"/>
            </a:srgbClr>
          </a:solidFill>
          <a:ln w="12700">
            <a:solidFill>
              <a:srgbClr val="e15a5a">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598" name="Shape 65"/>
          <p:cNvSpPr/>
          <p:nvPr/>
        </p:nvSpPr>
        <p:spPr>
          <a:xfrm>
            <a:off x="3611880" y="4572000"/>
            <a:ext cx="164160" cy="164160"/>
          </a:xfrm>
          <a:prstGeom prst="ellipse">
            <a:avLst/>
          </a:prstGeom>
          <a:solidFill>
            <a:srgbClr val="50d69b">
              <a:alpha val="90000"/>
            </a:srgbClr>
          </a:solidFill>
          <a:ln w="12700">
            <a:solidFill>
              <a:srgbClr val="50d69b">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99" name="Shape 66"/>
          <p:cNvSpPr/>
          <p:nvPr/>
        </p:nvSpPr>
        <p:spPr>
          <a:xfrm>
            <a:off x="4069080" y="4572000"/>
            <a:ext cx="164160" cy="164160"/>
          </a:xfrm>
          <a:prstGeom prst="ellipse">
            <a:avLst/>
          </a:prstGeom>
          <a:solidFill>
            <a:srgbClr val="f0be49">
              <a:alpha val="90000"/>
            </a:srgbClr>
          </a:solidFill>
          <a:ln w="12700">
            <a:solidFill>
              <a:srgbClr val="f0be49">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600" name="Shape 67"/>
          <p:cNvSpPr/>
          <p:nvPr/>
        </p:nvSpPr>
        <p:spPr>
          <a:xfrm>
            <a:off x="4526280" y="4572000"/>
            <a:ext cx="164160" cy="164160"/>
          </a:xfrm>
          <a:prstGeom prst="ellipse">
            <a:avLst/>
          </a:prstGeom>
          <a:solidFill>
            <a:srgbClr val="50d69b">
              <a:alpha val="90000"/>
            </a:srgbClr>
          </a:solidFill>
          <a:ln w="12700">
            <a:solidFill>
              <a:srgbClr val="50d69b">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601" name="Shape 68"/>
          <p:cNvSpPr/>
          <p:nvPr/>
        </p:nvSpPr>
        <p:spPr>
          <a:xfrm>
            <a:off x="4983480" y="4572000"/>
            <a:ext cx="164160" cy="164160"/>
          </a:xfrm>
          <a:prstGeom prst="ellipse">
            <a:avLst/>
          </a:prstGeom>
          <a:solidFill>
            <a:srgbClr val="50d69b">
              <a:alpha val="90000"/>
            </a:srgbClr>
          </a:solidFill>
          <a:ln w="12700">
            <a:solidFill>
              <a:srgbClr val="50d69b">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602" name="Text 69"/>
          <p:cNvSpPr/>
          <p:nvPr/>
        </p:nvSpPr>
        <p:spPr>
          <a:xfrm>
            <a:off x="1143000" y="5166360"/>
            <a:ext cx="4114440" cy="273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00" strike="noStrike" u="none">
                <a:solidFill>
                  <a:srgbClr val="f5f8fc"/>
                </a:solidFill>
                <a:effectLst/>
                <a:uFillTx/>
                <a:latin typeface="Aptos"/>
              </a:rPr>
              <a:t>Schematic population-density field</a:t>
            </a:r>
            <a:endParaRPr b="0" lang="en-US" sz="1200" strike="noStrike" u="none">
              <a:solidFill>
                <a:srgbClr val="ffffff"/>
              </a:solidFill>
              <a:effectLst/>
              <a:uFillTx/>
              <a:latin typeface="Arial"/>
            </a:endParaRPr>
          </a:p>
        </p:txBody>
      </p:sp>
      <p:sp>
        <p:nvSpPr>
          <p:cNvPr id="603" name="Shape 70"/>
          <p:cNvSpPr/>
          <p:nvPr/>
        </p:nvSpPr>
        <p:spPr>
          <a:xfrm>
            <a:off x="6263640" y="1325880"/>
            <a:ext cx="5074560" cy="1508400"/>
          </a:xfrm>
          <a:prstGeom prst="roundRect">
            <a:avLst>
              <a:gd name="adj" fmla="val 7273"/>
            </a:avLst>
          </a:prstGeom>
          <a:solidFill>
            <a:srgbClr val="0e2d4f">
              <a:alpha val="93000"/>
            </a:srgbClr>
          </a:solidFill>
          <a:ln w="12700">
            <a:solidFill>
              <a:srgbClr val="50d69b">
                <a:alpha val="7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604" name="Text 71"/>
          <p:cNvSpPr/>
          <p:nvPr/>
        </p:nvSpPr>
        <p:spPr>
          <a:xfrm>
            <a:off x="6428160" y="1444680"/>
            <a:ext cx="474552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50d69b"/>
                </a:solidFill>
                <a:effectLst/>
                <a:uFillTx/>
                <a:latin typeface="Aptos"/>
              </a:rPr>
              <a:t>Why population matters</a:t>
            </a:r>
            <a:endParaRPr b="0" lang="en-US" sz="1600" strike="noStrike" u="none">
              <a:solidFill>
                <a:srgbClr val="ffffff"/>
              </a:solidFill>
              <a:effectLst/>
              <a:uFillTx/>
              <a:latin typeface="Arial"/>
            </a:endParaRPr>
          </a:p>
        </p:txBody>
      </p:sp>
      <p:sp>
        <p:nvSpPr>
          <p:cNvPr id="605" name="Text 72"/>
          <p:cNvSpPr/>
          <p:nvPr/>
        </p:nvSpPr>
        <p:spPr>
          <a:xfrm>
            <a:off x="6483240" y="1828800"/>
            <a:ext cx="4635720" cy="941400"/>
          </a:xfrm>
          <a:prstGeom prst="rect">
            <a:avLst/>
          </a:prstGeom>
          <a:noFill/>
          <a:ln w="0">
            <a:noFill/>
          </a:ln>
        </p:spPr>
        <p:style>
          <a:lnRef idx="0"/>
          <a:fillRef idx="0"/>
          <a:effectRef idx="0"/>
          <a:fontRef idx="minor"/>
        </p:style>
        <p:txBody>
          <a:bodyPr lIns="1080" rIns="1080" tIns="1080" bIns="1080" anchor="t">
            <a:normAutofit/>
          </a:bodyPr>
          <a:p>
            <a:pPr defTabSz="914400">
              <a:lnSpc>
                <a:spcPct val="100000"/>
              </a:lnSpc>
            </a:pPr>
            <a:r>
              <a:rPr b="0" lang="en-US" sz="1300" strike="noStrike" u="none">
                <a:solidFill>
                  <a:srgbClr val="f5f8fc"/>
                </a:solidFill>
                <a:effectLst/>
                <a:uFillTx/>
                <a:latin typeface="Aptos"/>
                <a:ea typeface="Aptos"/>
              </a:rPr>
              <a:t>Population density determines emergency-planning needs, public communication strategy, exposure assessment and evacuation planning zones.</a:t>
            </a:r>
            <a:endParaRPr b="0" lang="en-US" sz="1300" strike="noStrike" u="none">
              <a:solidFill>
                <a:srgbClr val="ffffff"/>
              </a:solidFill>
              <a:effectLst/>
              <a:uFillTx/>
              <a:latin typeface="Arial"/>
            </a:endParaRPr>
          </a:p>
        </p:txBody>
      </p:sp>
      <p:sp>
        <p:nvSpPr>
          <p:cNvPr id="606" name="Shape 73"/>
          <p:cNvSpPr/>
          <p:nvPr/>
        </p:nvSpPr>
        <p:spPr>
          <a:xfrm>
            <a:off x="6263640" y="3154680"/>
            <a:ext cx="5074560" cy="1508400"/>
          </a:xfrm>
          <a:prstGeom prst="roundRect">
            <a:avLst>
              <a:gd name="adj" fmla="val 7273"/>
            </a:avLst>
          </a:prstGeom>
          <a:solidFill>
            <a:srgbClr val="0e2d4f">
              <a:alpha val="93000"/>
            </a:srgbClr>
          </a:solidFill>
          <a:ln w="12700">
            <a:solidFill>
              <a:srgbClr val="5bd2ff">
                <a:alpha val="7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607" name="Text 74"/>
          <p:cNvSpPr/>
          <p:nvPr/>
        </p:nvSpPr>
        <p:spPr>
          <a:xfrm>
            <a:off x="6428160" y="3273480"/>
            <a:ext cx="474552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50d69b"/>
                </a:solidFill>
                <a:effectLst/>
                <a:uFillTx/>
                <a:latin typeface="Aptos"/>
              </a:rPr>
              <a:t>EIA relevance</a:t>
            </a:r>
            <a:endParaRPr b="0" lang="en-US" sz="1600" strike="noStrike" u="none">
              <a:solidFill>
                <a:srgbClr val="ffffff"/>
              </a:solidFill>
              <a:effectLst/>
              <a:uFillTx/>
              <a:latin typeface="Arial"/>
            </a:endParaRPr>
          </a:p>
        </p:txBody>
      </p:sp>
      <p:sp>
        <p:nvSpPr>
          <p:cNvPr id="608" name="Text 75"/>
          <p:cNvSpPr/>
          <p:nvPr/>
        </p:nvSpPr>
        <p:spPr>
          <a:xfrm>
            <a:off x="6483240" y="3657600"/>
            <a:ext cx="4635720" cy="941400"/>
          </a:xfrm>
          <a:prstGeom prst="rect">
            <a:avLst/>
          </a:prstGeom>
          <a:noFill/>
          <a:ln w="0">
            <a:noFill/>
          </a:ln>
        </p:spPr>
        <p:style>
          <a:lnRef idx="0"/>
          <a:fillRef idx="0"/>
          <a:effectRef idx="0"/>
          <a:fontRef idx="minor"/>
        </p:style>
        <p:txBody>
          <a:bodyPr lIns="1080" rIns="1080" tIns="1080" bIns="1080" anchor="t">
            <a:normAutofit/>
          </a:bodyPr>
          <a:p>
            <a:pPr defTabSz="914400">
              <a:lnSpc>
                <a:spcPct val="100000"/>
              </a:lnSpc>
            </a:pPr>
            <a:r>
              <a:rPr b="0" lang="en-US" sz="1300" strike="noStrike" u="none">
                <a:solidFill>
                  <a:srgbClr val="f5f8fc"/>
                </a:solidFill>
                <a:effectLst/>
                <a:uFillTx/>
                <a:latin typeface="Aptos"/>
                <a:ea typeface="Aptos"/>
              </a:rPr>
              <a:t>RNPP EIA should evaluate settlements, sensitive receptors, schools, healthcare centres, farms and transport access in the planning zone.</a:t>
            </a:r>
            <a:endParaRPr b="0" lang="en-US" sz="1300" strike="noStrike" u="none">
              <a:solidFill>
                <a:srgbClr val="ffffff"/>
              </a:solidFill>
              <a:effectLst/>
              <a:uFillTx/>
              <a:latin typeface="Arial"/>
            </a:endParaRPr>
          </a:p>
        </p:txBody>
      </p:sp>
      <p:sp>
        <p:nvSpPr>
          <p:cNvPr id="609" name="Shape 76"/>
          <p:cNvSpPr/>
          <p:nvPr/>
        </p:nvSpPr>
        <p:spPr>
          <a:xfrm>
            <a:off x="6263640" y="4983480"/>
            <a:ext cx="5074560" cy="914040"/>
          </a:xfrm>
          <a:prstGeom prst="roundRect">
            <a:avLst>
              <a:gd name="adj" fmla="val 12000"/>
            </a:avLst>
          </a:prstGeom>
          <a:solidFill>
            <a:srgbClr val="0e2d4f">
              <a:alpha val="93000"/>
            </a:srgbClr>
          </a:solidFill>
          <a:ln w="12700">
            <a:solidFill>
              <a:srgbClr val="f0be49">
                <a:alpha val="7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610" name="Text 77"/>
          <p:cNvSpPr/>
          <p:nvPr/>
        </p:nvSpPr>
        <p:spPr>
          <a:xfrm>
            <a:off x="6428160" y="5102280"/>
            <a:ext cx="474552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50d69b"/>
                </a:solidFill>
                <a:effectLst/>
                <a:uFillTx/>
                <a:latin typeface="Aptos"/>
              </a:rPr>
              <a:t>Visual interpretation</a:t>
            </a:r>
            <a:endParaRPr b="0" lang="en-US" sz="1600" strike="noStrike" u="none">
              <a:solidFill>
                <a:srgbClr val="ffffff"/>
              </a:solidFill>
              <a:effectLst/>
              <a:uFillTx/>
              <a:latin typeface="Arial"/>
            </a:endParaRPr>
          </a:p>
        </p:txBody>
      </p:sp>
      <p:sp>
        <p:nvSpPr>
          <p:cNvPr id="611" name="Text 78"/>
          <p:cNvSpPr/>
          <p:nvPr/>
        </p:nvSpPr>
        <p:spPr>
          <a:xfrm>
            <a:off x="6483240" y="5486400"/>
            <a:ext cx="4635720" cy="347040"/>
          </a:xfrm>
          <a:prstGeom prst="rect">
            <a:avLst/>
          </a:prstGeom>
          <a:noFill/>
          <a:ln w="0">
            <a:noFill/>
          </a:ln>
        </p:spPr>
        <p:style>
          <a:lnRef idx="0"/>
          <a:fillRef idx="0"/>
          <a:effectRef idx="0"/>
          <a:fontRef idx="minor"/>
        </p:style>
        <p:txBody>
          <a:bodyPr lIns="1080" rIns="1080" tIns="1080" bIns="1080" anchor="t">
            <a:normAutofit fontScale="92500" lnSpcReduction="9999"/>
          </a:bodyPr>
          <a:p>
            <a:pPr defTabSz="914400">
              <a:lnSpc>
                <a:spcPct val="100000"/>
              </a:lnSpc>
            </a:pPr>
            <a:r>
              <a:rPr b="0" lang="en-US" sz="1300" strike="noStrike" u="none">
                <a:solidFill>
                  <a:srgbClr val="f5f8fc"/>
                </a:solidFill>
                <a:effectLst/>
                <a:uFillTx/>
                <a:latin typeface="Aptos"/>
                <a:ea typeface="Aptos"/>
              </a:rPr>
              <a:t>This slide uses a schematic density graphic; exact population mapping would require census and GIS data.</a:t>
            </a:r>
            <a:endParaRPr b="0" lang="en-US" sz="1300" strike="noStrike" u="none">
              <a:solidFill>
                <a:srgbClr val="ffffff"/>
              </a:solidFill>
              <a:effectLst/>
              <a:uFillTx/>
              <a:latin typeface="Arial"/>
            </a:endParaRPr>
          </a:p>
        </p:txBody>
      </p:sp>
    </p:spTree>
  </p:cSld>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6172f"/>
        </a:solidFill>
      </p:bgPr>
    </p:bg>
    <p:spTree>
      <p:nvGrpSpPr>
        <p:cNvPr id="1" name=""/>
        <p:cNvGrpSpPr/>
        <p:nvPr/>
      </p:nvGrpSpPr>
      <p:grpSpPr>
        <a:xfrm>
          <a:off x="0" y="0"/>
          <a:ext cx="0" cy="0"/>
          <a:chOff x="0" y="0"/>
          <a:chExt cx="0" cy="0"/>
        </a:xfrm>
      </p:grpSpPr>
      <p:sp>
        <p:nvSpPr>
          <p:cNvPr id="612" name="Shape 0"/>
          <p:cNvSpPr/>
          <p:nvPr/>
        </p:nvSpPr>
        <p:spPr>
          <a:xfrm>
            <a:off x="0" y="0"/>
            <a:ext cx="12191400" cy="6857640"/>
          </a:xfrm>
          <a:prstGeom prst="rect">
            <a:avLst/>
          </a:prstGeom>
          <a:solidFill>
            <a:srgbClr val="06172f"/>
          </a:solidFill>
          <a:ln w="12700">
            <a:solidFill>
              <a:srgbClr val="06172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613" name="Shape 1"/>
          <p:cNvSpPr/>
          <p:nvPr/>
        </p:nvSpPr>
        <p:spPr>
          <a:xfrm>
            <a:off x="7680960" y="-1005840"/>
            <a:ext cx="4388760" cy="2925720"/>
          </a:xfrm>
          <a:prstGeom prst="arc">
            <a:avLst>
              <a:gd name="adj1" fmla="val 16200000"/>
              <a:gd name="adj2" fmla="val 0"/>
            </a:avLst>
          </a:prstGeom>
          <a:solidFill>
            <a:srgbClr val="0e3a68">
              <a:alpha val="75000"/>
            </a:srgbClr>
          </a:solidFill>
          <a:ln w="12700">
            <a:solidFill>
              <a:srgbClr val="0e3a68">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614" name="Shape 2"/>
          <p:cNvSpPr/>
          <p:nvPr/>
        </p:nvSpPr>
        <p:spPr>
          <a:xfrm>
            <a:off x="8778240" y="-777240"/>
            <a:ext cx="3474360" cy="2285640"/>
          </a:xfrm>
          <a:prstGeom prst="arc">
            <a:avLst>
              <a:gd name="adj1" fmla="val 16200000"/>
              <a:gd name="adj2" fmla="val 0"/>
            </a:avLst>
          </a:prstGeom>
          <a:solidFill>
            <a:srgbClr val="0b4d5e">
              <a:alpha val="65000"/>
            </a:srgbClr>
          </a:solidFill>
          <a:ln w="12700">
            <a:solidFill>
              <a:srgbClr val="0b4d5e">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615" name="Shape 3"/>
          <p:cNvSpPr/>
          <p:nvPr/>
        </p:nvSpPr>
        <p:spPr>
          <a:xfrm>
            <a:off x="0" y="0"/>
            <a:ext cx="109440" cy="6857640"/>
          </a:xfrm>
          <a:prstGeom prst="rect">
            <a:avLst/>
          </a:prstGeom>
          <a:solidFill>
            <a:srgbClr val="00b078"/>
          </a:solidFill>
          <a:ln w="12700">
            <a:solidFill>
              <a:srgbClr val="00b078">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616" name="Shape 4"/>
          <p:cNvSpPr/>
          <p:nvPr/>
        </p:nvSpPr>
        <p:spPr>
          <a:xfrm>
            <a:off x="320040" y="6565320"/>
            <a:ext cx="11521080" cy="16200"/>
          </a:xfrm>
          <a:prstGeom prst="rect">
            <a:avLst/>
          </a:prstGeom>
          <a:solidFill>
            <a:srgbClr val="435d78"/>
          </a:solidFill>
          <a:ln w="12700">
            <a:solidFill>
              <a:srgbClr val="435d78">
                <a:alpha val="0"/>
              </a:srgbClr>
            </a:solidFill>
            <a:round/>
          </a:ln>
        </p:spPr>
        <p:style>
          <a:lnRef idx="0"/>
          <a:fillRef idx="0"/>
          <a:effectRef idx="0"/>
          <a:fontRef idx="minor"/>
        </p:style>
        <p:txBody>
          <a:bodyPr lIns="90000" rIns="90000" tIns="-28440" bIns="-28440" anchor="t">
            <a:noAutofit/>
          </a:bodyPr>
          <a:p>
            <a:endParaRPr b="0" lang="en-US" sz="1800" strike="noStrike" u="none">
              <a:solidFill>
                <a:srgbClr val="ffffff"/>
              </a:solidFill>
              <a:effectLst/>
              <a:uFillTx/>
              <a:latin typeface="Arial"/>
            </a:endParaRPr>
          </a:p>
        </p:txBody>
      </p:sp>
      <p:sp>
        <p:nvSpPr>
          <p:cNvPr id="617" name="Text 5"/>
          <p:cNvSpPr/>
          <p:nvPr/>
        </p:nvSpPr>
        <p:spPr>
          <a:xfrm>
            <a:off x="11356920" y="6602040"/>
            <a:ext cx="502560" cy="13680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50" strike="noStrike" u="none">
                <a:solidFill>
                  <a:srgbClr val="b0c1d5"/>
                </a:solidFill>
                <a:effectLst/>
                <a:uFillTx/>
                <a:latin typeface="Aptos"/>
                <a:ea typeface="Aptos"/>
              </a:rPr>
              <a:t>19</a:t>
            </a:r>
            <a:endParaRPr b="0" lang="en-US" sz="950" strike="noStrike" u="none">
              <a:solidFill>
                <a:srgbClr val="ffffff"/>
              </a:solidFill>
              <a:effectLst/>
              <a:uFillTx/>
              <a:latin typeface="Arial"/>
            </a:endParaRPr>
          </a:p>
        </p:txBody>
      </p:sp>
      <p:sp>
        <p:nvSpPr>
          <p:cNvPr id="618" name="Text 6"/>
          <p:cNvSpPr/>
          <p:nvPr/>
        </p:nvSpPr>
        <p:spPr>
          <a:xfrm>
            <a:off x="475560" y="228600"/>
            <a:ext cx="10972440" cy="383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500" strike="noStrike" u="none">
                <a:solidFill>
                  <a:srgbClr val="f5f8fc"/>
                </a:solidFill>
                <a:effectLst/>
                <a:uFillTx/>
                <a:latin typeface="Aptos Display"/>
                <a:ea typeface="Aptos Display"/>
              </a:rPr>
              <a:t>Land Use and Planning Zone</a:t>
            </a:r>
            <a:endParaRPr b="0" lang="en-US" sz="2500" strike="noStrike" u="none">
              <a:solidFill>
                <a:srgbClr val="ffffff"/>
              </a:solidFill>
              <a:effectLst/>
              <a:uFillTx/>
              <a:latin typeface="Arial"/>
            </a:endParaRPr>
          </a:p>
        </p:txBody>
      </p:sp>
      <p:sp>
        <p:nvSpPr>
          <p:cNvPr id="619" name="Text 7"/>
          <p:cNvSpPr/>
          <p:nvPr/>
        </p:nvSpPr>
        <p:spPr>
          <a:xfrm>
            <a:off x="502920" y="704160"/>
            <a:ext cx="10835280" cy="255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50" strike="noStrike" u="none">
                <a:solidFill>
                  <a:srgbClr val="b0c1d5"/>
                </a:solidFill>
                <a:effectLst/>
                <a:uFillTx/>
                <a:latin typeface="Aptos"/>
              </a:rPr>
              <a:t>Spatial planning around the nuclear facility</a:t>
            </a:r>
            <a:endParaRPr b="0" lang="en-US" sz="1250" strike="noStrike" u="none">
              <a:solidFill>
                <a:srgbClr val="ffffff"/>
              </a:solidFill>
              <a:effectLst/>
              <a:uFillTx/>
              <a:latin typeface="Arial"/>
            </a:endParaRPr>
          </a:p>
        </p:txBody>
      </p:sp>
      <p:sp>
        <p:nvSpPr>
          <p:cNvPr id="620" name="Shape 8"/>
          <p:cNvSpPr/>
          <p:nvPr/>
        </p:nvSpPr>
        <p:spPr>
          <a:xfrm>
            <a:off x="685800" y="1234440"/>
            <a:ext cx="5211720" cy="4525920"/>
          </a:xfrm>
          <a:prstGeom prst="roundRect">
            <a:avLst>
              <a:gd name="adj" fmla="val 2424"/>
            </a:avLst>
          </a:prstGeom>
          <a:solidFill>
            <a:srgbClr val="5bd2ff">
              <a:alpha val="95000"/>
            </a:srgbClr>
          </a:solidFill>
          <a:ln w="12700">
            <a:solidFill>
              <a:srgbClr val="5bd2ff">
                <a:alpha val="7000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621" name="Shape 9"/>
          <p:cNvSpPr/>
          <p:nvPr/>
        </p:nvSpPr>
        <p:spPr>
          <a:xfrm>
            <a:off x="1874520" y="1874520"/>
            <a:ext cx="2651400" cy="2651400"/>
          </a:xfrm>
          <a:prstGeom prst="ellipse">
            <a:avLst/>
          </a:prstGeom>
          <a:solidFill>
            <a:srgbClr val="00b078">
              <a:alpha val="30000"/>
            </a:srgbClr>
          </a:solidFill>
          <a:ln w="25400">
            <a:solidFill>
              <a:srgbClr val="50d69b"/>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622" name="Shape 10"/>
          <p:cNvSpPr/>
          <p:nvPr/>
        </p:nvSpPr>
        <p:spPr>
          <a:xfrm>
            <a:off x="2331720" y="2331720"/>
            <a:ext cx="1737000" cy="1737000"/>
          </a:xfrm>
          <a:prstGeom prst="ellipse">
            <a:avLst/>
          </a:prstGeom>
          <a:solidFill>
            <a:srgbClr val="5bd2ff">
              <a:alpha val="35000"/>
            </a:srgbClr>
          </a:solidFill>
          <a:ln w="25400">
            <a:solidFill>
              <a:srgbClr val="5bd2ff"/>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623" name="Shape 11"/>
          <p:cNvSpPr/>
          <p:nvPr/>
        </p:nvSpPr>
        <p:spPr>
          <a:xfrm>
            <a:off x="2853000" y="2853000"/>
            <a:ext cx="685440" cy="685440"/>
          </a:xfrm>
          <a:prstGeom prst="ellipse">
            <a:avLst/>
          </a:prstGeom>
          <a:solidFill>
            <a:srgbClr val="e15a5a">
              <a:alpha val="95000"/>
            </a:srgbClr>
          </a:solidFill>
          <a:ln w="12700">
            <a:solidFill>
              <a:srgbClr val="f5f8fc"/>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624" name="Text 12"/>
          <p:cNvSpPr/>
          <p:nvPr/>
        </p:nvSpPr>
        <p:spPr>
          <a:xfrm>
            <a:off x="2880360" y="3054240"/>
            <a:ext cx="621360" cy="1641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trike="noStrike" u="none">
                <a:solidFill>
                  <a:srgbClr val="f5f8fc"/>
                </a:solidFill>
                <a:effectLst/>
                <a:uFillTx/>
                <a:latin typeface="Aptos"/>
              </a:rPr>
              <a:t>RNPP</a:t>
            </a:r>
            <a:endParaRPr b="0" lang="en-US" sz="1100" strike="noStrike" u="none">
              <a:solidFill>
                <a:srgbClr val="ffffff"/>
              </a:solidFill>
              <a:effectLst/>
              <a:uFillTx/>
              <a:latin typeface="Arial"/>
            </a:endParaRPr>
          </a:p>
        </p:txBody>
      </p:sp>
      <p:sp>
        <p:nvSpPr>
          <p:cNvPr id="625" name="Text 13"/>
          <p:cNvSpPr/>
          <p:nvPr/>
        </p:nvSpPr>
        <p:spPr>
          <a:xfrm>
            <a:off x="1371600" y="5166360"/>
            <a:ext cx="3840120" cy="2282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00" strike="noStrike" u="none">
                <a:solidFill>
                  <a:srgbClr val="f5f8fc"/>
                </a:solidFill>
                <a:effectLst/>
                <a:uFillTx/>
                <a:latin typeface="Aptos"/>
              </a:rPr>
              <a:t>Planning-zone schematic</a:t>
            </a:r>
            <a:endParaRPr b="0" lang="en-US" sz="1200" strike="noStrike" u="none">
              <a:solidFill>
                <a:srgbClr val="ffffff"/>
              </a:solidFill>
              <a:effectLst/>
              <a:uFillTx/>
              <a:latin typeface="Arial"/>
            </a:endParaRPr>
          </a:p>
        </p:txBody>
      </p:sp>
      <p:sp>
        <p:nvSpPr>
          <p:cNvPr id="626" name="Shape 14"/>
          <p:cNvSpPr/>
          <p:nvPr/>
        </p:nvSpPr>
        <p:spPr>
          <a:xfrm>
            <a:off x="6263640" y="1325880"/>
            <a:ext cx="5074560" cy="1325520"/>
          </a:xfrm>
          <a:prstGeom prst="roundRect">
            <a:avLst>
              <a:gd name="adj" fmla="val 8276"/>
            </a:avLst>
          </a:prstGeom>
          <a:solidFill>
            <a:srgbClr val="0e2d4f">
              <a:alpha val="93000"/>
            </a:srgbClr>
          </a:solidFill>
          <a:ln w="12700">
            <a:solidFill>
              <a:srgbClr val="50d69b">
                <a:alpha val="7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627" name="Text 15"/>
          <p:cNvSpPr/>
          <p:nvPr/>
        </p:nvSpPr>
        <p:spPr>
          <a:xfrm>
            <a:off x="6428160" y="1444680"/>
            <a:ext cx="474552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50d69b"/>
                </a:solidFill>
                <a:effectLst/>
                <a:uFillTx/>
                <a:latin typeface="Aptos"/>
              </a:rPr>
              <a:t>Project footprint</a:t>
            </a:r>
            <a:endParaRPr b="0" lang="en-US" sz="1600" strike="noStrike" u="none">
              <a:solidFill>
                <a:srgbClr val="ffffff"/>
              </a:solidFill>
              <a:effectLst/>
              <a:uFillTx/>
              <a:latin typeface="Arial"/>
            </a:endParaRPr>
          </a:p>
        </p:txBody>
      </p:sp>
      <p:sp>
        <p:nvSpPr>
          <p:cNvPr id="628" name="Text 16"/>
          <p:cNvSpPr/>
          <p:nvPr/>
        </p:nvSpPr>
        <p:spPr>
          <a:xfrm>
            <a:off x="6483240" y="1828800"/>
            <a:ext cx="4635720" cy="758520"/>
          </a:xfrm>
          <a:prstGeom prst="rect">
            <a:avLst/>
          </a:prstGeom>
          <a:noFill/>
          <a:ln w="0">
            <a:noFill/>
          </a:ln>
        </p:spPr>
        <p:style>
          <a:lnRef idx="0"/>
          <a:fillRef idx="0"/>
          <a:effectRef idx="0"/>
          <a:fontRef idx="minor"/>
        </p:style>
        <p:txBody>
          <a:bodyPr lIns="1080" rIns="1080" tIns="1080" bIns="1080" anchor="t">
            <a:normAutofit/>
          </a:bodyPr>
          <a:p>
            <a:pPr defTabSz="914400">
              <a:lnSpc>
                <a:spcPct val="100000"/>
              </a:lnSpc>
            </a:pPr>
            <a:r>
              <a:rPr b="0" lang="en-US" sz="1300" strike="noStrike" u="none">
                <a:solidFill>
                  <a:srgbClr val="f5f8fc"/>
                </a:solidFill>
                <a:effectLst/>
                <a:uFillTx/>
                <a:latin typeface="Aptos"/>
                <a:ea typeface="Aptos"/>
              </a:rPr>
              <a:t>The source deck notes an industrial structural footprint of about 1,062 acres, requiring land-use control.</a:t>
            </a:r>
            <a:endParaRPr b="0" lang="en-US" sz="1300" strike="noStrike" u="none">
              <a:solidFill>
                <a:srgbClr val="ffffff"/>
              </a:solidFill>
              <a:effectLst/>
              <a:uFillTx/>
              <a:latin typeface="Arial"/>
            </a:endParaRPr>
          </a:p>
        </p:txBody>
      </p:sp>
      <p:sp>
        <p:nvSpPr>
          <p:cNvPr id="629" name="Shape 17"/>
          <p:cNvSpPr/>
          <p:nvPr/>
        </p:nvSpPr>
        <p:spPr>
          <a:xfrm>
            <a:off x="6263640" y="2926080"/>
            <a:ext cx="5074560" cy="1325520"/>
          </a:xfrm>
          <a:prstGeom prst="roundRect">
            <a:avLst>
              <a:gd name="adj" fmla="val 8276"/>
            </a:avLst>
          </a:prstGeom>
          <a:solidFill>
            <a:srgbClr val="0e2d4f">
              <a:alpha val="93000"/>
            </a:srgbClr>
          </a:solidFill>
          <a:ln w="12700">
            <a:solidFill>
              <a:srgbClr val="5bd2ff">
                <a:alpha val="7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630" name="Text 18"/>
          <p:cNvSpPr/>
          <p:nvPr/>
        </p:nvSpPr>
        <p:spPr>
          <a:xfrm>
            <a:off x="6428160" y="3044880"/>
            <a:ext cx="474552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50d69b"/>
                </a:solidFill>
                <a:effectLst/>
                <a:uFillTx/>
                <a:latin typeface="Aptos"/>
              </a:rPr>
              <a:t>Planning zone</a:t>
            </a:r>
            <a:endParaRPr b="0" lang="en-US" sz="1600" strike="noStrike" u="none">
              <a:solidFill>
                <a:srgbClr val="ffffff"/>
              </a:solidFill>
              <a:effectLst/>
              <a:uFillTx/>
              <a:latin typeface="Arial"/>
            </a:endParaRPr>
          </a:p>
        </p:txBody>
      </p:sp>
      <p:sp>
        <p:nvSpPr>
          <p:cNvPr id="631" name="Text 19"/>
          <p:cNvSpPr/>
          <p:nvPr/>
        </p:nvSpPr>
        <p:spPr>
          <a:xfrm>
            <a:off x="6483240" y="3429000"/>
            <a:ext cx="4635720" cy="758520"/>
          </a:xfrm>
          <a:prstGeom prst="rect">
            <a:avLst/>
          </a:prstGeom>
          <a:noFill/>
          <a:ln w="0">
            <a:noFill/>
          </a:ln>
        </p:spPr>
        <p:style>
          <a:lnRef idx="0"/>
          <a:fillRef idx="0"/>
          <a:effectRef idx="0"/>
          <a:fontRef idx="minor"/>
        </p:style>
        <p:txBody>
          <a:bodyPr lIns="1080" rIns="1080" tIns="1080" bIns="1080" anchor="t">
            <a:normAutofit/>
          </a:bodyPr>
          <a:p>
            <a:pPr defTabSz="914400">
              <a:lnSpc>
                <a:spcPct val="100000"/>
              </a:lnSpc>
            </a:pPr>
            <a:r>
              <a:rPr b="0" lang="en-US" sz="1300" strike="noStrike" u="none">
                <a:solidFill>
                  <a:srgbClr val="f5f8fc"/>
                </a:solidFill>
                <a:effectLst/>
                <a:uFillTx/>
                <a:latin typeface="Aptos"/>
                <a:ea typeface="Aptos"/>
              </a:rPr>
              <a:t>Planning zones help manage incompatible land uses, emergency access, security, monitoring stations and community interfaces.</a:t>
            </a:r>
            <a:endParaRPr b="0" lang="en-US" sz="1300" strike="noStrike" u="none">
              <a:solidFill>
                <a:srgbClr val="ffffff"/>
              </a:solidFill>
              <a:effectLst/>
              <a:uFillTx/>
              <a:latin typeface="Arial"/>
            </a:endParaRPr>
          </a:p>
        </p:txBody>
      </p:sp>
      <p:sp>
        <p:nvSpPr>
          <p:cNvPr id="632" name="Shape 20"/>
          <p:cNvSpPr/>
          <p:nvPr/>
        </p:nvSpPr>
        <p:spPr>
          <a:xfrm>
            <a:off x="6263640" y="4526280"/>
            <a:ext cx="5074560" cy="1234080"/>
          </a:xfrm>
          <a:prstGeom prst="roundRect">
            <a:avLst>
              <a:gd name="adj" fmla="val 8889"/>
            </a:avLst>
          </a:prstGeom>
          <a:solidFill>
            <a:srgbClr val="0e2d4f">
              <a:alpha val="93000"/>
            </a:srgbClr>
          </a:solidFill>
          <a:ln w="12700">
            <a:solidFill>
              <a:srgbClr val="f0be49">
                <a:alpha val="7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633" name="Text 21"/>
          <p:cNvSpPr/>
          <p:nvPr/>
        </p:nvSpPr>
        <p:spPr>
          <a:xfrm>
            <a:off x="6428160" y="4645080"/>
            <a:ext cx="474552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50d69b"/>
                </a:solidFill>
                <a:effectLst/>
                <a:uFillTx/>
                <a:latin typeface="Aptos"/>
              </a:rPr>
              <a:t>EIA focus</a:t>
            </a:r>
            <a:endParaRPr b="0" lang="en-US" sz="1600" strike="noStrike" u="none">
              <a:solidFill>
                <a:srgbClr val="ffffff"/>
              </a:solidFill>
              <a:effectLst/>
              <a:uFillTx/>
              <a:latin typeface="Arial"/>
            </a:endParaRPr>
          </a:p>
        </p:txBody>
      </p:sp>
      <p:sp>
        <p:nvSpPr>
          <p:cNvPr id="634" name="Text 22"/>
          <p:cNvSpPr/>
          <p:nvPr/>
        </p:nvSpPr>
        <p:spPr>
          <a:xfrm>
            <a:off x="6483240" y="5029200"/>
            <a:ext cx="4635720" cy="667080"/>
          </a:xfrm>
          <a:prstGeom prst="rect">
            <a:avLst/>
          </a:prstGeom>
          <a:noFill/>
          <a:ln w="0">
            <a:noFill/>
          </a:ln>
        </p:spPr>
        <p:style>
          <a:lnRef idx="0"/>
          <a:fillRef idx="0"/>
          <a:effectRef idx="0"/>
          <a:fontRef idx="minor"/>
        </p:style>
        <p:txBody>
          <a:bodyPr lIns="1080" rIns="1080" tIns="1080" bIns="1080" anchor="t">
            <a:normAutofit/>
          </a:bodyPr>
          <a:p>
            <a:pPr defTabSz="914400">
              <a:lnSpc>
                <a:spcPct val="100000"/>
              </a:lnSpc>
            </a:pPr>
            <a:r>
              <a:rPr b="0" lang="en-US" sz="1300" strike="noStrike" u="none">
                <a:solidFill>
                  <a:srgbClr val="f5f8fc"/>
                </a:solidFill>
                <a:effectLst/>
                <a:uFillTx/>
                <a:latin typeface="Aptos"/>
                <a:ea typeface="Aptos"/>
              </a:rPr>
              <a:t>Land-use assessment should consider agriculture, settlements, riverbank activities, transport corridors and industrial support facilities.</a:t>
            </a:r>
            <a:endParaRPr b="0" lang="en-US" sz="1300" strike="noStrike" u="none">
              <a:solidFill>
                <a:srgbClr val="ffffff"/>
              </a:solidFill>
              <a:effectLst/>
              <a:uFillTx/>
              <a:latin typeface="Arial"/>
            </a:endParaRPr>
          </a:p>
        </p:txBody>
      </p:sp>
    </p:spTree>
  </p:cSld>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6172f"/>
        </a:solidFill>
      </p:bgPr>
    </p:bg>
    <p:spTree>
      <p:nvGrpSpPr>
        <p:cNvPr id="1" name=""/>
        <p:cNvGrpSpPr/>
        <p:nvPr/>
      </p:nvGrpSpPr>
      <p:grpSpPr>
        <a:xfrm>
          <a:off x="0" y="0"/>
          <a:ext cx="0" cy="0"/>
          <a:chOff x="0" y="0"/>
          <a:chExt cx="0" cy="0"/>
        </a:xfrm>
      </p:grpSpPr>
      <p:sp>
        <p:nvSpPr>
          <p:cNvPr id="635" name="Shape 0"/>
          <p:cNvSpPr/>
          <p:nvPr/>
        </p:nvSpPr>
        <p:spPr>
          <a:xfrm>
            <a:off x="0" y="0"/>
            <a:ext cx="12191400" cy="6857640"/>
          </a:xfrm>
          <a:prstGeom prst="rect">
            <a:avLst/>
          </a:prstGeom>
          <a:solidFill>
            <a:srgbClr val="06172f"/>
          </a:solidFill>
          <a:ln w="12700">
            <a:solidFill>
              <a:srgbClr val="06172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636" name="Shape 1"/>
          <p:cNvSpPr/>
          <p:nvPr/>
        </p:nvSpPr>
        <p:spPr>
          <a:xfrm>
            <a:off x="7680960" y="-1005840"/>
            <a:ext cx="4388760" cy="2925720"/>
          </a:xfrm>
          <a:prstGeom prst="arc">
            <a:avLst>
              <a:gd name="adj1" fmla="val 16200000"/>
              <a:gd name="adj2" fmla="val 0"/>
            </a:avLst>
          </a:prstGeom>
          <a:solidFill>
            <a:srgbClr val="0e3a68">
              <a:alpha val="75000"/>
            </a:srgbClr>
          </a:solidFill>
          <a:ln w="12700">
            <a:solidFill>
              <a:srgbClr val="0e3a68">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637" name="Shape 2"/>
          <p:cNvSpPr/>
          <p:nvPr/>
        </p:nvSpPr>
        <p:spPr>
          <a:xfrm>
            <a:off x="8778240" y="-777240"/>
            <a:ext cx="3474360" cy="2285640"/>
          </a:xfrm>
          <a:prstGeom prst="arc">
            <a:avLst>
              <a:gd name="adj1" fmla="val 16200000"/>
              <a:gd name="adj2" fmla="val 0"/>
            </a:avLst>
          </a:prstGeom>
          <a:solidFill>
            <a:srgbClr val="0b4d5e">
              <a:alpha val="65000"/>
            </a:srgbClr>
          </a:solidFill>
          <a:ln w="12700">
            <a:solidFill>
              <a:srgbClr val="0b4d5e">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638" name="Shape 3"/>
          <p:cNvSpPr/>
          <p:nvPr/>
        </p:nvSpPr>
        <p:spPr>
          <a:xfrm>
            <a:off x="0" y="0"/>
            <a:ext cx="109440" cy="6857640"/>
          </a:xfrm>
          <a:prstGeom prst="rect">
            <a:avLst/>
          </a:prstGeom>
          <a:solidFill>
            <a:srgbClr val="00b078"/>
          </a:solidFill>
          <a:ln w="12700">
            <a:solidFill>
              <a:srgbClr val="00b078">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639" name="Shape 4"/>
          <p:cNvSpPr/>
          <p:nvPr/>
        </p:nvSpPr>
        <p:spPr>
          <a:xfrm>
            <a:off x="320040" y="6565320"/>
            <a:ext cx="11521080" cy="16200"/>
          </a:xfrm>
          <a:prstGeom prst="rect">
            <a:avLst/>
          </a:prstGeom>
          <a:solidFill>
            <a:srgbClr val="435d78"/>
          </a:solidFill>
          <a:ln w="12700">
            <a:solidFill>
              <a:srgbClr val="435d78">
                <a:alpha val="0"/>
              </a:srgbClr>
            </a:solidFill>
            <a:round/>
          </a:ln>
        </p:spPr>
        <p:style>
          <a:lnRef idx="0"/>
          <a:fillRef idx="0"/>
          <a:effectRef idx="0"/>
          <a:fontRef idx="minor"/>
        </p:style>
        <p:txBody>
          <a:bodyPr lIns="90000" rIns="90000" tIns="-28440" bIns="-28440" anchor="t">
            <a:noAutofit/>
          </a:bodyPr>
          <a:p>
            <a:endParaRPr b="0" lang="en-US" sz="1800" strike="noStrike" u="none">
              <a:solidFill>
                <a:srgbClr val="ffffff"/>
              </a:solidFill>
              <a:effectLst/>
              <a:uFillTx/>
              <a:latin typeface="Arial"/>
            </a:endParaRPr>
          </a:p>
        </p:txBody>
      </p:sp>
      <p:sp>
        <p:nvSpPr>
          <p:cNvPr id="640" name="Text 5"/>
          <p:cNvSpPr/>
          <p:nvPr/>
        </p:nvSpPr>
        <p:spPr>
          <a:xfrm>
            <a:off x="11356920" y="6602040"/>
            <a:ext cx="502560" cy="13680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50" strike="noStrike" u="none">
                <a:solidFill>
                  <a:srgbClr val="b0c1d5"/>
                </a:solidFill>
                <a:effectLst/>
                <a:uFillTx/>
                <a:latin typeface="Aptos"/>
                <a:ea typeface="Aptos"/>
              </a:rPr>
              <a:t>20</a:t>
            </a:r>
            <a:endParaRPr b="0" lang="en-US" sz="950" strike="noStrike" u="none">
              <a:solidFill>
                <a:srgbClr val="ffffff"/>
              </a:solidFill>
              <a:effectLst/>
              <a:uFillTx/>
              <a:latin typeface="Arial"/>
            </a:endParaRPr>
          </a:p>
        </p:txBody>
      </p:sp>
      <p:sp>
        <p:nvSpPr>
          <p:cNvPr id="641" name="Text 6"/>
          <p:cNvSpPr/>
          <p:nvPr/>
        </p:nvSpPr>
        <p:spPr>
          <a:xfrm>
            <a:off x="475560" y="228600"/>
            <a:ext cx="10972440" cy="383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500" strike="noStrike" u="none">
                <a:solidFill>
                  <a:srgbClr val="f5f8fc"/>
                </a:solidFill>
                <a:effectLst/>
                <a:uFillTx/>
                <a:latin typeface="Aptos Display"/>
                <a:ea typeface="Aptos Display"/>
              </a:rPr>
              <a:t>Earthquake Risk</a:t>
            </a:r>
            <a:endParaRPr b="0" lang="en-US" sz="2500" strike="noStrike" u="none">
              <a:solidFill>
                <a:srgbClr val="ffffff"/>
              </a:solidFill>
              <a:effectLst/>
              <a:uFillTx/>
              <a:latin typeface="Arial"/>
            </a:endParaRPr>
          </a:p>
        </p:txBody>
      </p:sp>
      <p:sp>
        <p:nvSpPr>
          <p:cNvPr id="642" name="Text 7"/>
          <p:cNvSpPr/>
          <p:nvPr/>
        </p:nvSpPr>
        <p:spPr>
          <a:xfrm>
            <a:off x="502920" y="704160"/>
            <a:ext cx="10835280" cy="255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50" strike="noStrike" u="none">
                <a:solidFill>
                  <a:srgbClr val="b0c1d5"/>
                </a:solidFill>
                <a:effectLst/>
                <a:uFillTx/>
                <a:latin typeface="Aptos"/>
              </a:rPr>
              <a:t>Hazard resistance as a safety requirement</a:t>
            </a:r>
            <a:endParaRPr b="0" lang="en-US" sz="1250" strike="noStrike" u="none">
              <a:solidFill>
                <a:srgbClr val="ffffff"/>
              </a:solidFill>
              <a:effectLst/>
              <a:uFillTx/>
              <a:latin typeface="Arial"/>
            </a:endParaRPr>
          </a:p>
        </p:txBody>
      </p:sp>
      <p:sp>
        <p:nvSpPr>
          <p:cNvPr id="643" name="Shape 8"/>
          <p:cNvSpPr/>
          <p:nvPr/>
        </p:nvSpPr>
        <p:spPr>
          <a:xfrm>
            <a:off x="685800" y="1234440"/>
            <a:ext cx="5257440" cy="4480200"/>
          </a:xfrm>
          <a:prstGeom prst="roundRect">
            <a:avLst>
              <a:gd name="adj" fmla="val 2449"/>
            </a:avLst>
          </a:prstGeom>
          <a:solidFill>
            <a:srgbClr val="e15a5a">
              <a:alpha val="94000"/>
            </a:srgbClr>
          </a:solidFill>
          <a:ln w="12700">
            <a:solidFill>
              <a:srgbClr val="e15a5a">
                <a:alpha val="7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644" name="Shape 9"/>
          <p:cNvSpPr/>
          <p:nvPr/>
        </p:nvSpPr>
        <p:spPr>
          <a:xfrm>
            <a:off x="1554480" y="1828800"/>
            <a:ext cx="1051200" cy="2011320"/>
          </a:xfrm>
          <a:prstGeom prst="lightningBolt">
            <a:avLst/>
          </a:prstGeom>
          <a:solidFill>
            <a:srgbClr val="f0be49"/>
          </a:solidFill>
          <a:ln w="12700">
            <a:solidFill>
              <a:srgbClr val="f0be49">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645" name="Shape 10"/>
          <p:cNvSpPr/>
          <p:nvPr/>
        </p:nvSpPr>
        <p:spPr>
          <a:xfrm>
            <a:off x="2788920" y="3383280"/>
            <a:ext cx="2102760" cy="1005480"/>
          </a:xfrm>
          <a:prstGeom prst="triangle">
            <a:avLst>
              <a:gd name="adj" fmla="val 50000"/>
            </a:avLst>
          </a:prstGeom>
          <a:solidFill>
            <a:srgbClr val="5b6e7a"/>
          </a:solidFill>
          <a:ln w="12700">
            <a:solidFill>
              <a:srgbClr val="b0c1d5"/>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646" name="Text 11"/>
          <p:cNvSpPr/>
          <p:nvPr/>
        </p:nvSpPr>
        <p:spPr>
          <a:xfrm>
            <a:off x="1143000" y="5074920"/>
            <a:ext cx="4297320" cy="2282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00" strike="noStrike" u="none">
                <a:solidFill>
                  <a:srgbClr val="f5f8fc"/>
                </a:solidFill>
                <a:effectLst/>
                <a:uFillTx/>
                <a:latin typeface="Aptos"/>
              </a:rPr>
              <a:t>Earthquake hazard schematic</a:t>
            </a:r>
            <a:endParaRPr b="0" lang="en-US" sz="1200" strike="noStrike" u="none">
              <a:solidFill>
                <a:srgbClr val="ffffff"/>
              </a:solidFill>
              <a:effectLst/>
              <a:uFillTx/>
              <a:latin typeface="Arial"/>
            </a:endParaRPr>
          </a:p>
        </p:txBody>
      </p:sp>
      <p:sp>
        <p:nvSpPr>
          <p:cNvPr id="647" name="Shape 12"/>
          <p:cNvSpPr/>
          <p:nvPr/>
        </p:nvSpPr>
        <p:spPr>
          <a:xfrm>
            <a:off x="6263640" y="1325880"/>
            <a:ext cx="5074560" cy="1325520"/>
          </a:xfrm>
          <a:prstGeom prst="roundRect">
            <a:avLst>
              <a:gd name="adj" fmla="val 8276"/>
            </a:avLst>
          </a:prstGeom>
          <a:solidFill>
            <a:srgbClr val="0e2d4f">
              <a:alpha val="93000"/>
            </a:srgbClr>
          </a:solidFill>
          <a:ln w="12700">
            <a:solidFill>
              <a:srgbClr val="50d69b">
                <a:alpha val="7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648" name="Text 13"/>
          <p:cNvSpPr/>
          <p:nvPr/>
        </p:nvSpPr>
        <p:spPr>
          <a:xfrm>
            <a:off x="6428160" y="1444680"/>
            <a:ext cx="474552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50d69b"/>
                </a:solidFill>
                <a:effectLst/>
                <a:uFillTx/>
                <a:latin typeface="Aptos"/>
              </a:rPr>
              <a:t>Source-deck safety claim</a:t>
            </a:r>
            <a:endParaRPr b="0" lang="en-US" sz="1600" strike="noStrike" u="none">
              <a:solidFill>
                <a:srgbClr val="ffffff"/>
              </a:solidFill>
              <a:effectLst/>
              <a:uFillTx/>
              <a:latin typeface="Arial"/>
            </a:endParaRPr>
          </a:p>
        </p:txBody>
      </p:sp>
      <p:sp>
        <p:nvSpPr>
          <p:cNvPr id="649" name="Text 14"/>
          <p:cNvSpPr/>
          <p:nvPr/>
        </p:nvSpPr>
        <p:spPr>
          <a:xfrm>
            <a:off x="6483240" y="1828800"/>
            <a:ext cx="4635720" cy="758520"/>
          </a:xfrm>
          <a:prstGeom prst="rect">
            <a:avLst/>
          </a:prstGeom>
          <a:noFill/>
          <a:ln w="0">
            <a:noFill/>
          </a:ln>
        </p:spPr>
        <p:style>
          <a:lnRef idx="0"/>
          <a:fillRef idx="0"/>
          <a:effectRef idx="0"/>
          <a:fontRef idx="minor"/>
        </p:style>
        <p:txBody>
          <a:bodyPr lIns="1080" rIns="1080" tIns="1080" bIns="1080" anchor="t">
            <a:normAutofit/>
          </a:bodyPr>
          <a:p>
            <a:pPr defTabSz="914400">
              <a:lnSpc>
                <a:spcPct val="100000"/>
              </a:lnSpc>
            </a:pPr>
            <a:r>
              <a:rPr b="0" lang="en-US" sz="1300" strike="noStrike" u="none">
                <a:solidFill>
                  <a:srgbClr val="f5f8fc"/>
                </a:solidFill>
                <a:effectLst/>
                <a:uFillTx/>
                <a:latin typeface="Aptos"/>
                <a:ea typeface="Aptos"/>
              </a:rPr>
              <a:t>The uploaded deck states that RNPP is designed to survive earthquakes, extreme internal pressure and external impacts.</a:t>
            </a:r>
            <a:endParaRPr b="0" lang="en-US" sz="1300" strike="noStrike" u="none">
              <a:solidFill>
                <a:srgbClr val="ffffff"/>
              </a:solidFill>
              <a:effectLst/>
              <a:uFillTx/>
              <a:latin typeface="Arial"/>
            </a:endParaRPr>
          </a:p>
        </p:txBody>
      </p:sp>
      <p:sp>
        <p:nvSpPr>
          <p:cNvPr id="650" name="Shape 15"/>
          <p:cNvSpPr/>
          <p:nvPr/>
        </p:nvSpPr>
        <p:spPr>
          <a:xfrm>
            <a:off x="6263640" y="2971800"/>
            <a:ext cx="5074560" cy="1325520"/>
          </a:xfrm>
          <a:prstGeom prst="roundRect">
            <a:avLst>
              <a:gd name="adj" fmla="val 8276"/>
            </a:avLst>
          </a:prstGeom>
          <a:solidFill>
            <a:srgbClr val="0e2d4f">
              <a:alpha val="93000"/>
            </a:srgbClr>
          </a:solidFill>
          <a:ln w="12700">
            <a:solidFill>
              <a:srgbClr val="5bd2ff">
                <a:alpha val="7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651" name="Text 16"/>
          <p:cNvSpPr/>
          <p:nvPr/>
        </p:nvSpPr>
        <p:spPr>
          <a:xfrm>
            <a:off x="6428160" y="3090600"/>
            <a:ext cx="474552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50d69b"/>
                </a:solidFill>
                <a:effectLst/>
                <a:uFillTx/>
                <a:latin typeface="Aptos"/>
              </a:rPr>
              <a:t>EIA perspective</a:t>
            </a:r>
            <a:endParaRPr b="0" lang="en-US" sz="1600" strike="noStrike" u="none">
              <a:solidFill>
                <a:srgbClr val="ffffff"/>
              </a:solidFill>
              <a:effectLst/>
              <a:uFillTx/>
              <a:latin typeface="Arial"/>
            </a:endParaRPr>
          </a:p>
        </p:txBody>
      </p:sp>
      <p:sp>
        <p:nvSpPr>
          <p:cNvPr id="652" name="Text 17"/>
          <p:cNvSpPr/>
          <p:nvPr/>
        </p:nvSpPr>
        <p:spPr>
          <a:xfrm>
            <a:off x="6483240" y="3474720"/>
            <a:ext cx="4635720" cy="758520"/>
          </a:xfrm>
          <a:prstGeom prst="rect">
            <a:avLst/>
          </a:prstGeom>
          <a:noFill/>
          <a:ln w="0">
            <a:noFill/>
          </a:ln>
        </p:spPr>
        <p:style>
          <a:lnRef idx="0"/>
          <a:fillRef idx="0"/>
          <a:effectRef idx="0"/>
          <a:fontRef idx="minor"/>
        </p:style>
        <p:txBody>
          <a:bodyPr lIns="1080" rIns="1080" tIns="1080" bIns="1080" anchor="t">
            <a:normAutofit/>
          </a:bodyPr>
          <a:p>
            <a:pPr defTabSz="914400">
              <a:lnSpc>
                <a:spcPct val="100000"/>
              </a:lnSpc>
            </a:pPr>
            <a:r>
              <a:rPr b="0" lang="en-US" sz="1300" strike="noStrike" u="none">
                <a:solidFill>
                  <a:srgbClr val="f5f8fc"/>
                </a:solidFill>
                <a:effectLst/>
                <a:uFillTx/>
                <a:latin typeface="Aptos"/>
                <a:ea typeface="Aptos"/>
              </a:rPr>
              <a:t>Earthquake risk matters because ground shaking could affect containment, cooling-water systems, power supply and emergency response functions.</a:t>
            </a:r>
            <a:endParaRPr b="0" lang="en-US" sz="1300" strike="noStrike" u="none">
              <a:solidFill>
                <a:srgbClr val="ffffff"/>
              </a:solidFill>
              <a:effectLst/>
              <a:uFillTx/>
              <a:latin typeface="Arial"/>
            </a:endParaRPr>
          </a:p>
        </p:txBody>
      </p:sp>
      <p:sp>
        <p:nvSpPr>
          <p:cNvPr id="653" name="Shape 18"/>
          <p:cNvSpPr/>
          <p:nvPr/>
        </p:nvSpPr>
        <p:spPr>
          <a:xfrm>
            <a:off x="6263640" y="4617720"/>
            <a:ext cx="5074560" cy="1142640"/>
          </a:xfrm>
          <a:prstGeom prst="roundRect">
            <a:avLst>
              <a:gd name="adj" fmla="val 9600"/>
            </a:avLst>
          </a:prstGeom>
          <a:solidFill>
            <a:srgbClr val="0e2d4f">
              <a:alpha val="93000"/>
            </a:srgbClr>
          </a:solidFill>
          <a:ln w="12700">
            <a:solidFill>
              <a:srgbClr val="f0be49">
                <a:alpha val="7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654" name="Text 19"/>
          <p:cNvSpPr/>
          <p:nvPr/>
        </p:nvSpPr>
        <p:spPr>
          <a:xfrm>
            <a:off x="6428160" y="4736520"/>
            <a:ext cx="474552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50d69b"/>
                </a:solidFill>
                <a:effectLst/>
                <a:uFillTx/>
                <a:latin typeface="Aptos"/>
              </a:rPr>
              <a:t>Management priority</a:t>
            </a:r>
            <a:endParaRPr b="0" lang="en-US" sz="1600" strike="noStrike" u="none">
              <a:solidFill>
                <a:srgbClr val="ffffff"/>
              </a:solidFill>
              <a:effectLst/>
              <a:uFillTx/>
              <a:latin typeface="Arial"/>
            </a:endParaRPr>
          </a:p>
        </p:txBody>
      </p:sp>
      <p:sp>
        <p:nvSpPr>
          <p:cNvPr id="655" name="Text 20"/>
          <p:cNvSpPr/>
          <p:nvPr/>
        </p:nvSpPr>
        <p:spPr>
          <a:xfrm>
            <a:off x="6483240" y="5120640"/>
            <a:ext cx="4635720" cy="575640"/>
          </a:xfrm>
          <a:prstGeom prst="rect">
            <a:avLst/>
          </a:prstGeom>
          <a:noFill/>
          <a:ln w="0">
            <a:noFill/>
          </a:ln>
        </p:spPr>
        <p:style>
          <a:lnRef idx="0"/>
          <a:fillRef idx="0"/>
          <a:effectRef idx="0"/>
          <a:fontRef idx="minor"/>
        </p:style>
        <p:txBody>
          <a:bodyPr lIns="1080" rIns="1080" tIns="1080" bIns="1080" anchor="t">
            <a:normAutofit lnSpcReduction="9999"/>
          </a:bodyPr>
          <a:p>
            <a:pPr defTabSz="914400">
              <a:lnSpc>
                <a:spcPct val="100000"/>
              </a:lnSpc>
            </a:pPr>
            <a:r>
              <a:rPr b="0" lang="en-US" sz="1300" strike="noStrike" u="none">
                <a:solidFill>
                  <a:srgbClr val="f5f8fc"/>
                </a:solidFill>
                <a:effectLst/>
                <a:uFillTx/>
                <a:latin typeface="Aptos"/>
                <a:ea typeface="Aptos"/>
              </a:rPr>
              <a:t>Seismic design verification, inspection, emergency drills and redundant safety systems are essential in nuclear project governance.</a:t>
            </a:r>
            <a:endParaRPr b="0" lang="en-US" sz="1300" strike="noStrike" u="none">
              <a:solidFill>
                <a:srgbClr val="ffffff"/>
              </a:solidFill>
              <a:effectLst/>
              <a:uFillTx/>
              <a:latin typeface="Arial"/>
            </a:endParaRPr>
          </a:p>
        </p:txBody>
      </p:sp>
    </p:spTree>
  </p:cSld>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6172f"/>
        </a:solidFill>
      </p:bgPr>
    </p:bg>
    <p:spTree>
      <p:nvGrpSpPr>
        <p:cNvPr id="1" name=""/>
        <p:cNvGrpSpPr/>
        <p:nvPr/>
      </p:nvGrpSpPr>
      <p:grpSpPr>
        <a:xfrm>
          <a:off x="0" y="0"/>
          <a:ext cx="0" cy="0"/>
          <a:chOff x="0" y="0"/>
          <a:chExt cx="0" cy="0"/>
        </a:xfrm>
      </p:grpSpPr>
      <p:sp>
        <p:nvSpPr>
          <p:cNvPr id="656" name="Shape 0"/>
          <p:cNvSpPr/>
          <p:nvPr/>
        </p:nvSpPr>
        <p:spPr>
          <a:xfrm>
            <a:off x="0" y="0"/>
            <a:ext cx="12191400" cy="6857640"/>
          </a:xfrm>
          <a:prstGeom prst="rect">
            <a:avLst/>
          </a:prstGeom>
          <a:solidFill>
            <a:srgbClr val="06172f"/>
          </a:solidFill>
          <a:ln w="12700">
            <a:solidFill>
              <a:srgbClr val="06172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657" name="Shape 1"/>
          <p:cNvSpPr/>
          <p:nvPr/>
        </p:nvSpPr>
        <p:spPr>
          <a:xfrm>
            <a:off x="7680960" y="-1005840"/>
            <a:ext cx="4388760" cy="2925720"/>
          </a:xfrm>
          <a:prstGeom prst="arc">
            <a:avLst>
              <a:gd name="adj1" fmla="val 16200000"/>
              <a:gd name="adj2" fmla="val 0"/>
            </a:avLst>
          </a:prstGeom>
          <a:solidFill>
            <a:srgbClr val="0e3a68">
              <a:alpha val="75000"/>
            </a:srgbClr>
          </a:solidFill>
          <a:ln w="12700">
            <a:solidFill>
              <a:srgbClr val="0e3a68">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658" name="Shape 2"/>
          <p:cNvSpPr/>
          <p:nvPr/>
        </p:nvSpPr>
        <p:spPr>
          <a:xfrm>
            <a:off x="8778240" y="-777240"/>
            <a:ext cx="3474360" cy="2285640"/>
          </a:xfrm>
          <a:prstGeom prst="arc">
            <a:avLst>
              <a:gd name="adj1" fmla="val 16200000"/>
              <a:gd name="adj2" fmla="val 0"/>
            </a:avLst>
          </a:prstGeom>
          <a:solidFill>
            <a:srgbClr val="0b4d5e">
              <a:alpha val="65000"/>
            </a:srgbClr>
          </a:solidFill>
          <a:ln w="12700">
            <a:solidFill>
              <a:srgbClr val="0b4d5e">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659" name="Shape 3"/>
          <p:cNvSpPr/>
          <p:nvPr/>
        </p:nvSpPr>
        <p:spPr>
          <a:xfrm>
            <a:off x="0" y="0"/>
            <a:ext cx="109440" cy="6857640"/>
          </a:xfrm>
          <a:prstGeom prst="rect">
            <a:avLst/>
          </a:prstGeom>
          <a:solidFill>
            <a:srgbClr val="00b078"/>
          </a:solidFill>
          <a:ln w="12700">
            <a:solidFill>
              <a:srgbClr val="00b078">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660" name="Shape 4"/>
          <p:cNvSpPr/>
          <p:nvPr/>
        </p:nvSpPr>
        <p:spPr>
          <a:xfrm>
            <a:off x="320040" y="6565320"/>
            <a:ext cx="11521080" cy="16200"/>
          </a:xfrm>
          <a:prstGeom prst="rect">
            <a:avLst/>
          </a:prstGeom>
          <a:solidFill>
            <a:srgbClr val="435d78"/>
          </a:solidFill>
          <a:ln w="12700">
            <a:solidFill>
              <a:srgbClr val="435d78">
                <a:alpha val="0"/>
              </a:srgbClr>
            </a:solidFill>
            <a:round/>
          </a:ln>
        </p:spPr>
        <p:style>
          <a:lnRef idx="0"/>
          <a:fillRef idx="0"/>
          <a:effectRef idx="0"/>
          <a:fontRef idx="minor"/>
        </p:style>
        <p:txBody>
          <a:bodyPr lIns="90000" rIns="90000" tIns="-28440" bIns="-28440" anchor="t">
            <a:noAutofit/>
          </a:bodyPr>
          <a:p>
            <a:endParaRPr b="0" lang="en-US" sz="1800" strike="noStrike" u="none">
              <a:solidFill>
                <a:srgbClr val="ffffff"/>
              </a:solidFill>
              <a:effectLst/>
              <a:uFillTx/>
              <a:latin typeface="Arial"/>
            </a:endParaRPr>
          </a:p>
        </p:txBody>
      </p:sp>
      <p:sp>
        <p:nvSpPr>
          <p:cNvPr id="661" name="Text 5"/>
          <p:cNvSpPr/>
          <p:nvPr/>
        </p:nvSpPr>
        <p:spPr>
          <a:xfrm>
            <a:off x="11356920" y="6602040"/>
            <a:ext cx="502560" cy="13680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50" strike="noStrike" u="none">
                <a:solidFill>
                  <a:srgbClr val="b0c1d5"/>
                </a:solidFill>
                <a:effectLst/>
                <a:uFillTx/>
                <a:latin typeface="Aptos"/>
                <a:ea typeface="Aptos"/>
              </a:rPr>
              <a:t>21</a:t>
            </a:r>
            <a:endParaRPr b="0" lang="en-US" sz="950" strike="noStrike" u="none">
              <a:solidFill>
                <a:srgbClr val="ffffff"/>
              </a:solidFill>
              <a:effectLst/>
              <a:uFillTx/>
              <a:latin typeface="Arial"/>
            </a:endParaRPr>
          </a:p>
        </p:txBody>
      </p:sp>
      <p:sp>
        <p:nvSpPr>
          <p:cNvPr id="662" name="Text 6"/>
          <p:cNvSpPr/>
          <p:nvPr/>
        </p:nvSpPr>
        <p:spPr>
          <a:xfrm>
            <a:off x="475560" y="228600"/>
            <a:ext cx="10972440" cy="383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500" strike="noStrike" u="none">
                <a:solidFill>
                  <a:srgbClr val="f5f8fc"/>
                </a:solidFill>
                <a:effectLst/>
                <a:uFillTx/>
                <a:latin typeface="Aptos Display"/>
                <a:ea typeface="Aptos Display"/>
              </a:rPr>
              <a:t>Natural Disasters</a:t>
            </a:r>
            <a:endParaRPr b="0" lang="en-US" sz="2500" strike="noStrike" u="none">
              <a:solidFill>
                <a:srgbClr val="ffffff"/>
              </a:solidFill>
              <a:effectLst/>
              <a:uFillTx/>
              <a:latin typeface="Arial"/>
            </a:endParaRPr>
          </a:p>
        </p:txBody>
      </p:sp>
      <p:sp>
        <p:nvSpPr>
          <p:cNvPr id="663" name="Text 7"/>
          <p:cNvSpPr/>
          <p:nvPr/>
        </p:nvSpPr>
        <p:spPr>
          <a:xfrm>
            <a:off x="502920" y="704160"/>
            <a:ext cx="10835280" cy="255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50" strike="noStrike" u="none">
                <a:solidFill>
                  <a:srgbClr val="b0c1d5"/>
                </a:solidFill>
                <a:effectLst/>
                <a:uFillTx/>
                <a:latin typeface="Aptos"/>
              </a:rPr>
              <a:t>Multi-hazard considerations for RNPP operation</a:t>
            </a:r>
            <a:endParaRPr b="0" lang="en-US" sz="1250" strike="noStrike" u="none">
              <a:solidFill>
                <a:srgbClr val="ffffff"/>
              </a:solidFill>
              <a:effectLst/>
              <a:uFillTx/>
              <a:latin typeface="Arial"/>
            </a:endParaRPr>
          </a:p>
        </p:txBody>
      </p:sp>
      <p:sp>
        <p:nvSpPr>
          <p:cNvPr id="664" name="Shape 8"/>
          <p:cNvSpPr/>
          <p:nvPr/>
        </p:nvSpPr>
        <p:spPr>
          <a:xfrm>
            <a:off x="685800" y="1234440"/>
            <a:ext cx="5074560" cy="1325520"/>
          </a:xfrm>
          <a:prstGeom prst="roundRect">
            <a:avLst>
              <a:gd name="adj" fmla="val 8276"/>
            </a:avLst>
          </a:prstGeom>
          <a:solidFill>
            <a:srgbClr val="0e2d4f">
              <a:alpha val="93000"/>
            </a:srgbClr>
          </a:solidFill>
          <a:ln w="12700">
            <a:solidFill>
              <a:srgbClr val="5bd2ff">
                <a:alpha val="7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665" name="Text 9"/>
          <p:cNvSpPr/>
          <p:nvPr/>
        </p:nvSpPr>
        <p:spPr>
          <a:xfrm>
            <a:off x="850320" y="1353240"/>
            <a:ext cx="474552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50d69b"/>
                </a:solidFill>
                <a:effectLst/>
                <a:uFillTx/>
                <a:latin typeface="Aptos"/>
              </a:rPr>
              <a:t>Flood / river dynamics</a:t>
            </a:r>
            <a:endParaRPr b="0" lang="en-US" sz="1600" strike="noStrike" u="none">
              <a:solidFill>
                <a:srgbClr val="ffffff"/>
              </a:solidFill>
              <a:effectLst/>
              <a:uFillTx/>
              <a:latin typeface="Arial"/>
            </a:endParaRPr>
          </a:p>
        </p:txBody>
      </p:sp>
      <p:sp>
        <p:nvSpPr>
          <p:cNvPr id="666" name="Text 10"/>
          <p:cNvSpPr/>
          <p:nvPr/>
        </p:nvSpPr>
        <p:spPr>
          <a:xfrm>
            <a:off x="905400" y="1737360"/>
            <a:ext cx="4635720" cy="758520"/>
          </a:xfrm>
          <a:prstGeom prst="rect">
            <a:avLst/>
          </a:prstGeom>
          <a:noFill/>
          <a:ln w="0">
            <a:noFill/>
          </a:ln>
        </p:spPr>
        <p:style>
          <a:lnRef idx="0"/>
          <a:fillRef idx="0"/>
          <a:effectRef idx="0"/>
          <a:fontRef idx="minor"/>
        </p:style>
        <p:txBody>
          <a:bodyPr lIns="1080" rIns="1080" tIns="1080" bIns="1080" anchor="t">
            <a:normAutofit/>
          </a:bodyPr>
          <a:p>
            <a:pPr defTabSz="914400">
              <a:lnSpc>
                <a:spcPct val="100000"/>
              </a:lnSpc>
            </a:pPr>
            <a:r>
              <a:rPr b="0" lang="en-US" sz="1300" strike="noStrike" u="none">
                <a:solidFill>
                  <a:srgbClr val="f5f8fc"/>
                </a:solidFill>
                <a:effectLst/>
                <a:uFillTx/>
                <a:latin typeface="Aptos"/>
                <a:ea typeface="Aptos"/>
              </a:rPr>
              <a:t>The Padma River setting creates hydrological relevance: riverbank stability, sedimentation, water intake and flood-season management.</a:t>
            </a:r>
            <a:endParaRPr b="0" lang="en-US" sz="1300" strike="noStrike" u="none">
              <a:solidFill>
                <a:srgbClr val="ffffff"/>
              </a:solidFill>
              <a:effectLst/>
              <a:uFillTx/>
              <a:latin typeface="Arial"/>
            </a:endParaRPr>
          </a:p>
        </p:txBody>
      </p:sp>
      <p:sp>
        <p:nvSpPr>
          <p:cNvPr id="667" name="Shape 11"/>
          <p:cNvSpPr/>
          <p:nvPr/>
        </p:nvSpPr>
        <p:spPr>
          <a:xfrm>
            <a:off x="6263640" y="1234440"/>
            <a:ext cx="5074560" cy="1325520"/>
          </a:xfrm>
          <a:prstGeom prst="roundRect">
            <a:avLst>
              <a:gd name="adj" fmla="val 8276"/>
            </a:avLst>
          </a:prstGeom>
          <a:solidFill>
            <a:srgbClr val="0e2d4f">
              <a:alpha val="93000"/>
            </a:srgbClr>
          </a:solidFill>
          <a:ln w="12700">
            <a:solidFill>
              <a:srgbClr val="e15a5a">
                <a:alpha val="7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668" name="Text 12"/>
          <p:cNvSpPr/>
          <p:nvPr/>
        </p:nvSpPr>
        <p:spPr>
          <a:xfrm>
            <a:off x="6428160" y="1353240"/>
            <a:ext cx="474552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50d69b"/>
                </a:solidFill>
                <a:effectLst/>
                <a:uFillTx/>
                <a:latin typeface="Aptos"/>
              </a:rPr>
              <a:t>Earthquake / structural stress</a:t>
            </a:r>
            <a:endParaRPr b="0" lang="en-US" sz="1600" strike="noStrike" u="none">
              <a:solidFill>
                <a:srgbClr val="ffffff"/>
              </a:solidFill>
              <a:effectLst/>
              <a:uFillTx/>
              <a:latin typeface="Arial"/>
            </a:endParaRPr>
          </a:p>
        </p:txBody>
      </p:sp>
      <p:sp>
        <p:nvSpPr>
          <p:cNvPr id="669" name="Text 13"/>
          <p:cNvSpPr/>
          <p:nvPr/>
        </p:nvSpPr>
        <p:spPr>
          <a:xfrm>
            <a:off x="6483240" y="1737360"/>
            <a:ext cx="4635720" cy="758520"/>
          </a:xfrm>
          <a:prstGeom prst="rect">
            <a:avLst/>
          </a:prstGeom>
          <a:noFill/>
          <a:ln w="0">
            <a:noFill/>
          </a:ln>
        </p:spPr>
        <p:style>
          <a:lnRef idx="0"/>
          <a:fillRef idx="0"/>
          <a:effectRef idx="0"/>
          <a:fontRef idx="minor"/>
        </p:style>
        <p:txBody>
          <a:bodyPr lIns="1080" rIns="1080" tIns="1080" bIns="1080" anchor="t">
            <a:normAutofit/>
          </a:bodyPr>
          <a:p>
            <a:pPr defTabSz="914400">
              <a:lnSpc>
                <a:spcPct val="100000"/>
              </a:lnSpc>
            </a:pPr>
            <a:r>
              <a:rPr b="0" lang="en-US" sz="1300" strike="noStrike" u="none">
                <a:solidFill>
                  <a:srgbClr val="f5f8fc"/>
                </a:solidFill>
                <a:effectLst/>
                <a:uFillTx/>
                <a:latin typeface="Aptos"/>
                <a:ea typeface="Aptos"/>
              </a:rPr>
              <a:t>Nuclear infrastructure must maintain containment, cooling and power functions during extreme external events.</a:t>
            </a:r>
            <a:endParaRPr b="0" lang="en-US" sz="1300" strike="noStrike" u="none">
              <a:solidFill>
                <a:srgbClr val="ffffff"/>
              </a:solidFill>
              <a:effectLst/>
              <a:uFillTx/>
              <a:latin typeface="Arial"/>
            </a:endParaRPr>
          </a:p>
        </p:txBody>
      </p:sp>
      <p:sp>
        <p:nvSpPr>
          <p:cNvPr id="670" name="Shape 14"/>
          <p:cNvSpPr/>
          <p:nvPr/>
        </p:nvSpPr>
        <p:spPr>
          <a:xfrm>
            <a:off x="685800" y="2971800"/>
            <a:ext cx="5074560" cy="1325520"/>
          </a:xfrm>
          <a:prstGeom prst="roundRect">
            <a:avLst>
              <a:gd name="adj" fmla="val 8276"/>
            </a:avLst>
          </a:prstGeom>
          <a:solidFill>
            <a:srgbClr val="0e2d4f">
              <a:alpha val="93000"/>
            </a:srgbClr>
          </a:solidFill>
          <a:ln w="12700">
            <a:solidFill>
              <a:srgbClr val="f0be49">
                <a:alpha val="7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671" name="Text 15"/>
          <p:cNvSpPr/>
          <p:nvPr/>
        </p:nvSpPr>
        <p:spPr>
          <a:xfrm>
            <a:off x="850320" y="3090600"/>
            <a:ext cx="474552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50d69b"/>
                </a:solidFill>
                <a:effectLst/>
                <a:uFillTx/>
                <a:latin typeface="Aptos"/>
              </a:rPr>
              <a:t>Extreme weather</a:t>
            </a:r>
            <a:endParaRPr b="0" lang="en-US" sz="1600" strike="noStrike" u="none">
              <a:solidFill>
                <a:srgbClr val="ffffff"/>
              </a:solidFill>
              <a:effectLst/>
              <a:uFillTx/>
              <a:latin typeface="Arial"/>
            </a:endParaRPr>
          </a:p>
        </p:txBody>
      </p:sp>
      <p:sp>
        <p:nvSpPr>
          <p:cNvPr id="672" name="Text 16"/>
          <p:cNvSpPr/>
          <p:nvPr/>
        </p:nvSpPr>
        <p:spPr>
          <a:xfrm>
            <a:off x="905400" y="3474720"/>
            <a:ext cx="4635720" cy="758520"/>
          </a:xfrm>
          <a:prstGeom prst="rect">
            <a:avLst/>
          </a:prstGeom>
          <a:noFill/>
          <a:ln w="0">
            <a:noFill/>
          </a:ln>
        </p:spPr>
        <p:style>
          <a:lnRef idx="0"/>
          <a:fillRef idx="0"/>
          <a:effectRef idx="0"/>
          <a:fontRef idx="minor"/>
        </p:style>
        <p:txBody>
          <a:bodyPr lIns="1080" rIns="1080" tIns="1080" bIns="1080" anchor="t">
            <a:normAutofit/>
          </a:bodyPr>
          <a:p>
            <a:pPr defTabSz="914400">
              <a:lnSpc>
                <a:spcPct val="100000"/>
              </a:lnSpc>
            </a:pPr>
            <a:r>
              <a:rPr b="0" lang="en-US" sz="1300" strike="noStrike" u="none">
                <a:solidFill>
                  <a:srgbClr val="f5f8fc"/>
                </a:solidFill>
                <a:effectLst/>
                <a:uFillTx/>
                <a:latin typeface="Aptos"/>
                <a:ea typeface="Aptos"/>
              </a:rPr>
              <a:t>Emergency power, access roads, logistics and monitoring systems should remain functional during severe weather conditions.</a:t>
            </a:r>
            <a:endParaRPr b="0" lang="en-US" sz="1300" strike="noStrike" u="none">
              <a:solidFill>
                <a:srgbClr val="ffffff"/>
              </a:solidFill>
              <a:effectLst/>
              <a:uFillTx/>
              <a:latin typeface="Arial"/>
            </a:endParaRPr>
          </a:p>
        </p:txBody>
      </p:sp>
      <p:sp>
        <p:nvSpPr>
          <p:cNvPr id="673" name="Shape 17"/>
          <p:cNvSpPr/>
          <p:nvPr/>
        </p:nvSpPr>
        <p:spPr>
          <a:xfrm>
            <a:off x="6263640" y="2971800"/>
            <a:ext cx="5074560" cy="1325520"/>
          </a:xfrm>
          <a:prstGeom prst="roundRect">
            <a:avLst>
              <a:gd name="adj" fmla="val 8276"/>
            </a:avLst>
          </a:prstGeom>
          <a:solidFill>
            <a:srgbClr val="0e2d4f">
              <a:alpha val="93000"/>
            </a:srgbClr>
          </a:solidFill>
          <a:ln w="12700">
            <a:solidFill>
              <a:srgbClr val="50d69b">
                <a:alpha val="7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674" name="Text 18"/>
          <p:cNvSpPr/>
          <p:nvPr/>
        </p:nvSpPr>
        <p:spPr>
          <a:xfrm>
            <a:off x="6428160" y="3090600"/>
            <a:ext cx="474552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50d69b"/>
                </a:solidFill>
                <a:effectLst/>
                <a:uFillTx/>
                <a:latin typeface="Aptos"/>
              </a:rPr>
              <a:t>Operational resilience</a:t>
            </a:r>
            <a:endParaRPr b="0" lang="en-US" sz="1600" strike="noStrike" u="none">
              <a:solidFill>
                <a:srgbClr val="ffffff"/>
              </a:solidFill>
              <a:effectLst/>
              <a:uFillTx/>
              <a:latin typeface="Arial"/>
            </a:endParaRPr>
          </a:p>
        </p:txBody>
      </p:sp>
      <p:sp>
        <p:nvSpPr>
          <p:cNvPr id="675" name="Text 19"/>
          <p:cNvSpPr/>
          <p:nvPr/>
        </p:nvSpPr>
        <p:spPr>
          <a:xfrm>
            <a:off x="6483240" y="3474720"/>
            <a:ext cx="4635720" cy="758520"/>
          </a:xfrm>
          <a:prstGeom prst="rect">
            <a:avLst/>
          </a:prstGeom>
          <a:noFill/>
          <a:ln w="0">
            <a:noFill/>
          </a:ln>
        </p:spPr>
        <p:style>
          <a:lnRef idx="0"/>
          <a:fillRef idx="0"/>
          <a:effectRef idx="0"/>
          <a:fontRef idx="minor"/>
        </p:style>
        <p:txBody>
          <a:bodyPr lIns="1080" rIns="1080" tIns="1080" bIns="1080" anchor="t">
            <a:normAutofit/>
          </a:bodyPr>
          <a:p>
            <a:pPr defTabSz="914400">
              <a:lnSpc>
                <a:spcPct val="100000"/>
              </a:lnSpc>
            </a:pPr>
            <a:r>
              <a:rPr b="0" lang="en-US" sz="1300" strike="noStrike" u="none">
                <a:solidFill>
                  <a:srgbClr val="f5f8fc"/>
                </a:solidFill>
                <a:effectLst/>
                <a:uFillTx/>
                <a:latin typeface="Aptos"/>
                <a:ea typeface="Aptos"/>
              </a:rPr>
              <a:t>A resilient nuclear EIA must connect hazard assessment with defense-in-depth, emergency response and periodic safety review.</a:t>
            </a:r>
            <a:endParaRPr b="0" lang="en-US" sz="1300" strike="noStrike" u="none">
              <a:solidFill>
                <a:srgbClr val="ffffff"/>
              </a:solidFill>
              <a:effectLst/>
              <a:uFillTx/>
              <a:latin typeface="Arial"/>
            </a:endParaRPr>
          </a:p>
        </p:txBody>
      </p:sp>
      <p:sp>
        <p:nvSpPr>
          <p:cNvPr id="676" name="Shape 20"/>
          <p:cNvSpPr/>
          <p:nvPr/>
        </p:nvSpPr>
        <p:spPr>
          <a:xfrm>
            <a:off x="3657600" y="4663440"/>
            <a:ext cx="1416960" cy="822600"/>
          </a:xfrm>
          <a:prstGeom prst="rect">
            <a:avLst/>
          </a:prstGeom>
          <a:solidFill>
            <a:srgbClr val="00b078">
              <a:alpha val="84000"/>
            </a:srgbClr>
          </a:solidFill>
          <a:ln w="12700">
            <a:solidFill>
              <a:srgbClr val="0b2e54"/>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677" name="Shape 21"/>
          <p:cNvSpPr/>
          <p:nvPr/>
        </p:nvSpPr>
        <p:spPr>
          <a:xfrm>
            <a:off x="5074920" y="4663440"/>
            <a:ext cx="1416960" cy="822600"/>
          </a:xfrm>
          <a:prstGeom prst="rect">
            <a:avLst/>
          </a:prstGeom>
          <a:solidFill>
            <a:srgbClr val="f0be49">
              <a:alpha val="84000"/>
            </a:srgbClr>
          </a:solidFill>
          <a:ln w="12700">
            <a:solidFill>
              <a:srgbClr val="0b2e54"/>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678" name="Shape 22"/>
          <p:cNvSpPr/>
          <p:nvPr/>
        </p:nvSpPr>
        <p:spPr>
          <a:xfrm>
            <a:off x="6492240" y="4663440"/>
            <a:ext cx="1416960" cy="822600"/>
          </a:xfrm>
          <a:prstGeom prst="rect">
            <a:avLst/>
          </a:prstGeom>
          <a:solidFill>
            <a:srgbClr val="e15a5a">
              <a:alpha val="84000"/>
            </a:srgbClr>
          </a:solidFill>
          <a:ln w="12700">
            <a:solidFill>
              <a:srgbClr val="0b2e54"/>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679" name="Shape 23"/>
          <p:cNvSpPr/>
          <p:nvPr/>
        </p:nvSpPr>
        <p:spPr>
          <a:xfrm>
            <a:off x="3657600" y="5486400"/>
            <a:ext cx="1416960" cy="822600"/>
          </a:xfrm>
          <a:prstGeom prst="rect">
            <a:avLst/>
          </a:prstGeom>
          <a:solidFill>
            <a:srgbClr val="00b078">
              <a:alpha val="84000"/>
            </a:srgbClr>
          </a:solidFill>
          <a:ln w="12700">
            <a:solidFill>
              <a:srgbClr val="0b2e54"/>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680" name="Shape 24"/>
          <p:cNvSpPr/>
          <p:nvPr/>
        </p:nvSpPr>
        <p:spPr>
          <a:xfrm>
            <a:off x="5074920" y="5486400"/>
            <a:ext cx="1416960" cy="822600"/>
          </a:xfrm>
          <a:prstGeom prst="rect">
            <a:avLst/>
          </a:prstGeom>
          <a:solidFill>
            <a:srgbClr val="f0be49">
              <a:alpha val="84000"/>
            </a:srgbClr>
          </a:solidFill>
          <a:ln w="12700">
            <a:solidFill>
              <a:srgbClr val="0b2e54"/>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681" name="Shape 25"/>
          <p:cNvSpPr/>
          <p:nvPr/>
        </p:nvSpPr>
        <p:spPr>
          <a:xfrm>
            <a:off x="6492240" y="5486400"/>
            <a:ext cx="1416960" cy="822600"/>
          </a:xfrm>
          <a:prstGeom prst="rect">
            <a:avLst/>
          </a:prstGeom>
          <a:solidFill>
            <a:srgbClr val="e15a5a">
              <a:alpha val="84000"/>
            </a:srgbClr>
          </a:solidFill>
          <a:ln w="12700">
            <a:solidFill>
              <a:srgbClr val="0b2e54"/>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682" name="Shape 26"/>
          <p:cNvSpPr/>
          <p:nvPr/>
        </p:nvSpPr>
        <p:spPr>
          <a:xfrm>
            <a:off x="3657600" y="6309360"/>
            <a:ext cx="1416960" cy="822600"/>
          </a:xfrm>
          <a:prstGeom prst="rect">
            <a:avLst/>
          </a:prstGeom>
          <a:solidFill>
            <a:srgbClr val="f0be49">
              <a:alpha val="84000"/>
            </a:srgbClr>
          </a:solidFill>
          <a:ln w="12700">
            <a:solidFill>
              <a:srgbClr val="0b2e54"/>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683" name="Shape 27"/>
          <p:cNvSpPr/>
          <p:nvPr/>
        </p:nvSpPr>
        <p:spPr>
          <a:xfrm>
            <a:off x="5074920" y="6309360"/>
            <a:ext cx="1416960" cy="822600"/>
          </a:xfrm>
          <a:prstGeom prst="rect">
            <a:avLst/>
          </a:prstGeom>
          <a:solidFill>
            <a:srgbClr val="e15a5a">
              <a:alpha val="84000"/>
            </a:srgbClr>
          </a:solidFill>
          <a:ln w="12700">
            <a:solidFill>
              <a:srgbClr val="0b2e54"/>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684" name="Shape 28"/>
          <p:cNvSpPr/>
          <p:nvPr/>
        </p:nvSpPr>
        <p:spPr>
          <a:xfrm>
            <a:off x="6492240" y="6309360"/>
            <a:ext cx="1416960" cy="822600"/>
          </a:xfrm>
          <a:prstGeom prst="rect">
            <a:avLst/>
          </a:prstGeom>
          <a:solidFill>
            <a:srgbClr val="e15a5a">
              <a:alpha val="84000"/>
            </a:srgbClr>
          </a:solidFill>
          <a:ln w="12700">
            <a:solidFill>
              <a:srgbClr val="0b2e54"/>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685" name="Text 29"/>
          <p:cNvSpPr/>
          <p:nvPr/>
        </p:nvSpPr>
        <p:spPr>
          <a:xfrm>
            <a:off x="6537960" y="4919400"/>
            <a:ext cx="1325520" cy="228240"/>
          </a:xfrm>
          <a:prstGeom prst="rect">
            <a:avLst/>
          </a:prstGeom>
          <a:noFill/>
          <a:ln w="0">
            <a:noFill/>
          </a:ln>
        </p:spPr>
        <p:style>
          <a:lnRef idx="0"/>
          <a:fillRef idx="0"/>
          <a:effectRef idx="0"/>
          <a:fontRef idx="minor"/>
        </p:style>
        <p:txBody>
          <a:bodyPr lIns="0" rIns="0" tIns="0" bIns="0" anchor="ctr">
            <a:normAutofit fontScale="92500" lnSpcReduction="9999"/>
          </a:bodyPr>
          <a:p>
            <a:pPr algn="ctr" defTabSz="914400">
              <a:lnSpc>
                <a:spcPct val="100000"/>
              </a:lnSpc>
              <a:tabLst>
                <a:tab algn="l" pos="0"/>
              </a:tabLst>
            </a:pPr>
            <a:r>
              <a:rPr b="1" lang="en-US" sz="920" strike="noStrike" u="none">
                <a:solidFill>
                  <a:srgbClr val="06172f"/>
                </a:solidFill>
                <a:effectLst/>
                <a:uFillTx/>
                <a:latin typeface="Aptos"/>
              </a:rPr>
              <a:t>Thermal</a:t>
            </a:r>
            <a:endParaRPr b="0" lang="en-US" sz="920" strike="noStrike" u="none">
              <a:solidFill>
                <a:srgbClr val="ffffff"/>
              </a:solidFill>
              <a:effectLst/>
              <a:uFillTx/>
              <a:latin typeface="Arial"/>
            </a:endParaRPr>
          </a:p>
          <a:p>
            <a:pPr algn="ctr" defTabSz="914400">
              <a:lnSpc>
                <a:spcPct val="100000"/>
              </a:lnSpc>
              <a:tabLst>
                <a:tab algn="l" pos="0"/>
              </a:tabLst>
            </a:pPr>
            <a:r>
              <a:rPr b="1" lang="en-US" sz="920" strike="noStrike" u="none">
                <a:solidFill>
                  <a:srgbClr val="06172f"/>
                </a:solidFill>
                <a:effectLst/>
                <a:uFillTx/>
                <a:latin typeface="Aptos"/>
              </a:rPr>
              <a:t>discharge</a:t>
            </a:r>
            <a:endParaRPr b="0" lang="en-US" sz="920" strike="noStrike" u="none">
              <a:solidFill>
                <a:srgbClr val="ffffff"/>
              </a:solidFill>
              <a:effectLst/>
              <a:uFillTx/>
              <a:latin typeface="Arial"/>
            </a:endParaRPr>
          </a:p>
        </p:txBody>
      </p:sp>
      <p:sp>
        <p:nvSpPr>
          <p:cNvPr id="686" name="Text 30"/>
          <p:cNvSpPr/>
          <p:nvPr/>
        </p:nvSpPr>
        <p:spPr>
          <a:xfrm>
            <a:off x="5120640" y="4919400"/>
            <a:ext cx="1325520" cy="228240"/>
          </a:xfrm>
          <a:prstGeom prst="rect">
            <a:avLst/>
          </a:prstGeom>
          <a:noFill/>
          <a:ln w="0">
            <a:noFill/>
          </a:ln>
        </p:spPr>
        <p:style>
          <a:lnRef idx="0"/>
          <a:fillRef idx="0"/>
          <a:effectRef idx="0"/>
          <a:fontRef idx="minor"/>
        </p:style>
        <p:txBody>
          <a:bodyPr lIns="0" rIns="0" tIns="0" bIns="0" anchor="ctr">
            <a:normAutofit fontScale="92500" lnSpcReduction="9999"/>
          </a:bodyPr>
          <a:p>
            <a:pPr algn="ctr" defTabSz="914400">
              <a:lnSpc>
                <a:spcPct val="100000"/>
              </a:lnSpc>
              <a:tabLst>
                <a:tab algn="l" pos="0"/>
              </a:tabLst>
            </a:pPr>
            <a:r>
              <a:rPr b="1" lang="en-US" sz="920" strike="noStrike" u="none">
                <a:solidFill>
                  <a:srgbClr val="06172f"/>
                </a:solidFill>
                <a:effectLst/>
                <a:uFillTx/>
                <a:latin typeface="Aptos"/>
              </a:rPr>
              <a:t>Spent</a:t>
            </a:r>
            <a:endParaRPr b="0" lang="en-US" sz="920" strike="noStrike" u="none">
              <a:solidFill>
                <a:srgbClr val="ffffff"/>
              </a:solidFill>
              <a:effectLst/>
              <a:uFillTx/>
              <a:latin typeface="Arial"/>
            </a:endParaRPr>
          </a:p>
          <a:p>
            <a:pPr algn="ctr" defTabSz="914400">
              <a:lnSpc>
                <a:spcPct val="100000"/>
              </a:lnSpc>
              <a:tabLst>
                <a:tab algn="l" pos="0"/>
              </a:tabLst>
            </a:pPr>
            <a:r>
              <a:rPr b="1" lang="en-US" sz="920" strike="noStrike" u="none">
                <a:solidFill>
                  <a:srgbClr val="06172f"/>
                </a:solidFill>
                <a:effectLst/>
                <a:uFillTx/>
                <a:latin typeface="Aptos"/>
              </a:rPr>
              <a:t>fuel</a:t>
            </a:r>
            <a:endParaRPr b="0" lang="en-US" sz="920" strike="noStrike" u="none">
              <a:solidFill>
                <a:srgbClr val="ffffff"/>
              </a:solidFill>
              <a:effectLst/>
              <a:uFillTx/>
              <a:latin typeface="Arial"/>
            </a:endParaRPr>
          </a:p>
        </p:txBody>
      </p:sp>
      <p:sp>
        <p:nvSpPr>
          <p:cNvPr id="687" name="Text 31"/>
          <p:cNvSpPr/>
          <p:nvPr/>
        </p:nvSpPr>
        <p:spPr>
          <a:xfrm>
            <a:off x="6537960" y="5742360"/>
            <a:ext cx="132552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920" strike="noStrike" u="none">
                <a:solidFill>
                  <a:srgbClr val="06172f"/>
                </a:solidFill>
                <a:effectLst/>
                <a:uFillTx/>
                <a:latin typeface="Aptos"/>
              </a:rPr>
              <a:t>Biodiversity</a:t>
            </a:r>
            <a:endParaRPr b="0" lang="en-US" sz="920" strike="noStrike" u="none">
              <a:solidFill>
                <a:srgbClr val="ffffff"/>
              </a:solidFill>
              <a:effectLst/>
              <a:uFillTx/>
              <a:latin typeface="Arial"/>
            </a:endParaRPr>
          </a:p>
        </p:txBody>
      </p:sp>
      <p:sp>
        <p:nvSpPr>
          <p:cNvPr id="688" name="Text 32"/>
          <p:cNvSpPr/>
          <p:nvPr/>
        </p:nvSpPr>
        <p:spPr>
          <a:xfrm>
            <a:off x="5120640" y="5742360"/>
            <a:ext cx="132552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920" strike="noStrike" u="none">
                <a:solidFill>
                  <a:srgbClr val="06172f"/>
                </a:solidFill>
                <a:effectLst/>
                <a:uFillTx/>
                <a:latin typeface="Aptos"/>
              </a:rPr>
              <a:t>Siltation</a:t>
            </a:r>
            <a:endParaRPr b="0" lang="en-US" sz="920" strike="noStrike" u="none">
              <a:solidFill>
                <a:srgbClr val="ffffff"/>
              </a:solidFill>
              <a:effectLst/>
              <a:uFillTx/>
              <a:latin typeface="Arial"/>
            </a:endParaRPr>
          </a:p>
        </p:txBody>
      </p:sp>
      <p:sp>
        <p:nvSpPr>
          <p:cNvPr id="689" name="Text 33"/>
          <p:cNvSpPr/>
          <p:nvPr/>
        </p:nvSpPr>
        <p:spPr>
          <a:xfrm>
            <a:off x="3703320" y="6565320"/>
            <a:ext cx="1325520" cy="228240"/>
          </a:xfrm>
          <a:prstGeom prst="rect">
            <a:avLst/>
          </a:prstGeom>
          <a:noFill/>
          <a:ln w="0">
            <a:noFill/>
          </a:ln>
        </p:spPr>
        <p:style>
          <a:lnRef idx="0"/>
          <a:fillRef idx="0"/>
          <a:effectRef idx="0"/>
          <a:fontRef idx="minor"/>
        </p:style>
        <p:txBody>
          <a:bodyPr lIns="0" rIns="0" tIns="0" bIns="0" anchor="ctr">
            <a:normAutofit fontScale="92500" lnSpcReduction="9999"/>
          </a:bodyPr>
          <a:p>
            <a:pPr algn="ctr" defTabSz="914400">
              <a:lnSpc>
                <a:spcPct val="100000"/>
              </a:lnSpc>
              <a:tabLst>
                <a:tab algn="l" pos="0"/>
              </a:tabLst>
            </a:pPr>
            <a:r>
              <a:rPr b="1" lang="en-US" sz="920" strike="noStrike" u="none">
                <a:solidFill>
                  <a:srgbClr val="06172f"/>
                </a:solidFill>
                <a:effectLst/>
                <a:uFillTx/>
                <a:latin typeface="Aptos"/>
              </a:rPr>
              <a:t>Air</a:t>
            </a:r>
            <a:endParaRPr b="0" lang="en-US" sz="920" strike="noStrike" u="none">
              <a:solidFill>
                <a:srgbClr val="ffffff"/>
              </a:solidFill>
              <a:effectLst/>
              <a:uFillTx/>
              <a:latin typeface="Arial"/>
            </a:endParaRPr>
          </a:p>
          <a:p>
            <a:pPr algn="ctr" defTabSz="914400">
              <a:lnSpc>
                <a:spcPct val="100000"/>
              </a:lnSpc>
              <a:tabLst>
                <a:tab algn="l" pos="0"/>
              </a:tabLst>
            </a:pPr>
            <a:r>
              <a:rPr b="1" lang="en-US" sz="920" strike="noStrike" u="none">
                <a:solidFill>
                  <a:srgbClr val="06172f"/>
                </a:solidFill>
                <a:effectLst/>
                <a:uFillTx/>
                <a:latin typeface="Aptos"/>
              </a:rPr>
              <a:t>emissions</a:t>
            </a:r>
            <a:endParaRPr b="0" lang="en-US" sz="920" strike="noStrike" u="none">
              <a:solidFill>
                <a:srgbClr val="ffffff"/>
              </a:solidFill>
              <a:effectLst/>
              <a:uFillTx/>
              <a:latin typeface="Arial"/>
            </a:endParaRPr>
          </a:p>
        </p:txBody>
      </p:sp>
      <p:sp>
        <p:nvSpPr>
          <p:cNvPr id="690" name="Text 34"/>
          <p:cNvSpPr/>
          <p:nvPr/>
        </p:nvSpPr>
        <p:spPr>
          <a:xfrm>
            <a:off x="3657600" y="7242120"/>
            <a:ext cx="4251600" cy="182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000" strike="noStrike" u="none">
                <a:solidFill>
                  <a:srgbClr val="b0c1d5"/>
                </a:solidFill>
                <a:effectLst/>
                <a:uFillTx/>
                <a:latin typeface="Aptos"/>
              </a:rPr>
              <a:t>Consequence →</a:t>
            </a:r>
            <a:endParaRPr b="0" lang="en-US" sz="1000" strike="noStrike" u="none">
              <a:solidFill>
                <a:srgbClr val="ffffff"/>
              </a:solidFill>
              <a:effectLst/>
              <a:uFillTx/>
              <a:latin typeface="Arial"/>
            </a:endParaRPr>
          </a:p>
        </p:txBody>
      </p:sp>
      <p:sp>
        <p:nvSpPr>
          <p:cNvPr id="691" name="Text 35"/>
          <p:cNvSpPr/>
          <p:nvPr/>
        </p:nvSpPr>
        <p:spPr>
          <a:xfrm rot="16200000">
            <a:off x="3063240" y="5441040"/>
            <a:ext cx="50256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00" strike="noStrike" u="none">
                <a:solidFill>
                  <a:srgbClr val="b0c1d5"/>
                </a:solidFill>
                <a:effectLst/>
                <a:uFillTx/>
                <a:latin typeface="Aptos"/>
              </a:rPr>
              <a:t>Likelihood ↑</a:t>
            </a:r>
            <a:endParaRPr b="0" lang="en-US" sz="1000" strike="noStrike" u="none">
              <a:solidFill>
                <a:srgbClr val="ffffff"/>
              </a:solidFill>
              <a:effectLst/>
              <a:uFillTx/>
              <a:latin typeface="Arial"/>
            </a:endParaRPr>
          </a:p>
        </p:txBody>
      </p:sp>
    </p:spTree>
  </p:cSld>
  <p:transition spd="med">
    <p:fade/>
  </p:transition>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6172f"/>
        </a:solidFill>
      </p:bgPr>
    </p:bg>
    <p:spTree>
      <p:nvGrpSpPr>
        <p:cNvPr id="1" name=""/>
        <p:cNvGrpSpPr/>
        <p:nvPr/>
      </p:nvGrpSpPr>
      <p:grpSpPr>
        <a:xfrm>
          <a:off x="0" y="0"/>
          <a:ext cx="0" cy="0"/>
          <a:chOff x="0" y="0"/>
          <a:chExt cx="0" cy="0"/>
        </a:xfrm>
      </p:grpSpPr>
      <p:sp>
        <p:nvSpPr>
          <p:cNvPr id="692" name="Shape 0"/>
          <p:cNvSpPr/>
          <p:nvPr/>
        </p:nvSpPr>
        <p:spPr>
          <a:xfrm>
            <a:off x="0" y="0"/>
            <a:ext cx="12191400" cy="6857640"/>
          </a:xfrm>
          <a:prstGeom prst="rect">
            <a:avLst/>
          </a:prstGeom>
          <a:solidFill>
            <a:srgbClr val="06172f"/>
          </a:solidFill>
          <a:ln w="12700">
            <a:solidFill>
              <a:srgbClr val="06172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693" name="Shape 1"/>
          <p:cNvSpPr/>
          <p:nvPr/>
        </p:nvSpPr>
        <p:spPr>
          <a:xfrm>
            <a:off x="7680960" y="-1005840"/>
            <a:ext cx="4388760" cy="2925720"/>
          </a:xfrm>
          <a:prstGeom prst="arc">
            <a:avLst>
              <a:gd name="adj1" fmla="val 16200000"/>
              <a:gd name="adj2" fmla="val 0"/>
            </a:avLst>
          </a:prstGeom>
          <a:solidFill>
            <a:srgbClr val="0e3a68">
              <a:alpha val="75000"/>
            </a:srgbClr>
          </a:solidFill>
          <a:ln w="12700">
            <a:solidFill>
              <a:srgbClr val="0e3a68">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694" name="Shape 2"/>
          <p:cNvSpPr/>
          <p:nvPr/>
        </p:nvSpPr>
        <p:spPr>
          <a:xfrm>
            <a:off x="8778240" y="-777240"/>
            <a:ext cx="3474360" cy="2285640"/>
          </a:xfrm>
          <a:prstGeom prst="arc">
            <a:avLst>
              <a:gd name="adj1" fmla="val 16200000"/>
              <a:gd name="adj2" fmla="val 0"/>
            </a:avLst>
          </a:prstGeom>
          <a:solidFill>
            <a:srgbClr val="0b4d5e">
              <a:alpha val="65000"/>
            </a:srgbClr>
          </a:solidFill>
          <a:ln w="12700">
            <a:solidFill>
              <a:srgbClr val="0b4d5e">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695" name="Shape 3"/>
          <p:cNvSpPr/>
          <p:nvPr/>
        </p:nvSpPr>
        <p:spPr>
          <a:xfrm>
            <a:off x="0" y="0"/>
            <a:ext cx="109440" cy="6857640"/>
          </a:xfrm>
          <a:prstGeom prst="rect">
            <a:avLst/>
          </a:prstGeom>
          <a:solidFill>
            <a:srgbClr val="00b078"/>
          </a:solidFill>
          <a:ln w="12700">
            <a:solidFill>
              <a:srgbClr val="00b078">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696" name="Shape 4"/>
          <p:cNvSpPr/>
          <p:nvPr/>
        </p:nvSpPr>
        <p:spPr>
          <a:xfrm>
            <a:off x="320040" y="6565320"/>
            <a:ext cx="11521080" cy="16200"/>
          </a:xfrm>
          <a:prstGeom prst="rect">
            <a:avLst/>
          </a:prstGeom>
          <a:solidFill>
            <a:srgbClr val="435d78"/>
          </a:solidFill>
          <a:ln w="12700">
            <a:solidFill>
              <a:srgbClr val="435d78">
                <a:alpha val="0"/>
              </a:srgbClr>
            </a:solidFill>
            <a:round/>
          </a:ln>
        </p:spPr>
        <p:style>
          <a:lnRef idx="0"/>
          <a:fillRef idx="0"/>
          <a:effectRef idx="0"/>
          <a:fontRef idx="minor"/>
        </p:style>
        <p:txBody>
          <a:bodyPr lIns="90000" rIns="90000" tIns="-28440" bIns="-28440" anchor="t">
            <a:noAutofit/>
          </a:bodyPr>
          <a:p>
            <a:endParaRPr b="0" lang="en-US" sz="1800" strike="noStrike" u="none">
              <a:solidFill>
                <a:srgbClr val="ffffff"/>
              </a:solidFill>
              <a:effectLst/>
              <a:uFillTx/>
              <a:latin typeface="Arial"/>
            </a:endParaRPr>
          </a:p>
        </p:txBody>
      </p:sp>
      <p:sp>
        <p:nvSpPr>
          <p:cNvPr id="697" name="Text 5"/>
          <p:cNvSpPr/>
          <p:nvPr/>
        </p:nvSpPr>
        <p:spPr>
          <a:xfrm>
            <a:off x="11356920" y="6602040"/>
            <a:ext cx="502560" cy="13680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50" strike="noStrike" u="none">
                <a:solidFill>
                  <a:srgbClr val="b0c1d5"/>
                </a:solidFill>
                <a:effectLst/>
                <a:uFillTx/>
                <a:latin typeface="Aptos"/>
                <a:ea typeface="Aptos"/>
              </a:rPr>
              <a:t>22</a:t>
            </a:r>
            <a:endParaRPr b="0" lang="en-US" sz="950" strike="noStrike" u="none">
              <a:solidFill>
                <a:srgbClr val="ffffff"/>
              </a:solidFill>
              <a:effectLst/>
              <a:uFillTx/>
              <a:latin typeface="Arial"/>
            </a:endParaRPr>
          </a:p>
        </p:txBody>
      </p:sp>
      <p:sp>
        <p:nvSpPr>
          <p:cNvPr id="698" name="Text 6"/>
          <p:cNvSpPr/>
          <p:nvPr/>
        </p:nvSpPr>
        <p:spPr>
          <a:xfrm>
            <a:off x="475560" y="228600"/>
            <a:ext cx="10972440" cy="383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500" strike="noStrike" u="none">
                <a:solidFill>
                  <a:srgbClr val="f5f8fc"/>
                </a:solidFill>
                <a:effectLst/>
                <a:uFillTx/>
                <a:latin typeface="Aptos Display"/>
                <a:ea typeface="Aptos Display"/>
              </a:rPr>
              <a:t>Fukushima Lessons</a:t>
            </a:r>
            <a:endParaRPr b="0" lang="en-US" sz="2500" strike="noStrike" u="none">
              <a:solidFill>
                <a:srgbClr val="ffffff"/>
              </a:solidFill>
              <a:effectLst/>
              <a:uFillTx/>
              <a:latin typeface="Arial"/>
            </a:endParaRPr>
          </a:p>
        </p:txBody>
      </p:sp>
      <p:sp>
        <p:nvSpPr>
          <p:cNvPr id="699" name="Text 7"/>
          <p:cNvSpPr/>
          <p:nvPr/>
        </p:nvSpPr>
        <p:spPr>
          <a:xfrm>
            <a:off x="502920" y="704160"/>
            <a:ext cx="10835280" cy="255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50" strike="noStrike" u="none">
                <a:solidFill>
                  <a:srgbClr val="b0c1d5"/>
                </a:solidFill>
                <a:effectLst/>
                <a:uFillTx/>
                <a:latin typeface="Aptos"/>
              </a:rPr>
              <a:t>Why defense, redundancy and emergency response matter</a:t>
            </a:r>
            <a:endParaRPr b="0" lang="en-US" sz="1250" strike="noStrike" u="none">
              <a:solidFill>
                <a:srgbClr val="ffffff"/>
              </a:solidFill>
              <a:effectLst/>
              <a:uFillTx/>
              <a:latin typeface="Arial"/>
            </a:endParaRPr>
          </a:p>
        </p:txBody>
      </p:sp>
      <p:sp>
        <p:nvSpPr>
          <p:cNvPr id="700" name="Shape 8"/>
          <p:cNvSpPr/>
          <p:nvPr/>
        </p:nvSpPr>
        <p:spPr>
          <a:xfrm>
            <a:off x="685800" y="1234440"/>
            <a:ext cx="5074560" cy="1416960"/>
          </a:xfrm>
          <a:prstGeom prst="roundRect">
            <a:avLst>
              <a:gd name="adj" fmla="val 7742"/>
            </a:avLst>
          </a:prstGeom>
          <a:solidFill>
            <a:srgbClr val="0e2d4f">
              <a:alpha val="93000"/>
            </a:srgbClr>
          </a:solidFill>
          <a:ln w="12700">
            <a:solidFill>
              <a:srgbClr val="00b078">
                <a:alpha val="7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701" name="Text 9"/>
          <p:cNvSpPr/>
          <p:nvPr/>
        </p:nvSpPr>
        <p:spPr>
          <a:xfrm>
            <a:off x="850320" y="1353240"/>
            <a:ext cx="474552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50d69b"/>
                </a:solidFill>
                <a:effectLst/>
                <a:uFillTx/>
                <a:latin typeface="Aptos"/>
              </a:rPr>
              <a:t>Lesson 1: cooling continuity</a:t>
            </a:r>
            <a:endParaRPr b="0" lang="en-US" sz="1600" strike="noStrike" u="none">
              <a:solidFill>
                <a:srgbClr val="ffffff"/>
              </a:solidFill>
              <a:effectLst/>
              <a:uFillTx/>
              <a:latin typeface="Arial"/>
            </a:endParaRPr>
          </a:p>
        </p:txBody>
      </p:sp>
      <p:sp>
        <p:nvSpPr>
          <p:cNvPr id="702" name="Text 10"/>
          <p:cNvSpPr/>
          <p:nvPr/>
        </p:nvSpPr>
        <p:spPr>
          <a:xfrm>
            <a:off x="905400" y="1737360"/>
            <a:ext cx="4635720" cy="849960"/>
          </a:xfrm>
          <a:prstGeom prst="rect">
            <a:avLst/>
          </a:prstGeom>
          <a:noFill/>
          <a:ln w="0">
            <a:noFill/>
          </a:ln>
        </p:spPr>
        <p:style>
          <a:lnRef idx="0"/>
          <a:fillRef idx="0"/>
          <a:effectRef idx="0"/>
          <a:fontRef idx="minor"/>
        </p:style>
        <p:txBody>
          <a:bodyPr lIns="1080" rIns="1080" tIns="1080" bIns="1080" anchor="t">
            <a:normAutofit/>
          </a:bodyPr>
          <a:p>
            <a:pPr defTabSz="914400">
              <a:lnSpc>
                <a:spcPct val="100000"/>
              </a:lnSpc>
            </a:pPr>
            <a:r>
              <a:rPr b="0" lang="en-US" sz="1300" strike="noStrike" u="none">
                <a:solidFill>
                  <a:srgbClr val="f5f8fc"/>
                </a:solidFill>
                <a:effectLst/>
                <a:uFillTx/>
                <a:latin typeface="Aptos"/>
                <a:ea typeface="Aptos"/>
              </a:rPr>
              <a:t>Severe nuclear accidents highlight the importance of maintaining cooling capacity even during extreme external hazards.</a:t>
            </a:r>
            <a:endParaRPr b="0" lang="en-US" sz="1300" strike="noStrike" u="none">
              <a:solidFill>
                <a:srgbClr val="ffffff"/>
              </a:solidFill>
              <a:effectLst/>
              <a:uFillTx/>
              <a:latin typeface="Arial"/>
            </a:endParaRPr>
          </a:p>
        </p:txBody>
      </p:sp>
      <p:sp>
        <p:nvSpPr>
          <p:cNvPr id="703" name="Shape 11"/>
          <p:cNvSpPr/>
          <p:nvPr/>
        </p:nvSpPr>
        <p:spPr>
          <a:xfrm>
            <a:off x="6263640" y="1234440"/>
            <a:ext cx="5074560" cy="1416960"/>
          </a:xfrm>
          <a:prstGeom prst="roundRect">
            <a:avLst>
              <a:gd name="adj" fmla="val 7742"/>
            </a:avLst>
          </a:prstGeom>
          <a:solidFill>
            <a:srgbClr val="0e2d4f">
              <a:alpha val="93000"/>
            </a:srgbClr>
          </a:solidFill>
          <a:ln w="12700">
            <a:solidFill>
              <a:srgbClr val="5bd2ff">
                <a:alpha val="7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704" name="Text 12"/>
          <p:cNvSpPr/>
          <p:nvPr/>
        </p:nvSpPr>
        <p:spPr>
          <a:xfrm>
            <a:off x="6428160" y="1353240"/>
            <a:ext cx="474552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50d69b"/>
                </a:solidFill>
                <a:effectLst/>
                <a:uFillTx/>
                <a:latin typeface="Aptos"/>
              </a:rPr>
              <a:t>Lesson 2: emergency power</a:t>
            </a:r>
            <a:endParaRPr b="0" lang="en-US" sz="1600" strike="noStrike" u="none">
              <a:solidFill>
                <a:srgbClr val="ffffff"/>
              </a:solidFill>
              <a:effectLst/>
              <a:uFillTx/>
              <a:latin typeface="Arial"/>
            </a:endParaRPr>
          </a:p>
        </p:txBody>
      </p:sp>
      <p:sp>
        <p:nvSpPr>
          <p:cNvPr id="705" name="Text 13"/>
          <p:cNvSpPr/>
          <p:nvPr/>
        </p:nvSpPr>
        <p:spPr>
          <a:xfrm>
            <a:off x="6483240" y="1737360"/>
            <a:ext cx="4635720" cy="849960"/>
          </a:xfrm>
          <a:prstGeom prst="rect">
            <a:avLst/>
          </a:prstGeom>
          <a:noFill/>
          <a:ln w="0">
            <a:noFill/>
          </a:ln>
        </p:spPr>
        <p:style>
          <a:lnRef idx="0"/>
          <a:fillRef idx="0"/>
          <a:effectRef idx="0"/>
          <a:fontRef idx="minor"/>
        </p:style>
        <p:txBody>
          <a:bodyPr lIns="1080" rIns="1080" tIns="1080" bIns="1080" anchor="t">
            <a:normAutofit/>
          </a:bodyPr>
          <a:p>
            <a:pPr defTabSz="914400">
              <a:lnSpc>
                <a:spcPct val="100000"/>
              </a:lnSpc>
            </a:pPr>
            <a:r>
              <a:rPr b="0" lang="en-US" sz="1300" strike="noStrike" u="none">
                <a:solidFill>
                  <a:srgbClr val="f5f8fc"/>
                </a:solidFill>
                <a:effectLst/>
                <a:uFillTx/>
                <a:latin typeface="Aptos"/>
                <a:ea typeface="Aptos"/>
              </a:rPr>
              <a:t>Backup power, redundancy and rapid response procedures are essential for preventing cascading failures.</a:t>
            </a:r>
            <a:endParaRPr b="0" lang="en-US" sz="1300" strike="noStrike" u="none">
              <a:solidFill>
                <a:srgbClr val="ffffff"/>
              </a:solidFill>
              <a:effectLst/>
              <a:uFillTx/>
              <a:latin typeface="Arial"/>
            </a:endParaRPr>
          </a:p>
        </p:txBody>
      </p:sp>
      <p:sp>
        <p:nvSpPr>
          <p:cNvPr id="706" name="Shape 14"/>
          <p:cNvSpPr/>
          <p:nvPr/>
        </p:nvSpPr>
        <p:spPr>
          <a:xfrm>
            <a:off x="685800" y="3017520"/>
            <a:ext cx="5074560" cy="1416960"/>
          </a:xfrm>
          <a:prstGeom prst="roundRect">
            <a:avLst>
              <a:gd name="adj" fmla="val 7742"/>
            </a:avLst>
          </a:prstGeom>
          <a:solidFill>
            <a:srgbClr val="0e2d4f">
              <a:alpha val="93000"/>
            </a:srgbClr>
          </a:solidFill>
          <a:ln w="12700">
            <a:solidFill>
              <a:srgbClr val="f0be49">
                <a:alpha val="7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707" name="Text 15"/>
          <p:cNvSpPr/>
          <p:nvPr/>
        </p:nvSpPr>
        <p:spPr>
          <a:xfrm>
            <a:off x="850320" y="3136320"/>
            <a:ext cx="474552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50d69b"/>
                </a:solidFill>
                <a:effectLst/>
                <a:uFillTx/>
                <a:latin typeface="Aptos"/>
              </a:rPr>
              <a:t>Lesson 3: communication</a:t>
            </a:r>
            <a:endParaRPr b="0" lang="en-US" sz="1600" strike="noStrike" u="none">
              <a:solidFill>
                <a:srgbClr val="ffffff"/>
              </a:solidFill>
              <a:effectLst/>
              <a:uFillTx/>
              <a:latin typeface="Arial"/>
            </a:endParaRPr>
          </a:p>
        </p:txBody>
      </p:sp>
      <p:sp>
        <p:nvSpPr>
          <p:cNvPr id="708" name="Text 16"/>
          <p:cNvSpPr/>
          <p:nvPr/>
        </p:nvSpPr>
        <p:spPr>
          <a:xfrm>
            <a:off x="905400" y="3520440"/>
            <a:ext cx="4635720" cy="849960"/>
          </a:xfrm>
          <a:prstGeom prst="rect">
            <a:avLst/>
          </a:prstGeom>
          <a:noFill/>
          <a:ln w="0">
            <a:noFill/>
          </a:ln>
        </p:spPr>
        <p:style>
          <a:lnRef idx="0"/>
          <a:fillRef idx="0"/>
          <a:effectRef idx="0"/>
          <a:fontRef idx="minor"/>
        </p:style>
        <p:txBody>
          <a:bodyPr lIns="1080" rIns="1080" tIns="1080" bIns="1080" anchor="t">
            <a:normAutofit/>
          </a:bodyPr>
          <a:p>
            <a:pPr defTabSz="914400">
              <a:lnSpc>
                <a:spcPct val="100000"/>
              </a:lnSpc>
            </a:pPr>
            <a:r>
              <a:rPr b="0" lang="en-US" sz="1300" strike="noStrike" u="none">
                <a:solidFill>
                  <a:srgbClr val="f5f8fc"/>
                </a:solidFill>
                <a:effectLst/>
                <a:uFillTx/>
                <a:latin typeface="Aptos"/>
                <a:ea typeface="Aptos"/>
              </a:rPr>
              <a:t>Transparent public communication and evacuation planning are central to risk governance and trust.</a:t>
            </a:r>
            <a:endParaRPr b="0" lang="en-US" sz="1300" strike="noStrike" u="none">
              <a:solidFill>
                <a:srgbClr val="ffffff"/>
              </a:solidFill>
              <a:effectLst/>
              <a:uFillTx/>
              <a:latin typeface="Arial"/>
            </a:endParaRPr>
          </a:p>
        </p:txBody>
      </p:sp>
      <p:sp>
        <p:nvSpPr>
          <p:cNvPr id="709" name="Shape 17"/>
          <p:cNvSpPr/>
          <p:nvPr/>
        </p:nvSpPr>
        <p:spPr>
          <a:xfrm>
            <a:off x="6263640" y="3017520"/>
            <a:ext cx="5074560" cy="1416960"/>
          </a:xfrm>
          <a:prstGeom prst="roundRect">
            <a:avLst>
              <a:gd name="adj" fmla="val 7742"/>
            </a:avLst>
          </a:prstGeom>
          <a:solidFill>
            <a:srgbClr val="0e2d4f">
              <a:alpha val="93000"/>
            </a:srgbClr>
          </a:solidFill>
          <a:ln w="12700">
            <a:solidFill>
              <a:srgbClr val="50d69b">
                <a:alpha val="7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710" name="Text 18"/>
          <p:cNvSpPr/>
          <p:nvPr/>
        </p:nvSpPr>
        <p:spPr>
          <a:xfrm>
            <a:off x="6428160" y="3136320"/>
            <a:ext cx="474552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50d69b"/>
                </a:solidFill>
                <a:effectLst/>
                <a:uFillTx/>
                <a:latin typeface="Aptos"/>
              </a:rPr>
              <a:t>RNPP connection</a:t>
            </a:r>
            <a:endParaRPr b="0" lang="en-US" sz="1600" strike="noStrike" u="none">
              <a:solidFill>
                <a:srgbClr val="ffffff"/>
              </a:solidFill>
              <a:effectLst/>
              <a:uFillTx/>
              <a:latin typeface="Arial"/>
            </a:endParaRPr>
          </a:p>
        </p:txBody>
      </p:sp>
      <p:sp>
        <p:nvSpPr>
          <p:cNvPr id="711" name="Text 19"/>
          <p:cNvSpPr/>
          <p:nvPr/>
        </p:nvSpPr>
        <p:spPr>
          <a:xfrm>
            <a:off x="6483240" y="3520440"/>
            <a:ext cx="4635720" cy="849960"/>
          </a:xfrm>
          <a:prstGeom prst="rect">
            <a:avLst/>
          </a:prstGeom>
          <a:noFill/>
          <a:ln w="0">
            <a:noFill/>
          </a:ln>
        </p:spPr>
        <p:style>
          <a:lnRef idx="0"/>
          <a:fillRef idx="0"/>
          <a:effectRef idx="0"/>
          <a:fontRef idx="minor"/>
        </p:style>
        <p:txBody>
          <a:bodyPr lIns="1080" rIns="1080" tIns="1080" bIns="1080" anchor="t">
            <a:normAutofit/>
          </a:bodyPr>
          <a:p>
            <a:pPr defTabSz="914400">
              <a:lnSpc>
                <a:spcPct val="100000"/>
              </a:lnSpc>
            </a:pPr>
            <a:r>
              <a:rPr b="0" lang="en-US" sz="1300" strike="noStrike" u="none">
                <a:solidFill>
                  <a:srgbClr val="f5f8fc"/>
                </a:solidFill>
                <a:effectLst/>
                <a:uFillTx/>
                <a:latin typeface="Aptos"/>
                <a:ea typeface="Aptos"/>
              </a:rPr>
              <a:t>The source deck emphasises passive containment, core catcher, double containment and extreme-hazard resistance as key safety features.</a:t>
            </a:r>
            <a:endParaRPr b="0" lang="en-US" sz="1300" strike="noStrike" u="none">
              <a:solidFill>
                <a:srgbClr val="ffffff"/>
              </a:solidFill>
              <a:effectLst/>
              <a:uFillTx/>
              <a:latin typeface="Arial"/>
            </a:endParaRPr>
          </a:p>
        </p:txBody>
      </p:sp>
      <p:sp>
        <p:nvSpPr>
          <p:cNvPr id="712" name="Shape 20"/>
          <p:cNvSpPr/>
          <p:nvPr/>
        </p:nvSpPr>
        <p:spPr>
          <a:xfrm>
            <a:off x="1097280" y="5120640"/>
            <a:ext cx="1855800" cy="566640"/>
          </a:xfrm>
          <a:prstGeom prst="roundRect">
            <a:avLst>
              <a:gd name="adj" fmla="val 16129"/>
            </a:avLst>
          </a:prstGeom>
          <a:solidFill>
            <a:srgbClr val="00b078"/>
          </a:solidFill>
          <a:ln w="12700">
            <a:solidFill>
              <a:srgbClr val="00b078">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713" name="Text 21"/>
          <p:cNvSpPr/>
          <p:nvPr/>
        </p:nvSpPr>
        <p:spPr>
          <a:xfrm>
            <a:off x="1152000" y="5257800"/>
            <a:ext cx="1746000" cy="310680"/>
          </a:xfrm>
          <a:prstGeom prst="rect">
            <a:avLst/>
          </a:prstGeom>
          <a:noFill/>
          <a:ln w="0">
            <a:noFill/>
          </a:ln>
        </p:spPr>
        <p:style>
          <a:lnRef idx="0"/>
          <a:fillRef idx="0"/>
          <a:effectRef idx="0"/>
          <a:fontRef idx="minor"/>
        </p:style>
        <p:txBody>
          <a:bodyPr lIns="0" rIns="0" tIns="0" bIns="0" anchor="ctr">
            <a:normAutofit lnSpcReduction="9999"/>
          </a:bodyPr>
          <a:p>
            <a:pPr algn="ctr" defTabSz="914400">
              <a:lnSpc>
                <a:spcPct val="100000"/>
              </a:lnSpc>
              <a:tabLst>
                <a:tab algn="l" pos="0"/>
              </a:tabLst>
            </a:pPr>
            <a:r>
              <a:rPr b="1" lang="en-US" sz="1050" strike="noStrike" u="none">
                <a:solidFill>
                  <a:srgbClr val="06172f"/>
                </a:solidFill>
                <a:effectLst/>
                <a:uFillTx/>
                <a:latin typeface="Aptos"/>
              </a:rPr>
              <a:t>External</a:t>
            </a:r>
            <a:endParaRPr b="0" lang="en-US" sz="1050" strike="noStrike" u="none">
              <a:solidFill>
                <a:srgbClr val="ffffff"/>
              </a:solidFill>
              <a:effectLst/>
              <a:uFillTx/>
              <a:latin typeface="Arial"/>
            </a:endParaRPr>
          </a:p>
          <a:p>
            <a:pPr algn="ctr" defTabSz="914400">
              <a:lnSpc>
                <a:spcPct val="100000"/>
              </a:lnSpc>
              <a:tabLst>
                <a:tab algn="l" pos="0"/>
              </a:tabLst>
            </a:pPr>
            <a:r>
              <a:rPr b="1" lang="en-US" sz="1050" strike="noStrike" u="none">
                <a:solidFill>
                  <a:srgbClr val="06172f"/>
                </a:solidFill>
                <a:effectLst/>
                <a:uFillTx/>
                <a:latin typeface="Aptos"/>
              </a:rPr>
              <a:t>Hazard</a:t>
            </a:r>
            <a:endParaRPr b="0" lang="en-US" sz="1050" strike="noStrike" u="none">
              <a:solidFill>
                <a:srgbClr val="ffffff"/>
              </a:solidFill>
              <a:effectLst/>
              <a:uFillTx/>
              <a:latin typeface="Arial"/>
            </a:endParaRPr>
          </a:p>
        </p:txBody>
      </p:sp>
      <p:sp>
        <p:nvSpPr>
          <p:cNvPr id="714" name="Shape 22"/>
          <p:cNvSpPr/>
          <p:nvPr/>
        </p:nvSpPr>
        <p:spPr>
          <a:xfrm>
            <a:off x="2935080" y="5330520"/>
            <a:ext cx="164160" cy="141480"/>
          </a:xfrm>
          <a:prstGeom prst="rightArrow">
            <a:avLst>
              <a:gd name="adj1" fmla="val 50000"/>
              <a:gd name="adj2" fmla="val 50000"/>
            </a:avLst>
          </a:prstGeom>
          <a:solidFill>
            <a:srgbClr val="b0c1d5"/>
          </a:solidFill>
          <a:ln w="12700">
            <a:solidFill>
              <a:srgbClr val="b0c1d5">
                <a:alpha val="0"/>
              </a:srgbClr>
            </a:solidFill>
            <a:round/>
          </a:ln>
        </p:spPr>
        <p:style>
          <a:lnRef idx="0"/>
          <a:fillRef idx="0"/>
          <a:effectRef idx="0"/>
          <a:fontRef idx="minor"/>
        </p:style>
        <p:txBody>
          <a:bodyPr lIns="90000" rIns="90000" tIns="25920" bIns="25920" anchor="t">
            <a:noAutofit/>
          </a:bodyPr>
          <a:p>
            <a:endParaRPr b="0" lang="en-US" sz="1800" strike="noStrike" u="none">
              <a:solidFill>
                <a:srgbClr val="000000"/>
              </a:solidFill>
              <a:effectLst/>
              <a:uFillTx/>
              <a:latin typeface="Arial"/>
            </a:endParaRPr>
          </a:p>
        </p:txBody>
      </p:sp>
      <p:sp>
        <p:nvSpPr>
          <p:cNvPr id="715" name="Shape 23"/>
          <p:cNvSpPr/>
          <p:nvPr/>
        </p:nvSpPr>
        <p:spPr>
          <a:xfrm>
            <a:off x="3072240" y="5120640"/>
            <a:ext cx="1855800" cy="566640"/>
          </a:xfrm>
          <a:prstGeom prst="roundRect">
            <a:avLst>
              <a:gd name="adj" fmla="val 16129"/>
            </a:avLst>
          </a:prstGeom>
          <a:solidFill>
            <a:srgbClr val="5bd2ff"/>
          </a:solidFill>
          <a:ln w="12700">
            <a:solidFill>
              <a:srgbClr val="5bd2f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716" name="Text 24"/>
          <p:cNvSpPr/>
          <p:nvPr/>
        </p:nvSpPr>
        <p:spPr>
          <a:xfrm>
            <a:off x="3127320" y="5257800"/>
            <a:ext cx="1746000" cy="310680"/>
          </a:xfrm>
          <a:prstGeom prst="rect">
            <a:avLst/>
          </a:prstGeom>
          <a:noFill/>
          <a:ln w="0">
            <a:noFill/>
          </a:ln>
        </p:spPr>
        <p:style>
          <a:lnRef idx="0"/>
          <a:fillRef idx="0"/>
          <a:effectRef idx="0"/>
          <a:fontRef idx="minor"/>
        </p:style>
        <p:txBody>
          <a:bodyPr lIns="0" rIns="0" tIns="0" bIns="0" anchor="ctr">
            <a:normAutofit lnSpcReduction="9999"/>
          </a:bodyPr>
          <a:p>
            <a:pPr algn="ctr" defTabSz="914400">
              <a:lnSpc>
                <a:spcPct val="100000"/>
              </a:lnSpc>
              <a:tabLst>
                <a:tab algn="l" pos="0"/>
              </a:tabLst>
            </a:pPr>
            <a:r>
              <a:rPr b="1" lang="en-US" sz="1050" strike="noStrike" u="none">
                <a:solidFill>
                  <a:srgbClr val="06172f"/>
                </a:solidFill>
                <a:effectLst/>
                <a:uFillTx/>
                <a:latin typeface="Aptos"/>
              </a:rPr>
              <a:t>Loss of</a:t>
            </a:r>
            <a:endParaRPr b="0" lang="en-US" sz="1050" strike="noStrike" u="none">
              <a:solidFill>
                <a:srgbClr val="ffffff"/>
              </a:solidFill>
              <a:effectLst/>
              <a:uFillTx/>
              <a:latin typeface="Arial"/>
            </a:endParaRPr>
          </a:p>
          <a:p>
            <a:pPr algn="ctr" defTabSz="914400">
              <a:lnSpc>
                <a:spcPct val="100000"/>
              </a:lnSpc>
              <a:tabLst>
                <a:tab algn="l" pos="0"/>
              </a:tabLst>
            </a:pPr>
            <a:r>
              <a:rPr b="1" lang="en-US" sz="1050" strike="noStrike" u="none">
                <a:solidFill>
                  <a:srgbClr val="06172f"/>
                </a:solidFill>
                <a:effectLst/>
                <a:uFillTx/>
                <a:latin typeface="Aptos"/>
              </a:rPr>
              <a:t>Function</a:t>
            </a:r>
            <a:endParaRPr b="0" lang="en-US" sz="1050" strike="noStrike" u="none">
              <a:solidFill>
                <a:srgbClr val="ffffff"/>
              </a:solidFill>
              <a:effectLst/>
              <a:uFillTx/>
              <a:latin typeface="Arial"/>
            </a:endParaRPr>
          </a:p>
        </p:txBody>
      </p:sp>
      <p:sp>
        <p:nvSpPr>
          <p:cNvPr id="717" name="Shape 25"/>
          <p:cNvSpPr/>
          <p:nvPr/>
        </p:nvSpPr>
        <p:spPr>
          <a:xfrm>
            <a:off x="4910400" y="5330520"/>
            <a:ext cx="164160" cy="141480"/>
          </a:xfrm>
          <a:prstGeom prst="rightArrow">
            <a:avLst>
              <a:gd name="adj1" fmla="val 50000"/>
              <a:gd name="adj2" fmla="val 50000"/>
            </a:avLst>
          </a:prstGeom>
          <a:solidFill>
            <a:srgbClr val="b0c1d5"/>
          </a:solidFill>
          <a:ln w="12700">
            <a:solidFill>
              <a:srgbClr val="b0c1d5">
                <a:alpha val="0"/>
              </a:srgbClr>
            </a:solidFill>
            <a:round/>
          </a:ln>
        </p:spPr>
        <p:style>
          <a:lnRef idx="0"/>
          <a:fillRef idx="0"/>
          <a:effectRef idx="0"/>
          <a:fontRef idx="minor"/>
        </p:style>
        <p:txBody>
          <a:bodyPr lIns="90000" rIns="90000" tIns="25920" bIns="25920" anchor="t">
            <a:noAutofit/>
          </a:bodyPr>
          <a:p>
            <a:endParaRPr b="0" lang="en-US" sz="1800" strike="noStrike" u="none">
              <a:solidFill>
                <a:srgbClr val="000000"/>
              </a:solidFill>
              <a:effectLst/>
              <a:uFillTx/>
              <a:latin typeface="Arial"/>
            </a:endParaRPr>
          </a:p>
        </p:txBody>
      </p:sp>
      <p:sp>
        <p:nvSpPr>
          <p:cNvPr id="718" name="Shape 26"/>
          <p:cNvSpPr/>
          <p:nvPr/>
        </p:nvSpPr>
        <p:spPr>
          <a:xfrm>
            <a:off x="5047560" y="5120640"/>
            <a:ext cx="1855800" cy="566640"/>
          </a:xfrm>
          <a:prstGeom prst="roundRect">
            <a:avLst>
              <a:gd name="adj" fmla="val 16129"/>
            </a:avLst>
          </a:prstGeom>
          <a:solidFill>
            <a:srgbClr val="50d69b"/>
          </a:solidFill>
          <a:ln w="12700">
            <a:solidFill>
              <a:srgbClr val="50d69b">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719" name="Text 27"/>
          <p:cNvSpPr/>
          <p:nvPr/>
        </p:nvSpPr>
        <p:spPr>
          <a:xfrm>
            <a:off x="5102280" y="5257800"/>
            <a:ext cx="1746000" cy="310680"/>
          </a:xfrm>
          <a:prstGeom prst="rect">
            <a:avLst/>
          </a:prstGeom>
          <a:noFill/>
          <a:ln w="0">
            <a:noFill/>
          </a:ln>
        </p:spPr>
        <p:style>
          <a:lnRef idx="0"/>
          <a:fillRef idx="0"/>
          <a:effectRef idx="0"/>
          <a:fontRef idx="minor"/>
        </p:style>
        <p:txBody>
          <a:bodyPr lIns="0" rIns="0" tIns="0" bIns="0" anchor="ctr">
            <a:normAutofit lnSpcReduction="9999"/>
          </a:bodyPr>
          <a:p>
            <a:pPr algn="ctr" defTabSz="914400">
              <a:lnSpc>
                <a:spcPct val="100000"/>
              </a:lnSpc>
              <a:tabLst>
                <a:tab algn="l" pos="0"/>
              </a:tabLst>
            </a:pPr>
            <a:r>
              <a:rPr b="1" lang="en-US" sz="1050" strike="noStrike" u="none">
                <a:solidFill>
                  <a:srgbClr val="06172f"/>
                </a:solidFill>
                <a:effectLst/>
                <a:uFillTx/>
                <a:latin typeface="Aptos"/>
              </a:rPr>
              <a:t>Safety</a:t>
            </a:r>
            <a:endParaRPr b="0" lang="en-US" sz="1050" strike="noStrike" u="none">
              <a:solidFill>
                <a:srgbClr val="ffffff"/>
              </a:solidFill>
              <a:effectLst/>
              <a:uFillTx/>
              <a:latin typeface="Arial"/>
            </a:endParaRPr>
          </a:p>
          <a:p>
            <a:pPr algn="ctr" defTabSz="914400">
              <a:lnSpc>
                <a:spcPct val="100000"/>
              </a:lnSpc>
              <a:tabLst>
                <a:tab algn="l" pos="0"/>
              </a:tabLst>
            </a:pPr>
            <a:r>
              <a:rPr b="1" lang="en-US" sz="1050" strike="noStrike" u="none">
                <a:solidFill>
                  <a:srgbClr val="06172f"/>
                </a:solidFill>
                <a:effectLst/>
                <a:uFillTx/>
                <a:latin typeface="Aptos"/>
              </a:rPr>
              <a:t>System</a:t>
            </a:r>
            <a:endParaRPr b="0" lang="en-US" sz="1050" strike="noStrike" u="none">
              <a:solidFill>
                <a:srgbClr val="ffffff"/>
              </a:solidFill>
              <a:effectLst/>
              <a:uFillTx/>
              <a:latin typeface="Arial"/>
            </a:endParaRPr>
          </a:p>
        </p:txBody>
      </p:sp>
      <p:sp>
        <p:nvSpPr>
          <p:cNvPr id="720" name="Shape 28"/>
          <p:cNvSpPr/>
          <p:nvPr/>
        </p:nvSpPr>
        <p:spPr>
          <a:xfrm>
            <a:off x="6885360" y="5330520"/>
            <a:ext cx="164160" cy="141480"/>
          </a:xfrm>
          <a:prstGeom prst="rightArrow">
            <a:avLst>
              <a:gd name="adj1" fmla="val 50000"/>
              <a:gd name="adj2" fmla="val 50000"/>
            </a:avLst>
          </a:prstGeom>
          <a:solidFill>
            <a:srgbClr val="b0c1d5"/>
          </a:solidFill>
          <a:ln w="12700">
            <a:solidFill>
              <a:srgbClr val="b0c1d5">
                <a:alpha val="0"/>
              </a:srgbClr>
            </a:solidFill>
            <a:round/>
          </a:ln>
        </p:spPr>
        <p:style>
          <a:lnRef idx="0"/>
          <a:fillRef idx="0"/>
          <a:effectRef idx="0"/>
          <a:fontRef idx="minor"/>
        </p:style>
        <p:txBody>
          <a:bodyPr lIns="90000" rIns="90000" tIns="25920" bIns="25920" anchor="t">
            <a:noAutofit/>
          </a:bodyPr>
          <a:p>
            <a:endParaRPr b="0" lang="en-US" sz="1800" strike="noStrike" u="none">
              <a:solidFill>
                <a:srgbClr val="000000"/>
              </a:solidFill>
              <a:effectLst/>
              <a:uFillTx/>
              <a:latin typeface="Arial"/>
            </a:endParaRPr>
          </a:p>
        </p:txBody>
      </p:sp>
      <p:sp>
        <p:nvSpPr>
          <p:cNvPr id="721" name="Shape 29"/>
          <p:cNvSpPr/>
          <p:nvPr/>
        </p:nvSpPr>
        <p:spPr>
          <a:xfrm>
            <a:off x="7022520" y="5120640"/>
            <a:ext cx="1855800" cy="566640"/>
          </a:xfrm>
          <a:prstGeom prst="roundRect">
            <a:avLst>
              <a:gd name="adj" fmla="val 16129"/>
            </a:avLst>
          </a:prstGeom>
          <a:solidFill>
            <a:srgbClr val="1c69a2"/>
          </a:solidFill>
          <a:ln w="12700">
            <a:solidFill>
              <a:srgbClr val="1c69a2">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722" name="Text 30"/>
          <p:cNvSpPr/>
          <p:nvPr/>
        </p:nvSpPr>
        <p:spPr>
          <a:xfrm>
            <a:off x="7077600" y="5257800"/>
            <a:ext cx="1746000" cy="310680"/>
          </a:xfrm>
          <a:prstGeom prst="rect">
            <a:avLst/>
          </a:prstGeom>
          <a:noFill/>
          <a:ln w="0">
            <a:noFill/>
          </a:ln>
        </p:spPr>
        <p:style>
          <a:lnRef idx="0"/>
          <a:fillRef idx="0"/>
          <a:effectRef idx="0"/>
          <a:fontRef idx="minor"/>
        </p:style>
        <p:txBody>
          <a:bodyPr lIns="0" rIns="0" tIns="0" bIns="0" anchor="ctr">
            <a:normAutofit lnSpcReduction="9999"/>
          </a:bodyPr>
          <a:p>
            <a:pPr algn="ctr" defTabSz="914400">
              <a:lnSpc>
                <a:spcPct val="100000"/>
              </a:lnSpc>
              <a:tabLst>
                <a:tab algn="l" pos="0"/>
              </a:tabLst>
            </a:pPr>
            <a:r>
              <a:rPr b="1" lang="en-US" sz="1050" strike="noStrike" u="none">
                <a:solidFill>
                  <a:srgbClr val="06172f"/>
                </a:solidFill>
                <a:effectLst/>
                <a:uFillTx/>
                <a:latin typeface="Aptos"/>
              </a:rPr>
              <a:t>Emergency</a:t>
            </a:r>
            <a:endParaRPr b="0" lang="en-US" sz="1050" strike="noStrike" u="none">
              <a:solidFill>
                <a:srgbClr val="ffffff"/>
              </a:solidFill>
              <a:effectLst/>
              <a:uFillTx/>
              <a:latin typeface="Arial"/>
            </a:endParaRPr>
          </a:p>
          <a:p>
            <a:pPr algn="ctr" defTabSz="914400">
              <a:lnSpc>
                <a:spcPct val="100000"/>
              </a:lnSpc>
              <a:tabLst>
                <a:tab algn="l" pos="0"/>
              </a:tabLst>
            </a:pPr>
            <a:r>
              <a:rPr b="1" lang="en-US" sz="1050" strike="noStrike" u="none">
                <a:solidFill>
                  <a:srgbClr val="06172f"/>
                </a:solidFill>
                <a:effectLst/>
                <a:uFillTx/>
                <a:latin typeface="Aptos"/>
              </a:rPr>
              <a:t>Response</a:t>
            </a:r>
            <a:endParaRPr b="0" lang="en-US" sz="1050" strike="noStrike" u="none">
              <a:solidFill>
                <a:srgbClr val="ffffff"/>
              </a:solidFill>
              <a:effectLst/>
              <a:uFillTx/>
              <a:latin typeface="Arial"/>
            </a:endParaRPr>
          </a:p>
        </p:txBody>
      </p:sp>
      <p:sp>
        <p:nvSpPr>
          <p:cNvPr id="723" name="Shape 31"/>
          <p:cNvSpPr/>
          <p:nvPr/>
        </p:nvSpPr>
        <p:spPr>
          <a:xfrm>
            <a:off x="8860680" y="5330520"/>
            <a:ext cx="164160" cy="141480"/>
          </a:xfrm>
          <a:prstGeom prst="rightArrow">
            <a:avLst>
              <a:gd name="adj1" fmla="val 50000"/>
              <a:gd name="adj2" fmla="val 50000"/>
            </a:avLst>
          </a:prstGeom>
          <a:solidFill>
            <a:srgbClr val="b0c1d5"/>
          </a:solidFill>
          <a:ln w="12700">
            <a:solidFill>
              <a:srgbClr val="b0c1d5">
                <a:alpha val="0"/>
              </a:srgbClr>
            </a:solidFill>
            <a:round/>
          </a:ln>
        </p:spPr>
        <p:style>
          <a:lnRef idx="0"/>
          <a:fillRef idx="0"/>
          <a:effectRef idx="0"/>
          <a:fontRef idx="minor"/>
        </p:style>
        <p:txBody>
          <a:bodyPr lIns="90000" rIns="90000" tIns="25920" bIns="25920" anchor="t">
            <a:noAutofit/>
          </a:bodyPr>
          <a:p>
            <a:endParaRPr b="0" lang="en-US" sz="1800" strike="noStrike" u="none">
              <a:solidFill>
                <a:srgbClr val="000000"/>
              </a:solidFill>
              <a:effectLst/>
              <a:uFillTx/>
              <a:latin typeface="Arial"/>
            </a:endParaRPr>
          </a:p>
        </p:txBody>
      </p:sp>
      <p:sp>
        <p:nvSpPr>
          <p:cNvPr id="724" name="Shape 32"/>
          <p:cNvSpPr/>
          <p:nvPr/>
        </p:nvSpPr>
        <p:spPr>
          <a:xfrm>
            <a:off x="8997840" y="5120640"/>
            <a:ext cx="1855800" cy="566640"/>
          </a:xfrm>
          <a:prstGeom prst="roundRect">
            <a:avLst>
              <a:gd name="adj" fmla="val 16129"/>
            </a:avLst>
          </a:prstGeom>
          <a:solidFill>
            <a:srgbClr val="f0be49"/>
          </a:solidFill>
          <a:ln w="12700">
            <a:solidFill>
              <a:srgbClr val="f0be49">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725" name="Text 33"/>
          <p:cNvSpPr/>
          <p:nvPr/>
        </p:nvSpPr>
        <p:spPr>
          <a:xfrm>
            <a:off x="9052560" y="5257800"/>
            <a:ext cx="1746000" cy="310680"/>
          </a:xfrm>
          <a:prstGeom prst="rect">
            <a:avLst/>
          </a:prstGeom>
          <a:noFill/>
          <a:ln w="0">
            <a:noFill/>
          </a:ln>
        </p:spPr>
        <p:style>
          <a:lnRef idx="0"/>
          <a:fillRef idx="0"/>
          <a:effectRef idx="0"/>
          <a:fontRef idx="minor"/>
        </p:style>
        <p:txBody>
          <a:bodyPr lIns="0" rIns="0" tIns="0" bIns="0" anchor="ctr">
            <a:normAutofit lnSpcReduction="9999"/>
          </a:bodyPr>
          <a:p>
            <a:pPr algn="ctr" defTabSz="914400">
              <a:lnSpc>
                <a:spcPct val="100000"/>
              </a:lnSpc>
              <a:tabLst>
                <a:tab algn="l" pos="0"/>
              </a:tabLst>
            </a:pPr>
            <a:r>
              <a:rPr b="1" lang="en-US" sz="1050" strike="noStrike" u="none">
                <a:solidFill>
                  <a:srgbClr val="06172f"/>
                </a:solidFill>
                <a:effectLst/>
                <a:uFillTx/>
                <a:latin typeface="Aptos"/>
              </a:rPr>
              <a:t>Environmental</a:t>
            </a:r>
            <a:endParaRPr b="0" lang="en-US" sz="1050" strike="noStrike" u="none">
              <a:solidFill>
                <a:srgbClr val="ffffff"/>
              </a:solidFill>
              <a:effectLst/>
              <a:uFillTx/>
              <a:latin typeface="Arial"/>
            </a:endParaRPr>
          </a:p>
          <a:p>
            <a:pPr algn="ctr" defTabSz="914400">
              <a:lnSpc>
                <a:spcPct val="100000"/>
              </a:lnSpc>
              <a:tabLst>
                <a:tab algn="l" pos="0"/>
              </a:tabLst>
            </a:pPr>
            <a:r>
              <a:rPr b="1" lang="en-US" sz="1050" strike="noStrike" u="none">
                <a:solidFill>
                  <a:srgbClr val="06172f"/>
                </a:solidFill>
                <a:effectLst/>
                <a:uFillTx/>
                <a:latin typeface="Aptos"/>
              </a:rPr>
              <a:t>Protection</a:t>
            </a:r>
            <a:endParaRPr b="0" lang="en-US" sz="1050" strike="noStrike" u="none">
              <a:solidFill>
                <a:srgbClr val="ffffff"/>
              </a:solidFill>
              <a:effectLst/>
              <a:uFillTx/>
              <a:latin typeface="Arial"/>
            </a:endParaRPr>
          </a:p>
        </p:txBody>
      </p:sp>
    </p:spTree>
  </p:cSld>
  <p:transition spd="med">
    <p:fade/>
  </p:transition>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6172f"/>
        </a:solidFill>
      </p:bgPr>
    </p:bg>
    <p:spTree>
      <p:nvGrpSpPr>
        <p:cNvPr id="1" name=""/>
        <p:cNvGrpSpPr/>
        <p:nvPr/>
      </p:nvGrpSpPr>
      <p:grpSpPr>
        <a:xfrm>
          <a:off x="0" y="0"/>
          <a:ext cx="0" cy="0"/>
          <a:chOff x="0" y="0"/>
          <a:chExt cx="0" cy="0"/>
        </a:xfrm>
      </p:grpSpPr>
      <p:sp>
        <p:nvSpPr>
          <p:cNvPr id="726" name="Shape 0"/>
          <p:cNvSpPr/>
          <p:nvPr/>
        </p:nvSpPr>
        <p:spPr>
          <a:xfrm>
            <a:off x="0" y="0"/>
            <a:ext cx="12191400" cy="6857640"/>
          </a:xfrm>
          <a:prstGeom prst="rect">
            <a:avLst/>
          </a:prstGeom>
          <a:solidFill>
            <a:srgbClr val="06172f"/>
          </a:solidFill>
          <a:ln w="12700">
            <a:solidFill>
              <a:srgbClr val="06172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727" name="Shape 1"/>
          <p:cNvSpPr/>
          <p:nvPr/>
        </p:nvSpPr>
        <p:spPr>
          <a:xfrm>
            <a:off x="7680960" y="-1005840"/>
            <a:ext cx="4388760" cy="2925720"/>
          </a:xfrm>
          <a:prstGeom prst="arc">
            <a:avLst>
              <a:gd name="adj1" fmla="val 16200000"/>
              <a:gd name="adj2" fmla="val 0"/>
            </a:avLst>
          </a:prstGeom>
          <a:solidFill>
            <a:srgbClr val="0e3a68">
              <a:alpha val="75000"/>
            </a:srgbClr>
          </a:solidFill>
          <a:ln w="12700">
            <a:solidFill>
              <a:srgbClr val="0e3a68">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728" name="Shape 2"/>
          <p:cNvSpPr/>
          <p:nvPr/>
        </p:nvSpPr>
        <p:spPr>
          <a:xfrm>
            <a:off x="8778240" y="-777240"/>
            <a:ext cx="3474360" cy="2285640"/>
          </a:xfrm>
          <a:prstGeom prst="arc">
            <a:avLst>
              <a:gd name="adj1" fmla="val 16200000"/>
              <a:gd name="adj2" fmla="val 0"/>
            </a:avLst>
          </a:prstGeom>
          <a:solidFill>
            <a:srgbClr val="0b4d5e">
              <a:alpha val="65000"/>
            </a:srgbClr>
          </a:solidFill>
          <a:ln w="12700">
            <a:solidFill>
              <a:srgbClr val="0b4d5e">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729" name="Shape 3"/>
          <p:cNvSpPr/>
          <p:nvPr/>
        </p:nvSpPr>
        <p:spPr>
          <a:xfrm>
            <a:off x="0" y="0"/>
            <a:ext cx="109440" cy="6857640"/>
          </a:xfrm>
          <a:prstGeom prst="rect">
            <a:avLst/>
          </a:prstGeom>
          <a:solidFill>
            <a:srgbClr val="00b078"/>
          </a:solidFill>
          <a:ln w="12700">
            <a:solidFill>
              <a:srgbClr val="00b078">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730" name="Shape 4"/>
          <p:cNvSpPr/>
          <p:nvPr/>
        </p:nvSpPr>
        <p:spPr>
          <a:xfrm>
            <a:off x="320040" y="6565320"/>
            <a:ext cx="11521080" cy="16200"/>
          </a:xfrm>
          <a:prstGeom prst="rect">
            <a:avLst/>
          </a:prstGeom>
          <a:solidFill>
            <a:srgbClr val="435d78"/>
          </a:solidFill>
          <a:ln w="12700">
            <a:solidFill>
              <a:srgbClr val="435d78">
                <a:alpha val="0"/>
              </a:srgbClr>
            </a:solidFill>
            <a:round/>
          </a:ln>
        </p:spPr>
        <p:style>
          <a:lnRef idx="0"/>
          <a:fillRef idx="0"/>
          <a:effectRef idx="0"/>
          <a:fontRef idx="minor"/>
        </p:style>
        <p:txBody>
          <a:bodyPr lIns="90000" rIns="90000" tIns="-28440" bIns="-28440" anchor="t">
            <a:noAutofit/>
          </a:bodyPr>
          <a:p>
            <a:endParaRPr b="0" lang="en-US" sz="1800" strike="noStrike" u="none">
              <a:solidFill>
                <a:srgbClr val="ffffff"/>
              </a:solidFill>
              <a:effectLst/>
              <a:uFillTx/>
              <a:latin typeface="Arial"/>
            </a:endParaRPr>
          </a:p>
        </p:txBody>
      </p:sp>
      <p:sp>
        <p:nvSpPr>
          <p:cNvPr id="731" name="Text 5"/>
          <p:cNvSpPr/>
          <p:nvPr/>
        </p:nvSpPr>
        <p:spPr>
          <a:xfrm>
            <a:off x="11356920" y="6602040"/>
            <a:ext cx="502560" cy="13680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50" strike="noStrike" u="none">
                <a:solidFill>
                  <a:srgbClr val="b0c1d5"/>
                </a:solidFill>
                <a:effectLst/>
                <a:uFillTx/>
                <a:latin typeface="Aptos"/>
                <a:ea typeface="Aptos"/>
              </a:rPr>
              <a:t>23</a:t>
            </a:r>
            <a:endParaRPr b="0" lang="en-US" sz="950" strike="noStrike" u="none">
              <a:solidFill>
                <a:srgbClr val="ffffff"/>
              </a:solidFill>
              <a:effectLst/>
              <a:uFillTx/>
              <a:latin typeface="Arial"/>
            </a:endParaRPr>
          </a:p>
        </p:txBody>
      </p:sp>
      <p:sp>
        <p:nvSpPr>
          <p:cNvPr id="732" name="Text 6"/>
          <p:cNvSpPr/>
          <p:nvPr/>
        </p:nvSpPr>
        <p:spPr>
          <a:xfrm>
            <a:off x="475560" y="228600"/>
            <a:ext cx="10972440" cy="383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500" strike="noStrike" u="none">
                <a:solidFill>
                  <a:srgbClr val="f5f8fc"/>
                </a:solidFill>
                <a:effectLst/>
                <a:uFillTx/>
                <a:latin typeface="Aptos Display"/>
                <a:ea typeface="Aptos Display"/>
              </a:rPr>
              <a:t>Radioactive Waste</a:t>
            </a:r>
            <a:endParaRPr b="0" lang="en-US" sz="2500" strike="noStrike" u="none">
              <a:solidFill>
                <a:srgbClr val="ffffff"/>
              </a:solidFill>
              <a:effectLst/>
              <a:uFillTx/>
              <a:latin typeface="Arial"/>
            </a:endParaRPr>
          </a:p>
        </p:txBody>
      </p:sp>
      <p:sp>
        <p:nvSpPr>
          <p:cNvPr id="733" name="Text 7"/>
          <p:cNvSpPr/>
          <p:nvPr/>
        </p:nvSpPr>
        <p:spPr>
          <a:xfrm>
            <a:off x="502920" y="704160"/>
            <a:ext cx="10835280" cy="255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50" strike="noStrike" u="none">
                <a:solidFill>
                  <a:srgbClr val="b0c1d5"/>
                </a:solidFill>
                <a:effectLst/>
                <a:uFillTx/>
                <a:latin typeface="Aptos"/>
              </a:rPr>
              <a:t>Long-term environmental responsibility of nuclear power</a:t>
            </a:r>
            <a:endParaRPr b="0" lang="en-US" sz="1250" strike="noStrike" u="none">
              <a:solidFill>
                <a:srgbClr val="ffffff"/>
              </a:solidFill>
              <a:effectLst/>
              <a:uFillTx/>
              <a:latin typeface="Arial"/>
            </a:endParaRPr>
          </a:p>
        </p:txBody>
      </p:sp>
      <p:graphicFrame>
        <p:nvGraphicFramePr>
          <p:cNvPr id="734" name="Table 0"/>
          <p:cNvGraphicFramePr/>
          <p:nvPr/>
        </p:nvGraphicFramePr>
        <p:xfrm>
          <a:off x="594360" y="1234440"/>
          <a:ext cx="10972440" cy="4160160"/>
        </p:xfrm>
        <a:graphic>
          <a:graphicData uri="http://schemas.openxmlformats.org/drawingml/2006/table">
            <a:tbl>
              <a:tblPr/>
              <a:tblGrid>
                <a:gridCol w="3657600"/>
                <a:gridCol w="3657600"/>
                <a:gridCol w="3657600"/>
              </a:tblGrid>
              <a:tr h="831960">
                <a:tc>
                  <a:txBody>
                    <a:bodyPr lIns="36360" rIns="36360" tIns="36360" bIns="36360" anchor="t">
                      <a:noAutofit/>
                    </a:bodyPr>
                    <a:p>
                      <a:pPr algn="ctr" defTabSz="914400">
                        <a:lnSpc>
                          <a:spcPct val="100000"/>
                        </a:lnSpc>
                        <a:tabLst>
                          <a:tab algn="l" pos="0"/>
                        </a:tabLst>
                      </a:pPr>
                      <a:r>
                        <a:rPr b="1" lang="en-US" sz="920" strike="noStrike" u="none">
                          <a:solidFill>
                            <a:srgbClr val="06172f"/>
                          </a:solidFill>
                          <a:effectLst/>
                          <a:uFillTx/>
                          <a:latin typeface="Aptos"/>
                          <a:ea typeface="Aptos"/>
                        </a:rPr>
                        <a:t>Waste type</a:t>
                      </a:r>
                      <a:endParaRPr b="0" lang="en-US" sz="920" strike="noStrike" u="none">
                        <a:solidFill>
                          <a:srgbClr val="ffffff"/>
                        </a:solidFill>
                        <a:effectLst/>
                        <a:uFillTx/>
                        <a:latin typeface="Arial"/>
                      </a:endParaRPr>
                    </a:p>
                  </a:txBody>
                  <a:tcPr anchor="t" marL="36360" marR="36360">
                    <a:lnL w="7200">
                      <a:solidFill>
                        <a:srgbClr val="3f5d7c"/>
                      </a:solidFill>
                      <a:prstDash val="solid"/>
                    </a:lnL>
                    <a:lnR w="7200">
                      <a:solidFill>
                        <a:srgbClr val="3f5d7c"/>
                      </a:solidFill>
                      <a:prstDash val="solid"/>
                    </a:lnR>
                    <a:lnT w="7200">
                      <a:solidFill>
                        <a:srgbClr val="3f5d7c"/>
                      </a:solidFill>
                      <a:prstDash val="solid"/>
                    </a:lnT>
                    <a:lnB w="7200">
                      <a:solidFill>
                        <a:srgbClr val="3f5d7c"/>
                      </a:solidFill>
                      <a:prstDash val="solid"/>
                    </a:lnB>
                    <a:solidFill>
                      <a:srgbClr val="e15a5a"/>
                    </a:solidFill>
                  </a:tcPr>
                </a:tc>
                <a:tc>
                  <a:txBody>
                    <a:bodyPr lIns="36360" rIns="36360" tIns="36360" bIns="36360" anchor="t">
                      <a:noAutofit/>
                    </a:bodyPr>
                    <a:p>
                      <a:pPr algn="ctr" defTabSz="914400">
                        <a:lnSpc>
                          <a:spcPct val="100000"/>
                        </a:lnSpc>
                        <a:tabLst>
                          <a:tab algn="l" pos="0"/>
                        </a:tabLst>
                      </a:pPr>
                      <a:r>
                        <a:rPr b="1" lang="en-US" sz="920" strike="noStrike" u="none">
                          <a:solidFill>
                            <a:srgbClr val="06172f"/>
                          </a:solidFill>
                          <a:effectLst/>
                          <a:uFillTx/>
                          <a:latin typeface="Aptos"/>
                          <a:ea typeface="Aptos"/>
                        </a:rPr>
                        <a:t>Examples</a:t>
                      </a:r>
                      <a:endParaRPr b="0" lang="en-US" sz="920" strike="noStrike" u="none">
                        <a:solidFill>
                          <a:srgbClr val="ffffff"/>
                        </a:solidFill>
                        <a:effectLst/>
                        <a:uFillTx/>
                        <a:latin typeface="Arial"/>
                      </a:endParaRPr>
                    </a:p>
                  </a:txBody>
                  <a:tcPr anchor="t" marL="36360" marR="36360">
                    <a:lnL w="7200">
                      <a:solidFill>
                        <a:srgbClr val="3f5d7c"/>
                      </a:solidFill>
                      <a:prstDash val="solid"/>
                    </a:lnL>
                    <a:lnR w="7200">
                      <a:solidFill>
                        <a:srgbClr val="3f5d7c"/>
                      </a:solidFill>
                      <a:prstDash val="solid"/>
                    </a:lnR>
                    <a:lnT w="7200">
                      <a:solidFill>
                        <a:srgbClr val="3f5d7c"/>
                      </a:solidFill>
                      <a:prstDash val="solid"/>
                    </a:lnT>
                    <a:lnB w="7200">
                      <a:solidFill>
                        <a:srgbClr val="3f5d7c"/>
                      </a:solidFill>
                      <a:prstDash val="solid"/>
                    </a:lnB>
                    <a:solidFill>
                      <a:srgbClr val="e15a5a"/>
                    </a:solidFill>
                  </a:tcPr>
                </a:tc>
                <a:tc>
                  <a:txBody>
                    <a:bodyPr lIns="36360" rIns="36360" tIns="36360" bIns="36360" anchor="t">
                      <a:noAutofit/>
                    </a:bodyPr>
                    <a:p>
                      <a:pPr algn="ctr" defTabSz="914400">
                        <a:lnSpc>
                          <a:spcPct val="100000"/>
                        </a:lnSpc>
                        <a:tabLst>
                          <a:tab algn="l" pos="0"/>
                        </a:tabLst>
                      </a:pPr>
                      <a:r>
                        <a:rPr b="1" lang="en-US" sz="920" strike="noStrike" u="none">
                          <a:solidFill>
                            <a:srgbClr val="06172f"/>
                          </a:solidFill>
                          <a:effectLst/>
                          <a:uFillTx/>
                          <a:latin typeface="Aptos"/>
                          <a:ea typeface="Aptos"/>
                        </a:rPr>
                        <a:t>Environmental concern</a:t>
                      </a:r>
                      <a:endParaRPr b="0" lang="en-US" sz="920" strike="noStrike" u="none">
                        <a:solidFill>
                          <a:srgbClr val="ffffff"/>
                        </a:solidFill>
                        <a:effectLst/>
                        <a:uFillTx/>
                        <a:latin typeface="Arial"/>
                      </a:endParaRPr>
                    </a:p>
                  </a:txBody>
                  <a:tcPr anchor="t" marL="36360" marR="36360">
                    <a:lnL w="7200">
                      <a:solidFill>
                        <a:srgbClr val="3f5d7c"/>
                      </a:solidFill>
                      <a:prstDash val="solid"/>
                    </a:lnL>
                    <a:lnR w="7200">
                      <a:solidFill>
                        <a:srgbClr val="3f5d7c"/>
                      </a:solidFill>
                      <a:prstDash val="solid"/>
                    </a:lnR>
                    <a:lnT w="7200">
                      <a:solidFill>
                        <a:srgbClr val="3f5d7c"/>
                      </a:solidFill>
                      <a:prstDash val="solid"/>
                    </a:lnT>
                    <a:lnB w="7200">
                      <a:solidFill>
                        <a:srgbClr val="3f5d7c"/>
                      </a:solidFill>
                      <a:prstDash val="solid"/>
                    </a:lnB>
                    <a:solidFill>
                      <a:srgbClr val="e15a5a"/>
                    </a:solidFill>
                  </a:tcPr>
                </a:tc>
              </a:tr>
              <a:tr h="831960">
                <a:tc>
                  <a:txBody>
                    <a:bodyPr lIns="36360" rIns="36360" tIns="36360" bIns="36360" anchor="t">
                      <a:noAutofit/>
                    </a:bodyPr>
                    <a:p>
                      <a:pPr defTabSz="914400">
                        <a:lnSpc>
                          <a:spcPct val="100000"/>
                        </a:lnSpc>
                        <a:tabLst>
                          <a:tab algn="l" pos="0"/>
                        </a:tabLst>
                      </a:pPr>
                      <a:r>
                        <a:rPr b="0" lang="en-US" sz="920" strike="noStrike" u="none">
                          <a:solidFill>
                            <a:srgbClr val="f5f8fc"/>
                          </a:solidFill>
                          <a:effectLst/>
                          <a:uFillTx/>
                          <a:latin typeface="Aptos"/>
                          <a:ea typeface="Aptos"/>
                        </a:rPr>
                        <a:t>LLW</a:t>
                      </a:r>
                      <a:endParaRPr b="0" lang="en-US" sz="920" strike="noStrike" u="none">
                        <a:solidFill>
                          <a:srgbClr val="ffffff"/>
                        </a:solidFill>
                        <a:effectLst/>
                        <a:uFillTx/>
                        <a:latin typeface="Arial"/>
                      </a:endParaRPr>
                    </a:p>
                  </a:txBody>
                  <a:tcPr anchor="t" marL="36360" marR="36360">
                    <a:lnL w="7200">
                      <a:solidFill>
                        <a:srgbClr val="3f5d7c"/>
                      </a:solidFill>
                      <a:prstDash val="solid"/>
                    </a:lnL>
                    <a:lnR w="7200">
                      <a:solidFill>
                        <a:srgbClr val="3f5d7c"/>
                      </a:solidFill>
                      <a:prstDash val="solid"/>
                    </a:lnR>
                    <a:lnT w="7200">
                      <a:solidFill>
                        <a:srgbClr val="3f5d7c"/>
                      </a:solidFill>
                      <a:prstDash val="solid"/>
                    </a:lnT>
                    <a:lnB w="7200">
                      <a:solidFill>
                        <a:srgbClr val="3f5d7c"/>
                      </a:solidFill>
                      <a:prstDash val="solid"/>
                    </a:lnB>
                    <a:solidFill>
                      <a:srgbClr val="0d3151"/>
                    </a:solidFill>
                  </a:tcPr>
                </a:tc>
                <a:tc>
                  <a:txBody>
                    <a:bodyPr lIns="36360" rIns="36360" tIns="36360" bIns="36360" anchor="t">
                      <a:noAutofit/>
                    </a:bodyPr>
                    <a:p>
                      <a:pPr defTabSz="914400">
                        <a:lnSpc>
                          <a:spcPct val="100000"/>
                        </a:lnSpc>
                        <a:tabLst>
                          <a:tab algn="l" pos="0"/>
                        </a:tabLst>
                      </a:pPr>
                      <a:r>
                        <a:rPr b="0" lang="en-US" sz="920" strike="noStrike" u="none">
                          <a:solidFill>
                            <a:srgbClr val="f5f8fc"/>
                          </a:solidFill>
                          <a:effectLst/>
                          <a:uFillTx/>
                          <a:latin typeface="Aptos"/>
                          <a:ea typeface="Aptos"/>
                        </a:rPr>
                        <a:t>Tools, clothing, minor contaminated materials</a:t>
                      </a:r>
                      <a:endParaRPr b="0" lang="en-US" sz="920" strike="noStrike" u="none">
                        <a:solidFill>
                          <a:srgbClr val="ffffff"/>
                        </a:solidFill>
                        <a:effectLst/>
                        <a:uFillTx/>
                        <a:latin typeface="Arial"/>
                      </a:endParaRPr>
                    </a:p>
                  </a:txBody>
                  <a:tcPr anchor="t" marL="36360" marR="36360">
                    <a:lnL w="7200">
                      <a:solidFill>
                        <a:srgbClr val="3f5d7c"/>
                      </a:solidFill>
                      <a:prstDash val="solid"/>
                    </a:lnL>
                    <a:lnR w="7200">
                      <a:solidFill>
                        <a:srgbClr val="3f5d7c"/>
                      </a:solidFill>
                      <a:prstDash val="solid"/>
                    </a:lnR>
                    <a:lnT w="7200">
                      <a:solidFill>
                        <a:srgbClr val="3f5d7c"/>
                      </a:solidFill>
                      <a:prstDash val="solid"/>
                    </a:lnT>
                    <a:lnB w="7200">
                      <a:solidFill>
                        <a:srgbClr val="3f5d7c"/>
                      </a:solidFill>
                      <a:prstDash val="solid"/>
                    </a:lnB>
                    <a:solidFill>
                      <a:srgbClr val="0d3151"/>
                    </a:solidFill>
                  </a:tcPr>
                </a:tc>
                <a:tc>
                  <a:txBody>
                    <a:bodyPr lIns="36360" rIns="36360" tIns="36360" bIns="36360" anchor="t">
                      <a:noAutofit/>
                    </a:bodyPr>
                    <a:p>
                      <a:pPr defTabSz="914400">
                        <a:lnSpc>
                          <a:spcPct val="100000"/>
                        </a:lnSpc>
                        <a:tabLst>
                          <a:tab algn="l" pos="0"/>
                        </a:tabLst>
                      </a:pPr>
                      <a:r>
                        <a:rPr b="0" lang="en-US" sz="920" strike="noStrike" u="none">
                          <a:solidFill>
                            <a:srgbClr val="f5f8fc"/>
                          </a:solidFill>
                          <a:effectLst/>
                          <a:uFillTx/>
                          <a:latin typeface="Aptos"/>
                          <a:ea typeface="Aptos"/>
                        </a:rPr>
                        <a:t>Volume management and controlled disposal</a:t>
                      </a:r>
                      <a:endParaRPr b="0" lang="en-US" sz="920" strike="noStrike" u="none">
                        <a:solidFill>
                          <a:srgbClr val="ffffff"/>
                        </a:solidFill>
                        <a:effectLst/>
                        <a:uFillTx/>
                        <a:latin typeface="Arial"/>
                      </a:endParaRPr>
                    </a:p>
                  </a:txBody>
                  <a:tcPr anchor="t" marL="36360" marR="36360">
                    <a:lnL w="7200">
                      <a:solidFill>
                        <a:srgbClr val="3f5d7c"/>
                      </a:solidFill>
                      <a:prstDash val="solid"/>
                    </a:lnL>
                    <a:lnR w="7200">
                      <a:solidFill>
                        <a:srgbClr val="3f5d7c"/>
                      </a:solidFill>
                      <a:prstDash val="solid"/>
                    </a:lnR>
                    <a:lnT w="7200">
                      <a:solidFill>
                        <a:srgbClr val="3f5d7c"/>
                      </a:solidFill>
                      <a:prstDash val="solid"/>
                    </a:lnT>
                    <a:lnB w="7200">
                      <a:solidFill>
                        <a:srgbClr val="3f5d7c"/>
                      </a:solidFill>
                      <a:prstDash val="solid"/>
                    </a:lnB>
                    <a:solidFill>
                      <a:srgbClr val="0d3151"/>
                    </a:solidFill>
                  </a:tcPr>
                </a:tc>
              </a:tr>
              <a:tr h="831960">
                <a:tc>
                  <a:txBody>
                    <a:bodyPr lIns="36360" rIns="36360" tIns="36360" bIns="36360" anchor="t">
                      <a:noAutofit/>
                    </a:bodyPr>
                    <a:p>
                      <a:pPr defTabSz="914400">
                        <a:lnSpc>
                          <a:spcPct val="100000"/>
                        </a:lnSpc>
                        <a:tabLst>
                          <a:tab algn="l" pos="0"/>
                        </a:tabLst>
                      </a:pPr>
                      <a:r>
                        <a:rPr b="0" lang="en-US" sz="920" strike="noStrike" u="none">
                          <a:solidFill>
                            <a:srgbClr val="f5f8fc"/>
                          </a:solidFill>
                          <a:effectLst/>
                          <a:uFillTx/>
                          <a:latin typeface="Aptos"/>
                          <a:ea typeface="Aptos"/>
                        </a:rPr>
                        <a:t>ILW</a:t>
                      </a:r>
                      <a:endParaRPr b="0" lang="en-US" sz="920" strike="noStrike" u="none">
                        <a:solidFill>
                          <a:srgbClr val="ffffff"/>
                        </a:solidFill>
                        <a:effectLst/>
                        <a:uFillTx/>
                        <a:latin typeface="Arial"/>
                      </a:endParaRPr>
                    </a:p>
                  </a:txBody>
                  <a:tcPr anchor="t" marL="36360" marR="36360">
                    <a:lnL w="7200">
                      <a:solidFill>
                        <a:srgbClr val="3f5d7c"/>
                      </a:solidFill>
                      <a:prstDash val="solid"/>
                    </a:lnL>
                    <a:lnR w="7200">
                      <a:solidFill>
                        <a:srgbClr val="3f5d7c"/>
                      </a:solidFill>
                      <a:prstDash val="solid"/>
                    </a:lnR>
                    <a:lnT w="7200">
                      <a:solidFill>
                        <a:srgbClr val="3f5d7c"/>
                      </a:solidFill>
                      <a:prstDash val="solid"/>
                    </a:lnT>
                    <a:lnB w="7200">
                      <a:solidFill>
                        <a:srgbClr val="3f5d7c"/>
                      </a:solidFill>
                      <a:prstDash val="solid"/>
                    </a:lnB>
                    <a:solidFill>
                      <a:srgbClr val="0a2846"/>
                    </a:solidFill>
                  </a:tcPr>
                </a:tc>
                <a:tc>
                  <a:txBody>
                    <a:bodyPr lIns="36360" rIns="36360" tIns="36360" bIns="36360" anchor="t">
                      <a:noAutofit/>
                    </a:bodyPr>
                    <a:p>
                      <a:pPr defTabSz="914400">
                        <a:lnSpc>
                          <a:spcPct val="100000"/>
                        </a:lnSpc>
                        <a:tabLst>
                          <a:tab algn="l" pos="0"/>
                        </a:tabLst>
                      </a:pPr>
                      <a:r>
                        <a:rPr b="0" lang="en-US" sz="920" strike="noStrike" u="none">
                          <a:solidFill>
                            <a:srgbClr val="f5f8fc"/>
                          </a:solidFill>
                          <a:effectLst/>
                          <a:uFillTx/>
                          <a:latin typeface="Aptos"/>
                          <a:ea typeface="Aptos"/>
                        </a:rPr>
                        <a:t>Filters, resins, contaminated components</a:t>
                      </a:r>
                      <a:endParaRPr b="0" lang="en-US" sz="920" strike="noStrike" u="none">
                        <a:solidFill>
                          <a:srgbClr val="ffffff"/>
                        </a:solidFill>
                        <a:effectLst/>
                        <a:uFillTx/>
                        <a:latin typeface="Arial"/>
                      </a:endParaRPr>
                    </a:p>
                  </a:txBody>
                  <a:tcPr anchor="t" marL="36360" marR="36360">
                    <a:lnL w="7200">
                      <a:solidFill>
                        <a:srgbClr val="3f5d7c"/>
                      </a:solidFill>
                      <a:prstDash val="solid"/>
                    </a:lnL>
                    <a:lnR w="7200">
                      <a:solidFill>
                        <a:srgbClr val="3f5d7c"/>
                      </a:solidFill>
                      <a:prstDash val="solid"/>
                    </a:lnR>
                    <a:lnT w="7200">
                      <a:solidFill>
                        <a:srgbClr val="3f5d7c"/>
                      </a:solidFill>
                      <a:prstDash val="solid"/>
                    </a:lnT>
                    <a:lnB w="7200">
                      <a:solidFill>
                        <a:srgbClr val="3f5d7c"/>
                      </a:solidFill>
                      <a:prstDash val="solid"/>
                    </a:lnB>
                    <a:solidFill>
                      <a:srgbClr val="0a2846"/>
                    </a:solidFill>
                  </a:tcPr>
                </a:tc>
                <a:tc>
                  <a:txBody>
                    <a:bodyPr lIns="36360" rIns="36360" tIns="36360" bIns="36360" anchor="t">
                      <a:noAutofit/>
                    </a:bodyPr>
                    <a:p>
                      <a:pPr defTabSz="914400">
                        <a:lnSpc>
                          <a:spcPct val="100000"/>
                        </a:lnSpc>
                        <a:tabLst>
                          <a:tab algn="l" pos="0"/>
                        </a:tabLst>
                      </a:pPr>
                      <a:r>
                        <a:rPr b="0" lang="en-US" sz="920" strike="noStrike" u="none">
                          <a:solidFill>
                            <a:srgbClr val="f5f8fc"/>
                          </a:solidFill>
                          <a:effectLst/>
                          <a:uFillTx/>
                          <a:latin typeface="Aptos"/>
                          <a:ea typeface="Aptos"/>
                        </a:rPr>
                        <a:t>Shielding and solidification needs</a:t>
                      </a:r>
                      <a:endParaRPr b="0" lang="en-US" sz="920" strike="noStrike" u="none">
                        <a:solidFill>
                          <a:srgbClr val="ffffff"/>
                        </a:solidFill>
                        <a:effectLst/>
                        <a:uFillTx/>
                        <a:latin typeface="Arial"/>
                      </a:endParaRPr>
                    </a:p>
                  </a:txBody>
                  <a:tcPr anchor="t" marL="36360" marR="36360">
                    <a:lnL w="7200">
                      <a:solidFill>
                        <a:srgbClr val="3f5d7c"/>
                      </a:solidFill>
                      <a:prstDash val="solid"/>
                    </a:lnL>
                    <a:lnR w="7200">
                      <a:solidFill>
                        <a:srgbClr val="3f5d7c"/>
                      </a:solidFill>
                      <a:prstDash val="solid"/>
                    </a:lnR>
                    <a:lnT w="7200">
                      <a:solidFill>
                        <a:srgbClr val="3f5d7c"/>
                      </a:solidFill>
                      <a:prstDash val="solid"/>
                    </a:lnT>
                    <a:lnB w="7200">
                      <a:solidFill>
                        <a:srgbClr val="3f5d7c"/>
                      </a:solidFill>
                      <a:prstDash val="solid"/>
                    </a:lnB>
                    <a:solidFill>
                      <a:srgbClr val="0a2846"/>
                    </a:solidFill>
                  </a:tcPr>
                </a:tc>
              </a:tr>
              <a:tr h="831960">
                <a:tc>
                  <a:txBody>
                    <a:bodyPr lIns="36360" rIns="36360" tIns="36360" bIns="36360" anchor="t">
                      <a:noAutofit/>
                    </a:bodyPr>
                    <a:p>
                      <a:pPr defTabSz="914400">
                        <a:lnSpc>
                          <a:spcPct val="100000"/>
                        </a:lnSpc>
                        <a:tabLst>
                          <a:tab algn="l" pos="0"/>
                        </a:tabLst>
                      </a:pPr>
                      <a:r>
                        <a:rPr b="0" lang="en-US" sz="920" strike="noStrike" u="none">
                          <a:solidFill>
                            <a:srgbClr val="f5f8fc"/>
                          </a:solidFill>
                          <a:effectLst/>
                          <a:uFillTx/>
                          <a:latin typeface="Aptos"/>
                          <a:ea typeface="Aptos"/>
                        </a:rPr>
                        <a:t>HLW</a:t>
                      </a:r>
                      <a:endParaRPr b="0" lang="en-US" sz="920" strike="noStrike" u="none">
                        <a:solidFill>
                          <a:srgbClr val="ffffff"/>
                        </a:solidFill>
                        <a:effectLst/>
                        <a:uFillTx/>
                        <a:latin typeface="Arial"/>
                      </a:endParaRPr>
                    </a:p>
                  </a:txBody>
                  <a:tcPr anchor="t" marL="36360" marR="36360">
                    <a:lnL w="7200">
                      <a:solidFill>
                        <a:srgbClr val="3f5d7c"/>
                      </a:solidFill>
                      <a:prstDash val="solid"/>
                    </a:lnL>
                    <a:lnR w="7200">
                      <a:solidFill>
                        <a:srgbClr val="3f5d7c"/>
                      </a:solidFill>
                      <a:prstDash val="solid"/>
                    </a:lnR>
                    <a:lnT w="7200">
                      <a:solidFill>
                        <a:srgbClr val="3f5d7c"/>
                      </a:solidFill>
                      <a:prstDash val="solid"/>
                    </a:lnT>
                    <a:lnB w="7200">
                      <a:solidFill>
                        <a:srgbClr val="3f5d7c"/>
                      </a:solidFill>
                      <a:prstDash val="solid"/>
                    </a:lnB>
                    <a:solidFill>
                      <a:srgbClr val="0d3151"/>
                    </a:solidFill>
                  </a:tcPr>
                </a:tc>
                <a:tc>
                  <a:txBody>
                    <a:bodyPr lIns="36360" rIns="36360" tIns="36360" bIns="36360" anchor="t">
                      <a:noAutofit/>
                    </a:bodyPr>
                    <a:p>
                      <a:pPr defTabSz="914400">
                        <a:lnSpc>
                          <a:spcPct val="100000"/>
                        </a:lnSpc>
                        <a:tabLst>
                          <a:tab algn="l" pos="0"/>
                        </a:tabLst>
                      </a:pPr>
                      <a:r>
                        <a:rPr b="0" lang="en-US" sz="920" strike="noStrike" u="none">
                          <a:solidFill>
                            <a:srgbClr val="f5f8fc"/>
                          </a:solidFill>
                          <a:effectLst/>
                          <a:uFillTx/>
                          <a:latin typeface="Aptos"/>
                          <a:ea typeface="Aptos"/>
                        </a:rPr>
                        <a:t>Spent fuel</a:t>
                      </a:r>
                      <a:endParaRPr b="0" lang="en-US" sz="920" strike="noStrike" u="none">
                        <a:solidFill>
                          <a:srgbClr val="ffffff"/>
                        </a:solidFill>
                        <a:effectLst/>
                        <a:uFillTx/>
                        <a:latin typeface="Arial"/>
                      </a:endParaRPr>
                    </a:p>
                  </a:txBody>
                  <a:tcPr anchor="t" marL="36360" marR="36360">
                    <a:lnL w="7200">
                      <a:solidFill>
                        <a:srgbClr val="3f5d7c"/>
                      </a:solidFill>
                      <a:prstDash val="solid"/>
                    </a:lnL>
                    <a:lnR w="7200">
                      <a:solidFill>
                        <a:srgbClr val="3f5d7c"/>
                      </a:solidFill>
                      <a:prstDash val="solid"/>
                    </a:lnR>
                    <a:lnT w="7200">
                      <a:solidFill>
                        <a:srgbClr val="3f5d7c"/>
                      </a:solidFill>
                      <a:prstDash val="solid"/>
                    </a:lnT>
                    <a:lnB w="7200">
                      <a:solidFill>
                        <a:srgbClr val="3f5d7c"/>
                      </a:solidFill>
                      <a:prstDash val="solid"/>
                    </a:lnB>
                    <a:solidFill>
                      <a:srgbClr val="0d3151"/>
                    </a:solidFill>
                  </a:tcPr>
                </a:tc>
                <a:tc>
                  <a:txBody>
                    <a:bodyPr lIns="36360" rIns="36360" tIns="36360" bIns="36360" anchor="t">
                      <a:noAutofit/>
                    </a:bodyPr>
                    <a:p>
                      <a:pPr defTabSz="914400">
                        <a:lnSpc>
                          <a:spcPct val="100000"/>
                        </a:lnSpc>
                        <a:tabLst>
                          <a:tab algn="l" pos="0"/>
                        </a:tabLst>
                      </a:pPr>
                      <a:r>
                        <a:rPr b="0" lang="en-US" sz="920" strike="noStrike" u="none">
                          <a:solidFill>
                            <a:srgbClr val="f5f8fc"/>
                          </a:solidFill>
                          <a:effectLst/>
                          <a:uFillTx/>
                          <a:latin typeface="Aptos"/>
                          <a:ea typeface="Aptos"/>
                        </a:rPr>
                        <a:t>High radioactivity, heat and long-term isolation</a:t>
                      </a:r>
                      <a:endParaRPr b="0" lang="en-US" sz="920" strike="noStrike" u="none">
                        <a:solidFill>
                          <a:srgbClr val="ffffff"/>
                        </a:solidFill>
                        <a:effectLst/>
                        <a:uFillTx/>
                        <a:latin typeface="Arial"/>
                      </a:endParaRPr>
                    </a:p>
                  </a:txBody>
                  <a:tcPr anchor="t" marL="36360" marR="36360">
                    <a:lnL w="7200">
                      <a:solidFill>
                        <a:srgbClr val="3f5d7c"/>
                      </a:solidFill>
                      <a:prstDash val="solid"/>
                    </a:lnL>
                    <a:lnR w="7200">
                      <a:solidFill>
                        <a:srgbClr val="3f5d7c"/>
                      </a:solidFill>
                      <a:prstDash val="solid"/>
                    </a:lnR>
                    <a:lnT w="7200">
                      <a:solidFill>
                        <a:srgbClr val="3f5d7c"/>
                      </a:solidFill>
                      <a:prstDash val="solid"/>
                    </a:lnT>
                    <a:lnB w="7200">
                      <a:solidFill>
                        <a:srgbClr val="3f5d7c"/>
                      </a:solidFill>
                      <a:prstDash val="solid"/>
                    </a:lnB>
                    <a:solidFill>
                      <a:srgbClr val="0d3151"/>
                    </a:solidFill>
                  </a:tcPr>
                </a:tc>
              </a:tr>
              <a:tr h="831960">
                <a:tc>
                  <a:txBody>
                    <a:bodyPr lIns="36360" rIns="36360" tIns="36360" bIns="36360" anchor="t">
                      <a:noAutofit/>
                    </a:bodyPr>
                    <a:p>
                      <a:pPr defTabSz="914400">
                        <a:lnSpc>
                          <a:spcPct val="100000"/>
                        </a:lnSpc>
                        <a:tabLst>
                          <a:tab algn="l" pos="0"/>
                        </a:tabLst>
                      </a:pPr>
                      <a:r>
                        <a:rPr b="0" lang="en-US" sz="920" strike="noStrike" u="none">
                          <a:solidFill>
                            <a:srgbClr val="f5f8fc"/>
                          </a:solidFill>
                          <a:effectLst/>
                          <a:uFillTx/>
                          <a:latin typeface="Aptos"/>
                          <a:ea typeface="Aptos"/>
                        </a:rPr>
                        <a:t>Spent fuel</a:t>
                      </a:r>
                      <a:endParaRPr b="0" lang="en-US" sz="920" strike="noStrike" u="none">
                        <a:solidFill>
                          <a:srgbClr val="ffffff"/>
                        </a:solidFill>
                        <a:effectLst/>
                        <a:uFillTx/>
                        <a:latin typeface="Arial"/>
                      </a:endParaRPr>
                    </a:p>
                  </a:txBody>
                  <a:tcPr anchor="t" marL="36360" marR="36360">
                    <a:lnL w="7200">
                      <a:solidFill>
                        <a:srgbClr val="3f5d7c"/>
                      </a:solidFill>
                      <a:prstDash val="solid"/>
                    </a:lnL>
                    <a:lnR w="7200">
                      <a:solidFill>
                        <a:srgbClr val="3f5d7c"/>
                      </a:solidFill>
                      <a:prstDash val="solid"/>
                    </a:lnR>
                    <a:lnT w="7200">
                      <a:solidFill>
                        <a:srgbClr val="3f5d7c"/>
                      </a:solidFill>
                      <a:prstDash val="solid"/>
                    </a:lnT>
                    <a:lnB w="7200">
                      <a:solidFill>
                        <a:srgbClr val="3f5d7c"/>
                      </a:solidFill>
                      <a:prstDash val="solid"/>
                    </a:lnB>
                    <a:solidFill>
                      <a:srgbClr val="0a2846"/>
                    </a:solidFill>
                  </a:tcPr>
                </a:tc>
                <a:tc>
                  <a:txBody>
                    <a:bodyPr lIns="36360" rIns="36360" tIns="36360" bIns="36360" anchor="t">
                      <a:noAutofit/>
                    </a:bodyPr>
                    <a:p>
                      <a:pPr defTabSz="914400">
                        <a:lnSpc>
                          <a:spcPct val="100000"/>
                        </a:lnSpc>
                        <a:tabLst>
                          <a:tab algn="l" pos="0"/>
                        </a:tabLst>
                      </a:pPr>
                      <a:r>
                        <a:rPr b="0" lang="en-US" sz="920" strike="noStrike" u="none">
                          <a:solidFill>
                            <a:srgbClr val="f5f8fc"/>
                          </a:solidFill>
                          <a:effectLst/>
                          <a:uFillTx/>
                          <a:latin typeface="Aptos"/>
                          <a:ea typeface="Aptos"/>
                        </a:rPr>
                        <a:t>Used fuel assemblies</a:t>
                      </a:r>
                      <a:endParaRPr b="0" lang="en-US" sz="920" strike="noStrike" u="none">
                        <a:solidFill>
                          <a:srgbClr val="ffffff"/>
                        </a:solidFill>
                        <a:effectLst/>
                        <a:uFillTx/>
                        <a:latin typeface="Arial"/>
                      </a:endParaRPr>
                    </a:p>
                  </a:txBody>
                  <a:tcPr anchor="t" marL="36360" marR="36360">
                    <a:lnL w="7200">
                      <a:solidFill>
                        <a:srgbClr val="3f5d7c"/>
                      </a:solidFill>
                      <a:prstDash val="solid"/>
                    </a:lnL>
                    <a:lnR w="7200">
                      <a:solidFill>
                        <a:srgbClr val="3f5d7c"/>
                      </a:solidFill>
                      <a:prstDash val="solid"/>
                    </a:lnR>
                    <a:lnT w="7200">
                      <a:solidFill>
                        <a:srgbClr val="3f5d7c"/>
                      </a:solidFill>
                      <a:prstDash val="solid"/>
                    </a:lnT>
                    <a:lnB w="7200">
                      <a:solidFill>
                        <a:srgbClr val="3f5d7c"/>
                      </a:solidFill>
                      <a:prstDash val="solid"/>
                    </a:lnB>
                    <a:solidFill>
                      <a:srgbClr val="0a2846"/>
                    </a:solidFill>
                  </a:tcPr>
                </a:tc>
                <a:tc>
                  <a:txBody>
                    <a:bodyPr lIns="36360" rIns="36360" tIns="36360" bIns="36360" anchor="t">
                      <a:noAutofit/>
                    </a:bodyPr>
                    <a:p>
                      <a:pPr defTabSz="914400">
                        <a:lnSpc>
                          <a:spcPct val="100000"/>
                        </a:lnSpc>
                        <a:tabLst>
                          <a:tab algn="l" pos="0"/>
                        </a:tabLst>
                      </a:pPr>
                      <a:r>
                        <a:rPr b="0" lang="en-US" sz="920" strike="noStrike" u="none">
                          <a:solidFill>
                            <a:srgbClr val="f5f8fc"/>
                          </a:solidFill>
                          <a:effectLst/>
                          <a:uFillTx/>
                          <a:latin typeface="Aptos"/>
                          <a:ea typeface="Aptos"/>
                        </a:rPr>
                        <a:t>Cooling, storage and secure transfer</a:t>
                      </a:r>
                      <a:endParaRPr b="0" lang="en-US" sz="920" strike="noStrike" u="none">
                        <a:solidFill>
                          <a:srgbClr val="ffffff"/>
                        </a:solidFill>
                        <a:effectLst/>
                        <a:uFillTx/>
                        <a:latin typeface="Arial"/>
                      </a:endParaRPr>
                    </a:p>
                  </a:txBody>
                  <a:tcPr anchor="t" marL="36360" marR="36360">
                    <a:lnL w="7200">
                      <a:solidFill>
                        <a:srgbClr val="3f5d7c"/>
                      </a:solidFill>
                      <a:prstDash val="solid"/>
                    </a:lnL>
                    <a:lnR w="7200">
                      <a:solidFill>
                        <a:srgbClr val="3f5d7c"/>
                      </a:solidFill>
                      <a:prstDash val="solid"/>
                    </a:lnR>
                    <a:lnT w="7200">
                      <a:solidFill>
                        <a:srgbClr val="3f5d7c"/>
                      </a:solidFill>
                      <a:prstDash val="solid"/>
                    </a:lnT>
                    <a:lnB w="7200">
                      <a:solidFill>
                        <a:srgbClr val="3f5d7c"/>
                      </a:solidFill>
                      <a:prstDash val="solid"/>
                    </a:lnB>
                    <a:solidFill>
                      <a:srgbClr val="0a2846"/>
                    </a:solidFill>
                  </a:tcPr>
                </a:tc>
              </a:tr>
            </a:tbl>
          </a:graphicData>
        </a:graphic>
      </p:graphicFrame>
      <p:sp>
        <p:nvSpPr>
          <p:cNvPr id="735" name="Shape 8"/>
          <p:cNvSpPr/>
          <p:nvPr/>
        </p:nvSpPr>
        <p:spPr>
          <a:xfrm>
            <a:off x="914400" y="5623560"/>
            <a:ext cx="10332360" cy="685440"/>
          </a:xfrm>
          <a:prstGeom prst="roundRect">
            <a:avLst>
              <a:gd name="adj" fmla="val 16000"/>
            </a:avLst>
          </a:prstGeom>
          <a:solidFill>
            <a:srgbClr val="0e2d4f">
              <a:alpha val="93000"/>
            </a:srgbClr>
          </a:solidFill>
          <a:ln w="12700">
            <a:solidFill>
              <a:srgbClr val="50d69b">
                <a:alpha val="7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736" name="Text 9"/>
          <p:cNvSpPr/>
          <p:nvPr/>
        </p:nvSpPr>
        <p:spPr>
          <a:xfrm>
            <a:off x="1078920" y="5742360"/>
            <a:ext cx="1000332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50d69b"/>
                </a:solidFill>
                <a:effectLst/>
                <a:uFillTx/>
                <a:latin typeface="Aptos"/>
              </a:rPr>
              <a:t>Source-deck position</a:t>
            </a:r>
            <a:endParaRPr b="0" lang="en-US" sz="1600" strike="noStrike" u="none">
              <a:solidFill>
                <a:srgbClr val="ffffff"/>
              </a:solidFill>
              <a:effectLst/>
              <a:uFillTx/>
              <a:latin typeface="Arial"/>
            </a:endParaRPr>
          </a:p>
        </p:txBody>
      </p:sp>
      <p:sp>
        <p:nvSpPr>
          <p:cNvPr id="737" name="Text 10"/>
          <p:cNvSpPr/>
          <p:nvPr/>
        </p:nvSpPr>
        <p:spPr>
          <a:xfrm>
            <a:off x="1134000" y="6126480"/>
            <a:ext cx="9893520" cy="118440"/>
          </a:xfrm>
          <a:prstGeom prst="rect">
            <a:avLst/>
          </a:prstGeom>
          <a:noFill/>
          <a:ln w="0">
            <a:noFill/>
          </a:ln>
        </p:spPr>
        <p:style>
          <a:lnRef idx="0"/>
          <a:fillRef idx="0"/>
          <a:effectRef idx="0"/>
          <a:fontRef idx="minor"/>
        </p:style>
        <p:txBody>
          <a:bodyPr lIns="1080" rIns="1080" tIns="1080" bIns="1080" anchor="t">
            <a:normAutofit fontScale="70000" lnSpcReduction="19999"/>
          </a:bodyPr>
          <a:p>
            <a:pPr defTabSz="914400">
              <a:lnSpc>
                <a:spcPct val="100000"/>
              </a:lnSpc>
            </a:pPr>
            <a:r>
              <a:rPr b="0" lang="en-US" sz="1300" strike="noStrike" u="none">
                <a:solidFill>
                  <a:srgbClr val="f5f8fc"/>
                </a:solidFill>
                <a:effectLst/>
                <a:uFillTx/>
                <a:latin typeface="Aptos"/>
                <a:ea typeface="Aptos"/>
              </a:rPr>
              <a:t>The source deck states that all hazardous spent nuclear fuel is securely managed and transported back to Russia under oversight.</a:t>
            </a:r>
            <a:endParaRPr b="0" lang="en-US" sz="1300" strike="noStrike" u="none">
              <a:solidFill>
                <a:srgbClr val="ffffff"/>
              </a:solidFill>
              <a:effectLst/>
              <a:uFillTx/>
              <a:latin typeface="Arial"/>
            </a:endParaRPr>
          </a:p>
        </p:txBody>
      </p:sp>
    </p:spTree>
  </p:cSld>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6172f"/>
        </a:solidFill>
      </p:bgPr>
    </p:bg>
    <p:spTree>
      <p:nvGrpSpPr>
        <p:cNvPr id="1" name=""/>
        <p:cNvGrpSpPr/>
        <p:nvPr/>
      </p:nvGrpSpPr>
      <p:grpSpPr>
        <a:xfrm>
          <a:off x="0" y="0"/>
          <a:ext cx="0" cy="0"/>
          <a:chOff x="0" y="0"/>
          <a:chExt cx="0" cy="0"/>
        </a:xfrm>
      </p:grpSpPr>
      <p:sp>
        <p:nvSpPr>
          <p:cNvPr id="738" name="Shape 0"/>
          <p:cNvSpPr/>
          <p:nvPr/>
        </p:nvSpPr>
        <p:spPr>
          <a:xfrm>
            <a:off x="0" y="0"/>
            <a:ext cx="12191400" cy="6857640"/>
          </a:xfrm>
          <a:prstGeom prst="rect">
            <a:avLst/>
          </a:prstGeom>
          <a:solidFill>
            <a:srgbClr val="06172f"/>
          </a:solidFill>
          <a:ln w="12700">
            <a:solidFill>
              <a:srgbClr val="06172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739" name="Shape 1"/>
          <p:cNvSpPr/>
          <p:nvPr/>
        </p:nvSpPr>
        <p:spPr>
          <a:xfrm>
            <a:off x="7680960" y="-1005840"/>
            <a:ext cx="4388760" cy="2925720"/>
          </a:xfrm>
          <a:prstGeom prst="arc">
            <a:avLst>
              <a:gd name="adj1" fmla="val 16200000"/>
              <a:gd name="adj2" fmla="val 0"/>
            </a:avLst>
          </a:prstGeom>
          <a:solidFill>
            <a:srgbClr val="0e3a68">
              <a:alpha val="75000"/>
            </a:srgbClr>
          </a:solidFill>
          <a:ln w="12700">
            <a:solidFill>
              <a:srgbClr val="0e3a68">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740" name="Shape 2"/>
          <p:cNvSpPr/>
          <p:nvPr/>
        </p:nvSpPr>
        <p:spPr>
          <a:xfrm>
            <a:off x="8778240" y="-777240"/>
            <a:ext cx="3474360" cy="2285640"/>
          </a:xfrm>
          <a:prstGeom prst="arc">
            <a:avLst>
              <a:gd name="adj1" fmla="val 16200000"/>
              <a:gd name="adj2" fmla="val 0"/>
            </a:avLst>
          </a:prstGeom>
          <a:solidFill>
            <a:srgbClr val="0b4d5e">
              <a:alpha val="65000"/>
            </a:srgbClr>
          </a:solidFill>
          <a:ln w="12700">
            <a:solidFill>
              <a:srgbClr val="0b4d5e">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741" name="Shape 3"/>
          <p:cNvSpPr/>
          <p:nvPr/>
        </p:nvSpPr>
        <p:spPr>
          <a:xfrm>
            <a:off x="0" y="0"/>
            <a:ext cx="109440" cy="6857640"/>
          </a:xfrm>
          <a:prstGeom prst="rect">
            <a:avLst/>
          </a:prstGeom>
          <a:solidFill>
            <a:srgbClr val="00b078"/>
          </a:solidFill>
          <a:ln w="12700">
            <a:solidFill>
              <a:srgbClr val="00b078">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742" name="Shape 4"/>
          <p:cNvSpPr/>
          <p:nvPr/>
        </p:nvSpPr>
        <p:spPr>
          <a:xfrm>
            <a:off x="320040" y="6565320"/>
            <a:ext cx="11521080" cy="16200"/>
          </a:xfrm>
          <a:prstGeom prst="rect">
            <a:avLst/>
          </a:prstGeom>
          <a:solidFill>
            <a:srgbClr val="435d78"/>
          </a:solidFill>
          <a:ln w="12700">
            <a:solidFill>
              <a:srgbClr val="435d78">
                <a:alpha val="0"/>
              </a:srgbClr>
            </a:solidFill>
            <a:round/>
          </a:ln>
        </p:spPr>
        <p:style>
          <a:lnRef idx="0"/>
          <a:fillRef idx="0"/>
          <a:effectRef idx="0"/>
          <a:fontRef idx="minor"/>
        </p:style>
        <p:txBody>
          <a:bodyPr lIns="90000" rIns="90000" tIns="-28440" bIns="-28440" anchor="t">
            <a:noAutofit/>
          </a:bodyPr>
          <a:p>
            <a:endParaRPr b="0" lang="en-US" sz="1800" strike="noStrike" u="none">
              <a:solidFill>
                <a:srgbClr val="ffffff"/>
              </a:solidFill>
              <a:effectLst/>
              <a:uFillTx/>
              <a:latin typeface="Arial"/>
            </a:endParaRPr>
          </a:p>
        </p:txBody>
      </p:sp>
      <p:sp>
        <p:nvSpPr>
          <p:cNvPr id="743" name="Text 5"/>
          <p:cNvSpPr/>
          <p:nvPr/>
        </p:nvSpPr>
        <p:spPr>
          <a:xfrm>
            <a:off x="11356920" y="6602040"/>
            <a:ext cx="502560" cy="13680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50" strike="noStrike" u="none">
                <a:solidFill>
                  <a:srgbClr val="b0c1d5"/>
                </a:solidFill>
                <a:effectLst/>
                <a:uFillTx/>
                <a:latin typeface="Aptos"/>
                <a:ea typeface="Aptos"/>
              </a:rPr>
              <a:t>24</a:t>
            </a:r>
            <a:endParaRPr b="0" lang="en-US" sz="950" strike="noStrike" u="none">
              <a:solidFill>
                <a:srgbClr val="ffffff"/>
              </a:solidFill>
              <a:effectLst/>
              <a:uFillTx/>
              <a:latin typeface="Arial"/>
            </a:endParaRPr>
          </a:p>
        </p:txBody>
      </p:sp>
      <p:sp>
        <p:nvSpPr>
          <p:cNvPr id="744" name="Text 6"/>
          <p:cNvSpPr/>
          <p:nvPr/>
        </p:nvSpPr>
        <p:spPr>
          <a:xfrm>
            <a:off x="475560" y="228600"/>
            <a:ext cx="10972440" cy="383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500" strike="noStrike" u="none">
                <a:solidFill>
                  <a:srgbClr val="f5f8fc"/>
                </a:solidFill>
                <a:effectLst/>
                <a:uFillTx/>
                <a:latin typeface="Aptos Display"/>
                <a:ea typeface="Aptos Display"/>
              </a:rPr>
              <a:t>Waste Management</a:t>
            </a:r>
            <a:endParaRPr b="0" lang="en-US" sz="2500" strike="noStrike" u="none">
              <a:solidFill>
                <a:srgbClr val="ffffff"/>
              </a:solidFill>
              <a:effectLst/>
              <a:uFillTx/>
              <a:latin typeface="Arial"/>
            </a:endParaRPr>
          </a:p>
        </p:txBody>
      </p:sp>
      <p:sp>
        <p:nvSpPr>
          <p:cNvPr id="745" name="Text 7"/>
          <p:cNvSpPr/>
          <p:nvPr/>
        </p:nvSpPr>
        <p:spPr>
          <a:xfrm>
            <a:off x="502920" y="704160"/>
            <a:ext cx="10835280" cy="255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50" strike="noStrike" u="none">
                <a:solidFill>
                  <a:srgbClr val="b0c1d5"/>
                </a:solidFill>
                <a:effectLst/>
                <a:uFillTx/>
                <a:latin typeface="Aptos"/>
              </a:rPr>
              <a:t>From waste generation to control pathway</a:t>
            </a:r>
            <a:endParaRPr b="0" lang="en-US" sz="1250" strike="noStrike" u="none">
              <a:solidFill>
                <a:srgbClr val="ffffff"/>
              </a:solidFill>
              <a:effectLst/>
              <a:uFillTx/>
              <a:latin typeface="Arial"/>
            </a:endParaRPr>
          </a:p>
        </p:txBody>
      </p:sp>
      <p:sp>
        <p:nvSpPr>
          <p:cNvPr id="746" name="Shape 8"/>
          <p:cNvSpPr/>
          <p:nvPr/>
        </p:nvSpPr>
        <p:spPr>
          <a:xfrm>
            <a:off x="822960" y="1143000"/>
            <a:ext cx="2285640" cy="772200"/>
          </a:xfrm>
          <a:prstGeom prst="roundRect">
            <a:avLst>
              <a:gd name="adj" fmla="val 9467"/>
            </a:avLst>
          </a:prstGeom>
          <a:solidFill>
            <a:srgbClr val="00b078"/>
          </a:solidFill>
          <a:ln w="12700">
            <a:solidFill>
              <a:srgbClr val="00b078">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747" name="Text 9"/>
          <p:cNvSpPr/>
          <p:nvPr/>
        </p:nvSpPr>
        <p:spPr>
          <a:xfrm>
            <a:off x="932760" y="1252800"/>
            <a:ext cx="2066040" cy="5893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100" strike="noStrike" u="none">
                <a:solidFill>
                  <a:srgbClr val="06172f"/>
                </a:solidFill>
                <a:effectLst/>
                <a:uFillTx/>
                <a:latin typeface="Aptos"/>
              </a:rPr>
              <a:t>Waste</a:t>
            </a:r>
            <a:endParaRPr b="0" lang="en-US" sz="1100" strike="noStrike" u="none">
              <a:solidFill>
                <a:srgbClr val="ffffff"/>
              </a:solidFill>
              <a:effectLst/>
              <a:uFillTx/>
              <a:latin typeface="Arial"/>
            </a:endParaRPr>
          </a:p>
          <a:p>
            <a:pPr algn="ctr" defTabSz="914400">
              <a:lnSpc>
                <a:spcPct val="100000"/>
              </a:lnSpc>
              <a:tabLst>
                <a:tab algn="l" pos="0"/>
              </a:tabLst>
            </a:pPr>
            <a:r>
              <a:rPr b="1" lang="en-US" sz="1100" strike="noStrike" u="none">
                <a:solidFill>
                  <a:srgbClr val="06172f"/>
                </a:solidFill>
                <a:effectLst/>
                <a:uFillTx/>
                <a:latin typeface="Aptos"/>
              </a:rPr>
              <a:t>generation</a:t>
            </a:r>
            <a:endParaRPr b="0" lang="en-US" sz="1100" strike="noStrike" u="none">
              <a:solidFill>
                <a:srgbClr val="ffffff"/>
              </a:solidFill>
              <a:effectLst/>
              <a:uFillTx/>
              <a:latin typeface="Arial"/>
            </a:endParaRPr>
          </a:p>
        </p:txBody>
      </p:sp>
      <p:sp>
        <p:nvSpPr>
          <p:cNvPr id="748" name="Shape 10"/>
          <p:cNvSpPr/>
          <p:nvPr/>
        </p:nvSpPr>
        <p:spPr>
          <a:xfrm>
            <a:off x="1856160" y="1897560"/>
            <a:ext cx="219240" cy="145800"/>
          </a:xfrm>
          <a:prstGeom prst="downArrow">
            <a:avLst>
              <a:gd name="adj1" fmla="val 50000"/>
              <a:gd name="adj2" fmla="val 50000"/>
            </a:avLst>
          </a:prstGeom>
          <a:solidFill>
            <a:srgbClr val="b0c1d5"/>
          </a:solidFill>
          <a:ln w="12700">
            <a:solidFill>
              <a:srgbClr val="b0c1d5">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749" name="Shape 11"/>
          <p:cNvSpPr/>
          <p:nvPr/>
        </p:nvSpPr>
        <p:spPr>
          <a:xfrm>
            <a:off x="822960" y="1989000"/>
            <a:ext cx="2285640" cy="772200"/>
          </a:xfrm>
          <a:prstGeom prst="roundRect">
            <a:avLst>
              <a:gd name="adj" fmla="val 9467"/>
            </a:avLst>
          </a:prstGeom>
          <a:solidFill>
            <a:srgbClr val="5bd2ff"/>
          </a:solidFill>
          <a:ln w="12700">
            <a:solidFill>
              <a:srgbClr val="5bd2f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750" name="Text 12"/>
          <p:cNvSpPr/>
          <p:nvPr/>
        </p:nvSpPr>
        <p:spPr>
          <a:xfrm>
            <a:off x="932760" y="2098440"/>
            <a:ext cx="2066040" cy="5893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100" strike="noStrike" u="none">
                <a:solidFill>
                  <a:srgbClr val="06172f"/>
                </a:solidFill>
                <a:effectLst/>
                <a:uFillTx/>
                <a:latin typeface="Aptos"/>
              </a:rPr>
              <a:t>Classification</a:t>
            </a:r>
            <a:endParaRPr b="0" lang="en-US" sz="1100" strike="noStrike" u="none">
              <a:solidFill>
                <a:srgbClr val="ffffff"/>
              </a:solidFill>
              <a:effectLst/>
              <a:uFillTx/>
              <a:latin typeface="Arial"/>
            </a:endParaRPr>
          </a:p>
        </p:txBody>
      </p:sp>
      <p:sp>
        <p:nvSpPr>
          <p:cNvPr id="751" name="Shape 13"/>
          <p:cNvSpPr/>
          <p:nvPr/>
        </p:nvSpPr>
        <p:spPr>
          <a:xfrm>
            <a:off x="1856160" y="2743200"/>
            <a:ext cx="219240" cy="145800"/>
          </a:xfrm>
          <a:prstGeom prst="downArrow">
            <a:avLst>
              <a:gd name="adj1" fmla="val 50000"/>
              <a:gd name="adj2" fmla="val 50000"/>
            </a:avLst>
          </a:prstGeom>
          <a:solidFill>
            <a:srgbClr val="b0c1d5"/>
          </a:solidFill>
          <a:ln w="12700">
            <a:solidFill>
              <a:srgbClr val="b0c1d5">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752" name="Shape 14"/>
          <p:cNvSpPr/>
          <p:nvPr/>
        </p:nvSpPr>
        <p:spPr>
          <a:xfrm>
            <a:off x="822960" y="2834640"/>
            <a:ext cx="2285640" cy="772200"/>
          </a:xfrm>
          <a:prstGeom prst="roundRect">
            <a:avLst>
              <a:gd name="adj" fmla="val 9467"/>
            </a:avLst>
          </a:prstGeom>
          <a:solidFill>
            <a:srgbClr val="50d69b"/>
          </a:solidFill>
          <a:ln w="12700">
            <a:solidFill>
              <a:srgbClr val="50d69b">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753" name="Text 15"/>
          <p:cNvSpPr/>
          <p:nvPr/>
        </p:nvSpPr>
        <p:spPr>
          <a:xfrm>
            <a:off x="932760" y="2944440"/>
            <a:ext cx="2066040" cy="5893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100" strike="noStrike" u="none">
                <a:solidFill>
                  <a:srgbClr val="06172f"/>
                </a:solidFill>
                <a:effectLst/>
                <a:uFillTx/>
                <a:latin typeface="Aptos"/>
              </a:rPr>
              <a:t>Treatment</a:t>
            </a:r>
            <a:endParaRPr b="0" lang="en-US" sz="1100" strike="noStrike" u="none">
              <a:solidFill>
                <a:srgbClr val="ffffff"/>
              </a:solidFill>
              <a:effectLst/>
              <a:uFillTx/>
              <a:latin typeface="Arial"/>
            </a:endParaRPr>
          </a:p>
        </p:txBody>
      </p:sp>
      <p:sp>
        <p:nvSpPr>
          <p:cNvPr id="754" name="Shape 16"/>
          <p:cNvSpPr/>
          <p:nvPr/>
        </p:nvSpPr>
        <p:spPr>
          <a:xfrm>
            <a:off x="1856160" y="3589200"/>
            <a:ext cx="219240" cy="145800"/>
          </a:xfrm>
          <a:prstGeom prst="downArrow">
            <a:avLst>
              <a:gd name="adj1" fmla="val 50000"/>
              <a:gd name="adj2" fmla="val 50000"/>
            </a:avLst>
          </a:prstGeom>
          <a:solidFill>
            <a:srgbClr val="b0c1d5"/>
          </a:solidFill>
          <a:ln w="12700">
            <a:solidFill>
              <a:srgbClr val="b0c1d5">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755" name="Shape 17"/>
          <p:cNvSpPr/>
          <p:nvPr/>
        </p:nvSpPr>
        <p:spPr>
          <a:xfrm>
            <a:off x="822960" y="3680640"/>
            <a:ext cx="2285640" cy="772200"/>
          </a:xfrm>
          <a:prstGeom prst="roundRect">
            <a:avLst>
              <a:gd name="adj" fmla="val 9467"/>
            </a:avLst>
          </a:prstGeom>
          <a:solidFill>
            <a:srgbClr val="1c69a2"/>
          </a:solidFill>
          <a:ln w="12700">
            <a:solidFill>
              <a:srgbClr val="1c69a2">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756" name="Text 18"/>
          <p:cNvSpPr/>
          <p:nvPr/>
        </p:nvSpPr>
        <p:spPr>
          <a:xfrm>
            <a:off x="932760" y="3790080"/>
            <a:ext cx="2066040" cy="5893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100" strike="noStrike" u="none">
                <a:solidFill>
                  <a:srgbClr val="06172f"/>
                </a:solidFill>
                <a:effectLst/>
                <a:uFillTx/>
                <a:latin typeface="Aptos"/>
              </a:rPr>
              <a:t>Temporary</a:t>
            </a:r>
            <a:endParaRPr b="0" lang="en-US" sz="1100" strike="noStrike" u="none">
              <a:solidFill>
                <a:srgbClr val="ffffff"/>
              </a:solidFill>
              <a:effectLst/>
              <a:uFillTx/>
              <a:latin typeface="Arial"/>
            </a:endParaRPr>
          </a:p>
          <a:p>
            <a:pPr algn="ctr" defTabSz="914400">
              <a:lnSpc>
                <a:spcPct val="100000"/>
              </a:lnSpc>
              <a:tabLst>
                <a:tab algn="l" pos="0"/>
              </a:tabLst>
            </a:pPr>
            <a:r>
              <a:rPr b="1" lang="en-US" sz="1100" strike="noStrike" u="none">
                <a:solidFill>
                  <a:srgbClr val="06172f"/>
                </a:solidFill>
                <a:effectLst/>
                <a:uFillTx/>
                <a:latin typeface="Aptos"/>
              </a:rPr>
              <a:t>storage</a:t>
            </a:r>
            <a:endParaRPr b="0" lang="en-US" sz="1100" strike="noStrike" u="none">
              <a:solidFill>
                <a:srgbClr val="ffffff"/>
              </a:solidFill>
              <a:effectLst/>
              <a:uFillTx/>
              <a:latin typeface="Arial"/>
            </a:endParaRPr>
          </a:p>
        </p:txBody>
      </p:sp>
      <p:sp>
        <p:nvSpPr>
          <p:cNvPr id="757" name="Shape 19"/>
          <p:cNvSpPr/>
          <p:nvPr/>
        </p:nvSpPr>
        <p:spPr>
          <a:xfrm>
            <a:off x="1856160" y="4434840"/>
            <a:ext cx="219240" cy="145800"/>
          </a:xfrm>
          <a:prstGeom prst="downArrow">
            <a:avLst>
              <a:gd name="adj1" fmla="val 50000"/>
              <a:gd name="adj2" fmla="val 50000"/>
            </a:avLst>
          </a:prstGeom>
          <a:solidFill>
            <a:srgbClr val="b0c1d5"/>
          </a:solidFill>
          <a:ln w="12700">
            <a:solidFill>
              <a:srgbClr val="b0c1d5">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758" name="Shape 20"/>
          <p:cNvSpPr/>
          <p:nvPr/>
        </p:nvSpPr>
        <p:spPr>
          <a:xfrm>
            <a:off x="822960" y="4526280"/>
            <a:ext cx="2285640" cy="772200"/>
          </a:xfrm>
          <a:prstGeom prst="roundRect">
            <a:avLst>
              <a:gd name="adj" fmla="val 9467"/>
            </a:avLst>
          </a:prstGeom>
          <a:solidFill>
            <a:srgbClr val="f0be49"/>
          </a:solidFill>
          <a:ln w="12700">
            <a:solidFill>
              <a:srgbClr val="f0be49">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759" name="Text 21"/>
          <p:cNvSpPr/>
          <p:nvPr/>
        </p:nvSpPr>
        <p:spPr>
          <a:xfrm>
            <a:off x="932760" y="4636080"/>
            <a:ext cx="2066040" cy="5893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100" strike="noStrike" u="none">
                <a:solidFill>
                  <a:srgbClr val="06172f"/>
                </a:solidFill>
                <a:effectLst/>
                <a:uFillTx/>
                <a:latin typeface="Aptos"/>
              </a:rPr>
              <a:t>Transport /</a:t>
            </a:r>
            <a:endParaRPr b="0" lang="en-US" sz="1100" strike="noStrike" u="none">
              <a:solidFill>
                <a:srgbClr val="ffffff"/>
              </a:solidFill>
              <a:effectLst/>
              <a:uFillTx/>
              <a:latin typeface="Arial"/>
            </a:endParaRPr>
          </a:p>
          <a:p>
            <a:pPr algn="ctr" defTabSz="914400">
              <a:lnSpc>
                <a:spcPct val="100000"/>
              </a:lnSpc>
              <a:tabLst>
                <a:tab algn="l" pos="0"/>
              </a:tabLst>
            </a:pPr>
            <a:r>
              <a:rPr b="1" lang="en-US" sz="1100" strike="noStrike" u="none">
                <a:solidFill>
                  <a:srgbClr val="06172f"/>
                </a:solidFill>
                <a:effectLst/>
                <a:uFillTx/>
                <a:latin typeface="Aptos"/>
              </a:rPr>
              <a:t>return</a:t>
            </a:r>
            <a:endParaRPr b="0" lang="en-US" sz="1100" strike="noStrike" u="none">
              <a:solidFill>
                <a:srgbClr val="ffffff"/>
              </a:solidFill>
              <a:effectLst/>
              <a:uFillTx/>
              <a:latin typeface="Arial"/>
            </a:endParaRPr>
          </a:p>
        </p:txBody>
      </p:sp>
      <p:sp>
        <p:nvSpPr>
          <p:cNvPr id="760" name="Shape 22"/>
          <p:cNvSpPr/>
          <p:nvPr/>
        </p:nvSpPr>
        <p:spPr>
          <a:xfrm>
            <a:off x="1856160" y="5280840"/>
            <a:ext cx="219240" cy="145800"/>
          </a:xfrm>
          <a:prstGeom prst="downArrow">
            <a:avLst>
              <a:gd name="adj1" fmla="val 50000"/>
              <a:gd name="adj2" fmla="val 50000"/>
            </a:avLst>
          </a:prstGeom>
          <a:solidFill>
            <a:srgbClr val="b0c1d5"/>
          </a:solidFill>
          <a:ln w="12700">
            <a:solidFill>
              <a:srgbClr val="b0c1d5">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761" name="Shape 23"/>
          <p:cNvSpPr/>
          <p:nvPr/>
        </p:nvSpPr>
        <p:spPr>
          <a:xfrm>
            <a:off x="822960" y="5372280"/>
            <a:ext cx="2285640" cy="772200"/>
          </a:xfrm>
          <a:prstGeom prst="roundRect">
            <a:avLst>
              <a:gd name="adj" fmla="val 9467"/>
            </a:avLst>
          </a:prstGeom>
          <a:solidFill>
            <a:srgbClr val="00b078"/>
          </a:solidFill>
          <a:ln w="12700">
            <a:solidFill>
              <a:srgbClr val="00b078">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762" name="Text 24"/>
          <p:cNvSpPr/>
          <p:nvPr/>
        </p:nvSpPr>
        <p:spPr>
          <a:xfrm>
            <a:off x="932760" y="5481720"/>
            <a:ext cx="2066040" cy="5893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100" strike="noStrike" u="none">
                <a:solidFill>
                  <a:srgbClr val="06172f"/>
                </a:solidFill>
                <a:effectLst/>
                <a:uFillTx/>
                <a:latin typeface="Aptos"/>
              </a:rPr>
              <a:t>Final</a:t>
            </a:r>
            <a:endParaRPr b="0" lang="en-US" sz="1100" strike="noStrike" u="none">
              <a:solidFill>
                <a:srgbClr val="ffffff"/>
              </a:solidFill>
              <a:effectLst/>
              <a:uFillTx/>
              <a:latin typeface="Arial"/>
            </a:endParaRPr>
          </a:p>
          <a:p>
            <a:pPr algn="ctr" defTabSz="914400">
              <a:lnSpc>
                <a:spcPct val="100000"/>
              </a:lnSpc>
              <a:tabLst>
                <a:tab algn="l" pos="0"/>
              </a:tabLst>
            </a:pPr>
            <a:r>
              <a:rPr b="1" lang="en-US" sz="1100" strike="noStrike" u="none">
                <a:solidFill>
                  <a:srgbClr val="06172f"/>
                </a:solidFill>
                <a:effectLst/>
                <a:uFillTx/>
                <a:latin typeface="Aptos"/>
              </a:rPr>
              <a:t>disposal</a:t>
            </a:r>
            <a:endParaRPr b="0" lang="en-US" sz="1100" strike="noStrike" u="none">
              <a:solidFill>
                <a:srgbClr val="ffffff"/>
              </a:solidFill>
              <a:effectLst/>
              <a:uFillTx/>
              <a:latin typeface="Arial"/>
            </a:endParaRPr>
          </a:p>
        </p:txBody>
      </p:sp>
      <p:sp>
        <p:nvSpPr>
          <p:cNvPr id="763" name="Shape 25"/>
          <p:cNvSpPr/>
          <p:nvPr/>
        </p:nvSpPr>
        <p:spPr>
          <a:xfrm>
            <a:off x="3657600" y="1325880"/>
            <a:ext cx="7634880" cy="1234080"/>
          </a:xfrm>
          <a:prstGeom prst="roundRect">
            <a:avLst>
              <a:gd name="adj" fmla="val 8889"/>
            </a:avLst>
          </a:prstGeom>
          <a:solidFill>
            <a:srgbClr val="0e2d4f">
              <a:alpha val="93000"/>
            </a:srgbClr>
          </a:solidFill>
          <a:ln w="12700">
            <a:solidFill>
              <a:srgbClr val="50d69b">
                <a:alpha val="7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764" name="Text 26"/>
          <p:cNvSpPr/>
          <p:nvPr/>
        </p:nvSpPr>
        <p:spPr>
          <a:xfrm>
            <a:off x="3822120" y="1444680"/>
            <a:ext cx="730584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50d69b"/>
                </a:solidFill>
                <a:effectLst/>
                <a:uFillTx/>
                <a:latin typeface="Aptos"/>
              </a:rPr>
              <a:t>Low and intermediate waste</a:t>
            </a:r>
            <a:endParaRPr b="0" lang="en-US" sz="1600" strike="noStrike" u="none">
              <a:solidFill>
                <a:srgbClr val="ffffff"/>
              </a:solidFill>
              <a:effectLst/>
              <a:uFillTx/>
              <a:latin typeface="Arial"/>
            </a:endParaRPr>
          </a:p>
        </p:txBody>
      </p:sp>
      <p:sp>
        <p:nvSpPr>
          <p:cNvPr id="765" name="Text 27"/>
          <p:cNvSpPr/>
          <p:nvPr/>
        </p:nvSpPr>
        <p:spPr>
          <a:xfrm>
            <a:off x="3877200" y="1828800"/>
            <a:ext cx="7196040" cy="667080"/>
          </a:xfrm>
          <a:prstGeom prst="rect">
            <a:avLst/>
          </a:prstGeom>
          <a:noFill/>
          <a:ln w="0">
            <a:noFill/>
          </a:ln>
        </p:spPr>
        <p:style>
          <a:lnRef idx="0"/>
          <a:fillRef idx="0"/>
          <a:effectRef idx="0"/>
          <a:fontRef idx="minor"/>
        </p:style>
        <p:txBody>
          <a:bodyPr lIns="1080" rIns="1080" tIns="1080" bIns="1080" anchor="t">
            <a:normAutofit/>
          </a:bodyPr>
          <a:p>
            <a:pPr defTabSz="914400">
              <a:lnSpc>
                <a:spcPct val="100000"/>
              </a:lnSpc>
            </a:pPr>
            <a:r>
              <a:rPr b="0" lang="en-US" sz="1300" strike="noStrike" u="none">
                <a:solidFill>
                  <a:srgbClr val="f5f8fc"/>
                </a:solidFill>
                <a:effectLst/>
                <a:uFillTx/>
                <a:latin typeface="Aptos"/>
                <a:ea typeface="Aptos"/>
              </a:rPr>
              <a:t>Tools, clothing, filters and resins are compressed, sealed or solidified depending on waste category and radiation level.</a:t>
            </a:r>
            <a:endParaRPr b="0" lang="en-US" sz="1300" strike="noStrike" u="none">
              <a:solidFill>
                <a:srgbClr val="ffffff"/>
              </a:solidFill>
              <a:effectLst/>
              <a:uFillTx/>
              <a:latin typeface="Arial"/>
            </a:endParaRPr>
          </a:p>
        </p:txBody>
      </p:sp>
      <p:sp>
        <p:nvSpPr>
          <p:cNvPr id="766" name="Shape 28"/>
          <p:cNvSpPr/>
          <p:nvPr/>
        </p:nvSpPr>
        <p:spPr>
          <a:xfrm>
            <a:off x="3657600" y="2880360"/>
            <a:ext cx="7634880" cy="1234080"/>
          </a:xfrm>
          <a:prstGeom prst="roundRect">
            <a:avLst>
              <a:gd name="adj" fmla="val 8889"/>
            </a:avLst>
          </a:prstGeom>
          <a:solidFill>
            <a:srgbClr val="0e2d4f">
              <a:alpha val="93000"/>
            </a:srgbClr>
          </a:solidFill>
          <a:ln w="12700">
            <a:solidFill>
              <a:srgbClr val="5bd2ff">
                <a:alpha val="7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767" name="Text 29"/>
          <p:cNvSpPr/>
          <p:nvPr/>
        </p:nvSpPr>
        <p:spPr>
          <a:xfrm>
            <a:off x="3822120" y="2999160"/>
            <a:ext cx="730584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50d69b"/>
                </a:solidFill>
                <a:effectLst/>
                <a:uFillTx/>
                <a:latin typeface="Aptos"/>
              </a:rPr>
              <a:t>High-level waste</a:t>
            </a:r>
            <a:endParaRPr b="0" lang="en-US" sz="1600" strike="noStrike" u="none">
              <a:solidFill>
                <a:srgbClr val="ffffff"/>
              </a:solidFill>
              <a:effectLst/>
              <a:uFillTx/>
              <a:latin typeface="Arial"/>
            </a:endParaRPr>
          </a:p>
        </p:txBody>
      </p:sp>
      <p:sp>
        <p:nvSpPr>
          <p:cNvPr id="768" name="Text 30"/>
          <p:cNvSpPr/>
          <p:nvPr/>
        </p:nvSpPr>
        <p:spPr>
          <a:xfrm>
            <a:off x="3877200" y="3383280"/>
            <a:ext cx="7196040" cy="667080"/>
          </a:xfrm>
          <a:prstGeom prst="rect">
            <a:avLst/>
          </a:prstGeom>
          <a:noFill/>
          <a:ln w="0">
            <a:noFill/>
          </a:ln>
        </p:spPr>
        <p:style>
          <a:lnRef idx="0"/>
          <a:fillRef idx="0"/>
          <a:effectRef idx="0"/>
          <a:fontRef idx="minor"/>
        </p:style>
        <p:txBody>
          <a:bodyPr lIns="1080" rIns="1080" tIns="1080" bIns="1080" anchor="t">
            <a:normAutofit/>
          </a:bodyPr>
          <a:p>
            <a:pPr defTabSz="914400">
              <a:lnSpc>
                <a:spcPct val="100000"/>
              </a:lnSpc>
            </a:pPr>
            <a:r>
              <a:rPr b="0" lang="en-US" sz="1300" strike="noStrike" u="none">
                <a:solidFill>
                  <a:srgbClr val="f5f8fc"/>
                </a:solidFill>
                <a:effectLst/>
                <a:uFillTx/>
                <a:latin typeface="Aptos"/>
                <a:ea typeface="Aptos"/>
              </a:rPr>
              <a:t>Used fuel is stored in cooled pools and then managed under strict arrangements; the source deck identifies return to Russia as a key strategy.</a:t>
            </a:r>
            <a:endParaRPr b="0" lang="en-US" sz="1300" strike="noStrike" u="none">
              <a:solidFill>
                <a:srgbClr val="ffffff"/>
              </a:solidFill>
              <a:effectLst/>
              <a:uFillTx/>
              <a:latin typeface="Arial"/>
            </a:endParaRPr>
          </a:p>
        </p:txBody>
      </p:sp>
      <p:sp>
        <p:nvSpPr>
          <p:cNvPr id="769" name="Shape 31"/>
          <p:cNvSpPr/>
          <p:nvPr/>
        </p:nvSpPr>
        <p:spPr>
          <a:xfrm>
            <a:off x="3657600" y="4434840"/>
            <a:ext cx="7634880" cy="1142640"/>
          </a:xfrm>
          <a:prstGeom prst="roundRect">
            <a:avLst>
              <a:gd name="adj" fmla="val 9600"/>
            </a:avLst>
          </a:prstGeom>
          <a:solidFill>
            <a:srgbClr val="0e2d4f">
              <a:alpha val="93000"/>
            </a:srgbClr>
          </a:solidFill>
          <a:ln w="12700">
            <a:solidFill>
              <a:srgbClr val="f0be49">
                <a:alpha val="7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770" name="Text 32"/>
          <p:cNvSpPr/>
          <p:nvPr/>
        </p:nvSpPr>
        <p:spPr>
          <a:xfrm>
            <a:off x="3822120" y="4553640"/>
            <a:ext cx="730584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50d69b"/>
                </a:solidFill>
                <a:effectLst/>
                <a:uFillTx/>
                <a:latin typeface="Aptos"/>
              </a:rPr>
              <a:t>Governance need</a:t>
            </a:r>
            <a:endParaRPr b="0" lang="en-US" sz="1600" strike="noStrike" u="none">
              <a:solidFill>
                <a:srgbClr val="ffffff"/>
              </a:solidFill>
              <a:effectLst/>
              <a:uFillTx/>
              <a:latin typeface="Arial"/>
            </a:endParaRPr>
          </a:p>
        </p:txBody>
      </p:sp>
      <p:sp>
        <p:nvSpPr>
          <p:cNvPr id="771" name="Text 33"/>
          <p:cNvSpPr/>
          <p:nvPr/>
        </p:nvSpPr>
        <p:spPr>
          <a:xfrm>
            <a:off x="3877200" y="4937760"/>
            <a:ext cx="7196040" cy="575640"/>
          </a:xfrm>
          <a:prstGeom prst="rect">
            <a:avLst/>
          </a:prstGeom>
          <a:noFill/>
          <a:ln w="0">
            <a:noFill/>
          </a:ln>
        </p:spPr>
        <p:style>
          <a:lnRef idx="0"/>
          <a:fillRef idx="0"/>
          <a:effectRef idx="0"/>
          <a:fontRef idx="minor"/>
        </p:style>
        <p:txBody>
          <a:bodyPr lIns="1080" rIns="1080" tIns="1080" bIns="1080" anchor="t">
            <a:normAutofit/>
          </a:bodyPr>
          <a:p>
            <a:pPr defTabSz="914400">
              <a:lnSpc>
                <a:spcPct val="100000"/>
              </a:lnSpc>
            </a:pPr>
            <a:r>
              <a:rPr b="0" lang="en-US" sz="1300" strike="noStrike" u="none">
                <a:solidFill>
                  <a:srgbClr val="f5f8fc"/>
                </a:solidFill>
                <a:effectLst/>
                <a:uFillTx/>
                <a:latin typeface="Aptos"/>
                <a:ea typeface="Aptos"/>
              </a:rPr>
              <a:t>Waste management requires traceability, security, radiation monitoring, regulatory inspection and transparent reporting.</a:t>
            </a:r>
            <a:endParaRPr b="0" lang="en-US" sz="1300" strike="noStrike" u="none">
              <a:solidFill>
                <a:srgbClr val="ffffff"/>
              </a:solidFill>
              <a:effectLst/>
              <a:uFillTx/>
              <a:latin typeface="Arial"/>
            </a:endParaRPr>
          </a:p>
        </p:txBody>
      </p:sp>
    </p:spTree>
  </p:cSld>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6172f"/>
        </a:solidFill>
      </p:bgPr>
    </p:bg>
    <p:spTree>
      <p:nvGrpSpPr>
        <p:cNvPr id="1" name=""/>
        <p:cNvGrpSpPr/>
        <p:nvPr/>
      </p:nvGrpSpPr>
      <p:grpSpPr>
        <a:xfrm>
          <a:off x="0" y="0"/>
          <a:ext cx="0" cy="0"/>
          <a:chOff x="0" y="0"/>
          <a:chExt cx="0" cy="0"/>
        </a:xfrm>
      </p:grpSpPr>
      <p:sp>
        <p:nvSpPr>
          <p:cNvPr id="772" name="Shape 0"/>
          <p:cNvSpPr/>
          <p:nvPr/>
        </p:nvSpPr>
        <p:spPr>
          <a:xfrm>
            <a:off x="0" y="0"/>
            <a:ext cx="12191400" cy="6857640"/>
          </a:xfrm>
          <a:prstGeom prst="rect">
            <a:avLst/>
          </a:prstGeom>
          <a:solidFill>
            <a:srgbClr val="06172f"/>
          </a:solidFill>
          <a:ln w="12700">
            <a:solidFill>
              <a:srgbClr val="06172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773" name="Shape 1"/>
          <p:cNvSpPr/>
          <p:nvPr/>
        </p:nvSpPr>
        <p:spPr>
          <a:xfrm>
            <a:off x="7680960" y="-1005840"/>
            <a:ext cx="4388760" cy="2925720"/>
          </a:xfrm>
          <a:prstGeom prst="arc">
            <a:avLst>
              <a:gd name="adj1" fmla="val 16200000"/>
              <a:gd name="adj2" fmla="val 0"/>
            </a:avLst>
          </a:prstGeom>
          <a:solidFill>
            <a:srgbClr val="0e3a68">
              <a:alpha val="75000"/>
            </a:srgbClr>
          </a:solidFill>
          <a:ln w="12700">
            <a:solidFill>
              <a:srgbClr val="0e3a68">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774" name="Shape 2"/>
          <p:cNvSpPr/>
          <p:nvPr/>
        </p:nvSpPr>
        <p:spPr>
          <a:xfrm>
            <a:off x="8778240" y="-777240"/>
            <a:ext cx="3474360" cy="2285640"/>
          </a:xfrm>
          <a:prstGeom prst="arc">
            <a:avLst>
              <a:gd name="adj1" fmla="val 16200000"/>
              <a:gd name="adj2" fmla="val 0"/>
            </a:avLst>
          </a:prstGeom>
          <a:solidFill>
            <a:srgbClr val="0b4d5e">
              <a:alpha val="65000"/>
            </a:srgbClr>
          </a:solidFill>
          <a:ln w="12700">
            <a:solidFill>
              <a:srgbClr val="0b4d5e">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775" name="Shape 3"/>
          <p:cNvSpPr/>
          <p:nvPr/>
        </p:nvSpPr>
        <p:spPr>
          <a:xfrm>
            <a:off x="0" y="0"/>
            <a:ext cx="109440" cy="6857640"/>
          </a:xfrm>
          <a:prstGeom prst="rect">
            <a:avLst/>
          </a:prstGeom>
          <a:solidFill>
            <a:srgbClr val="00b078"/>
          </a:solidFill>
          <a:ln w="12700">
            <a:solidFill>
              <a:srgbClr val="00b078">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776" name="Shape 4"/>
          <p:cNvSpPr/>
          <p:nvPr/>
        </p:nvSpPr>
        <p:spPr>
          <a:xfrm>
            <a:off x="320040" y="6565320"/>
            <a:ext cx="11521080" cy="16200"/>
          </a:xfrm>
          <a:prstGeom prst="rect">
            <a:avLst/>
          </a:prstGeom>
          <a:solidFill>
            <a:srgbClr val="435d78"/>
          </a:solidFill>
          <a:ln w="12700">
            <a:solidFill>
              <a:srgbClr val="435d78">
                <a:alpha val="0"/>
              </a:srgbClr>
            </a:solidFill>
            <a:round/>
          </a:ln>
        </p:spPr>
        <p:style>
          <a:lnRef idx="0"/>
          <a:fillRef idx="0"/>
          <a:effectRef idx="0"/>
          <a:fontRef idx="minor"/>
        </p:style>
        <p:txBody>
          <a:bodyPr lIns="90000" rIns="90000" tIns="-28440" bIns="-28440" anchor="t">
            <a:noAutofit/>
          </a:bodyPr>
          <a:p>
            <a:endParaRPr b="0" lang="en-US" sz="1800" strike="noStrike" u="none">
              <a:solidFill>
                <a:srgbClr val="ffffff"/>
              </a:solidFill>
              <a:effectLst/>
              <a:uFillTx/>
              <a:latin typeface="Arial"/>
            </a:endParaRPr>
          </a:p>
        </p:txBody>
      </p:sp>
      <p:sp>
        <p:nvSpPr>
          <p:cNvPr id="777" name="Text 5"/>
          <p:cNvSpPr/>
          <p:nvPr/>
        </p:nvSpPr>
        <p:spPr>
          <a:xfrm>
            <a:off x="11356920" y="6602040"/>
            <a:ext cx="502560" cy="13680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50" strike="noStrike" u="none">
                <a:solidFill>
                  <a:srgbClr val="b0c1d5"/>
                </a:solidFill>
                <a:effectLst/>
                <a:uFillTx/>
                <a:latin typeface="Aptos"/>
                <a:ea typeface="Aptos"/>
              </a:rPr>
              <a:t>25</a:t>
            </a:r>
            <a:endParaRPr b="0" lang="en-US" sz="950" strike="noStrike" u="none">
              <a:solidFill>
                <a:srgbClr val="ffffff"/>
              </a:solidFill>
              <a:effectLst/>
              <a:uFillTx/>
              <a:latin typeface="Arial"/>
            </a:endParaRPr>
          </a:p>
        </p:txBody>
      </p:sp>
      <p:sp>
        <p:nvSpPr>
          <p:cNvPr id="778" name="Text 6"/>
          <p:cNvSpPr/>
          <p:nvPr/>
        </p:nvSpPr>
        <p:spPr>
          <a:xfrm>
            <a:off x="475560" y="228600"/>
            <a:ext cx="10972440" cy="383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500" strike="noStrike" u="none">
                <a:solidFill>
                  <a:srgbClr val="f5f8fc"/>
                </a:solidFill>
                <a:effectLst/>
                <a:uFillTx/>
                <a:latin typeface="Aptos Display"/>
                <a:ea typeface="Aptos Display"/>
              </a:rPr>
              <a:t>Spent Fuel Storage</a:t>
            </a:r>
            <a:endParaRPr b="0" lang="en-US" sz="2500" strike="noStrike" u="none">
              <a:solidFill>
                <a:srgbClr val="ffffff"/>
              </a:solidFill>
              <a:effectLst/>
              <a:uFillTx/>
              <a:latin typeface="Arial"/>
            </a:endParaRPr>
          </a:p>
        </p:txBody>
      </p:sp>
      <p:sp>
        <p:nvSpPr>
          <p:cNvPr id="779" name="Text 7"/>
          <p:cNvSpPr/>
          <p:nvPr/>
        </p:nvSpPr>
        <p:spPr>
          <a:xfrm>
            <a:off x="502920" y="704160"/>
            <a:ext cx="10835280" cy="255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50" strike="noStrike" u="none">
                <a:solidFill>
                  <a:srgbClr val="b0c1d5"/>
                </a:solidFill>
                <a:effectLst/>
                <a:uFillTx/>
                <a:latin typeface="Aptos"/>
              </a:rPr>
              <a:t>Cooling pool and secure temporary storage</a:t>
            </a:r>
            <a:endParaRPr b="0" lang="en-US" sz="1250" strike="noStrike" u="none">
              <a:solidFill>
                <a:srgbClr val="ffffff"/>
              </a:solidFill>
              <a:effectLst/>
              <a:uFillTx/>
              <a:latin typeface="Arial"/>
            </a:endParaRPr>
          </a:p>
        </p:txBody>
      </p:sp>
      <p:sp>
        <p:nvSpPr>
          <p:cNvPr id="780" name="Shape 8"/>
          <p:cNvSpPr/>
          <p:nvPr/>
        </p:nvSpPr>
        <p:spPr>
          <a:xfrm>
            <a:off x="1005840" y="1600200"/>
            <a:ext cx="1928880" cy="749520"/>
          </a:xfrm>
          <a:prstGeom prst="roundRect">
            <a:avLst>
              <a:gd name="adj" fmla="val 12195"/>
            </a:avLst>
          </a:prstGeom>
          <a:solidFill>
            <a:srgbClr val="00b078"/>
          </a:solidFill>
          <a:ln w="12700">
            <a:solidFill>
              <a:srgbClr val="00b078">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781" name="Text 9"/>
          <p:cNvSpPr/>
          <p:nvPr/>
        </p:nvSpPr>
        <p:spPr>
          <a:xfrm>
            <a:off x="1060560" y="1737360"/>
            <a:ext cx="1819440" cy="4935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50" strike="noStrike" u="none">
                <a:solidFill>
                  <a:srgbClr val="06172f"/>
                </a:solidFill>
                <a:effectLst/>
                <a:uFillTx/>
                <a:latin typeface="Aptos"/>
              </a:rPr>
              <a:t>Spent</a:t>
            </a:r>
            <a:endParaRPr b="0" lang="en-US" sz="1050" strike="noStrike" u="none">
              <a:solidFill>
                <a:srgbClr val="ffffff"/>
              </a:solidFill>
              <a:effectLst/>
              <a:uFillTx/>
              <a:latin typeface="Arial"/>
            </a:endParaRPr>
          </a:p>
          <a:p>
            <a:pPr algn="ctr" defTabSz="914400">
              <a:lnSpc>
                <a:spcPct val="100000"/>
              </a:lnSpc>
              <a:tabLst>
                <a:tab algn="l" pos="0"/>
              </a:tabLst>
            </a:pPr>
            <a:r>
              <a:rPr b="1" lang="en-US" sz="1050" strike="noStrike" u="none">
                <a:solidFill>
                  <a:srgbClr val="06172f"/>
                </a:solidFill>
                <a:effectLst/>
                <a:uFillTx/>
                <a:latin typeface="Aptos"/>
              </a:rPr>
              <a:t>Fuel</a:t>
            </a:r>
            <a:endParaRPr b="0" lang="en-US" sz="1050" strike="noStrike" u="none">
              <a:solidFill>
                <a:srgbClr val="ffffff"/>
              </a:solidFill>
              <a:effectLst/>
              <a:uFillTx/>
              <a:latin typeface="Arial"/>
            </a:endParaRPr>
          </a:p>
        </p:txBody>
      </p:sp>
      <p:sp>
        <p:nvSpPr>
          <p:cNvPr id="782" name="Shape 10"/>
          <p:cNvSpPr/>
          <p:nvPr/>
        </p:nvSpPr>
        <p:spPr>
          <a:xfrm>
            <a:off x="2917080" y="1877760"/>
            <a:ext cx="164160" cy="187200"/>
          </a:xfrm>
          <a:prstGeom prst="rightArrow">
            <a:avLst>
              <a:gd name="adj1" fmla="val 50000"/>
              <a:gd name="adj2" fmla="val 50000"/>
            </a:avLst>
          </a:prstGeom>
          <a:solidFill>
            <a:srgbClr val="b0c1d5"/>
          </a:solidFill>
          <a:ln w="12700">
            <a:solidFill>
              <a:srgbClr val="b0c1d5">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783" name="Shape 11"/>
          <p:cNvSpPr/>
          <p:nvPr/>
        </p:nvSpPr>
        <p:spPr>
          <a:xfrm>
            <a:off x="3054240" y="1600200"/>
            <a:ext cx="1928880" cy="749520"/>
          </a:xfrm>
          <a:prstGeom prst="roundRect">
            <a:avLst>
              <a:gd name="adj" fmla="val 12195"/>
            </a:avLst>
          </a:prstGeom>
          <a:solidFill>
            <a:srgbClr val="5bd2ff"/>
          </a:solidFill>
          <a:ln w="12700">
            <a:solidFill>
              <a:srgbClr val="5bd2f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784" name="Text 12"/>
          <p:cNvSpPr/>
          <p:nvPr/>
        </p:nvSpPr>
        <p:spPr>
          <a:xfrm>
            <a:off x="3108960" y="1737360"/>
            <a:ext cx="1819440" cy="4935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50" strike="noStrike" u="none">
                <a:solidFill>
                  <a:srgbClr val="06172f"/>
                </a:solidFill>
                <a:effectLst/>
                <a:uFillTx/>
                <a:latin typeface="Aptos"/>
              </a:rPr>
              <a:t>Cooling</a:t>
            </a:r>
            <a:endParaRPr b="0" lang="en-US" sz="1050" strike="noStrike" u="none">
              <a:solidFill>
                <a:srgbClr val="ffffff"/>
              </a:solidFill>
              <a:effectLst/>
              <a:uFillTx/>
              <a:latin typeface="Arial"/>
            </a:endParaRPr>
          </a:p>
          <a:p>
            <a:pPr algn="ctr" defTabSz="914400">
              <a:lnSpc>
                <a:spcPct val="100000"/>
              </a:lnSpc>
              <a:tabLst>
                <a:tab algn="l" pos="0"/>
              </a:tabLst>
            </a:pPr>
            <a:r>
              <a:rPr b="1" lang="en-US" sz="1050" strike="noStrike" u="none">
                <a:solidFill>
                  <a:srgbClr val="06172f"/>
                </a:solidFill>
                <a:effectLst/>
                <a:uFillTx/>
                <a:latin typeface="Aptos"/>
              </a:rPr>
              <a:t>Pool</a:t>
            </a:r>
            <a:endParaRPr b="0" lang="en-US" sz="1050" strike="noStrike" u="none">
              <a:solidFill>
                <a:srgbClr val="ffffff"/>
              </a:solidFill>
              <a:effectLst/>
              <a:uFillTx/>
              <a:latin typeface="Arial"/>
            </a:endParaRPr>
          </a:p>
        </p:txBody>
      </p:sp>
      <p:sp>
        <p:nvSpPr>
          <p:cNvPr id="785" name="Shape 13"/>
          <p:cNvSpPr/>
          <p:nvPr/>
        </p:nvSpPr>
        <p:spPr>
          <a:xfrm>
            <a:off x="4965120" y="1877760"/>
            <a:ext cx="164160" cy="187200"/>
          </a:xfrm>
          <a:prstGeom prst="rightArrow">
            <a:avLst>
              <a:gd name="adj1" fmla="val 50000"/>
              <a:gd name="adj2" fmla="val 50000"/>
            </a:avLst>
          </a:prstGeom>
          <a:solidFill>
            <a:srgbClr val="b0c1d5"/>
          </a:solidFill>
          <a:ln w="12700">
            <a:solidFill>
              <a:srgbClr val="b0c1d5">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786" name="Shape 14"/>
          <p:cNvSpPr/>
          <p:nvPr/>
        </p:nvSpPr>
        <p:spPr>
          <a:xfrm>
            <a:off x="5102280" y="1600200"/>
            <a:ext cx="1928880" cy="749520"/>
          </a:xfrm>
          <a:prstGeom prst="roundRect">
            <a:avLst>
              <a:gd name="adj" fmla="val 12195"/>
            </a:avLst>
          </a:prstGeom>
          <a:solidFill>
            <a:srgbClr val="50d69b"/>
          </a:solidFill>
          <a:ln w="12700">
            <a:solidFill>
              <a:srgbClr val="50d69b">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787" name="Text 15"/>
          <p:cNvSpPr/>
          <p:nvPr/>
        </p:nvSpPr>
        <p:spPr>
          <a:xfrm>
            <a:off x="5157360" y="1737360"/>
            <a:ext cx="1819440" cy="4935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50" strike="noStrike" u="none">
                <a:solidFill>
                  <a:srgbClr val="06172f"/>
                </a:solidFill>
                <a:effectLst/>
                <a:uFillTx/>
                <a:latin typeface="Aptos"/>
              </a:rPr>
              <a:t>Temporary</a:t>
            </a:r>
            <a:endParaRPr b="0" lang="en-US" sz="1050" strike="noStrike" u="none">
              <a:solidFill>
                <a:srgbClr val="ffffff"/>
              </a:solidFill>
              <a:effectLst/>
              <a:uFillTx/>
              <a:latin typeface="Arial"/>
            </a:endParaRPr>
          </a:p>
          <a:p>
            <a:pPr algn="ctr" defTabSz="914400">
              <a:lnSpc>
                <a:spcPct val="100000"/>
              </a:lnSpc>
              <a:tabLst>
                <a:tab algn="l" pos="0"/>
              </a:tabLst>
            </a:pPr>
            <a:r>
              <a:rPr b="1" lang="en-US" sz="1050" strike="noStrike" u="none">
                <a:solidFill>
                  <a:srgbClr val="06172f"/>
                </a:solidFill>
                <a:effectLst/>
                <a:uFillTx/>
                <a:latin typeface="Aptos"/>
              </a:rPr>
              <a:t>Storage</a:t>
            </a:r>
            <a:endParaRPr b="0" lang="en-US" sz="1050" strike="noStrike" u="none">
              <a:solidFill>
                <a:srgbClr val="ffffff"/>
              </a:solidFill>
              <a:effectLst/>
              <a:uFillTx/>
              <a:latin typeface="Arial"/>
            </a:endParaRPr>
          </a:p>
        </p:txBody>
      </p:sp>
      <p:sp>
        <p:nvSpPr>
          <p:cNvPr id="788" name="Shape 16"/>
          <p:cNvSpPr/>
          <p:nvPr/>
        </p:nvSpPr>
        <p:spPr>
          <a:xfrm>
            <a:off x="7013520" y="1877760"/>
            <a:ext cx="164160" cy="187200"/>
          </a:xfrm>
          <a:prstGeom prst="rightArrow">
            <a:avLst>
              <a:gd name="adj1" fmla="val 50000"/>
              <a:gd name="adj2" fmla="val 50000"/>
            </a:avLst>
          </a:prstGeom>
          <a:solidFill>
            <a:srgbClr val="b0c1d5"/>
          </a:solidFill>
          <a:ln w="12700">
            <a:solidFill>
              <a:srgbClr val="b0c1d5">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789" name="Shape 17"/>
          <p:cNvSpPr/>
          <p:nvPr/>
        </p:nvSpPr>
        <p:spPr>
          <a:xfrm>
            <a:off x="7150680" y="1600200"/>
            <a:ext cx="1928880" cy="749520"/>
          </a:xfrm>
          <a:prstGeom prst="roundRect">
            <a:avLst>
              <a:gd name="adj" fmla="val 12195"/>
            </a:avLst>
          </a:prstGeom>
          <a:solidFill>
            <a:srgbClr val="1c69a2"/>
          </a:solidFill>
          <a:ln w="12700">
            <a:solidFill>
              <a:srgbClr val="1c69a2">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790" name="Text 18"/>
          <p:cNvSpPr/>
          <p:nvPr/>
        </p:nvSpPr>
        <p:spPr>
          <a:xfrm>
            <a:off x="7205400" y="1737360"/>
            <a:ext cx="1819440" cy="4935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50" strike="noStrike" u="none">
                <a:solidFill>
                  <a:srgbClr val="06172f"/>
                </a:solidFill>
                <a:effectLst/>
                <a:uFillTx/>
                <a:latin typeface="Aptos"/>
              </a:rPr>
              <a:t>Treatment</a:t>
            </a:r>
            <a:endParaRPr b="0" lang="en-US" sz="1050" strike="noStrike" u="none">
              <a:solidFill>
                <a:srgbClr val="ffffff"/>
              </a:solidFill>
              <a:effectLst/>
              <a:uFillTx/>
              <a:latin typeface="Arial"/>
            </a:endParaRPr>
          </a:p>
        </p:txBody>
      </p:sp>
      <p:sp>
        <p:nvSpPr>
          <p:cNvPr id="791" name="Shape 19"/>
          <p:cNvSpPr/>
          <p:nvPr/>
        </p:nvSpPr>
        <p:spPr>
          <a:xfrm>
            <a:off x="9061560" y="1877760"/>
            <a:ext cx="164160" cy="187200"/>
          </a:xfrm>
          <a:prstGeom prst="rightArrow">
            <a:avLst>
              <a:gd name="adj1" fmla="val 50000"/>
              <a:gd name="adj2" fmla="val 50000"/>
            </a:avLst>
          </a:prstGeom>
          <a:solidFill>
            <a:srgbClr val="b0c1d5"/>
          </a:solidFill>
          <a:ln w="12700">
            <a:solidFill>
              <a:srgbClr val="b0c1d5">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792" name="Shape 20"/>
          <p:cNvSpPr/>
          <p:nvPr/>
        </p:nvSpPr>
        <p:spPr>
          <a:xfrm>
            <a:off x="9198720" y="1600200"/>
            <a:ext cx="1928880" cy="749520"/>
          </a:xfrm>
          <a:prstGeom prst="roundRect">
            <a:avLst>
              <a:gd name="adj" fmla="val 12195"/>
            </a:avLst>
          </a:prstGeom>
          <a:solidFill>
            <a:srgbClr val="f0be49"/>
          </a:solidFill>
          <a:ln w="12700">
            <a:solidFill>
              <a:srgbClr val="f0be49">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793" name="Text 21"/>
          <p:cNvSpPr/>
          <p:nvPr/>
        </p:nvSpPr>
        <p:spPr>
          <a:xfrm>
            <a:off x="9253800" y="1737360"/>
            <a:ext cx="1819440" cy="4935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50" strike="noStrike" u="none">
                <a:solidFill>
                  <a:srgbClr val="06172f"/>
                </a:solidFill>
                <a:effectLst/>
                <a:uFillTx/>
                <a:latin typeface="Aptos"/>
              </a:rPr>
              <a:t>Final</a:t>
            </a:r>
            <a:endParaRPr b="0" lang="en-US" sz="1050" strike="noStrike" u="none">
              <a:solidFill>
                <a:srgbClr val="ffffff"/>
              </a:solidFill>
              <a:effectLst/>
              <a:uFillTx/>
              <a:latin typeface="Arial"/>
            </a:endParaRPr>
          </a:p>
          <a:p>
            <a:pPr algn="ctr" defTabSz="914400">
              <a:lnSpc>
                <a:spcPct val="100000"/>
              </a:lnSpc>
              <a:tabLst>
                <a:tab algn="l" pos="0"/>
              </a:tabLst>
            </a:pPr>
            <a:r>
              <a:rPr b="1" lang="en-US" sz="1050" strike="noStrike" u="none">
                <a:solidFill>
                  <a:srgbClr val="06172f"/>
                </a:solidFill>
                <a:effectLst/>
                <a:uFillTx/>
                <a:latin typeface="Aptos"/>
              </a:rPr>
              <a:t>Disposal</a:t>
            </a:r>
            <a:endParaRPr b="0" lang="en-US" sz="1050" strike="noStrike" u="none">
              <a:solidFill>
                <a:srgbClr val="ffffff"/>
              </a:solidFill>
              <a:effectLst/>
              <a:uFillTx/>
              <a:latin typeface="Arial"/>
            </a:endParaRPr>
          </a:p>
        </p:txBody>
      </p:sp>
      <p:sp>
        <p:nvSpPr>
          <p:cNvPr id="794" name="Shape 22"/>
          <p:cNvSpPr/>
          <p:nvPr/>
        </p:nvSpPr>
        <p:spPr>
          <a:xfrm>
            <a:off x="777240" y="2880360"/>
            <a:ext cx="4983120" cy="2468520"/>
          </a:xfrm>
          <a:prstGeom prst="roundRect">
            <a:avLst>
              <a:gd name="adj" fmla="val 4444"/>
            </a:avLst>
          </a:prstGeom>
          <a:solidFill>
            <a:srgbClr val="5bd2ff">
              <a:alpha val="95000"/>
            </a:srgbClr>
          </a:solidFill>
          <a:ln w="12700">
            <a:solidFill>
              <a:srgbClr val="5bd2ff">
                <a:alpha val="7000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795" name="Shape 23"/>
          <p:cNvSpPr/>
          <p:nvPr/>
        </p:nvSpPr>
        <p:spPr>
          <a:xfrm>
            <a:off x="1188720" y="3794760"/>
            <a:ext cx="4114440" cy="685440"/>
          </a:xfrm>
          <a:prstGeom prst="wave">
            <a:avLst>
              <a:gd name="adj1" fmla="val 12500"/>
              <a:gd name="adj2" fmla="val 0"/>
            </a:avLst>
          </a:prstGeom>
          <a:solidFill>
            <a:srgbClr val="1c69a2">
              <a:alpha val="92000"/>
            </a:srgbClr>
          </a:solidFill>
          <a:ln w="12700">
            <a:solidFill>
              <a:srgbClr val="1c69a2">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796" name="Text 24"/>
          <p:cNvSpPr/>
          <p:nvPr/>
        </p:nvSpPr>
        <p:spPr>
          <a:xfrm>
            <a:off x="1188720" y="4800600"/>
            <a:ext cx="4114440" cy="2556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00" strike="noStrike" u="none">
                <a:solidFill>
                  <a:srgbClr val="f5f8fc"/>
                </a:solidFill>
                <a:effectLst/>
                <a:uFillTx/>
                <a:latin typeface="Aptos"/>
              </a:rPr>
              <a:t>Cooling pool schematic</a:t>
            </a:r>
            <a:endParaRPr b="0" lang="en-US" sz="1200" strike="noStrike" u="none">
              <a:solidFill>
                <a:srgbClr val="ffffff"/>
              </a:solidFill>
              <a:effectLst/>
              <a:uFillTx/>
              <a:latin typeface="Arial"/>
            </a:endParaRPr>
          </a:p>
        </p:txBody>
      </p:sp>
      <p:sp>
        <p:nvSpPr>
          <p:cNvPr id="797" name="Shape 25"/>
          <p:cNvSpPr/>
          <p:nvPr/>
        </p:nvSpPr>
        <p:spPr>
          <a:xfrm>
            <a:off x="6263640" y="2834640"/>
            <a:ext cx="5074560" cy="1416960"/>
          </a:xfrm>
          <a:prstGeom prst="roundRect">
            <a:avLst>
              <a:gd name="adj" fmla="val 7742"/>
            </a:avLst>
          </a:prstGeom>
          <a:solidFill>
            <a:srgbClr val="0e2d4f">
              <a:alpha val="93000"/>
            </a:srgbClr>
          </a:solidFill>
          <a:ln w="12700">
            <a:solidFill>
              <a:srgbClr val="50d69b">
                <a:alpha val="7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798" name="Text 26"/>
          <p:cNvSpPr/>
          <p:nvPr/>
        </p:nvSpPr>
        <p:spPr>
          <a:xfrm>
            <a:off x="6428160" y="2953440"/>
            <a:ext cx="474552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50d69b"/>
                </a:solidFill>
                <a:effectLst/>
                <a:uFillTx/>
                <a:latin typeface="Aptos"/>
              </a:rPr>
              <a:t>Why cooling is required</a:t>
            </a:r>
            <a:endParaRPr b="0" lang="en-US" sz="1600" strike="noStrike" u="none">
              <a:solidFill>
                <a:srgbClr val="ffffff"/>
              </a:solidFill>
              <a:effectLst/>
              <a:uFillTx/>
              <a:latin typeface="Arial"/>
            </a:endParaRPr>
          </a:p>
        </p:txBody>
      </p:sp>
      <p:sp>
        <p:nvSpPr>
          <p:cNvPr id="799" name="Text 27"/>
          <p:cNvSpPr/>
          <p:nvPr/>
        </p:nvSpPr>
        <p:spPr>
          <a:xfrm>
            <a:off x="6483240" y="3337560"/>
            <a:ext cx="4635720" cy="849960"/>
          </a:xfrm>
          <a:prstGeom prst="rect">
            <a:avLst/>
          </a:prstGeom>
          <a:noFill/>
          <a:ln w="0">
            <a:noFill/>
          </a:ln>
        </p:spPr>
        <p:style>
          <a:lnRef idx="0"/>
          <a:fillRef idx="0"/>
          <a:effectRef idx="0"/>
          <a:fontRef idx="minor"/>
        </p:style>
        <p:txBody>
          <a:bodyPr lIns="1080" rIns="1080" tIns="1080" bIns="1080" anchor="t">
            <a:normAutofit/>
          </a:bodyPr>
          <a:p>
            <a:pPr defTabSz="914400">
              <a:lnSpc>
                <a:spcPct val="100000"/>
              </a:lnSpc>
            </a:pPr>
            <a:r>
              <a:rPr b="0" lang="en-US" sz="1300" strike="noStrike" u="none">
                <a:solidFill>
                  <a:srgbClr val="f5f8fc"/>
                </a:solidFill>
                <a:effectLst/>
                <a:uFillTx/>
                <a:latin typeface="Aptos"/>
                <a:ea typeface="Aptos"/>
              </a:rPr>
              <a:t>Spent fuel remains thermally hot and highly radioactive after removal from the reactor core. Cooling pools remove decay heat and provide radiation shielding.</a:t>
            </a:r>
            <a:endParaRPr b="0" lang="en-US" sz="1300" strike="noStrike" u="none">
              <a:solidFill>
                <a:srgbClr val="ffffff"/>
              </a:solidFill>
              <a:effectLst/>
              <a:uFillTx/>
              <a:latin typeface="Arial"/>
            </a:endParaRPr>
          </a:p>
        </p:txBody>
      </p:sp>
      <p:sp>
        <p:nvSpPr>
          <p:cNvPr id="800" name="Shape 28"/>
          <p:cNvSpPr/>
          <p:nvPr/>
        </p:nvSpPr>
        <p:spPr>
          <a:xfrm>
            <a:off x="6263640" y="4480560"/>
            <a:ext cx="5074560" cy="1096920"/>
          </a:xfrm>
          <a:prstGeom prst="roundRect">
            <a:avLst>
              <a:gd name="adj" fmla="val 10000"/>
            </a:avLst>
          </a:prstGeom>
          <a:solidFill>
            <a:srgbClr val="0e2d4f">
              <a:alpha val="93000"/>
            </a:srgbClr>
          </a:solidFill>
          <a:ln w="12700">
            <a:solidFill>
              <a:srgbClr val="f0be49">
                <a:alpha val="7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801" name="Text 29"/>
          <p:cNvSpPr/>
          <p:nvPr/>
        </p:nvSpPr>
        <p:spPr>
          <a:xfrm>
            <a:off x="6428160" y="4599360"/>
            <a:ext cx="474552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50d69b"/>
                </a:solidFill>
                <a:effectLst/>
                <a:uFillTx/>
                <a:latin typeface="Aptos"/>
              </a:rPr>
              <a:t>EIA focus</a:t>
            </a:r>
            <a:endParaRPr b="0" lang="en-US" sz="1600" strike="noStrike" u="none">
              <a:solidFill>
                <a:srgbClr val="ffffff"/>
              </a:solidFill>
              <a:effectLst/>
              <a:uFillTx/>
              <a:latin typeface="Arial"/>
            </a:endParaRPr>
          </a:p>
        </p:txBody>
      </p:sp>
      <p:sp>
        <p:nvSpPr>
          <p:cNvPr id="802" name="Text 30"/>
          <p:cNvSpPr/>
          <p:nvPr/>
        </p:nvSpPr>
        <p:spPr>
          <a:xfrm>
            <a:off x="6483240" y="4983480"/>
            <a:ext cx="4635720" cy="529920"/>
          </a:xfrm>
          <a:prstGeom prst="rect">
            <a:avLst/>
          </a:prstGeom>
          <a:noFill/>
          <a:ln w="0">
            <a:noFill/>
          </a:ln>
        </p:spPr>
        <p:style>
          <a:lnRef idx="0"/>
          <a:fillRef idx="0"/>
          <a:effectRef idx="0"/>
          <a:fontRef idx="minor"/>
        </p:style>
        <p:txBody>
          <a:bodyPr lIns="1080" rIns="1080" tIns="1080" bIns="1080" anchor="t">
            <a:normAutofit fontScale="92500" lnSpcReduction="9999"/>
          </a:bodyPr>
          <a:p>
            <a:pPr defTabSz="914400">
              <a:lnSpc>
                <a:spcPct val="100000"/>
              </a:lnSpc>
            </a:pPr>
            <a:r>
              <a:rPr b="0" lang="en-US" sz="1300" strike="noStrike" u="none">
                <a:solidFill>
                  <a:srgbClr val="f5f8fc"/>
                </a:solidFill>
                <a:effectLst/>
                <a:uFillTx/>
                <a:latin typeface="Aptos"/>
                <a:ea typeface="Aptos"/>
              </a:rPr>
              <a:t>Spent fuel storage requires water quality control, pool integrity, security, emergency backup and regulatory inspection.</a:t>
            </a:r>
            <a:endParaRPr b="0" lang="en-US" sz="1300" strike="noStrike" u="none">
              <a:solidFill>
                <a:srgbClr val="ffffff"/>
              </a:solidFill>
              <a:effectLst/>
              <a:uFillTx/>
              <a:latin typeface="Arial"/>
            </a:endParaRPr>
          </a:p>
        </p:txBody>
      </p:sp>
    </p:spTree>
  </p:cSld>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6172f"/>
        </a:solidFill>
      </p:bgPr>
    </p:bg>
    <p:spTree>
      <p:nvGrpSpPr>
        <p:cNvPr id="1" name=""/>
        <p:cNvGrpSpPr/>
        <p:nvPr/>
      </p:nvGrpSpPr>
      <p:grpSpPr>
        <a:xfrm>
          <a:off x="0" y="0"/>
          <a:ext cx="0" cy="0"/>
          <a:chOff x="0" y="0"/>
          <a:chExt cx="0" cy="0"/>
        </a:xfrm>
      </p:grpSpPr>
      <p:sp>
        <p:nvSpPr>
          <p:cNvPr id="803" name="Shape 0"/>
          <p:cNvSpPr/>
          <p:nvPr/>
        </p:nvSpPr>
        <p:spPr>
          <a:xfrm>
            <a:off x="0" y="0"/>
            <a:ext cx="12191400" cy="6857640"/>
          </a:xfrm>
          <a:prstGeom prst="rect">
            <a:avLst/>
          </a:prstGeom>
          <a:solidFill>
            <a:srgbClr val="06172f"/>
          </a:solidFill>
          <a:ln w="12700">
            <a:solidFill>
              <a:srgbClr val="06172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804" name="Shape 1"/>
          <p:cNvSpPr/>
          <p:nvPr/>
        </p:nvSpPr>
        <p:spPr>
          <a:xfrm>
            <a:off x="7680960" y="-1005840"/>
            <a:ext cx="4388760" cy="2925720"/>
          </a:xfrm>
          <a:prstGeom prst="arc">
            <a:avLst>
              <a:gd name="adj1" fmla="val 16200000"/>
              <a:gd name="adj2" fmla="val 0"/>
            </a:avLst>
          </a:prstGeom>
          <a:solidFill>
            <a:srgbClr val="0e3a68">
              <a:alpha val="75000"/>
            </a:srgbClr>
          </a:solidFill>
          <a:ln w="12700">
            <a:solidFill>
              <a:srgbClr val="0e3a68">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805" name="Shape 2"/>
          <p:cNvSpPr/>
          <p:nvPr/>
        </p:nvSpPr>
        <p:spPr>
          <a:xfrm>
            <a:off x="8778240" y="-777240"/>
            <a:ext cx="3474360" cy="2285640"/>
          </a:xfrm>
          <a:prstGeom prst="arc">
            <a:avLst>
              <a:gd name="adj1" fmla="val 16200000"/>
              <a:gd name="adj2" fmla="val 0"/>
            </a:avLst>
          </a:prstGeom>
          <a:solidFill>
            <a:srgbClr val="0b4d5e">
              <a:alpha val="65000"/>
            </a:srgbClr>
          </a:solidFill>
          <a:ln w="12700">
            <a:solidFill>
              <a:srgbClr val="0b4d5e">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806" name="Shape 3"/>
          <p:cNvSpPr/>
          <p:nvPr/>
        </p:nvSpPr>
        <p:spPr>
          <a:xfrm>
            <a:off x="0" y="0"/>
            <a:ext cx="109440" cy="6857640"/>
          </a:xfrm>
          <a:prstGeom prst="rect">
            <a:avLst/>
          </a:prstGeom>
          <a:solidFill>
            <a:srgbClr val="00b078"/>
          </a:solidFill>
          <a:ln w="12700">
            <a:solidFill>
              <a:srgbClr val="00b078">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807" name="Shape 4"/>
          <p:cNvSpPr/>
          <p:nvPr/>
        </p:nvSpPr>
        <p:spPr>
          <a:xfrm>
            <a:off x="320040" y="6565320"/>
            <a:ext cx="11521080" cy="16200"/>
          </a:xfrm>
          <a:prstGeom prst="rect">
            <a:avLst/>
          </a:prstGeom>
          <a:solidFill>
            <a:srgbClr val="435d78"/>
          </a:solidFill>
          <a:ln w="12700">
            <a:solidFill>
              <a:srgbClr val="435d78">
                <a:alpha val="0"/>
              </a:srgbClr>
            </a:solidFill>
            <a:round/>
          </a:ln>
        </p:spPr>
        <p:style>
          <a:lnRef idx="0"/>
          <a:fillRef idx="0"/>
          <a:effectRef idx="0"/>
          <a:fontRef idx="minor"/>
        </p:style>
        <p:txBody>
          <a:bodyPr lIns="90000" rIns="90000" tIns="-28440" bIns="-28440" anchor="t">
            <a:noAutofit/>
          </a:bodyPr>
          <a:p>
            <a:endParaRPr b="0" lang="en-US" sz="1800" strike="noStrike" u="none">
              <a:solidFill>
                <a:srgbClr val="ffffff"/>
              </a:solidFill>
              <a:effectLst/>
              <a:uFillTx/>
              <a:latin typeface="Arial"/>
            </a:endParaRPr>
          </a:p>
        </p:txBody>
      </p:sp>
      <p:sp>
        <p:nvSpPr>
          <p:cNvPr id="808" name="Text 5"/>
          <p:cNvSpPr/>
          <p:nvPr/>
        </p:nvSpPr>
        <p:spPr>
          <a:xfrm>
            <a:off x="11356920" y="6602040"/>
            <a:ext cx="502560" cy="13680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50" strike="noStrike" u="none">
                <a:solidFill>
                  <a:srgbClr val="b0c1d5"/>
                </a:solidFill>
                <a:effectLst/>
                <a:uFillTx/>
                <a:latin typeface="Aptos"/>
                <a:ea typeface="Aptos"/>
              </a:rPr>
              <a:t>26</a:t>
            </a:r>
            <a:endParaRPr b="0" lang="en-US" sz="950" strike="noStrike" u="none">
              <a:solidFill>
                <a:srgbClr val="ffffff"/>
              </a:solidFill>
              <a:effectLst/>
              <a:uFillTx/>
              <a:latin typeface="Arial"/>
            </a:endParaRPr>
          </a:p>
        </p:txBody>
      </p:sp>
      <p:sp>
        <p:nvSpPr>
          <p:cNvPr id="809" name="Text 6"/>
          <p:cNvSpPr/>
          <p:nvPr/>
        </p:nvSpPr>
        <p:spPr>
          <a:xfrm>
            <a:off x="475560" y="228600"/>
            <a:ext cx="10972440" cy="383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500" strike="noStrike" u="none">
                <a:solidFill>
                  <a:srgbClr val="f5f8fc"/>
                </a:solidFill>
                <a:effectLst/>
                <a:uFillTx/>
                <a:latin typeface="Aptos Display"/>
                <a:ea typeface="Aptos Display"/>
              </a:rPr>
              <a:t>Safety Management</a:t>
            </a:r>
            <a:endParaRPr b="0" lang="en-US" sz="2500" strike="noStrike" u="none">
              <a:solidFill>
                <a:srgbClr val="ffffff"/>
              </a:solidFill>
              <a:effectLst/>
              <a:uFillTx/>
              <a:latin typeface="Arial"/>
            </a:endParaRPr>
          </a:p>
        </p:txBody>
      </p:sp>
      <p:sp>
        <p:nvSpPr>
          <p:cNvPr id="810" name="Text 7"/>
          <p:cNvSpPr/>
          <p:nvPr/>
        </p:nvSpPr>
        <p:spPr>
          <a:xfrm>
            <a:off x="502920" y="704160"/>
            <a:ext cx="10835280" cy="255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50" strike="noStrike" u="none">
                <a:solidFill>
                  <a:srgbClr val="b0c1d5"/>
                </a:solidFill>
                <a:effectLst/>
                <a:uFillTx/>
                <a:latin typeface="Aptos"/>
              </a:rPr>
              <a:t>Institutional and technical control system</a:t>
            </a:r>
            <a:endParaRPr b="0" lang="en-US" sz="1250" strike="noStrike" u="none">
              <a:solidFill>
                <a:srgbClr val="ffffff"/>
              </a:solidFill>
              <a:effectLst/>
              <a:uFillTx/>
              <a:latin typeface="Arial"/>
            </a:endParaRPr>
          </a:p>
        </p:txBody>
      </p:sp>
      <p:sp>
        <p:nvSpPr>
          <p:cNvPr id="811" name="Shape 8"/>
          <p:cNvSpPr/>
          <p:nvPr/>
        </p:nvSpPr>
        <p:spPr>
          <a:xfrm>
            <a:off x="685800" y="1234440"/>
            <a:ext cx="5074560" cy="1416960"/>
          </a:xfrm>
          <a:prstGeom prst="roundRect">
            <a:avLst>
              <a:gd name="adj" fmla="val 7742"/>
            </a:avLst>
          </a:prstGeom>
          <a:solidFill>
            <a:srgbClr val="0e2d4f">
              <a:alpha val="93000"/>
            </a:srgbClr>
          </a:solidFill>
          <a:ln w="12700">
            <a:solidFill>
              <a:srgbClr val="00b078">
                <a:alpha val="7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812" name="Text 9"/>
          <p:cNvSpPr/>
          <p:nvPr/>
        </p:nvSpPr>
        <p:spPr>
          <a:xfrm>
            <a:off x="850320" y="1353240"/>
            <a:ext cx="474552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50d69b"/>
                </a:solidFill>
                <a:effectLst/>
                <a:uFillTx/>
                <a:latin typeface="Aptos"/>
              </a:rPr>
              <a:t>Technical safety</a:t>
            </a:r>
            <a:endParaRPr b="0" lang="en-US" sz="1600" strike="noStrike" u="none">
              <a:solidFill>
                <a:srgbClr val="ffffff"/>
              </a:solidFill>
              <a:effectLst/>
              <a:uFillTx/>
              <a:latin typeface="Arial"/>
            </a:endParaRPr>
          </a:p>
        </p:txBody>
      </p:sp>
      <p:sp>
        <p:nvSpPr>
          <p:cNvPr id="813" name="Text 10"/>
          <p:cNvSpPr/>
          <p:nvPr/>
        </p:nvSpPr>
        <p:spPr>
          <a:xfrm>
            <a:off x="905400" y="1737360"/>
            <a:ext cx="4635720" cy="849960"/>
          </a:xfrm>
          <a:prstGeom prst="rect">
            <a:avLst/>
          </a:prstGeom>
          <a:noFill/>
          <a:ln w="0">
            <a:noFill/>
          </a:ln>
        </p:spPr>
        <p:style>
          <a:lnRef idx="0"/>
          <a:fillRef idx="0"/>
          <a:effectRef idx="0"/>
          <a:fontRef idx="minor"/>
        </p:style>
        <p:txBody>
          <a:bodyPr lIns="1080" rIns="1080" tIns="1080" bIns="1080" anchor="t">
            <a:normAutofit/>
          </a:bodyPr>
          <a:p>
            <a:pPr defTabSz="914400">
              <a:lnSpc>
                <a:spcPct val="100000"/>
              </a:lnSpc>
            </a:pPr>
            <a:r>
              <a:rPr b="0" lang="en-US" sz="1300" strike="noStrike" u="none">
                <a:solidFill>
                  <a:srgbClr val="f5f8fc"/>
                </a:solidFill>
                <a:effectLst/>
                <a:uFillTx/>
                <a:latin typeface="Aptos"/>
                <a:ea typeface="Aptos"/>
              </a:rPr>
              <a:t>VVER‑1200 technology, double containment, core catcher and passive safety systems are presented as major engineering controls.</a:t>
            </a:r>
            <a:endParaRPr b="0" lang="en-US" sz="1300" strike="noStrike" u="none">
              <a:solidFill>
                <a:srgbClr val="ffffff"/>
              </a:solidFill>
              <a:effectLst/>
              <a:uFillTx/>
              <a:latin typeface="Arial"/>
            </a:endParaRPr>
          </a:p>
        </p:txBody>
      </p:sp>
      <p:sp>
        <p:nvSpPr>
          <p:cNvPr id="814" name="Shape 11"/>
          <p:cNvSpPr/>
          <p:nvPr/>
        </p:nvSpPr>
        <p:spPr>
          <a:xfrm>
            <a:off x="6263640" y="1234440"/>
            <a:ext cx="5074560" cy="1416960"/>
          </a:xfrm>
          <a:prstGeom prst="roundRect">
            <a:avLst>
              <a:gd name="adj" fmla="val 7742"/>
            </a:avLst>
          </a:prstGeom>
          <a:solidFill>
            <a:srgbClr val="0e2d4f">
              <a:alpha val="93000"/>
            </a:srgbClr>
          </a:solidFill>
          <a:ln w="12700">
            <a:solidFill>
              <a:srgbClr val="5bd2ff">
                <a:alpha val="7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815" name="Text 12"/>
          <p:cNvSpPr/>
          <p:nvPr/>
        </p:nvSpPr>
        <p:spPr>
          <a:xfrm>
            <a:off x="6428160" y="1353240"/>
            <a:ext cx="474552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50d69b"/>
                </a:solidFill>
                <a:effectLst/>
                <a:uFillTx/>
                <a:latin typeface="Aptos"/>
              </a:rPr>
              <a:t>Operational safety</a:t>
            </a:r>
            <a:endParaRPr b="0" lang="en-US" sz="1600" strike="noStrike" u="none">
              <a:solidFill>
                <a:srgbClr val="ffffff"/>
              </a:solidFill>
              <a:effectLst/>
              <a:uFillTx/>
              <a:latin typeface="Arial"/>
            </a:endParaRPr>
          </a:p>
        </p:txBody>
      </p:sp>
      <p:sp>
        <p:nvSpPr>
          <p:cNvPr id="816" name="Text 13"/>
          <p:cNvSpPr/>
          <p:nvPr/>
        </p:nvSpPr>
        <p:spPr>
          <a:xfrm>
            <a:off x="6483240" y="1737360"/>
            <a:ext cx="4635720" cy="849960"/>
          </a:xfrm>
          <a:prstGeom prst="rect">
            <a:avLst/>
          </a:prstGeom>
          <a:noFill/>
          <a:ln w="0">
            <a:noFill/>
          </a:ln>
        </p:spPr>
        <p:style>
          <a:lnRef idx="0"/>
          <a:fillRef idx="0"/>
          <a:effectRef idx="0"/>
          <a:fontRef idx="minor"/>
        </p:style>
        <p:txBody>
          <a:bodyPr lIns="1080" rIns="1080" tIns="1080" bIns="1080" anchor="t">
            <a:normAutofit/>
          </a:bodyPr>
          <a:p>
            <a:pPr defTabSz="914400">
              <a:lnSpc>
                <a:spcPct val="100000"/>
              </a:lnSpc>
            </a:pPr>
            <a:r>
              <a:rPr b="0" lang="en-US" sz="1300" strike="noStrike" u="none">
                <a:solidFill>
                  <a:srgbClr val="f5f8fc"/>
                </a:solidFill>
                <a:effectLst/>
                <a:uFillTx/>
                <a:latin typeface="Aptos"/>
                <a:ea typeface="Aptos"/>
              </a:rPr>
              <a:t>Safety management depends on trained staff, maintenance culture, monitoring, reporting, emergency drills and regulatory compliance.</a:t>
            </a:r>
            <a:endParaRPr b="0" lang="en-US" sz="1300" strike="noStrike" u="none">
              <a:solidFill>
                <a:srgbClr val="ffffff"/>
              </a:solidFill>
              <a:effectLst/>
              <a:uFillTx/>
              <a:latin typeface="Arial"/>
            </a:endParaRPr>
          </a:p>
        </p:txBody>
      </p:sp>
      <p:sp>
        <p:nvSpPr>
          <p:cNvPr id="817" name="Shape 14"/>
          <p:cNvSpPr/>
          <p:nvPr/>
        </p:nvSpPr>
        <p:spPr>
          <a:xfrm>
            <a:off x="685800" y="3017520"/>
            <a:ext cx="5074560" cy="1416960"/>
          </a:xfrm>
          <a:prstGeom prst="roundRect">
            <a:avLst>
              <a:gd name="adj" fmla="val 7742"/>
            </a:avLst>
          </a:prstGeom>
          <a:solidFill>
            <a:srgbClr val="0e2d4f">
              <a:alpha val="93000"/>
            </a:srgbClr>
          </a:solidFill>
          <a:ln w="12700">
            <a:solidFill>
              <a:srgbClr val="50d69b">
                <a:alpha val="7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818" name="Text 15"/>
          <p:cNvSpPr/>
          <p:nvPr/>
        </p:nvSpPr>
        <p:spPr>
          <a:xfrm>
            <a:off x="850320" y="3136320"/>
            <a:ext cx="474552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50d69b"/>
                </a:solidFill>
                <a:effectLst/>
                <a:uFillTx/>
                <a:latin typeface="Aptos"/>
              </a:rPr>
              <a:t>Environmental safety</a:t>
            </a:r>
            <a:endParaRPr b="0" lang="en-US" sz="1600" strike="noStrike" u="none">
              <a:solidFill>
                <a:srgbClr val="ffffff"/>
              </a:solidFill>
              <a:effectLst/>
              <a:uFillTx/>
              <a:latin typeface="Arial"/>
            </a:endParaRPr>
          </a:p>
        </p:txBody>
      </p:sp>
      <p:sp>
        <p:nvSpPr>
          <p:cNvPr id="819" name="Text 16"/>
          <p:cNvSpPr/>
          <p:nvPr/>
        </p:nvSpPr>
        <p:spPr>
          <a:xfrm>
            <a:off x="905400" y="3520440"/>
            <a:ext cx="4635720" cy="849960"/>
          </a:xfrm>
          <a:prstGeom prst="rect">
            <a:avLst/>
          </a:prstGeom>
          <a:noFill/>
          <a:ln w="0">
            <a:noFill/>
          </a:ln>
        </p:spPr>
        <p:style>
          <a:lnRef idx="0"/>
          <a:fillRef idx="0"/>
          <a:effectRef idx="0"/>
          <a:fontRef idx="minor"/>
        </p:style>
        <p:txBody>
          <a:bodyPr lIns="1080" rIns="1080" tIns="1080" bIns="1080" anchor="t">
            <a:normAutofit/>
          </a:bodyPr>
          <a:p>
            <a:pPr defTabSz="914400">
              <a:lnSpc>
                <a:spcPct val="100000"/>
              </a:lnSpc>
            </a:pPr>
            <a:r>
              <a:rPr b="0" lang="en-US" sz="1300" strike="noStrike" u="none">
                <a:solidFill>
                  <a:srgbClr val="f5f8fc"/>
                </a:solidFill>
                <a:effectLst/>
                <a:uFillTx/>
                <a:latin typeface="Aptos"/>
                <a:ea typeface="Aptos"/>
              </a:rPr>
              <a:t>Water, waste, biodiversity, radiation and thermal monitoring translate technical safety into environmental protection.</a:t>
            </a:r>
            <a:endParaRPr b="0" lang="en-US" sz="1300" strike="noStrike" u="none">
              <a:solidFill>
                <a:srgbClr val="ffffff"/>
              </a:solidFill>
              <a:effectLst/>
              <a:uFillTx/>
              <a:latin typeface="Arial"/>
            </a:endParaRPr>
          </a:p>
        </p:txBody>
      </p:sp>
      <p:sp>
        <p:nvSpPr>
          <p:cNvPr id="820" name="Shape 17"/>
          <p:cNvSpPr/>
          <p:nvPr/>
        </p:nvSpPr>
        <p:spPr>
          <a:xfrm>
            <a:off x="6263640" y="3017520"/>
            <a:ext cx="5074560" cy="1416960"/>
          </a:xfrm>
          <a:prstGeom prst="roundRect">
            <a:avLst>
              <a:gd name="adj" fmla="val 7742"/>
            </a:avLst>
          </a:prstGeom>
          <a:solidFill>
            <a:srgbClr val="0e2d4f">
              <a:alpha val="93000"/>
            </a:srgbClr>
          </a:solidFill>
          <a:ln w="12700">
            <a:solidFill>
              <a:srgbClr val="f0be49">
                <a:alpha val="7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821" name="Text 18"/>
          <p:cNvSpPr/>
          <p:nvPr/>
        </p:nvSpPr>
        <p:spPr>
          <a:xfrm>
            <a:off x="6428160" y="3136320"/>
            <a:ext cx="474552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50d69b"/>
                </a:solidFill>
                <a:effectLst/>
                <a:uFillTx/>
                <a:latin typeface="Aptos"/>
              </a:rPr>
              <a:t>Public safety</a:t>
            </a:r>
            <a:endParaRPr b="0" lang="en-US" sz="1600" strike="noStrike" u="none">
              <a:solidFill>
                <a:srgbClr val="ffffff"/>
              </a:solidFill>
              <a:effectLst/>
              <a:uFillTx/>
              <a:latin typeface="Arial"/>
            </a:endParaRPr>
          </a:p>
        </p:txBody>
      </p:sp>
      <p:sp>
        <p:nvSpPr>
          <p:cNvPr id="822" name="Text 19"/>
          <p:cNvSpPr/>
          <p:nvPr/>
        </p:nvSpPr>
        <p:spPr>
          <a:xfrm>
            <a:off x="6483240" y="3520440"/>
            <a:ext cx="4635720" cy="849960"/>
          </a:xfrm>
          <a:prstGeom prst="rect">
            <a:avLst/>
          </a:prstGeom>
          <a:noFill/>
          <a:ln w="0">
            <a:noFill/>
          </a:ln>
        </p:spPr>
        <p:style>
          <a:lnRef idx="0"/>
          <a:fillRef idx="0"/>
          <a:effectRef idx="0"/>
          <a:fontRef idx="minor"/>
        </p:style>
        <p:txBody>
          <a:bodyPr lIns="1080" rIns="1080" tIns="1080" bIns="1080" anchor="t">
            <a:normAutofit/>
          </a:bodyPr>
          <a:p>
            <a:pPr defTabSz="914400">
              <a:lnSpc>
                <a:spcPct val="100000"/>
              </a:lnSpc>
            </a:pPr>
            <a:r>
              <a:rPr b="0" lang="en-US" sz="1300" strike="noStrike" u="none">
                <a:solidFill>
                  <a:srgbClr val="f5f8fc"/>
                </a:solidFill>
                <a:effectLst/>
                <a:uFillTx/>
                <a:latin typeface="Aptos"/>
                <a:ea typeface="Aptos"/>
              </a:rPr>
              <a:t>Community awareness, emergency preparedness and transparent communication improve trust and preparedness.</a:t>
            </a:r>
            <a:endParaRPr b="0" lang="en-US" sz="1300" strike="noStrike" u="none">
              <a:solidFill>
                <a:srgbClr val="ffffff"/>
              </a:solidFill>
              <a:effectLst/>
              <a:uFillTx/>
              <a:latin typeface="Arial"/>
            </a:endParaRPr>
          </a:p>
        </p:txBody>
      </p:sp>
      <p:sp>
        <p:nvSpPr>
          <p:cNvPr id="823" name="Shape 20"/>
          <p:cNvSpPr/>
          <p:nvPr/>
        </p:nvSpPr>
        <p:spPr>
          <a:xfrm>
            <a:off x="1463040" y="5166360"/>
            <a:ext cx="1746000" cy="566640"/>
          </a:xfrm>
          <a:prstGeom prst="roundRect">
            <a:avLst>
              <a:gd name="adj" fmla="val 16129"/>
            </a:avLst>
          </a:prstGeom>
          <a:solidFill>
            <a:srgbClr val="00b078"/>
          </a:solidFill>
          <a:ln w="12700">
            <a:solidFill>
              <a:srgbClr val="00b078">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824" name="Text 21"/>
          <p:cNvSpPr/>
          <p:nvPr/>
        </p:nvSpPr>
        <p:spPr>
          <a:xfrm>
            <a:off x="1517760" y="5303520"/>
            <a:ext cx="1636560" cy="310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50" strike="noStrike" u="none">
                <a:solidFill>
                  <a:srgbClr val="06172f"/>
                </a:solidFill>
                <a:effectLst/>
                <a:uFillTx/>
                <a:latin typeface="Aptos"/>
              </a:rPr>
              <a:t>Design</a:t>
            </a:r>
            <a:endParaRPr b="0" lang="en-US" sz="1050" strike="noStrike" u="none">
              <a:solidFill>
                <a:srgbClr val="ffffff"/>
              </a:solidFill>
              <a:effectLst/>
              <a:uFillTx/>
              <a:latin typeface="Arial"/>
            </a:endParaRPr>
          </a:p>
        </p:txBody>
      </p:sp>
      <p:sp>
        <p:nvSpPr>
          <p:cNvPr id="825" name="Shape 22"/>
          <p:cNvSpPr/>
          <p:nvPr/>
        </p:nvSpPr>
        <p:spPr>
          <a:xfrm>
            <a:off x="3191400" y="5376240"/>
            <a:ext cx="164160" cy="141480"/>
          </a:xfrm>
          <a:prstGeom prst="rightArrow">
            <a:avLst>
              <a:gd name="adj1" fmla="val 50000"/>
              <a:gd name="adj2" fmla="val 50000"/>
            </a:avLst>
          </a:prstGeom>
          <a:solidFill>
            <a:srgbClr val="b0c1d5"/>
          </a:solidFill>
          <a:ln w="12700">
            <a:solidFill>
              <a:srgbClr val="b0c1d5">
                <a:alpha val="0"/>
              </a:srgbClr>
            </a:solidFill>
            <a:round/>
          </a:ln>
        </p:spPr>
        <p:style>
          <a:lnRef idx="0"/>
          <a:fillRef idx="0"/>
          <a:effectRef idx="0"/>
          <a:fontRef idx="minor"/>
        </p:style>
        <p:txBody>
          <a:bodyPr lIns="90000" rIns="90000" tIns="25920" bIns="25920" anchor="t">
            <a:noAutofit/>
          </a:bodyPr>
          <a:p>
            <a:endParaRPr b="0" lang="en-US" sz="1800" strike="noStrike" u="none">
              <a:solidFill>
                <a:srgbClr val="000000"/>
              </a:solidFill>
              <a:effectLst/>
              <a:uFillTx/>
              <a:latin typeface="Arial"/>
            </a:endParaRPr>
          </a:p>
        </p:txBody>
      </p:sp>
      <p:sp>
        <p:nvSpPr>
          <p:cNvPr id="826" name="Shape 23"/>
          <p:cNvSpPr/>
          <p:nvPr/>
        </p:nvSpPr>
        <p:spPr>
          <a:xfrm>
            <a:off x="3328560" y="5166360"/>
            <a:ext cx="1746000" cy="566640"/>
          </a:xfrm>
          <a:prstGeom prst="roundRect">
            <a:avLst>
              <a:gd name="adj" fmla="val 16129"/>
            </a:avLst>
          </a:prstGeom>
          <a:solidFill>
            <a:srgbClr val="5bd2ff"/>
          </a:solidFill>
          <a:ln w="12700">
            <a:solidFill>
              <a:srgbClr val="5bd2f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827" name="Text 24"/>
          <p:cNvSpPr/>
          <p:nvPr/>
        </p:nvSpPr>
        <p:spPr>
          <a:xfrm>
            <a:off x="3383280" y="5303520"/>
            <a:ext cx="1636560" cy="310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50" strike="noStrike" u="none">
                <a:solidFill>
                  <a:srgbClr val="06172f"/>
                </a:solidFill>
                <a:effectLst/>
                <a:uFillTx/>
                <a:latin typeface="Aptos"/>
              </a:rPr>
              <a:t>Operation</a:t>
            </a:r>
            <a:endParaRPr b="0" lang="en-US" sz="1050" strike="noStrike" u="none">
              <a:solidFill>
                <a:srgbClr val="ffffff"/>
              </a:solidFill>
              <a:effectLst/>
              <a:uFillTx/>
              <a:latin typeface="Arial"/>
            </a:endParaRPr>
          </a:p>
        </p:txBody>
      </p:sp>
      <p:sp>
        <p:nvSpPr>
          <p:cNvPr id="828" name="Shape 25"/>
          <p:cNvSpPr/>
          <p:nvPr/>
        </p:nvSpPr>
        <p:spPr>
          <a:xfrm>
            <a:off x="5056560" y="5376240"/>
            <a:ext cx="164160" cy="141480"/>
          </a:xfrm>
          <a:prstGeom prst="rightArrow">
            <a:avLst>
              <a:gd name="adj1" fmla="val 50000"/>
              <a:gd name="adj2" fmla="val 50000"/>
            </a:avLst>
          </a:prstGeom>
          <a:solidFill>
            <a:srgbClr val="b0c1d5"/>
          </a:solidFill>
          <a:ln w="12700">
            <a:solidFill>
              <a:srgbClr val="b0c1d5">
                <a:alpha val="0"/>
              </a:srgbClr>
            </a:solidFill>
            <a:round/>
          </a:ln>
        </p:spPr>
        <p:style>
          <a:lnRef idx="0"/>
          <a:fillRef idx="0"/>
          <a:effectRef idx="0"/>
          <a:fontRef idx="minor"/>
        </p:style>
        <p:txBody>
          <a:bodyPr lIns="90000" rIns="90000" tIns="25920" bIns="25920" anchor="t">
            <a:noAutofit/>
          </a:bodyPr>
          <a:p>
            <a:endParaRPr b="0" lang="en-US" sz="1800" strike="noStrike" u="none">
              <a:solidFill>
                <a:srgbClr val="000000"/>
              </a:solidFill>
              <a:effectLst/>
              <a:uFillTx/>
              <a:latin typeface="Arial"/>
            </a:endParaRPr>
          </a:p>
        </p:txBody>
      </p:sp>
      <p:sp>
        <p:nvSpPr>
          <p:cNvPr id="829" name="Shape 26"/>
          <p:cNvSpPr/>
          <p:nvPr/>
        </p:nvSpPr>
        <p:spPr>
          <a:xfrm>
            <a:off x="5193720" y="5166360"/>
            <a:ext cx="1746000" cy="566640"/>
          </a:xfrm>
          <a:prstGeom prst="roundRect">
            <a:avLst>
              <a:gd name="adj" fmla="val 16129"/>
            </a:avLst>
          </a:prstGeom>
          <a:solidFill>
            <a:srgbClr val="50d69b"/>
          </a:solidFill>
          <a:ln w="12700">
            <a:solidFill>
              <a:srgbClr val="50d69b">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830" name="Text 27"/>
          <p:cNvSpPr/>
          <p:nvPr/>
        </p:nvSpPr>
        <p:spPr>
          <a:xfrm>
            <a:off x="5248800" y="5303520"/>
            <a:ext cx="1636560" cy="310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50" strike="noStrike" u="none">
                <a:solidFill>
                  <a:srgbClr val="06172f"/>
                </a:solidFill>
                <a:effectLst/>
                <a:uFillTx/>
                <a:latin typeface="Aptos"/>
              </a:rPr>
              <a:t>Monitoring</a:t>
            </a:r>
            <a:endParaRPr b="0" lang="en-US" sz="1050" strike="noStrike" u="none">
              <a:solidFill>
                <a:srgbClr val="ffffff"/>
              </a:solidFill>
              <a:effectLst/>
              <a:uFillTx/>
              <a:latin typeface="Arial"/>
            </a:endParaRPr>
          </a:p>
        </p:txBody>
      </p:sp>
      <p:sp>
        <p:nvSpPr>
          <p:cNvPr id="831" name="Shape 28"/>
          <p:cNvSpPr/>
          <p:nvPr/>
        </p:nvSpPr>
        <p:spPr>
          <a:xfrm>
            <a:off x="6922080" y="5376240"/>
            <a:ext cx="164160" cy="141480"/>
          </a:xfrm>
          <a:prstGeom prst="rightArrow">
            <a:avLst>
              <a:gd name="adj1" fmla="val 50000"/>
              <a:gd name="adj2" fmla="val 50000"/>
            </a:avLst>
          </a:prstGeom>
          <a:solidFill>
            <a:srgbClr val="b0c1d5"/>
          </a:solidFill>
          <a:ln w="12700">
            <a:solidFill>
              <a:srgbClr val="b0c1d5">
                <a:alpha val="0"/>
              </a:srgbClr>
            </a:solidFill>
            <a:round/>
          </a:ln>
        </p:spPr>
        <p:style>
          <a:lnRef idx="0"/>
          <a:fillRef idx="0"/>
          <a:effectRef idx="0"/>
          <a:fontRef idx="minor"/>
        </p:style>
        <p:txBody>
          <a:bodyPr lIns="90000" rIns="90000" tIns="25920" bIns="25920" anchor="t">
            <a:noAutofit/>
          </a:bodyPr>
          <a:p>
            <a:endParaRPr b="0" lang="en-US" sz="1800" strike="noStrike" u="none">
              <a:solidFill>
                <a:srgbClr val="000000"/>
              </a:solidFill>
              <a:effectLst/>
              <a:uFillTx/>
              <a:latin typeface="Arial"/>
            </a:endParaRPr>
          </a:p>
        </p:txBody>
      </p:sp>
      <p:sp>
        <p:nvSpPr>
          <p:cNvPr id="832" name="Shape 29"/>
          <p:cNvSpPr/>
          <p:nvPr/>
        </p:nvSpPr>
        <p:spPr>
          <a:xfrm>
            <a:off x="7059240" y="5166360"/>
            <a:ext cx="1746000" cy="566640"/>
          </a:xfrm>
          <a:prstGeom prst="roundRect">
            <a:avLst>
              <a:gd name="adj" fmla="val 16129"/>
            </a:avLst>
          </a:prstGeom>
          <a:solidFill>
            <a:srgbClr val="1c69a2"/>
          </a:solidFill>
          <a:ln w="12700">
            <a:solidFill>
              <a:srgbClr val="1c69a2">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833" name="Text 30"/>
          <p:cNvSpPr/>
          <p:nvPr/>
        </p:nvSpPr>
        <p:spPr>
          <a:xfrm>
            <a:off x="7113960" y="5303520"/>
            <a:ext cx="1636560" cy="310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50" strike="noStrike" u="none">
                <a:solidFill>
                  <a:srgbClr val="06172f"/>
                </a:solidFill>
                <a:effectLst/>
                <a:uFillTx/>
                <a:latin typeface="Aptos"/>
              </a:rPr>
              <a:t>Regulation</a:t>
            </a:r>
            <a:endParaRPr b="0" lang="en-US" sz="1050" strike="noStrike" u="none">
              <a:solidFill>
                <a:srgbClr val="ffffff"/>
              </a:solidFill>
              <a:effectLst/>
              <a:uFillTx/>
              <a:latin typeface="Arial"/>
            </a:endParaRPr>
          </a:p>
        </p:txBody>
      </p:sp>
      <p:sp>
        <p:nvSpPr>
          <p:cNvPr id="834" name="Shape 31"/>
          <p:cNvSpPr/>
          <p:nvPr/>
        </p:nvSpPr>
        <p:spPr>
          <a:xfrm>
            <a:off x="8787240" y="5376240"/>
            <a:ext cx="164160" cy="141480"/>
          </a:xfrm>
          <a:prstGeom prst="rightArrow">
            <a:avLst>
              <a:gd name="adj1" fmla="val 50000"/>
              <a:gd name="adj2" fmla="val 50000"/>
            </a:avLst>
          </a:prstGeom>
          <a:solidFill>
            <a:srgbClr val="b0c1d5"/>
          </a:solidFill>
          <a:ln w="12700">
            <a:solidFill>
              <a:srgbClr val="b0c1d5">
                <a:alpha val="0"/>
              </a:srgbClr>
            </a:solidFill>
            <a:round/>
          </a:ln>
        </p:spPr>
        <p:style>
          <a:lnRef idx="0"/>
          <a:fillRef idx="0"/>
          <a:effectRef idx="0"/>
          <a:fontRef idx="minor"/>
        </p:style>
        <p:txBody>
          <a:bodyPr lIns="90000" rIns="90000" tIns="25920" bIns="25920" anchor="t">
            <a:noAutofit/>
          </a:bodyPr>
          <a:p>
            <a:endParaRPr b="0" lang="en-US" sz="1800" strike="noStrike" u="none">
              <a:solidFill>
                <a:srgbClr val="000000"/>
              </a:solidFill>
              <a:effectLst/>
              <a:uFillTx/>
              <a:latin typeface="Arial"/>
            </a:endParaRPr>
          </a:p>
        </p:txBody>
      </p:sp>
      <p:sp>
        <p:nvSpPr>
          <p:cNvPr id="835" name="Shape 32"/>
          <p:cNvSpPr/>
          <p:nvPr/>
        </p:nvSpPr>
        <p:spPr>
          <a:xfrm>
            <a:off x="8924400" y="5166360"/>
            <a:ext cx="1746000" cy="566640"/>
          </a:xfrm>
          <a:prstGeom prst="roundRect">
            <a:avLst>
              <a:gd name="adj" fmla="val 16129"/>
            </a:avLst>
          </a:prstGeom>
          <a:solidFill>
            <a:srgbClr val="f0be49"/>
          </a:solidFill>
          <a:ln w="12700">
            <a:solidFill>
              <a:srgbClr val="f0be49">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836" name="Text 33"/>
          <p:cNvSpPr/>
          <p:nvPr/>
        </p:nvSpPr>
        <p:spPr>
          <a:xfrm>
            <a:off x="8979480" y="5303520"/>
            <a:ext cx="1636560" cy="310680"/>
          </a:xfrm>
          <a:prstGeom prst="rect">
            <a:avLst/>
          </a:prstGeom>
          <a:noFill/>
          <a:ln w="0">
            <a:noFill/>
          </a:ln>
        </p:spPr>
        <p:style>
          <a:lnRef idx="0"/>
          <a:fillRef idx="0"/>
          <a:effectRef idx="0"/>
          <a:fontRef idx="minor"/>
        </p:style>
        <p:txBody>
          <a:bodyPr lIns="0" rIns="0" tIns="0" bIns="0" anchor="ctr">
            <a:normAutofit lnSpcReduction="9999"/>
          </a:bodyPr>
          <a:p>
            <a:pPr algn="ctr" defTabSz="914400">
              <a:lnSpc>
                <a:spcPct val="100000"/>
              </a:lnSpc>
              <a:tabLst>
                <a:tab algn="l" pos="0"/>
              </a:tabLst>
            </a:pPr>
            <a:r>
              <a:rPr b="1" lang="en-US" sz="1050" strike="noStrike" u="none">
                <a:solidFill>
                  <a:srgbClr val="06172f"/>
                </a:solidFill>
                <a:effectLst/>
                <a:uFillTx/>
                <a:latin typeface="Aptos"/>
              </a:rPr>
              <a:t>Emergency</a:t>
            </a:r>
            <a:endParaRPr b="0" lang="en-US" sz="1050" strike="noStrike" u="none">
              <a:solidFill>
                <a:srgbClr val="ffffff"/>
              </a:solidFill>
              <a:effectLst/>
              <a:uFillTx/>
              <a:latin typeface="Arial"/>
            </a:endParaRPr>
          </a:p>
          <a:p>
            <a:pPr algn="ctr" defTabSz="914400">
              <a:lnSpc>
                <a:spcPct val="100000"/>
              </a:lnSpc>
              <a:tabLst>
                <a:tab algn="l" pos="0"/>
              </a:tabLst>
            </a:pPr>
            <a:r>
              <a:rPr b="1" lang="en-US" sz="1050" strike="noStrike" u="none">
                <a:solidFill>
                  <a:srgbClr val="06172f"/>
                </a:solidFill>
                <a:effectLst/>
                <a:uFillTx/>
                <a:latin typeface="Aptos"/>
              </a:rPr>
              <a:t>Response</a:t>
            </a:r>
            <a:endParaRPr b="0" lang="en-US" sz="1050" strike="noStrike" u="none">
              <a:solidFill>
                <a:srgbClr val="ffffff"/>
              </a:solidFill>
              <a:effectLst/>
              <a:uFillTx/>
              <a:latin typeface="Arial"/>
            </a:endParaRPr>
          </a:p>
        </p:txBody>
      </p:sp>
    </p:spTree>
  </p:cSld>
  <p:transition spd="med">
    <p:fade/>
  </p:transition>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6172f"/>
        </a:solidFill>
      </p:bgPr>
    </p:bg>
    <p:spTree>
      <p:nvGrpSpPr>
        <p:cNvPr id="1" name=""/>
        <p:cNvGrpSpPr/>
        <p:nvPr/>
      </p:nvGrpSpPr>
      <p:grpSpPr>
        <a:xfrm>
          <a:off x="0" y="0"/>
          <a:ext cx="0" cy="0"/>
          <a:chOff x="0" y="0"/>
          <a:chExt cx="0" cy="0"/>
        </a:xfrm>
      </p:grpSpPr>
      <p:sp>
        <p:nvSpPr>
          <p:cNvPr id="837" name="Shape 0"/>
          <p:cNvSpPr/>
          <p:nvPr/>
        </p:nvSpPr>
        <p:spPr>
          <a:xfrm>
            <a:off x="0" y="0"/>
            <a:ext cx="12191400" cy="6857640"/>
          </a:xfrm>
          <a:prstGeom prst="rect">
            <a:avLst/>
          </a:prstGeom>
          <a:solidFill>
            <a:srgbClr val="06172f"/>
          </a:solidFill>
          <a:ln w="12700">
            <a:solidFill>
              <a:srgbClr val="06172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838" name="Shape 1"/>
          <p:cNvSpPr/>
          <p:nvPr/>
        </p:nvSpPr>
        <p:spPr>
          <a:xfrm>
            <a:off x="7680960" y="-1005840"/>
            <a:ext cx="4388760" cy="2925720"/>
          </a:xfrm>
          <a:prstGeom prst="arc">
            <a:avLst>
              <a:gd name="adj1" fmla="val 16200000"/>
              <a:gd name="adj2" fmla="val 0"/>
            </a:avLst>
          </a:prstGeom>
          <a:solidFill>
            <a:srgbClr val="0e3a68">
              <a:alpha val="75000"/>
            </a:srgbClr>
          </a:solidFill>
          <a:ln w="12700">
            <a:solidFill>
              <a:srgbClr val="0e3a68">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839" name="Shape 2"/>
          <p:cNvSpPr/>
          <p:nvPr/>
        </p:nvSpPr>
        <p:spPr>
          <a:xfrm>
            <a:off x="8778240" y="-777240"/>
            <a:ext cx="3474360" cy="2285640"/>
          </a:xfrm>
          <a:prstGeom prst="arc">
            <a:avLst>
              <a:gd name="adj1" fmla="val 16200000"/>
              <a:gd name="adj2" fmla="val 0"/>
            </a:avLst>
          </a:prstGeom>
          <a:solidFill>
            <a:srgbClr val="0b4d5e">
              <a:alpha val="65000"/>
            </a:srgbClr>
          </a:solidFill>
          <a:ln w="12700">
            <a:solidFill>
              <a:srgbClr val="0b4d5e">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840" name="Shape 3"/>
          <p:cNvSpPr/>
          <p:nvPr/>
        </p:nvSpPr>
        <p:spPr>
          <a:xfrm>
            <a:off x="0" y="0"/>
            <a:ext cx="109440" cy="6857640"/>
          </a:xfrm>
          <a:prstGeom prst="rect">
            <a:avLst/>
          </a:prstGeom>
          <a:solidFill>
            <a:srgbClr val="00b078"/>
          </a:solidFill>
          <a:ln w="12700">
            <a:solidFill>
              <a:srgbClr val="00b078">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841" name="Shape 4"/>
          <p:cNvSpPr/>
          <p:nvPr/>
        </p:nvSpPr>
        <p:spPr>
          <a:xfrm>
            <a:off x="320040" y="6565320"/>
            <a:ext cx="11521080" cy="16200"/>
          </a:xfrm>
          <a:prstGeom prst="rect">
            <a:avLst/>
          </a:prstGeom>
          <a:solidFill>
            <a:srgbClr val="435d78"/>
          </a:solidFill>
          <a:ln w="12700">
            <a:solidFill>
              <a:srgbClr val="435d78">
                <a:alpha val="0"/>
              </a:srgbClr>
            </a:solidFill>
            <a:round/>
          </a:ln>
        </p:spPr>
        <p:style>
          <a:lnRef idx="0"/>
          <a:fillRef idx="0"/>
          <a:effectRef idx="0"/>
          <a:fontRef idx="minor"/>
        </p:style>
        <p:txBody>
          <a:bodyPr lIns="90000" rIns="90000" tIns="-28440" bIns="-28440" anchor="t">
            <a:noAutofit/>
          </a:bodyPr>
          <a:p>
            <a:endParaRPr b="0" lang="en-US" sz="1800" strike="noStrike" u="none">
              <a:solidFill>
                <a:srgbClr val="ffffff"/>
              </a:solidFill>
              <a:effectLst/>
              <a:uFillTx/>
              <a:latin typeface="Arial"/>
            </a:endParaRPr>
          </a:p>
        </p:txBody>
      </p:sp>
      <p:sp>
        <p:nvSpPr>
          <p:cNvPr id="842" name="Text 5"/>
          <p:cNvSpPr/>
          <p:nvPr/>
        </p:nvSpPr>
        <p:spPr>
          <a:xfrm>
            <a:off x="11356920" y="6602040"/>
            <a:ext cx="502560" cy="13680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50" strike="noStrike" u="none">
                <a:solidFill>
                  <a:srgbClr val="b0c1d5"/>
                </a:solidFill>
                <a:effectLst/>
                <a:uFillTx/>
                <a:latin typeface="Aptos"/>
                <a:ea typeface="Aptos"/>
              </a:rPr>
              <a:t>27</a:t>
            </a:r>
            <a:endParaRPr b="0" lang="en-US" sz="950" strike="noStrike" u="none">
              <a:solidFill>
                <a:srgbClr val="ffffff"/>
              </a:solidFill>
              <a:effectLst/>
              <a:uFillTx/>
              <a:latin typeface="Arial"/>
            </a:endParaRPr>
          </a:p>
        </p:txBody>
      </p:sp>
      <p:sp>
        <p:nvSpPr>
          <p:cNvPr id="843" name="Text 6"/>
          <p:cNvSpPr/>
          <p:nvPr/>
        </p:nvSpPr>
        <p:spPr>
          <a:xfrm>
            <a:off x="475560" y="228600"/>
            <a:ext cx="10972440" cy="383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500" strike="noStrike" u="none">
                <a:solidFill>
                  <a:srgbClr val="f5f8fc"/>
                </a:solidFill>
                <a:effectLst/>
                <a:uFillTx/>
                <a:latin typeface="Aptos Display"/>
                <a:ea typeface="Aptos Display"/>
              </a:rPr>
              <a:t>Defense in Depth</a:t>
            </a:r>
            <a:endParaRPr b="0" lang="en-US" sz="2500" strike="noStrike" u="none">
              <a:solidFill>
                <a:srgbClr val="ffffff"/>
              </a:solidFill>
              <a:effectLst/>
              <a:uFillTx/>
              <a:latin typeface="Arial"/>
            </a:endParaRPr>
          </a:p>
        </p:txBody>
      </p:sp>
      <p:sp>
        <p:nvSpPr>
          <p:cNvPr id="844" name="Text 7"/>
          <p:cNvSpPr/>
          <p:nvPr/>
        </p:nvSpPr>
        <p:spPr>
          <a:xfrm>
            <a:off x="502920" y="704160"/>
            <a:ext cx="10835280" cy="255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50" strike="noStrike" u="none">
                <a:solidFill>
                  <a:srgbClr val="b0c1d5"/>
                </a:solidFill>
                <a:effectLst/>
                <a:uFillTx/>
                <a:latin typeface="Aptos"/>
              </a:rPr>
              <a:t>Five-layer protective philosophy</a:t>
            </a:r>
            <a:endParaRPr b="0" lang="en-US" sz="1250" strike="noStrike" u="none">
              <a:solidFill>
                <a:srgbClr val="ffffff"/>
              </a:solidFill>
              <a:effectLst/>
              <a:uFillTx/>
              <a:latin typeface="Arial"/>
            </a:endParaRPr>
          </a:p>
        </p:txBody>
      </p:sp>
      <p:sp>
        <p:nvSpPr>
          <p:cNvPr id="845" name="Shape 8"/>
          <p:cNvSpPr/>
          <p:nvPr/>
        </p:nvSpPr>
        <p:spPr>
          <a:xfrm>
            <a:off x="1143000" y="1234440"/>
            <a:ext cx="9875160" cy="566640"/>
          </a:xfrm>
          <a:prstGeom prst="trapezoid">
            <a:avLst>
              <a:gd name="adj" fmla="val 25000"/>
            </a:avLst>
          </a:prstGeom>
          <a:solidFill>
            <a:srgbClr val="f0be49">
              <a:alpha val="95000"/>
            </a:srgbClr>
          </a:solidFill>
          <a:ln w="12700">
            <a:solidFill>
              <a:srgbClr val="f0be49">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846" name="Text 9"/>
          <p:cNvSpPr/>
          <p:nvPr/>
        </p:nvSpPr>
        <p:spPr>
          <a:xfrm>
            <a:off x="1280160" y="1380600"/>
            <a:ext cx="960084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350" strike="noStrike" u="none">
                <a:solidFill>
                  <a:srgbClr val="06172f"/>
                </a:solidFill>
                <a:effectLst/>
                <a:uFillTx/>
                <a:latin typeface="Aptos"/>
              </a:rPr>
              <a:t>Layer 5: External hazard resistance</a:t>
            </a:r>
            <a:endParaRPr b="0" lang="en-US" sz="1350" strike="noStrike" u="none">
              <a:solidFill>
                <a:srgbClr val="ffffff"/>
              </a:solidFill>
              <a:effectLst/>
              <a:uFillTx/>
              <a:latin typeface="Arial"/>
            </a:endParaRPr>
          </a:p>
        </p:txBody>
      </p:sp>
      <p:sp>
        <p:nvSpPr>
          <p:cNvPr id="847" name="Shape 10"/>
          <p:cNvSpPr/>
          <p:nvPr/>
        </p:nvSpPr>
        <p:spPr>
          <a:xfrm>
            <a:off x="1645920" y="2011680"/>
            <a:ext cx="8869320" cy="566640"/>
          </a:xfrm>
          <a:prstGeom prst="trapezoid">
            <a:avLst>
              <a:gd name="adj" fmla="val 25000"/>
            </a:avLst>
          </a:prstGeom>
          <a:solidFill>
            <a:srgbClr val="5bd2ff">
              <a:alpha val="95000"/>
            </a:srgbClr>
          </a:solidFill>
          <a:ln w="12700">
            <a:solidFill>
              <a:srgbClr val="5bd2f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848" name="Text 11"/>
          <p:cNvSpPr/>
          <p:nvPr/>
        </p:nvSpPr>
        <p:spPr>
          <a:xfrm>
            <a:off x="1783080" y="2157840"/>
            <a:ext cx="859500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350" strike="noStrike" u="none">
                <a:solidFill>
                  <a:srgbClr val="06172f"/>
                </a:solidFill>
                <a:effectLst/>
                <a:uFillTx/>
                <a:latin typeface="Aptos"/>
              </a:rPr>
              <a:t>Layer 4: Double containment dome</a:t>
            </a:r>
            <a:endParaRPr b="0" lang="en-US" sz="1350" strike="noStrike" u="none">
              <a:solidFill>
                <a:srgbClr val="ffffff"/>
              </a:solidFill>
              <a:effectLst/>
              <a:uFillTx/>
              <a:latin typeface="Arial"/>
            </a:endParaRPr>
          </a:p>
        </p:txBody>
      </p:sp>
      <p:sp>
        <p:nvSpPr>
          <p:cNvPr id="849" name="Shape 12"/>
          <p:cNvSpPr/>
          <p:nvPr/>
        </p:nvSpPr>
        <p:spPr>
          <a:xfrm>
            <a:off x="2148840" y="2788920"/>
            <a:ext cx="7863480" cy="566640"/>
          </a:xfrm>
          <a:prstGeom prst="trapezoid">
            <a:avLst>
              <a:gd name="adj" fmla="val 25000"/>
            </a:avLst>
          </a:prstGeom>
          <a:solidFill>
            <a:srgbClr val="50d69b">
              <a:alpha val="95000"/>
            </a:srgbClr>
          </a:solidFill>
          <a:ln w="12700">
            <a:solidFill>
              <a:srgbClr val="50d69b">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850" name="Text 13"/>
          <p:cNvSpPr/>
          <p:nvPr/>
        </p:nvSpPr>
        <p:spPr>
          <a:xfrm>
            <a:off x="2286000" y="2935080"/>
            <a:ext cx="758916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350" strike="noStrike" u="none">
                <a:solidFill>
                  <a:srgbClr val="06172f"/>
                </a:solidFill>
                <a:effectLst/>
                <a:uFillTx/>
                <a:latin typeface="Aptos"/>
              </a:rPr>
              <a:t>Layer 3: Engineered safety systems</a:t>
            </a:r>
            <a:endParaRPr b="0" lang="en-US" sz="1350" strike="noStrike" u="none">
              <a:solidFill>
                <a:srgbClr val="ffffff"/>
              </a:solidFill>
              <a:effectLst/>
              <a:uFillTx/>
              <a:latin typeface="Arial"/>
            </a:endParaRPr>
          </a:p>
        </p:txBody>
      </p:sp>
      <p:sp>
        <p:nvSpPr>
          <p:cNvPr id="851" name="Shape 14"/>
          <p:cNvSpPr/>
          <p:nvPr/>
        </p:nvSpPr>
        <p:spPr>
          <a:xfrm>
            <a:off x="2651760" y="3566160"/>
            <a:ext cx="6857640" cy="566640"/>
          </a:xfrm>
          <a:prstGeom prst="trapezoid">
            <a:avLst>
              <a:gd name="adj" fmla="val 25000"/>
            </a:avLst>
          </a:prstGeom>
          <a:solidFill>
            <a:srgbClr val="00b078">
              <a:alpha val="95000"/>
            </a:srgbClr>
          </a:solidFill>
          <a:ln w="12700">
            <a:solidFill>
              <a:srgbClr val="00b078">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852" name="Text 15"/>
          <p:cNvSpPr/>
          <p:nvPr/>
        </p:nvSpPr>
        <p:spPr>
          <a:xfrm>
            <a:off x="2788920" y="3712320"/>
            <a:ext cx="658332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350" strike="noStrike" u="none">
                <a:solidFill>
                  <a:srgbClr val="06172f"/>
                </a:solidFill>
                <a:effectLst/>
                <a:uFillTx/>
                <a:latin typeface="Aptos"/>
              </a:rPr>
              <a:t>Layer 2: Core catcher and cooling</a:t>
            </a:r>
            <a:endParaRPr b="0" lang="en-US" sz="1350" strike="noStrike" u="none">
              <a:solidFill>
                <a:srgbClr val="ffffff"/>
              </a:solidFill>
              <a:effectLst/>
              <a:uFillTx/>
              <a:latin typeface="Arial"/>
            </a:endParaRPr>
          </a:p>
        </p:txBody>
      </p:sp>
      <p:sp>
        <p:nvSpPr>
          <p:cNvPr id="853" name="Shape 16"/>
          <p:cNvSpPr/>
          <p:nvPr/>
        </p:nvSpPr>
        <p:spPr>
          <a:xfrm>
            <a:off x="3154680" y="4343400"/>
            <a:ext cx="5851800" cy="566640"/>
          </a:xfrm>
          <a:prstGeom prst="trapezoid">
            <a:avLst>
              <a:gd name="adj" fmla="val 25000"/>
            </a:avLst>
          </a:prstGeom>
          <a:solidFill>
            <a:srgbClr val="1c69a2">
              <a:alpha val="95000"/>
            </a:srgbClr>
          </a:solidFill>
          <a:ln w="12700">
            <a:solidFill>
              <a:srgbClr val="1c69a2">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854" name="Text 17"/>
          <p:cNvSpPr/>
          <p:nvPr/>
        </p:nvSpPr>
        <p:spPr>
          <a:xfrm>
            <a:off x="3291840" y="4489560"/>
            <a:ext cx="557748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350" strike="noStrike" u="none">
                <a:solidFill>
                  <a:srgbClr val="06172f"/>
                </a:solidFill>
                <a:effectLst/>
                <a:uFillTx/>
                <a:latin typeface="Aptos"/>
              </a:rPr>
              <a:t>Layer 1: Operational control</a:t>
            </a:r>
            <a:endParaRPr b="0" lang="en-US" sz="1350" strike="noStrike" u="none">
              <a:solidFill>
                <a:srgbClr val="ffffff"/>
              </a:solidFill>
              <a:effectLst/>
              <a:uFillTx/>
              <a:latin typeface="Arial"/>
            </a:endParaRPr>
          </a:p>
        </p:txBody>
      </p:sp>
      <p:sp>
        <p:nvSpPr>
          <p:cNvPr id="855" name="Shape 18"/>
          <p:cNvSpPr/>
          <p:nvPr/>
        </p:nvSpPr>
        <p:spPr>
          <a:xfrm>
            <a:off x="1097280" y="5623560"/>
            <a:ext cx="9966600" cy="685440"/>
          </a:xfrm>
          <a:prstGeom prst="roundRect">
            <a:avLst>
              <a:gd name="adj" fmla="val 16000"/>
            </a:avLst>
          </a:prstGeom>
          <a:solidFill>
            <a:srgbClr val="0e2d4f">
              <a:alpha val="93000"/>
            </a:srgbClr>
          </a:solidFill>
          <a:ln w="12700">
            <a:solidFill>
              <a:srgbClr val="50d69b">
                <a:alpha val="7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856" name="Text 19"/>
          <p:cNvSpPr/>
          <p:nvPr/>
        </p:nvSpPr>
        <p:spPr>
          <a:xfrm>
            <a:off x="1261800" y="5742360"/>
            <a:ext cx="963756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50d69b"/>
                </a:solidFill>
                <a:effectLst/>
                <a:uFillTx/>
                <a:latin typeface="Aptos"/>
              </a:rPr>
              <a:t>Source-deck claim</a:t>
            </a:r>
            <a:endParaRPr b="0" lang="en-US" sz="1600" strike="noStrike" u="none">
              <a:solidFill>
                <a:srgbClr val="ffffff"/>
              </a:solidFill>
              <a:effectLst/>
              <a:uFillTx/>
              <a:latin typeface="Arial"/>
            </a:endParaRPr>
          </a:p>
        </p:txBody>
      </p:sp>
      <p:sp>
        <p:nvSpPr>
          <p:cNvPr id="857" name="Text 20"/>
          <p:cNvSpPr/>
          <p:nvPr/>
        </p:nvSpPr>
        <p:spPr>
          <a:xfrm>
            <a:off x="1316880" y="6126480"/>
            <a:ext cx="9527760" cy="118440"/>
          </a:xfrm>
          <a:prstGeom prst="rect">
            <a:avLst/>
          </a:prstGeom>
          <a:noFill/>
          <a:ln w="0">
            <a:noFill/>
          </a:ln>
        </p:spPr>
        <p:style>
          <a:lnRef idx="0"/>
          <a:fillRef idx="0"/>
          <a:effectRef idx="0"/>
          <a:fontRef idx="minor"/>
        </p:style>
        <p:txBody>
          <a:bodyPr lIns="1080" rIns="1080" tIns="1080" bIns="1080" anchor="t">
            <a:normAutofit fontScale="70000" lnSpcReduction="19999"/>
          </a:bodyPr>
          <a:p>
            <a:pPr defTabSz="914400">
              <a:lnSpc>
                <a:spcPct val="100000"/>
              </a:lnSpc>
            </a:pPr>
            <a:r>
              <a:rPr b="0" lang="en-US" sz="1300" strike="noStrike" u="none">
                <a:solidFill>
                  <a:srgbClr val="f5f8fc"/>
                </a:solidFill>
                <a:effectLst/>
                <a:uFillTx/>
                <a:latin typeface="Aptos"/>
                <a:ea typeface="Aptos"/>
              </a:rPr>
              <a:t>The uploaded deck explicitly mentions five-layer containment, double concrete domes and a core catcher as core safety measures.</a:t>
            </a:r>
            <a:endParaRPr b="0" lang="en-US" sz="1300" strike="noStrike" u="none">
              <a:solidFill>
                <a:srgbClr val="ffffff"/>
              </a:solidFill>
              <a:effectLst/>
              <a:uFillTx/>
              <a:latin typeface="Arial"/>
            </a:endParaRPr>
          </a:p>
        </p:txBody>
      </p:sp>
    </p:spTree>
  </p:cSld>
  <p:transition spd="med">
    <p:fade/>
  </p:transition>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6172f"/>
        </a:solidFill>
      </p:bgPr>
    </p:bg>
    <p:spTree>
      <p:nvGrpSpPr>
        <p:cNvPr id="1" name=""/>
        <p:cNvGrpSpPr/>
        <p:nvPr/>
      </p:nvGrpSpPr>
      <p:grpSpPr>
        <a:xfrm>
          <a:off x="0" y="0"/>
          <a:ext cx="0" cy="0"/>
          <a:chOff x="0" y="0"/>
          <a:chExt cx="0" cy="0"/>
        </a:xfrm>
      </p:grpSpPr>
      <p:sp>
        <p:nvSpPr>
          <p:cNvPr id="858" name="Shape 0"/>
          <p:cNvSpPr/>
          <p:nvPr/>
        </p:nvSpPr>
        <p:spPr>
          <a:xfrm>
            <a:off x="0" y="0"/>
            <a:ext cx="12191400" cy="6857640"/>
          </a:xfrm>
          <a:prstGeom prst="rect">
            <a:avLst/>
          </a:prstGeom>
          <a:solidFill>
            <a:srgbClr val="06172f"/>
          </a:solidFill>
          <a:ln w="12700">
            <a:solidFill>
              <a:srgbClr val="06172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859" name="Shape 1"/>
          <p:cNvSpPr/>
          <p:nvPr/>
        </p:nvSpPr>
        <p:spPr>
          <a:xfrm>
            <a:off x="7680960" y="-1005840"/>
            <a:ext cx="4388760" cy="2925720"/>
          </a:xfrm>
          <a:prstGeom prst="arc">
            <a:avLst>
              <a:gd name="adj1" fmla="val 16200000"/>
              <a:gd name="adj2" fmla="val 0"/>
            </a:avLst>
          </a:prstGeom>
          <a:solidFill>
            <a:srgbClr val="0e3a68">
              <a:alpha val="75000"/>
            </a:srgbClr>
          </a:solidFill>
          <a:ln w="12700">
            <a:solidFill>
              <a:srgbClr val="0e3a68">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860" name="Shape 2"/>
          <p:cNvSpPr/>
          <p:nvPr/>
        </p:nvSpPr>
        <p:spPr>
          <a:xfrm>
            <a:off x="8778240" y="-777240"/>
            <a:ext cx="3474360" cy="2285640"/>
          </a:xfrm>
          <a:prstGeom prst="arc">
            <a:avLst>
              <a:gd name="adj1" fmla="val 16200000"/>
              <a:gd name="adj2" fmla="val 0"/>
            </a:avLst>
          </a:prstGeom>
          <a:solidFill>
            <a:srgbClr val="0b4d5e">
              <a:alpha val="65000"/>
            </a:srgbClr>
          </a:solidFill>
          <a:ln w="12700">
            <a:solidFill>
              <a:srgbClr val="0b4d5e">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861" name="Shape 3"/>
          <p:cNvSpPr/>
          <p:nvPr/>
        </p:nvSpPr>
        <p:spPr>
          <a:xfrm>
            <a:off x="0" y="0"/>
            <a:ext cx="109440" cy="6857640"/>
          </a:xfrm>
          <a:prstGeom prst="rect">
            <a:avLst/>
          </a:prstGeom>
          <a:solidFill>
            <a:srgbClr val="00b078"/>
          </a:solidFill>
          <a:ln w="12700">
            <a:solidFill>
              <a:srgbClr val="00b078">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862" name="Shape 4"/>
          <p:cNvSpPr/>
          <p:nvPr/>
        </p:nvSpPr>
        <p:spPr>
          <a:xfrm>
            <a:off x="320040" y="6565320"/>
            <a:ext cx="11521080" cy="16200"/>
          </a:xfrm>
          <a:prstGeom prst="rect">
            <a:avLst/>
          </a:prstGeom>
          <a:solidFill>
            <a:srgbClr val="435d78"/>
          </a:solidFill>
          <a:ln w="12700">
            <a:solidFill>
              <a:srgbClr val="435d78">
                <a:alpha val="0"/>
              </a:srgbClr>
            </a:solidFill>
            <a:round/>
          </a:ln>
        </p:spPr>
        <p:style>
          <a:lnRef idx="0"/>
          <a:fillRef idx="0"/>
          <a:effectRef idx="0"/>
          <a:fontRef idx="minor"/>
        </p:style>
        <p:txBody>
          <a:bodyPr lIns="90000" rIns="90000" tIns="-28440" bIns="-28440" anchor="t">
            <a:noAutofit/>
          </a:bodyPr>
          <a:p>
            <a:endParaRPr b="0" lang="en-US" sz="1800" strike="noStrike" u="none">
              <a:solidFill>
                <a:srgbClr val="ffffff"/>
              </a:solidFill>
              <a:effectLst/>
              <a:uFillTx/>
              <a:latin typeface="Arial"/>
            </a:endParaRPr>
          </a:p>
        </p:txBody>
      </p:sp>
      <p:sp>
        <p:nvSpPr>
          <p:cNvPr id="863" name="Text 5"/>
          <p:cNvSpPr/>
          <p:nvPr/>
        </p:nvSpPr>
        <p:spPr>
          <a:xfrm>
            <a:off x="11356920" y="6602040"/>
            <a:ext cx="502560" cy="13680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50" strike="noStrike" u="none">
                <a:solidFill>
                  <a:srgbClr val="b0c1d5"/>
                </a:solidFill>
                <a:effectLst/>
                <a:uFillTx/>
                <a:latin typeface="Aptos"/>
                <a:ea typeface="Aptos"/>
              </a:rPr>
              <a:t>28</a:t>
            </a:r>
            <a:endParaRPr b="0" lang="en-US" sz="950" strike="noStrike" u="none">
              <a:solidFill>
                <a:srgbClr val="ffffff"/>
              </a:solidFill>
              <a:effectLst/>
              <a:uFillTx/>
              <a:latin typeface="Arial"/>
            </a:endParaRPr>
          </a:p>
        </p:txBody>
      </p:sp>
      <p:sp>
        <p:nvSpPr>
          <p:cNvPr id="864" name="Text 6"/>
          <p:cNvSpPr/>
          <p:nvPr/>
        </p:nvSpPr>
        <p:spPr>
          <a:xfrm>
            <a:off x="475560" y="228600"/>
            <a:ext cx="10972440" cy="383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500" strike="noStrike" u="none">
                <a:solidFill>
                  <a:srgbClr val="f5f8fc"/>
                </a:solidFill>
                <a:effectLst/>
                <a:uFillTx/>
                <a:latin typeface="Aptos Display"/>
                <a:ea typeface="Aptos Display"/>
              </a:rPr>
              <a:t>Passive Safety System</a:t>
            </a:r>
            <a:endParaRPr b="0" lang="en-US" sz="2500" strike="noStrike" u="none">
              <a:solidFill>
                <a:srgbClr val="ffffff"/>
              </a:solidFill>
              <a:effectLst/>
              <a:uFillTx/>
              <a:latin typeface="Arial"/>
            </a:endParaRPr>
          </a:p>
        </p:txBody>
      </p:sp>
      <p:sp>
        <p:nvSpPr>
          <p:cNvPr id="865" name="Text 7"/>
          <p:cNvSpPr/>
          <p:nvPr/>
        </p:nvSpPr>
        <p:spPr>
          <a:xfrm>
            <a:off x="502920" y="704160"/>
            <a:ext cx="10835280" cy="255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50" strike="noStrike" u="none">
                <a:solidFill>
                  <a:srgbClr val="b0c1d5"/>
                </a:solidFill>
                <a:effectLst/>
                <a:uFillTx/>
                <a:latin typeface="Aptos"/>
              </a:rPr>
              <a:t>Safety features designed to function under stress</a:t>
            </a:r>
            <a:endParaRPr b="0" lang="en-US" sz="1250" strike="noStrike" u="none">
              <a:solidFill>
                <a:srgbClr val="ffffff"/>
              </a:solidFill>
              <a:effectLst/>
              <a:uFillTx/>
              <a:latin typeface="Arial"/>
            </a:endParaRPr>
          </a:p>
        </p:txBody>
      </p:sp>
      <p:sp>
        <p:nvSpPr>
          <p:cNvPr id="866" name="Shape 8"/>
          <p:cNvSpPr/>
          <p:nvPr/>
        </p:nvSpPr>
        <p:spPr>
          <a:xfrm>
            <a:off x="685800" y="1234440"/>
            <a:ext cx="5074560" cy="1416960"/>
          </a:xfrm>
          <a:prstGeom prst="roundRect">
            <a:avLst>
              <a:gd name="adj" fmla="val 7742"/>
            </a:avLst>
          </a:prstGeom>
          <a:solidFill>
            <a:srgbClr val="0e2d4f">
              <a:alpha val="93000"/>
            </a:srgbClr>
          </a:solidFill>
          <a:ln w="12700">
            <a:solidFill>
              <a:srgbClr val="00b078">
                <a:alpha val="7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867" name="Text 9"/>
          <p:cNvSpPr/>
          <p:nvPr/>
        </p:nvSpPr>
        <p:spPr>
          <a:xfrm>
            <a:off x="850320" y="1353240"/>
            <a:ext cx="474552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50d69b"/>
                </a:solidFill>
                <a:effectLst/>
                <a:uFillTx/>
                <a:latin typeface="Aptos"/>
              </a:rPr>
              <a:t>Passive safety idea</a:t>
            </a:r>
            <a:endParaRPr b="0" lang="en-US" sz="1600" strike="noStrike" u="none">
              <a:solidFill>
                <a:srgbClr val="ffffff"/>
              </a:solidFill>
              <a:effectLst/>
              <a:uFillTx/>
              <a:latin typeface="Arial"/>
            </a:endParaRPr>
          </a:p>
        </p:txBody>
      </p:sp>
      <p:sp>
        <p:nvSpPr>
          <p:cNvPr id="868" name="Text 10"/>
          <p:cNvSpPr/>
          <p:nvPr/>
        </p:nvSpPr>
        <p:spPr>
          <a:xfrm>
            <a:off x="905400" y="1737360"/>
            <a:ext cx="4635720" cy="849960"/>
          </a:xfrm>
          <a:prstGeom prst="rect">
            <a:avLst/>
          </a:prstGeom>
          <a:noFill/>
          <a:ln w="0">
            <a:noFill/>
          </a:ln>
        </p:spPr>
        <p:style>
          <a:lnRef idx="0"/>
          <a:fillRef idx="0"/>
          <a:effectRef idx="0"/>
          <a:fontRef idx="minor"/>
        </p:style>
        <p:txBody>
          <a:bodyPr lIns="1080" rIns="1080" tIns="1080" bIns="1080" anchor="t">
            <a:normAutofit/>
          </a:bodyPr>
          <a:p>
            <a:pPr defTabSz="914400">
              <a:lnSpc>
                <a:spcPct val="100000"/>
              </a:lnSpc>
            </a:pPr>
            <a:r>
              <a:rPr b="0" lang="en-US" sz="1300" strike="noStrike" u="none">
                <a:solidFill>
                  <a:srgbClr val="f5f8fc"/>
                </a:solidFill>
                <a:effectLst/>
                <a:uFillTx/>
                <a:latin typeface="Aptos"/>
                <a:ea typeface="Aptos"/>
              </a:rPr>
              <a:t>Passive safety refers to systems designed to protect the reactor with minimal dependence on active human intervention or external power.</a:t>
            </a:r>
            <a:endParaRPr b="0" lang="en-US" sz="1300" strike="noStrike" u="none">
              <a:solidFill>
                <a:srgbClr val="ffffff"/>
              </a:solidFill>
              <a:effectLst/>
              <a:uFillTx/>
              <a:latin typeface="Arial"/>
            </a:endParaRPr>
          </a:p>
        </p:txBody>
      </p:sp>
      <p:sp>
        <p:nvSpPr>
          <p:cNvPr id="869" name="Shape 11"/>
          <p:cNvSpPr/>
          <p:nvPr/>
        </p:nvSpPr>
        <p:spPr>
          <a:xfrm>
            <a:off x="6263640" y="1234440"/>
            <a:ext cx="5074560" cy="1416960"/>
          </a:xfrm>
          <a:prstGeom prst="roundRect">
            <a:avLst>
              <a:gd name="adj" fmla="val 7742"/>
            </a:avLst>
          </a:prstGeom>
          <a:solidFill>
            <a:srgbClr val="0e2d4f">
              <a:alpha val="93000"/>
            </a:srgbClr>
          </a:solidFill>
          <a:ln w="12700">
            <a:solidFill>
              <a:srgbClr val="e15a5a">
                <a:alpha val="7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870" name="Text 12"/>
          <p:cNvSpPr/>
          <p:nvPr/>
        </p:nvSpPr>
        <p:spPr>
          <a:xfrm>
            <a:off x="6428160" y="1353240"/>
            <a:ext cx="474552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50d69b"/>
                </a:solidFill>
                <a:effectLst/>
                <a:uFillTx/>
                <a:latin typeface="Aptos"/>
              </a:rPr>
              <a:t>Core catcher</a:t>
            </a:r>
            <a:endParaRPr b="0" lang="en-US" sz="1600" strike="noStrike" u="none">
              <a:solidFill>
                <a:srgbClr val="ffffff"/>
              </a:solidFill>
              <a:effectLst/>
              <a:uFillTx/>
              <a:latin typeface="Arial"/>
            </a:endParaRPr>
          </a:p>
        </p:txBody>
      </p:sp>
      <p:sp>
        <p:nvSpPr>
          <p:cNvPr id="871" name="Text 13"/>
          <p:cNvSpPr/>
          <p:nvPr/>
        </p:nvSpPr>
        <p:spPr>
          <a:xfrm>
            <a:off x="6483240" y="1737360"/>
            <a:ext cx="4635720" cy="849960"/>
          </a:xfrm>
          <a:prstGeom prst="rect">
            <a:avLst/>
          </a:prstGeom>
          <a:noFill/>
          <a:ln w="0">
            <a:noFill/>
          </a:ln>
        </p:spPr>
        <p:style>
          <a:lnRef idx="0"/>
          <a:fillRef idx="0"/>
          <a:effectRef idx="0"/>
          <a:fontRef idx="minor"/>
        </p:style>
        <p:txBody>
          <a:bodyPr lIns="1080" rIns="1080" tIns="1080" bIns="1080" anchor="t">
            <a:normAutofit/>
          </a:bodyPr>
          <a:p>
            <a:pPr defTabSz="914400">
              <a:lnSpc>
                <a:spcPct val="100000"/>
              </a:lnSpc>
            </a:pPr>
            <a:r>
              <a:rPr b="0" lang="en-US" sz="1300" strike="noStrike" u="none">
                <a:solidFill>
                  <a:srgbClr val="f5f8fc"/>
                </a:solidFill>
                <a:effectLst/>
                <a:uFillTx/>
                <a:latin typeface="Aptos"/>
                <a:ea typeface="Aptos"/>
              </a:rPr>
              <a:t>The source deck describes the core catcher as a cooling trap below the vessel to catch and cool molten fuel in a severe meltdown scenario.</a:t>
            </a:r>
            <a:endParaRPr b="0" lang="en-US" sz="1300" strike="noStrike" u="none">
              <a:solidFill>
                <a:srgbClr val="ffffff"/>
              </a:solidFill>
              <a:effectLst/>
              <a:uFillTx/>
              <a:latin typeface="Arial"/>
            </a:endParaRPr>
          </a:p>
        </p:txBody>
      </p:sp>
      <p:sp>
        <p:nvSpPr>
          <p:cNvPr id="872" name="Shape 14"/>
          <p:cNvSpPr/>
          <p:nvPr/>
        </p:nvSpPr>
        <p:spPr>
          <a:xfrm>
            <a:off x="685800" y="3017520"/>
            <a:ext cx="5074560" cy="1416960"/>
          </a:xfrm>
          <a:prstGeom prst="roundRect">
            <a:avLst>
              <a:gd name="adj" fmla="val 7742"/>
            </a:avLst>
          </a:prstGeom>
          <a:solidFill>
            <a:srgbClr val="0e2d4f">
              <a:alpha val="93000"/>
            </a:srgbClr>
          </a:solidFill>
          <a:ln w="12700">
            <a:solidFill>
              <a:srgbClr val="5bd2ff">
                <a:alpha val="7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873" name="Text 15"/>
          <p:cNvSpPr/>
          <p:nvPr/>
        </p:nvSpPr>
        <p:spPr>
          <a:xfrm>
            <a:off x="850320" y="3136320"/>
            <a:ext cx="474552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50d69b"/>
                </a:solidFill>
                <a:effectLst/>
                <a:uFillTx/>
                <a:latin typeface="Aptos"/>
              </a:rPr>
              <a:t>Double containment</a:t>
            </a:r>
            <a:endParaRPr b="0" lang="en-US" sz="1600" strike="noStrike" u="none">
              <a:solidFill>
                <a:srgbClr val="ffffff"/>
              </a:solidFill>
              <a:effectLst/>
              <a:uFillTx/>
              <a:latin typeface="Arial"/>
            </a:endParaRPr>
          </a:p>
        </p:txBody>
      </p:sp>
      <p:sp>
        <p:nvSpPr>
          <p:cNvPr id="874" name="Text 16"/>
          <p:cNvSpPr/>
          <p:nvPr/>
        </p:nvSpPr>
        <p:spPr>
          <a:xfrm>
            <a:off x="905400" y="3520440"/>
            <a:ext cx="4635720" cy="849960"/>
          </a:xfrm>
          <a:prstGeom prst="rect">
            <a:avLst/>
          </a:prstGeom>
          <a:noFill/>
          <a:ln w="0">
            <a:noFill/>
          </a:ln>
        </p:spPr>
        <p:style>
          <a:lnRef idx="0"/>
          <a:fillRef idx="0"/>
          <a:effectRef idx="0"/>
          <a:fontRef idx="minor"/>
        </p:style>
        <p:txBody>
          <a:bodyPr lIns="1080" rIns="1080" tIns="1080" bIns="1080" anchor="t">
            <a:normAutofit/>
          </a:bodyPr>
          <a:p>
            <a:pPr defTabSz="914400">
              <a:lnSpc>
                <a:spcPct val="100000"/>
              </a:lnSpc>
            </a:pPr>
            <a:r>
              <a:rPr b="0" lang="en-US" sz="1300" strike="noStrike" u="none">
                <a:solidFill>
                  <a:srgbClr val="f5f8fc"/>
                </a:solidFill>
                <a:effectLst/>
                <a:uFillTx/>
                <a:latin typeface="Aptos"/>
                <a:ea typeface="Aptos"/>
              </a:rPr>
              <a:t>Heavy inner and outer concrete containment domes limit release pathways and strengthen the plant’s external resistance.</a:t>
            </a:r>
            <a:endParaRPr b="0" lang="en-US" sz="1300" strike="noStrike" u="none">
              <a:solidFill>
                <a:srgbClr val="ffffff"/>
              </a:solidFill>
              <a:effectLst/>
              <a:uFillTx/>
              <a:latin typeface="Arial"/>
            </a:endParaRPr>
          </a:p>
        </p:txBody>
      </p:sp>
      <p:sp>
        <p:nvSpPr>
          <p:cNvPr id="875" name="Shape 17"/>
          <p:cNvSpPr/>
          <p:nvPr/>
        </p:nvSpPr>
        <p:spPr>
          <a:xfrm>
            <a:off x="6263640" y="3017520"/>
            <a:ext cx="5074560" cy="1416960"/>
          </a:xfrm>
          <a:prstGeom prst="roundRect">
            <a:avLst>
              <a:gd name="adj" fmla="val 7742"/>
            </a:avLst>
          </a:prstGeom>
          <a:solidFill>
            <a:srgbClr val="0e2d4f">
              <a:alpha val="93000"/>
            </a:srgbClr>
          </a:solidFill>
          <a:ln w="12700">
            <a:solidFill>
              <a:srgbClr val="50d69b">
                <a:alpha val="7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876" name="Text 18"/>
          <p:cNvSpPr/>
          <p:nvPr/>
        </p:nvSpPr>
        <p:spPr>
          <a:xfrm>
            <a:off x="6428160" y="3136320"/>
            <a:ext cx="474552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50d69b"/>
                </a:solidFill>
                <a:effectLst/>
                <a:uFillTx/>
                <a:latin typeface="Aptos"/>
              </a:rPr>
              <a:t>Environmental relevance</a:t>
            </a:r>
            <a:endParaRPr b="0" lang="en-US" sz="1600" strike="noStrike" u="none">
              <a:solidFill>
                <a:srgbClr val="ffffff"/>
              </a:solidFill>
              <a:effectLst/>
              <a:uFillTx/>
              <a:latin typeface="Arial"/>
            </a:endParaRPr>
          </a:p>
        </p:txBody>
      </p:sp>
      <p:sp>
        <p:nvSpPr>
          <p:cNvPr id="877" name="Text 19"/>
          <p:cNvSpPr/>
          <p:nvPr/>
        </p:nvSpPr>
        <p:spPr>
          <a:xfrm>
            <a:off x="6483240" y="3520440"/>
            <a:ext cx="4635720" cy="849960"/>
          </a:xfrm>
          <a:prstGeom prst="rect">
            <a:avLst/>
          </a:prstGeom>
          <a:noFill/>
          <a:ln w="0">
            <a:noFill/>
          </a:ln>
        </p:spPr>
        <p:style>
          <a:lnRef idx="0"/>
          <a:fillRef idx="0"/>
          <a:effectRef idx="0"/>
          <a:fontRef idx="minor"/>
        </p:style>
        <p:txBody>
          <a:bodyPr lIns="1080" rIns="1080" tIns="1080" bIns="1080" anchor="t">
            <a:normAutofit/>
          </a:bodyPr>
          <a:p>
            <a:pPr defTabSz="914400">
              <a:lnSpc>
                <a:spcPct val="100000"/>
              </a:lnSpc>
            </a:pPr>
            <a:r>
              <a:rPr b="0" lang="en-US" sz="1300" strike="noStrike" u="none">
                <a:solidFill>
                  <a:srgbClr val="f5f8fc"/>
                </a:solidFill>
                <a:effectLst/>
                <a:uFillTx/>
                <a:latin typeface="Aptos"/>
                <a:ea typeface="Aptos"/>
              </a:rPr>
              <a:t>Passive systems reduce the probability of severe accident progression and therefore reduce radiological environmental risk.</a:t>
            </a:r>
            <a:endParaRPr b="0" lang="en-US" sz="1300" strike="noStrike" u="none">
              <a:solidFill>
                <a:srgbClr val="ffffff"/>
              </a:solidFill>
              <a:effectLst/>
              <a:uFillTx/>
              <a:latin typeface="Arial"/>
            </a:endParaRPr>
          </a:p>
        </p:txBody>
      </p:sp>
      <p:sp>
        <p:nvSpPr>
          <p:cNvPr id="878" name="Shape 20"/>
          <p:cNvSpPr/>
          <p:nvPr/>
        </p:nvSpPr>
        <p:spPr>
          <a:xfrm>
            <a:off x="1828800" y="5120640"/>
            <a:ext cx="1828440" cy="776880"/>
          </a:xfrm>
          <a:prstGeom prst="roundRect">
            <a:avLst>
              <a:gd name="adj" fmla="val 14118"/>
            </a:avLst>
          </a:prstGeom>
          <a:solidFill>
            <a:srgbClr val="0a3455">
              <a:alpha val="95000"/>
            </a:srgbClr>
          </a:solidFill>
          <a:ln w="12700">
            <a:solidFill>
              <a:srgbClr val="e15a5a">
                <a:alpha val="7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879" name="Text 21"/>
          <p:cNvSpPr/>
          <p:nvPr/>
        </p:nvSpPr>
        <p:spPr>
          <a:xfrm>
            <a:off x="1874520" y="5257800"/>
            <a:ext cx="1737000" cy="347040"/>
          </a:xfrm>
          <a:prstGeom prst="rect">
            <a:avLst/>
          </a:prstGeom>
          <a:noFill/>
          <a:ln w="0">
            <a:noFill/>
          </a:ln>
        </p:spPr>
        <p:style>
          <a:lnRef idx="0"/>
          <a:fillRef idx="0"/>
          <a:effectRef idx="0"/>
          <a:fontRef idx="minor"/>
        </p:style>
        <p:txBody>
          <a:bodyPr lIns="0" rIns="0" tIns="0" bIns="0" anchor="ctr">
            <a:normAutofit lnSpcReduction="9999"/>
          </a:bodyPr>
          <a:p>
            <a:pPr algn="ctr" defTabSz="914400">
              <a:lnSpc>
                <a:spcPct val="100000"/>
              </a:lnSpc>
              <a:tabLst>
                <a:tab algn="l" pos="0"/>
              </a:tabLst>
            </a:pPr>
            <a:r>
              <a:rPr b="1" lang="en-US" sz="2300" strike="noStrike" u="none">
                <a:solidFill>
                  <a:srgbClr val="e15a5a"/>
                </a:solidFill>
                <a:effectLst/>
                <a:uFillTx/>
                <a:latin typeface="Aptos"/>
              </a:rPr>
              <a:t>Core</a:t>
            </a:r>
            <a:endParaRPr b="0" lang="en-US" sz="2300" strike="noStrike" u="none">
              <a:solidFill>
                <a:srgbClr val="ffffff"/>
              </a:solidFill>
              <a:effectLst/>
              <a:uFillTx/>
              <a:latin typeface="Arial"/>
            </a:endParaRPr>
          </a:p>
        </p:txBody>
      </p:sp>
      <p:sp>
        <p:nvSpPr>
          <p:cNvPr id="880" name="Text 22"/>
          <p:cNvSpPr/>
          <p:nvPr/>
        </p:nvSpPr>
        <p:spPr>
          <a:xfrm>
            <a:off x="1938600" y="5715000"/>
            <a:ext cx="1608840" cy="136800"/>
          </a:xfrm>
          <a:prstGeom prst="rect">
            <a:avLst/>
          </a:prstGeom>
          <a:noFill/>
          <a:ln w="0">
            <a:noFill/>
          </a:ln>
        </p:spPr>
        <p:style>
          <a:lnRef idx="0"/>
          <a:fillRef idx="0"/>
          <a:effectRef idx="0"/>
          <a:fontRef idx="minor"/>
        </p:style>
        <p:txBody>
          <a:bodyPr lIns="0" rIns="0" tIns="0" bIns="0" anchor="ctr">
            <a:normAutofit lnSpcReduction="9999"/>
          </a:bodyPr>
          <a:p>
            <a:pPr algn="ctr" defTabSz="914400">
              <a:lnSpc>
                <a:spcPct val="100000"/>
              </a:lnSpc>
              <a:tabLst>
                <a:tab algn="l" pos="0"/>
              </a:tabLst>
            </a:pPr>
            <a:r>
              <a:rPr b="0" lang="en-US" sz="980" strike="noStrike" u="none">
                <a:solidFill>
                  <a:srgbClr val="b0c1d5"/>
                </a:solidFill>
                <a:effectLst/>
                <a:uFillTx/>
                <a:latin typeface="Aptos"/>
              </a:rPr>
              <a:t>Catcher</a:t>
            </a:r>
            <a:endParaRPr b="0" lang="en-US" sz="980" strike="noStrike" u="none">
              <a:solidFill>
                <a:srgbClr val="ffffff"/>
              </a:solidFill>
              <a:effectLst/>
              <a:uFillTx/>
              <a:latin typeface="Arial"/>
            </a:endParaRPr>
          </a:p>
        </p:txBody>
      </p:sp>
      <p:sp>
        <p:nvSpPr>
          <p:cNvPr id="881" name="Shape 23"/>
          <p:cNvSpPr/>
          <p:nvPr/>
        </p:nvSpPr>
        <p:spPr>
          <a:xfrm>
            <a:off x="5166360" y="5120640"/>
            <a:ext cx="1828440" cy="776880"/>
          </a:xfrm>
          <a:prstGeom prst="roundRect">
            <a:avLst>
              <a:gd name="adj" fmla="val 14118"/>
            </a:avLst>
          </a:prstGeom>
          <a:solidFill>
            <a:srgbClr val="0a3455">
              <a:alpha val="95000"/>
            </a:srgbClr>
          </a:solidFill>
          <a:ln w="12700">
            <a:solidFill>
              <a:srgbClr val="5bd2ff">
                <a:alpha val="7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882" name="Text 24"/>
          <p:cNvSpPr/>
          <p:nvPr/>
        </p:nvSpPr>
        <p:spPr>
          <a:xfrm>
            <a:off x="5212080" y="5257800"/>
            <a:ext cx="1737000" cy="347040"/>
          </a:xfrm>
          <a:prstGeom prst="rect">
            <a:avLst/>
          </a:prstGeom>
          <a:noFill/>
          <a:ln w="0">
            <a:noFill/>
          </a:ln>
        </p:spPr>
        <p:style>
          <a:lnRef idx="0"/>
          <a:fillRef idx="0"/>
          <a:effectRef idx="0"/>
          <a:fontRef idx="minor"/>
        </p:style>
        <p:txBody>
          <a:bodyPr lIns="0" rIns="0" tIns="0" bIns="0" anchor="ctr">
            <a:normAutofit lnSpcReduction="9999"/>
          </a:bodyPr>
          <a:p>
            <a:pPr algn="ctr" defTabSz="914400">
              <a:lnSpc>
                <a:spcPct val="100000"/>
              </a:lnSpc>
              <a:tabLst>
                <a:tab algn="l" pos="0"/>
              </a:tabLst>
            </a:pPr>
            <a:r>
              <a:rPr b="1" lang="en-US" sz="2300" strike="noStrike" u="none">
                <a:solidFill>
                  <a:srgbClr val="5bd2ff"/>
                </a:solidFill>
                <a:effectLst/>
                <a:uFillTx/>
                <a:latin typeface="Aptos"/>
              </a:rPr>
              <a:t>Double</a:t>
            </a:r>
            <a:endParaRPr b="0" lang="en-US" sz="2300" strike="noStrike" u="none">
              <a:solidFill>
                <a:srgbClr val="ffffff"/>
              </a:solidFill>
              <a:effectLst/>
              <a:uFillTx/>
              <a:latin typeface="Arial"/>
            </a:endParaRPr>
          </a:p>
        </p:txBody>
      </p:sp>
      <p:sp>
        <p:nvSpPr>
          <p:cNvPr id="883" name="Text 25"/>
          <p:cNvSpPr/>
          <p:nvPr/>
        </p:nvSpPr>
        <p:spPr>
          <a:xfrm>
            <a:off x="5276160" y="5715000"/>
            <a:ext cx="1608840" cy="136800"/>
          </a:xfrm>
          <a:prstGeom prst="rect">
            <a:avLst/>
          </a:prstGeom>
          <a:noFill/>
          <a:ln w="0">
            <a:noFill/>
          </a:ln>
        </p:spPr>
        <p:style>
          <a:lnRef idx="0"/>
          <a:fillRef idx="0"/>
          <a:effectRef idx="0"/>
          <a:fontRef idx="minor"/>
        </p:style>
        <p:txBody>
          <a:bodyPr lIns="0" rIns="0" tIns="0" bIns="0" anchor="ctr">
            <a:normAutofit lnSpcReduction="9999"/>
          </a:bodyPr>
          <a:p>
            <a:pPr algn="ctr" defTabSz="914400">
              <a:lnSpc>
                <a:spcPct val="100000"/>
              </a:lnSpc>
              <a:tabLst>
                <a:tab algn="l" pos="0"/>
              </a:tabLst>
            </a:pPr>
            <a:r>
              <a:rPr b="0" lang="en-US" sz="980" strike="noStrike" u="none">
                <a:solidFill>
                  <a:srgbClr val="b0c1d5"/>
                </a:solidFill>
                <a:effectLst/>
                <a:uFillTx/>
                <a:latin typeface="Aptos"/>
              </a:rPr>
              <a:t>Containment</a:t>
            </a:r>
            <a:endParaRPr b="0" lang="en-US" sz="980" strike="noStrike" u="none">
              <a:solidFill>
                <a:srgbClr val="ffffff"/>
              </a:solidFill>
              <a:effectLst/>
              <a:uFillTx/>
              <a:latin typeface="Arial"/>
            </a:endParaRPr>
          </a:p>
        </p:txBody>
      </p:sp>
      <p:sp>
        <p:nvSpPr>
          <p:cNvPr id="884" name="Shape 26"/>
          <p:cNvSpPr/>
          <p:nvPr/>
        </p:nvSpPr>
        <p:spPr>
          <a:xfrm>
            <a:off x="8412480" y="5120640"/>
            <a:ext cx="1828440" cy="776880"/>
          </a:xfrm>
          <a:prstGeom prst="roundRect">
            <a:avLst>
              <a:gd name="adj" fmla="val 14118"/>
            </a:avLst>
          </a:prstGeom>
          <a:solidFill>
            <a:srgbClr val="0a3455">
              <a:alpha val="95000"/>
            </a:srgbClr>
          </a:solidFill>
          <a:ln w="12700">
            <a:solidFill>
              <a:srgbClr val="50d69b">
                <a:alpha val="7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885" name="Text 27"/>
          <p:cNvSpPr/>
          <p:nvPr/>
        </p:nvSpPr>
        <p:spPr>
          <a:xfrm>
            <a:off x="8458200" y="5257800"/>
            <a:ext cx="1737000" cy="347040"/>
          </a:xfrm>
          <a:prstGeom prst="rect">
            <a:avLst/>
          </a:prstGeom>
          <a:noFill/>
          <a:ln w="0">
            <a:noFill/>
          </a:ln>
        </p:spPr>
        <p:style>
          <a:lnRef idx="0"/>
          <a:fillRef idx="0"/>
          <a:effectRef idx="0"/>
          <a:fontRef idx="minor"/>
        </p:style>
        <p:txBody>
          <a:bodyPr lIns="0" rIns="0" tIns="0" bIns="0" anchor="ctr">
            <a:normAutofit lnSpcReduction="9999"/>
          </a:bodyPr>
          <a:p>
            <a:pPr algn="ctr" defTabSz="914400">
              <a:lnSpc>
                <a:spcPct val="100000"/>
              </a:lnSpc>
              <a:tabLst>
                <a:tab algn="l" pos="0"/>
              </a:tabLst>
            </a:pPr>
            <a:r>
              <a:rPr b="1" lang="en-US" sz="2300" strike="noStrike" u="none">
                <a:solidFill>
                  <a:srgbClr val="50d69b"/>
                </a:solidFill>
                <a:effectLst/>
                <a:uFillTx/>
                <a:latin typeface="Aptos"/>
              </a:rPr>
              <a:t>Passive</a:t>
            </a:r>
            <a:endParaRPr b="0" lang="en-US" sz="2300" strike="noStrike" u="none">
              <a:solidFill>
                <a:srgbClr val="ffffff"/>
              </a:solidFill>
              <a:effectLst/>
              <a:uFillTx/>
              <a:latin typeface="Arial"/>
            </a:endParaRPr>
          </a:p>
        </p:txBody>
      </p:sp>
      <p:sp>
        <p:nvSpPr>
          <p:cNvPr id="886" name="Text 28"/>
          <p:cNvSpPr/>
          <p:nvPr/>
        </p:nvSpPr>
        <p:spPr>
          <a:xfrm>
            <a:off x="8522280" y="5715000"/>
            <a:ext cx="1608840" cy="136800"/>
          </a:xfrm>
          <a:prstGeom prst="rect">
            <a:avLst/>
          </a:prstGeom>
          <a:noFill/>
          <a:ln w="0">
            <a:noFill/>
          </a:ln>
        </p:spPr>
        <p:style>
          <a:lnRef idx="0"/>
          <a:fillRef idx="0"/>
          <a:effectRef idx="0"/>
          <a:fontRef idx="minor"/>
        </p:style>
        <p:txBody>
          <a:bodyPr lIns="0" rIns="0" tIns="0" bIns="0" anchor="ctr">
            <a:normAutofit lnSpcReduction="9999"/>
          </a:bodyPr>
          <a:p>
            <a:pPr algn="ctr" defTabSz="914400">
              <a:lnSpc>
                <a:spcPct val="100000"/>
              </a:lnSpc>
              <a:tabLst>
                <a:tab algn="l" pos="0"/>
              </a:tabLst>
            </a:pPr>
            <a:r>
              <a:rPr b="0" lang="en-US" sz="980" strike="noStrike" u="none">
                <a:solidFill>
                  <a:srgbClr val="b0c1d5"/>
                </a:solidFill>
                <a:effectLst/>
                <a:uFillTx/>
                <a:latin typeface="Aptos"/>
              </a:rPr>
              <a:t>Barriers</a:t>
            </a:r>
            <a:endParaRPr b="0" lang="en-US" sz="980" strike="noStrike" u="none">
              <a:solidFill>
                <a:srgbClr val="ffffff"/>
              </a:solidFill>
              <a:effectLst/>
              <a:uFillTx/>
              <a:latin typeface="Arial"/>
            </a:endParaRPr>
          </a:p>
        </p:txBody>
      </p:sp>
    </p:spTree>
  </p:cSld>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6172f"/>
        </a:solidFill>
      </p:bgPr>
    </p:bg>
    <p:spTree>
      <p:nvGrpSpPr>
        <p:cNvPr id="1" name=""/>
        <p:cNvGrpSpPr/>
        <p:nvPr/>
      </p:nvGrpSpPr>
      <p:grpSpPr>
        <a:xfrm>
          <a:off x="0" y="0"/>
          <a:ext cx="0" cy="0"/>
          <a:chOff x="0" y="0"/>
          <a:chExt cx="0" cy="0"/>
        </a:xfrm>
      </p:grpSpPr>
      <p:sp>
        <p:nvSpPr>
          <p:cNvPr id="887" name="Shape 0"/>
          <p:cNvSpPr/>
          <p:nvPr/>
        </p:nvSpPr>
        <p:spPr>
          <a:xfrm>
            <a:off x="0" y="0"/>
            <a:ext cx="12191400" cy="6857640"/>
          </a:xfrm>
          <a:prstGeom prst="rect">
            <a:avLst/>
          </a:prstGeom>
          <a:solidFill>
            <a:srgbClr val="06172f"/>
          </a:solidFill>
          <a:ln w="12700">
            <a:solidFill>
              <a:srgbClr val="06172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888" name="Shape 1"/>
          <p:cNvSpPr/>
          <p:nvPr/>
        </p:nvSpPr>
        <p:spPr>
          <a:xfrm>
            <a:off x="7680960" y="-1005840"/>
            <a:ext cx="4388760" cy="2925720"/>
          </a:xfrm>
          <a:prstGeom prst="arc">
            <a:avLst>
              <a:gd name="adj1" fmla="val 16200000"/>
              <a:gd name="adj2" fmla="val 0"/>
            </a:avLst>
          </a:prstGeom>
          <a:solidFill>
            <a:srgbClr val="0e3a68">
              <a:alpha val="75000"/>
            </a:srgbClr>
          </a:solidFill>
          <a:ln w="12700">
            <a:solidFill>
              <a:srgbClr val="0e3a68">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889" name="Shape 2"/>
          <p:cNvSpPr/>
          <p:nvPr/>
        </p:nvSpPr>
        <p:spPr>
          <a:xfrm>
            <a:off x="8778240" y="-777240"/>
            <a:ext cx="3474360" cy="2285640"/>
          </a:xfrm>
          <a:prstGeom prst="arc">
            <a:avLst>
              <a:gd name="adj1" fmla="val 16200000"/>
              <a:gd name="adj2" fmla="val 0"/>
            </a:avLst>
          </a:prstGeom>
          <a:solidFill>
            <a:srgbClr val="0b4d5e">
              <a:alpha val="65000"/>
            </a:srgbClr>
          </a:solidFill>
          <a:ln w="12700">
            <a:solidFill>
              <a:srgbClr val="0b4d5e">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890" name="Shape 3"/>
          <p:cNvSpPr/>
          <p:nvPr/>
        </p:nvSpPr>
        <p:spPr>
          <a:xfrm>
            <a:off x="0" y="0"/>
            <a:ext cx="109440" cy="6857640"/>
          </a:xfrm>
          <a:prstGeom prst="rect">
            <a:avLst/>
          </a:prstGeom>
          <a:solidFill>
            <a:srgbClr val="00b078"/>
          </a:solidFill>
          <a:ln w="12700">
            <a:solidFill>
              <a:srgbClr val="00b078">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891" name="Shape 4"/>
          <p:cNvSpPr/>
          <p:nvPr/>
        </p:nvSpPr>
        <p:spPr>
          <a:xfrm>
            <a:off x="320040" y="6565320"/>
            <a:ext cx="11521080" cy="16200"/>
          </a:xfrm>
          <a:prstGeom prst="rect">
            <a:avLst/>
          </a:prstGeom>
          <a:solidFill>
            <a:srgbClr val="435d78"/>
          </a:solidFill>
          <a:ln w="12700">
            <a:solidFill>
              <a:srgbClr val="435d78">
                <a:alpha val="0"/>
              </a:srgbClr>
            </a:solidFill>
            <a:round/>
          </a:ln>
        </p:spPr>
        <p:style>
          <a:lnRef idx="0"/>
          <a:fillRef idx="0"/>
          <a:effectRef idx="0"/>
          <a:fontRef idx="minor"/>
        </p:style>
        <p:txBody>
          <a:bodyPr lIns="90000" rIns="90000" tIns="-28440" bIns="-28440" anchor="t">
            <a:noAutofit/>
          </a:bodyPr>
          <a:p>
            <a:endParaRPr b="0" lang="en-US" sz="1800" strike="noStrike" u="none">
              <a:solidFill>
                <a:srgbClr val="ffffff"/>
              </a:solidFill>
              <a:effectLst/>
              <a:uFillTx/>
              <a:latin typeface="Arial"/>
            </a:endParaRPr>
          </a:p>
        </p:txBody>
      </p:sp>
      <p:sp>
        <p:nvSpPr>
          <p:cNvPr id="892" name="Text 5"/>
          <p:cNvSpPr/>
          <p:nvPr/>
        </p:nvSpPr>
        <p:spPr>
          <a:xfrm>
            <a:off x="11356920" y="6602040"/>
            <a:ext cx="502560" cy="13680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50" strike="noStrike" u="none">
                <a:solidFill>
                  <a:srgbClr val="b0c1d5"/>
                </a:solidFill>
                <a:effectLst/>
                <a:uFillTx/>
                <a:latin typeface="Aptos"/>
                <a:ea typeface="Aptos"/>
              </a:rPr>
              <a:t>29</a:t>
            </a:r>
            <a:endParaRPr b="0" lang="en-US" sz="950" strike="noStrike" u="none">
              <a:solidFill>
                <a:srgbClr val="ffffff"/>
              </a:solidFill>
              <a:effectLst/>
              <a:uFillTx/>
              <a:latin typeface="Arial"/>
            </a:endParaRPr>
          </a:p>
        </p:txBody>
      </p:sp>
      <p:sp>
        <p:nvSpPr>
          <p:cNvPr id="893" name="Text 6"/>
          <p:cNvSpPr/>
          <p:nvPr/>
        </p:nvSpPr>
        <p:spPr>
          <a:xfrm>
            <a:off x="475560" y="228600"/>
            <a:ext cx="10972440" cy="383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500" strike="noStrike" u="none">
                <a:solidFill>
                  <a:srgbClr val="f5f8fc"/>
                </a:solidFill>
                <a:effectLst/>
                <a:uFillTx/>
                <a:latin typeface="Aptos Display"/>
                <a:ea typeface="Aptos Display"/>
              </a:rPr>
              <a:t>Advantages</a:t>
            </a:r>
            <a:endParaRPr b="0" lang="en-US" sz="2500" strike="noStrike" u="none">
              <a:solidFill>
                <a:srgbClr val="ffffff"/>
              </a:solidFill>
              <a:effectLst/>
              <a:uFillTx/>
              <a:latin typeface="Arial"/>
            </a:endParaRPr>
          </a:p>
        </p:txBody>
      </p:sp>
      <p:sp>
        <p:nvSpPr>
          <p:cNvPr id="894" name="Text 7"/>
          <p:cNvSpPr/>
          <p:nvPr/>
        </p:nvSpPr>
        <p:spPr>
          <a:xfrm>
            <a:off x="502920" y="704160"/>
            <a:ext cx="10835280" cy="255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50" strike="noStrike" u="none">
                <a:solidFill>
                  <a:srgbClr val="b0c1d5"/>
                </a:solidFill>
                <a:effectLst/>
                <a:uFillTx/>
                <a:latin typeface="Aptos"/>
              </a:rPr>
              <a:t>Positive contributions of RNPP</a:t>
            </a:r>
            <a:endParaRPr b="0" lang="en-US" sz="1250" strike="noStrike" u="none">
              <a:solidFill>
                <a:srgbClr val="ffffff"/>
              </a:solidFill>
              <a:effectLst/>
              <a:uFillTx/>
              <a:latin typeface="Arial"/>
            </a:endParaRPr>
          </a:p>
        </p:txBody>
      </p:sp>
      <p:graphicFrame>
        <p:nvGraphicFramePr>
          <p:cNvPr id="895" name="Table 0"/>
          <p:cNvGraphicFramePr/>
          <p:nvPr/>
        </p:nvGraphicFramePr>
        <p:xfrm>
          <a:off x="594360" y="1234440"/>
          <a:ext cx="10972440" cy="4525920"/>
        </p:xfrm>
        <a:graphic>
          <a:graphicData uri="http://schemas.openxmlformats.org/drawingml/2006/table">
            <a:tbl>
              <a:tblPr/>
              <a:tblGrid>
                <a:gridCol w="5486400"/>
                <a:gridCol w="5486400"/>
              </a:tblGrid>
              <a:tr h="754200">
                <a:tc>
                  <a:txBody>
                    <a:bodyPr lIns="36360" rIns="36360" tIns="36360" bIns="36360" anchor="t">
                      <a:noAutofit/>
                    </a:bodyPr>
                    <a:p>
                      <a:pPr algn="ctr" defTabSz="914400">
                        <a:lnSpc>
                          <a:spcPct val="100000"/>
                        </a:lnSpc>
                        <a:tabLst>
                          <a:tab algn="l" pos="0"/>
                        </a:tabLst>
                      </a:pPr>
                      <a:r>
                        <a:rPr b="1" lang="en-US" sz="920" strike="noStrike" u="none">
                          <a:solidFill>
                            <a:srgbClr val="06172f"/>
                          </a:solidFill>
                          <a:effectLst/>
                          <a:uFillTx/>
                          <a:latin typeface="Aptos"/>
                          <a:ea typeface="Aptos"/>
                        </a:rPr>
                        <a:t>Advantage</a:t>
                      </a:r>
                      <a:endParaRPr b="0" lang="en-US" sz="920" strike="noStrike" u="none">
                        <a:solidFill>
                          <a:srgbClr val="ffffff"/>
                        </a:solidFill>
                        <a:effectLst/>
                        <a:uFillTx/>
                        <a:latin typeface="Arial"/>
                      </a:endParaRPr>
                    </a:p>
                  </a:txBody>
                  <a:tcPr anchor="t" marL="36360" marR="36360">
                    <a:lnL w="7200">
                      <a:solidFill>
                        <a:srgbClr val="3f5d7c"/>
                      </a:solidFill>
                      <a:prstDash val="solid"/>
                    </a:lnL>
                    <a:lnR w="7200">
                      <a:solidFill>
                        <a:srgbClr val="3f5d7c"/>
                      </a:solidFill>
                      <a:prstDash val="solid"/>
                    </a:lnR>
                    <a:lnT w="7200">
                      <a:solidFill>
                        <a:srgbClr val="3f5d7c"/>
                      </a:solidFill>
                      <a:prstDash val="solid"/>
                    </a:lnT>
                    <a:lnB w="7200">
                      <a:solidFill>
                        <a:srgbClr val="3f5d7c"/>
                      </a:solidFill>
                      <a:prstDash val="solid"/>
                    </a:lnB>
                    <a:solidFill>
                      <a:srgbClr val="00b078"/>
                    </a:solidFill>
                  </a:tcPr>
                </a:tc>
                <a:tc>
                  <a:txBody>
                    <a:bodyPr lIns="36360" rIns="36360" tIns="36360" bIns="36360" anchor="t">
                      <a:noAutofit/>
                    </a:bodyPr>
                    <a:p>
                      <a:pPr algn="ctr" defTabSz="914400">
                        <a:lnSpc>
                          <a:spcPct val="100000"/>
                        </a:lnSpc>
                        <a:tabLst>
                          <a:tab algn="l" pos="0"/>
                        </a:tabLst>
                      </a:pPr>
                      <a:r>
                        <a:rPr b="1" lang="en-US" sz="920" strike="noStrike" u="none">
                          <a:solidFill>
                            <a:srgbClr val="06172f"/>
                          </a:solidFill>
                          <a:effectLst/>
                          <a:uFillTx/>
                          <a:latin typeface="Aptos"/>
                          <a:ea typeface="Aptos"/>
                        </a:rPr>
                        <a:t>Explanation</a:t>
                      </a:r>
                      <a:endParaRPr b="0" lang="en-US" sz="920" strike="noStrike" u="none">
                        <a:solidFill>
                          <a:srgbClr val="ffffff"/>
                        </a:solidFill>
                        <a:effectLst/>
                        <a:uFillTx/>
                        <a:latin typeface="Arial"/>
                      </a:endParaRPr>
                    </a:p>
                  </a:txBody>
                  <a:tcPr anchor="t" marL="36360" marR="36360">
                    <a:lnL w="7200">
                      <a:solidFill>
                        <a:srgbClr val="3f5d7c"/>
                      </a:solidFill>
                      <a:prstDash val="solid"/>
                    </a:lnL>
                    <a:lnR w="7200">
                      <a:solidFill>
                        <a:srgbClr val="3f5d7c"/>
                      </a:solidFill>
                      <a:prstDash val="solid"/>
                    </a:lnR>
                    <a:lnT w="7200">
                      <a:solidFill>
                        <a:srgbClr val="3f5d7c"/>
                      </a:solidFill>
                      <a:prstDash val="solid"/>
                    </a:lnT>
                    <a:lnB w="7200">
                      <a:solidFill>
                        <a:srgbClr val="3f5d7c"/>
                      </a:solidFill>
                      <a:prstDash val="solid"/>
                    </a:lnB>
                    <a:solidFill>
                      <a:srgbClr val="00b078"/>
                    </a:solidFill>
                  </a:tcPr>
                </a:tc>
              </a:tr>
              <a:tr h="754200">
                <a:tc>
                  <a:txBody>
                    <a:bodyPr lIns="36360" rIns="36360" tIns="36360" bIns="36360" anchor="t">
                      <a:noAutofit/>
                    </a:bodyPr>
                    <a:p>
                      <a:pPr defTabSz="914400">
                        <a:lnSpc>
                          <a:spcPct val="100000"/>
                        </a:lnSpc>
                        <a:tabLst>
                          <a:tab algn="l" pos="0"/>
                        </a:tabLst>
                      </a:pPr>
                      <a:r>
                        <a:rPr b="0" lang="en-US" sz="920" strike="noStrike" u="none">
                          <a:solidFill>
                            <a:srgbClr val="f5f8fc"/>
                          </a:solidFill>
                          <a:effectLst/>
                          <a:uFillTx/>
                          <a:latin typeface="Aptos"/>
                          <a:ea typeface="Aptos"/>
                        </a:rPr>
                        <a:t>Clean-air operation</a:t>
                      </a:r>
                      <a:endParaRPr b="0" lang="en-US" sz="920" strike="noStrike" u="none">
                        <a:solidFill>
                          <a:srgbClr val="ffffff"/>
                        </a:solidFill>
                        <a:effectLst/>
                        <a:uFillTx/>
                        <a:latin typeface="Arial"/>
                      </a:endParaRPr>
                    </a:p>
                  </a:txBody>
                  <a:tcPr anchor="t" marL="36360" marR="36360">
                    <a:lnL w="7200">
                      <a:solidFill>
                        <a:srgbClr val="3f5d7c"/>
                      </a:solidFill>
                      <a:prstDash val="solid"/>
                    </a:lnL>
                    <a:lnR w="7200">
                      <a:solidFill>
                        <a:srgbClr val="3f5d7c"/>
                      </a:solidFill>
                      <a:prstDash val="solid"/>
                    </a:lnR>
                    <a:lnT w="7200">
                      <a:solidFill>
                        <a:srgbClr val="3f5d7c"/>
                      </a:solidFill>
                      <a:prstDash val="solid"/>
                    </a:lnT>
                    <a:lnB w="7200">
                      <a:solidFill>
                        <a:srgbClr val="3f5d7c"/>
                      </a:solidFill>
                      <a:prstDash val="solid"/>
                    </a:lnB>
                    <a:solidFill>
                      <a:srgbClr val="0d3151"/>
                    </a:solidFill>
                  </a:tcPr>
                </a:tc>
                <a:tc>
                  <a:txBody>
                    <a:bodyPr lIns="36360" rIns="36360" tIns="36360" bIns="36360" anchor="t">
                      <a:noAutofit/>
                    </a:bodyPr>
                    <a:p>
                      <a:pPr defTabSz="914400">
                        <a:lnSpc>
                          <a:spcPct val="100000"/>
                        </a:lnSpc>
                        <a:tabLst>
                          <a:tab algn="l" pos="0"/>
                        </a:tabLst>
                      </a:pPr>
                      <a:r>
                        <a:rPr b="0" lang="en-US" sz="920" strike="noStrike" u="none">
                          <a:solidFill>
                            <a:srgbClr val="f5f8fc"/>
                          </a:solidFill>
                          <a:effectLst/>
                          <a:uFillTx/>
                          <a:latin typeface="Aptos"/>
                          <a:ea typeface="Aptos"/>
                        </a:rPr>
                        <a:t>No routine coal-smoke, SO2, NOx or PM emissions during generation</a:t>
                      </a:r>
                      <a:endParaRPr b="0" lang="en-US" sz="920" strike="noStrike" u="none">
                        <a:solidFill>
                          <a:srgbClr val="ffffff"/>
                        </a:solidFill>
                        <a:effectLst/>
                        <a:uFillTx/>
                        <a:latin typeface="Arial"/>
                      </a:endParaRPr>
                    </a:p>
                  </a:txBody>
                  <a:tcPr anchor="t" marL="36360" marR="36360">
                    <a:lnL w="7200">
                      <a:solidFill>
                        <a:srgbClr val="3f5d7c"/>
                      </a:solidFill>
                      <a:prstDash val="solid"/>
                    </a:lnL>
                    <a:lnR w="7200">
                      <a:solidFill>
                        <a:srgbClr val="3f5d7c"/>
                      </a:solidFill>
                      <a:prstDash val="solid"/>
                    </a:lnR>
                    <a:lnT w="7200">
                      <a:solidFill>
                        <a:srgbClr val="3f5d7c"/>
                      </a:solidFill>
                      <a:prstDash val="solid"/>
                    </a:lnT>
                    <a:lnB w="7200">
                      <a:solidFill>
                        <a:srgbClr val="3f5d7c"/>
                      </a:solidFill>
                      <a:prstDash val="solid"/>
                    </a:lnB>
                    <a:solidFill>
                      <a:srgbClr val="0d3151"/>
                    </a:solidFill>
                  </a:tcPr>
                </a:tc>
              </a:tr>
              <a:tr h="754200">
                <a:tc>
                  <a:txBody>
                    <a:bodyPr lIns="36360" rIns="36360" tIns="36360" bIns="36360" anchor="t">
                      <a:noAutofit/>
                    </a:bodyPr>
                    <a:p>
                      <a:pPr defTabSz="914400">
                        <a:lnSpc>
                          <a:spcPct val="100000"/>
                        </a:lnSpc>
                        <a:tabLst>
                          <a:tab algn="l" pos="0"/>
                        </a:tabLst>
                      </a:pPr>
                      <a:r>
                        <a:rPr b="0" lang="en-US" sz="920" strike="noStrike" u="none">
                          <a:solidFill>
                            <a:srgbClr val="f5f8fc"/>
                          </a:solidFill>
                          <a:effectLst/>
                          <a:uFillTx/>
                          <a:latin typeface="Aptos"/>
                          <a:ea typeface="Aptos"/>
                        </a:rPr>
                        <a:t>Stable baseload power</a:t>
                      </a:r>
                      <a:endParaRPr b="0" lang="en-US" sz="920" strike="noStrike" u="none">
                        <a:solidFill>
                          <a:srgbClr val="ffffff"/>
                        </a:solidFill>
                        <a:effectLst/>
                        <a:uFillTx/>
                        <a:latin typeface="Arial"/>
                      </a:endParaRPr>
                    </a:p>
                  </a:txBody>
                  <a:tcPr anchor="t" marL="36360" marR="36360">
                    <a:lnL w="7200">
                      <a:solidFill>
                        <a:srgbClr val="3f5d7c"/>
                      </a:solidFill>
                      <a:prstDash val="solid"/>
                    </a:lnL>
                    <a:lnR w="7200">
                      <a:solidFill>
                        <a:srgbClr val="3f5d7c"/>
                      </a:solidFill>
                      <a:prstDash val="solid"/>
                    </a:lnR>
                    <a:lnT w="7200">
                      <a:solidFill>
                        <a:srgbClr val="3f5d7c"/>
                      </a:solidFill>
                      <a:prstDash val="solid"/>
                    </a:lnT>
                    <a:lnB w="7200">
                      <a:solidFill>
                        <a:srgbClr val="3f5d7c"/>
                      </a:solidFill>
                      <a:prstDash val="solid"/>
                    </a:lnB>
                    <a:solidFill>
                      <a:srgbClr val="0a2846"/>
                    </a:solidFill>
                  </a:tcPr>
                </a:tc>
                <a:tc>
                  <a:txBody>
                    <a:bodyPr lIns="36360" rIns="36360" tIns="36360" bIns="36360" anchor="t">
                      <a:noAutofit/>
                    </a:bodyPr>
                    <a:p>
                      <a:pPr defTabSz="914400">
                        <a:lnSpc>
                          <a:spcPct val="100000"/>
                        </a:lnSpc>
                        <a:tabLst>
                          <a:tab algn="l" pos="0"/>
                        </a:tabLst>
                      </a:pPr>
                      <a:r>
                        <a:rPr b="0" lang="en-US" sz="920" strike="noStrike" u="none">
                          <a:solidFill>
                            <a:srgbClr val="f5f8fc"/>
                          </a:solidFill>
                          <a:effectLst/>
                          <a:uFillTx/>
                          <a:latin typeface="Aptos"/>
                          <a:ea typeface="Aptos"/>
                        </a:rPr>
                        <a:t>Large continuous electricity source that supports grid reliability</a:t>
                      </a:r>
                      <a:endParaRPr b="0" lang="en-US" sz="920" strike="noStrike" u="none">
                        <a:solidFill>
                          <a:srgbClr val="ffffff"/>
                        </a:solidFill>
                        <a:effectLst/>
                        <a:uFillTx/>
                        <a:latin typeface="Arial"/>
                      </a:endParaRPr>
                    </a:p>
                  </a:txBody>
                  <a:tcPr anchor="t" marL="36360" marR="36360">
                    <a:lnL w="7200">
                      <a:solidFill>
                        <a:srgbClr val="3f5d7c"/>
                      </a:solidFill>
                      <a:prstDash val="solid"/>
                    </a:lnL>
                    <a:lnR w="7200">
                      <a:solidFill>
                        <a:srgbClr val="3f5d7c"/>
                      </a:solidFill>
                      <a:prstDash val="solid"/>
                    </a:lnR>
                    <a:lnT w="7200">
                      <a:solidFill>
                        <a:srgbClr val="3f5d7c"/>
                      </a:solidFill>
                      <a:prstDash val="solid"/>
                    </a:lnT>
                    <a:lnB w="7200">
                      <a:solidFill>
                        <a:srgbClr val="3f5d7c"/>
                      </a:solidFill>
                      <a:prstDash val="solid"/>
                    </a:lnB>
                    <a:solidFill>
                      <a:srgbClr val="0a2846"/>
                    </a:solidFill>
                  </a:tcPr>
                </a:tc>
              </a:tr>
              <a:tr h="754200">
                <a:tc>
                  <a:txBody>
                    <a:bodyPr lIns="36360" rIns="36360" tIns="36360" bIns="36360" anchor="t">
                      <a:noAutofit/>
                    </a:bodyPr>
                    <a:p>
                      <a:pPr defTabSz="914400">
                        <a:lnSpc>
                          <a:spcPct val="100000"/>
                        </a:lnSpc>
                        <a:tabLst>
                          <a:tab algn="l" pos="0"/>
                        </a:tabLst>
                      </a:pPr>
                      <a:r>
                        <a:rPr b="0" lang="en-US" sz="920" strike="noStrike" u="none">
                          <a:solidFill>
                            <a:srgbClr val="f5f8fc"/>
                          </a:solidFill>
                          <a:effectLst/>
                          <a:uFillTx/>
                          <a:latin typeface="Aptos"/>
                          <a:ea typeface="Aptos"/>
                        </a:rPr>
                        <a:t>Energy diversification</a:t>
                      </a:r>
                      <a:endParaRPr b="0" lang="en-US" sz="920" strike="noStrike" u="none">
                        <a:solidFill>
                          <a:srgbClr val="ffffff"/>
                        </a:solidFill>
                        <a:effectLst/>
                        <a:uFillTx/>
                        <a:latin typeface="Arial"/>
                      </a:endParaRPr>
                    </a:p>
                  </a:txBody>
                  <a:tcPr anchor="t" marL="36360" marR="36360">
                    <a:lnL w="7200">
                      <a:solidFill>
                        <a:srgbClr val="3f5d7c"/>
                      </a:solidFill>
                      <a:prstDash val="solid"/>
                    </a:lnL>
                    <a:lnR w="7200">
                      <a:solidFill>
                        <a:srgbClr val="3f5d7c"/>
                      </a:solidFill>
                      <a:prstDash val="solid"/>
                    </a:lnR>
                    <a:lnT w="7200">
                      <a:solidFill>
                        <a:srgbClr val="3f5d7c"/>
                      </a:solidFill>
                      <a:prstDash val="solid"/>
                    </a:lnT>
                    <a:lnB w="7200">
                      <a:solidFill>
                        <a:srgbClr val="3f5d7c"/>
                      </a:solidFill>
                      <a:prstDash val="solid"/>
                    </a:lnB>
                    <a:solidFill>
                      <a:srgbClr val="0d3151"/>
                    </a:solidFill>
                  </a:tcPr>
                </a:tc>
                <a:tc>
                  <a:txBody>
                    <a:bodyPr lIns="36360" rIns="36360" tIns="36360" bIns="36360" anchor="t">
                      <a:noAutofit/>
                    </a:bodyPr>
                    <a:p>
                      <a:pPr defTabSz="914400">
                        <a:lnSpc>
                          <a:spcPct val="100000"/>
                        </a:lnSpc>
                        <a:tabLst>
                          <a:tab algn="l" pos="0"/>
                        </a:tabLst>
                      </a:pPr>
                      <a:r>
                        <a:rPr b="0" lang="en-US" sz="920" strike="noStrike" u="none">
                          <a:solidFill>
                            <a:srgbClr val="f5f8fc"/>
                          </a:solidFill>
                          <a:effectLst/>
                          <a:uFillTx/>
                          <a:latin typeface="Aptos"/>
                          <a:ea typeface="Aptos"/>
                        </a:rPr>
                        <a:t>Reduces dependence on fossil-fuel imports and gas availability</a:t>
                      </a:r>
                      <a:endParaRPr b="0" lang="en-US" sz="920" strike="noStrike" u="none">
                        <a:solidFill>
                          <a:srgbClr val="ffffff"/>
                        </a:solidFill>
                        <a:effectLst/>
                        <a:uFillTx/>
                        <a:latin typeface="Arial"/>
                      </a:endParaRPr>
                    </a:p>
                  </a:txBody>
                  <a:tcPr anchor="t" marL="36360" marR="36360">
                    <a:lnL w="7200">
                      <a:solidFill>
                        <a:srgbClr val="3f5d7c"/>
                      </a:solidFill>
                      <a:prstDash val="solid"/>
                    </a:lnL>
                    <a:lnR w="7200">
                      <a:solidFill>
                        <a:srgbClr val="3f5d7c"/>
                      </a:solidFill>
                      <a:prstDash val="solid"/>
                    </a:lnR>
                    <a:lnT w="7200">
                      <a:solidFill>
                        <a:srgbClr val="3f5d7c"/>
                      </a:solidFill>
                      <a:prstDash val="solid"/>
                    </a:lnT>
                    <a:lnB w="7200">
                      <a:solidFill>
                        <a:srgbClr val="3f5d7c"/>
                      </a:solidFill>
                      <a:prstDash val="solid"/>
                    </a:lnB>
                    <a:solidFill>
                      <a:srgbClr val="0d3151"/>
                    </a:solidFill>
                  </a:tcPr>
                </a:tc>
              </a:tr>
              <a:tr h="754200">
                <a:tc>
                  <a:txBody>
                    <a:bodyPr lIns="36360" rIns="36360" tIns="36360" bIns="36360" anchor="t">
                      <a:noAutofit/>
                    </a:bodyPr>
                    <a:p>
                      <a:pPr defTabSz="914400">
                        <a:lnSpc>
                          <a:spcPct val="100000"/>
                        </a:lnSpc>
                        <a:tabLst>
                          <a:tab algn="l" pos="0"/>
                        </a:tabLst>
                      </a:pPr>
                      <a:r>
                        <a:rPr b="0" lang="en-US" sz="920" strike="noStrike" u="none">
                          <a:solidFill>
                            <a:srgbClr val="f5f8fc"/>
                          </a:solidFill>
                          <a:effectLst/>
                          <a:uFillTx/>
                          <a:latin typeface="Aptos"/>
                          <a:ea typeface="Aptos"/>
                        </a:rPr>
                        <a:t>Economic development</a:t>
                      </a:r>
                      <a:endParaRPr b="0" lang="en-US" sz="920" strike="noStrike" u="none">
                        <a:solidFill>
                          <a:srgbClr val="ffffff"/>
                        </a:solidFill>
                        <a:effectLst/>
                        <a:uFillTx/>
                        <a:latin typeface="Arial"/>
                      </a:endParaRPr>
                    </a:p>
                  </a:txBody>
                  <a:tcPr anchor="t" marL="36360" marR="36360">
                    <a:lnL w="7200">
                      <a:solidFill>
                        <a:srgbClr val="3f5d7c"/>
                      </a:solidFill>
                      <a:prstDash val="solid"/>
                    </a:lnL>
                    <a:lnR w="7200">
                      <a:solidFill>
                        <a:srgbClr val="3f5d7c"/>
                      </a:solidFill>
                      <a:prstDash val="solid"/>
                    </a:lnR>
                    <a:lnT w="7200">
                      <a:solidFill>
                        <a:srgbClr val="3f5d7c"/>
                      </a:solidFill>
                      <a:prstDash val="solid"/>
                    </a:lnT>
                    <a:lnB w="7200">
                      <a:solidFill>
                        <a:srgbClr val="3f5d7c"/>
                      </a:solidFill>
                      <a:prstDash val="solid"/>
                    </a:lnB>
                    <a:solidFill>
                      <a:srgbClr val="0a2846"/>
                    </a:solidFill>
                  </a:tcPr>
                </a:tc>
                <a:tc>
                  <a:txBody>
                    <a:bodyPr lIns="36360" rIns="36360" tIns="36360" bIns="36360" anchor="t">
                      <a:noAutofit/>
                    </a:bodyPr>
                    <a:p>
                      <a:pPr defTabSz="914400">
                        <a:lnSpc>
                          <a:spcPct val="100000"/>
                        </a:lnSpc>
                        <a:tabLst>
                          <a:tab algn="l" pos="0"/>
                        </a:tabLst>
                      </a:pPr>
                      <a:r>
                        <a:rPr b="0" lang="en-US" sz="920" strike="noStrike" u="none">
                          <a:solidFill>
                            <a:srgbClr val="f5f8fc"/>
                          </a:solidFill>
                          <a:effectLst/>
                          <a:uFillTx/>
                          <a:latin typeface="Aptos"/>
                          <a:ea typeface="Aptos"/>
                        </a:rPr>
                        <a:t>Supports jobs, infrastructure and industrial development</a:t>
                      </a:r>
                      <a:endParaRPr b="0" lang="en-US" sz="920" strike="noStrike" u="none">
                        <a:solidFill>
                          <a:srgbClr val="ffffff"/>
                        </a:solidFill>
                        <a:effectLst/>
                        <a:uFillTx/>
                        <a:latin typeface="Arial"/>
                      </a:endParaRPr>
                    </a:p>
                  </a:txBody>
                  <a:tcPr anchor="t" marL="36360" marR="36360">
                    <a:lnL w="7200">
                      <a:solidFill>
                        <a:srgbClr val="3f5d7c"/>
                      </a:solidFill>
                      <a:prstDash val="solid"/>
                    </a:lnL>
                    <a:lnR w="7200">
                      <a:solidFill>
                        <a:srgbClr val="3f5d7c"/>
                      </a:solidFill>
                      <a:prstDash val="solid"/>
                    </a:lnR>
                    <a:lnT w="7200">
                      <a:solidFill>
                        <a:srgbClr val="3f5d7c"/>
                      </a:solidFill>
                      <a:prstDash val="solid"/>
                    </a:lnT>
                    <a:lnB w="7200">
                      <a:solidFill>
                        <a:srgbClr val="3f5d7c"/>
                      </a:solidFill>
                      <a:prstDash val="solid"/>
                    </a:lnB>
                    <a:solidFill>
                      <a:srgbClr val="0a2846"/>
                    </a:solidFill>
                  </a:tcPr>
                </a:tc>
              </a:tr>
              <a:tr h="754200">
                <a:tc>
                  <a:txBody>
                    <a:bodyPr lIns="36360" rIns="36360" tIns="36360" bIns="36360" anchor="t">
                      <a:noAutofit/>
                    </a:bodyPr>
                    <a:p>
                      <a:pPr defTabSz="914400">
                        <a:lnSpc>
                          <a:spcPct val="100000"/>
                        </a:lnSpc>
                        <a:tabLst>
                          <a:tab algn="l" pos="0"/>
                        </a:tabLst>
                      </a:pPr>
                      <a:r>
                        <a:rPr b="0" lang="en-US" sz="920" strike="noStrike" u="none">
                          <a:solidFill>
                            <a:srgbClr val="f5f8fc"/>
                          </a:solidFill>
                          <a:effectLst/>
                          <a:uFillTx/>
                          <a:latin typeface="Aptos"/>
                          <a:ea typeface="Aptos"/>
                        </a:rPr>
                        <a:t>Technological capacity</a:t>
                      </a:r>
                      <a:endParaRPr b="0" lang="en-US" sz="920" strike="noStrike" u="none">
                        <a:solidFill>
                          <a:srgbClr val="ffffff"/>
                        </a:solidFill>
                        <a:effectLst/>
                        <a:uFillTx/>
                        <a:latin typeface="Arial"/>
                      </a:endParaRPr>
                    </a:p>
                  </a:txBody>
                  <a:tcPr anchor="t" marL="36360" marR="36360">
                    <a:lnL w="7200">
                      <a:solidFill>
                        <a:srgbClr val="3f5d7c"/>
                      </a:solidFill>
                      <a:prstDash val="solid"/>
                    </a:lnL>
                    <a:lnR w="7200">
                      <a:solidFill>
                        <a:srgbClr val="3f5d7c"/>
                      </a:solidFill>
                      <a:prstDash val="solid"/>
                    </a:lnR>
                    <a:lnT w="7200">
                      <a:solidFill>
                        <a:srgbClr val="3f5d7c"/>
                      </a:solidFill>
                      <a:prstDash val="solid"/>
                    </a:lnT>
                    <a:lnB w="7200">
                      <a:solidFill>
                        <a:srgbClr val="3f5d7c"/>
                      </a:solidFill>
                      <a:prstDash val="solid"/>
                    </a:lnB>
                    <a:solidFill>
                      <a:srgbClr val="0d3151"/>
                    </a:solidFill>
                  </a:tcPr>
                </a:tc>
                <a:tc>
                  <a:txBody>
                    <a:bodyPr lIns="36360" rIns="36360" tIns="36360" bIns="36360" anchor="t">
                      <a:noAutofit/>
                    </a:bodyPr>
                    <a:p>
                      <a:pPr defTabSz="914400">
                        <a:lnSpc>
                          <a:spcPct val="100000"/>
                        </a:lnSpc>
                        <a:tabLst>
                          <a:tab algn="l" pos="0"/>
                        </a:tabLst>
                      </a:pPr>
                      <a:r>
                        <a:rPr b="0" lang="en-US" sz="920" strike="noStrike" u="none">
                          <a:solidFill>
                            <a:srgbClr val="f5f8fc"/>
                          </a:solidFill>
                          <a:effectLst/>
                          <a:uFillTx/>
                          <a:latin typeface="Aptos"/>
                          <a:ea typeface="Aptos"/>
                        </a:rPr>
                        <a:t>Builds nuclear engineering and regulatory skills in Bangladesh</a:t>
                      </a:r>
                      <a:endParaRPr b="0" lang="en-US" sz="920" strike="noStrike" u="none">
                        <a:solidFill>
                          <a:srgbClr val="ffffff"/>
                        </a:solidFill>
                        <a:effectLst/>
                        <a:uFillTx/>
                        <a:latin typeface="Arial"/>
                      </a:endParaRPr>
                    </a:p>
                  </a:txBody>
                  <a:tcPr anchor="t" marL="36360" marR="36360">
                    <a:lnL w="7200">
                      <a:solidFill>
                        <a:srgbClr val="3f5d7c"/>
                      </a:solidFill>
                      <a:prstDash val="solid"/>
                    </a:lnL>
                    <a:lnR w="7200">
                      <a:solidFill>
                        <a:srgbClr val="3f5d7c"/>
                      </a:solidFill>
                      <a:prstDash val="solid"/>
                    </a:lnR>
                    <a:lnT w="7200">
                      <a:solidFill>
                        <a:srgbClr val="3f5d7c"/>
                      </a:solidFill>
                      <a:prstDash val="solid"/>
                    </a:lnT>
                    <a:lnB w="7200">
                      <a:solidFill>
                        <a:srgbClr val="3f5d7c"/>
                      </a:solidFill>
                      <a:prstDash val="solid"/>
                    </a:lnB>
                    <a:solidFill>
                      <a:srgbClr val="0d3151"/>
                    </a:solidFill>
                  </a:tcPr>
                </a:tc>
              </a:tr>
            </a:tbl>
          </a:graphicData>
        </a:graphic>
      </p:graphicFrame>
    </p:spTree>
  </p:cSld>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6172f"/>
        </a:solidFill>
      </p:bgPr>
    </p:bg>
    <p:spTree>
      <p:nvGrpSpPr>
        <p:cNvPr id="1" name=""/>
        <p:cNvGrpSpPr/>
        <p:nvPr/>
      </p:nvGrpSpPr>
      <p:grpSpPr>
        <a:xfrm>
          <a:off x="0" y="0"/>
          <a:ext cx="0" cy="0"/>
          <a:chOff x="0" y="0"/>
          <a:chExt cx="0" cy="0"/>
        </a:xfrm>
      </p:grpSpPr>
      <p:sp>
        <p:nvSpPr>
          <p:cNvPr id="896" name="Shape 0"/>
          <p:cNvSpPr/>
          <p:nvPr/>
        </p:nvSpPr>
        <p:spPr>
          <a:xfrm>
            <a:off x="0" y="0"/>
            <a:ext cx="12191400" cy="6857640"/>
          </a:xfrm>
          <a:prstGeom prst="rect">
            <a:avLst/>
          </a:prstGeom>
          <a:solidFill>
            <a:srgbClr val="06172f"/>
          </a:solidFill>
          <a:ln w="12700">
            <a:solidFill>
              <a:srgbClr val="06172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897" name="Shape 1"/>
          <p:cNvSpPr/>
          <p:nvPr/>
        </p:nvSpPr>
        <p:spPr>
          <a:xfrm>
            <a:off x="7680960" y="-1005840"/>
            <a:ext cx="4388760" cy="2925720"/>
          </a:xfrm>
          <a:prstGeom prst="arc">
            <a:avLst>
              <a:gd name="adj1" fmla="val 16200000"/>
              <a:gd name="adj2" fmla="val 0"/>
            </a:avLst>
          </a:prstGeom>
          <a:solidFill>
            <a:srgbClr val="0e3a68">
              <a:alpha val="75000"/>
            </a:srgbClr>
          </a:solidFill>
          <a:ln w="12700">
            <a:solidFill>
              <a:srgbClr val="0e3a68">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898" name="Shape 2"/>
          <p:cNvSpPr/>
          <p:nvPr/>
        </p:nvSpPr>
        <p:spPr>
          <a:xfrm>
            <a:off x="8778240" y="-777240"/>
            <a:ext cx="3474360" cy="2285640"/>
          </a:xfrm>
          <a:prstGeom prst="arc">
            <a:avLst>
              <a:gd name="adj1" fmla="val 16200000"/>
              <a:gd name="adj2" fmla="val 0"/>
            </a:avLst>
          </a:prstGeom>
          <a:solidFill>
            <a:srgbClr val="0b4d5e">
              <a:alpha val="65000"/>
            </a:srgbClr>
          </a:solidFill>
          <a:ln w="12700">
            <a:solidFill>
              <a:srgbClr val="0b4d5e">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899" name="Shape 3"/>
          <p:cNvSpPr/>
          <p:nvPr/>
        </p:nvSpPr>
        <p:spPr>
          <a:xfrm>
            <a:off x="0" y="0"/>
            <a:ext cx="109440" cy="6857640"/>
          </a:xfrm>
          <a:prstGeom prst="rect">
            <a:avLst/>
          </a:prstGeom>
          <a:solidFill>
            <a:srgbClr val="00b078"/>
          </a:solidFill>
          <a:ln w="12700">
            <a:solidFill>
              <a:srgbClr val="00b078">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900" name="Shape 4"/>
          <p:cNvSpPr/>
          <p:nvPr/>
        </p:nvSpPr>
        <p:spPr>
          <a:xfrm>
            <a:off x="320040" y="6565320"/>
            <a:ext cx="11521080" cy="16200"/>
          </a:xfrm>
          <a:prstGeom prst="rect">
            <a:avLst/>
          </a:prstGeom>
          <a:solidFill>
            <a:srgbClr val="435d78"/>
          </a:solidFill>
          <a:ln w="12700">
            <a:solidFill>
              <a:srgbClr val="435d78">
                <a:alpha val="0"/>
              </a:srgbClr>
            </a:solidFill>
            <a:round/>
          </a:ln>
        </p:spPr>
        <p:style>
          <a:lnRef idx="0"/>
          <a:fillRef idx="0"/>
          <a:effectRef idx="0"/>
          <a:fontRef idx="minor"/>
        </p:style>
        <p:txBody>
          <a:bodyPr lIns="90000" rIns="90000" tIns="-28440" bIns="-28440" anchor="t">
            <a:noAutofit/>
          </a:bodyPr>
          <a:p>
            <a:endParaRPr b="0" lang="en-US" sz="1800" strike="noStrike" u="none">
              <a:solidFill>
                <a:srgbClr val="ffffff"/>
              </a:solidFill>
              <a:effectLst/>
              <a:uFillTx/>
              <a:latin typeface="Arial"/>
            </a:endParaRPr>
          </a:p>
        </p:txBody>
      </p:sp>
      <p:sp>
        <p:nvSpPr>
          <p:cNvPr id="901" name="Text 5"/>
          <p:cNvSpPr/>
          <p:nvPr/>
        </p:nvSpPr>
        <p:spPr>
          <a:xfrm>
            <a:off x="11356920" y="6602040"/>
            <a:ext cx="502560" cy="13680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50" strike="noStrike" u="none">
                <a:solidFill>
                  <a:srgbClr val="b0c1d5"/>
                </a:solidFill>
                <a:effectLst/>
                <a:uFillTx/>
                <a:latin typeface="Aptos"/>
                <a:ea typeface="Aptos"/>
              </a:rPr>
              <a:t>30</a:t>
            </a:r>
            <a:endParaRPr b="0" lang="en-US" sz="950" strike="noStrike" u="none">
              <a:solidFill>
                <a:srgbClr val="ffffff"/>
              </a:solidFill>
              <a:effectLst/>
              <a:uFillTx/>
              <a:latin typeface="Arial"/>
            </a:endParaRPr>
          </a:p>
        </p:txBody>
      </p:sp>
      <p:sp>
        <p:nvSpPr>
          <p:cNvPr id="902" name="Text 6"/>
          <p:cNvSpPr/>
          <p:nvPr/>
        </p:nvSpPr>
        <p:spPr>
          <a:xfrm>
            <a:off x="475560" y="228600"/>
            <a:ext cx="10972440" cy="383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500" strike="noStrike" u="none">
                <a:solidFill>
                  <a:srgbClr val="f5f8fc"/>
                </a:solidFill>
                <a:effectLst/>
                <a:uFillTx/>
                <a:latin typeface="Aptos Display"/>
                <a:ea typeface="Aptos Display"/>
              </a:rPr>
              <a:t>Environmental Challenges</a:t>
            </a:r>
            <a:endParaRPr b="0" lang="en-US" sz="2500" strike="noStrike" u="none">
              <a:solidFill>
                <a:srgbClr val="ffffff"/>
              </a:solidFill>
              <a:effectLst/>
              <a:uFillTx/>
              <a:latin typeface="Arial"/>
            </a:endParaRPr>
          </a:p>
        </p:txBody>
      </p:sp>
      <p:sp>
        <p:nvSpPr>
          <p:cNvPr id="903" name="Text 7"/>
          <p:cNvSpPr/>
          <p:nvPr/>
        </p:nvSpPr>
        <p:spPr>
          <a:xfrm>
            <a:off x="502920" y="704160"/>
            <a:ext cx="10835280" cy="255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50" strike="noStrike" u="none">
                <a:solidFill>
                  <a:srgbClr val="b0c1d5"/>
                </a:solidFill>
                <a:effectLst/>
                <a:uFillTx/>
                <a:latin typeface="Aptos"/>
              </a:rPr>
              <a:t>Risks that require careful management</a:t>
            </a:r>
            <a:endParaRPr b="0" lang="en-US" sz="1250" strike="noStrike" u="none">
              <a:solidFill>
                <a:srgbClr val="ffffff"/>
              </a:solidFill>
              <a:effectLst/>
              <a:uFillTx/>
              <a:latin typeface="Arial"/>
            </a:endParaRPr>
          </a:p>
        </p:txBody>
      </p:sp>
      <p:graphicFrame>
        <p:nvGraphicFramePr>
          <p:cNvPr id="904" name="Table 0"/>
          <p:cNvGraphicFramePr/>
          <p:nvPr/>
        </p:nvGraphicFramePr>
        <p:xfrm>
          <a:off x="594360" y="1234440"/>
          <a:ext cx="10972440" cy="4525920"/>
        </p:xfrm>
        <a:graphic>
          <a:graphicData uri="http://schemas.openxmlformats.org/drawingml/2006/table">
            <a:tbl>
              <a:tblPr/>
              <a:tblGrid>
                <a:gridCol w="3657600"/>
                <a:gridCol w="3657600"/>
                <a:gridCol w="3657600"/>
              </a:tblGrid>
              <a:tr h="754200">
                <a:tc>
                  <a:txBody>
                    <a:bodyPr lIns="36360" rIns="36360" tIns="36360" bIns="36360" anchor="t">
                      <a:noAutofit/>
                    </a:bodyPr>
                    <a:p>
                      <a:pPr algn="ctr" defTabSz="914400">
                        <a:lnSpc>
                          <a:spcPct val="100000"/>
                        </a:lnSpc>
                        <a:tabLst>
                          <a:tab algn="l" pos="0"/>
                        </a:tabLst>
                      </a:pPr>
                      <a:r>
                        <a:rPr b="1" lang="en-US" sz="920" strike="noStrike" u="none">
                          <a:solidFill>
                            <a:srgbClr val="06172f"/>
                          </a:solidFill>
                          <a:effectLst/>
                          <a:uFillTx/>
                          <a:latin typeface="Aptos"/>
                          <a:ea typeface="Aptos"/>
                        </a:rPr>
                        <a:t>Challenge</a:t>
                      </a:r>
                      <a:endParaRPr b="0" lang="en-US" sz="920" strike="noStrike" u="none">
                        <a:solidFill>
                          <a:srgbClr val="ffffff"/>
                        </a:solidFill>
                        <a:effectLst/>
                        <a:uFillTx/>
                        <a:latin typeface="Arial"/>
                      </a:endParaRPr>
                    </a:p>
                  </a:txBody>
                  <a:tcPr anchor="t" marL="36360" marR="36360">
                    <a:lnL w="7200">
                      <a:solidFill>
                        <a:srgbClr val="3f5d7c"/>
                      </a:solidFill>
                      <a:prstDash val="solid"/>
                    </a:lnL>
                    <a:lnR w="7200">
                      <a:solidFill>
                        <a:srgbClr val="3f5d7c"/>
                      </a:solidFill>
                      <a:prstDash val="solid"/>
                    </a:lnR>
                    <a:lnT w="7200">
                      <a:solidFill>
                        <a:srgbClr val="3f5d7c"/>
                      </a:solidFill>
                      <a:prstDash val="solid"/>
                    </a:lnT>
                    <a:lnB w="7200">
                      <a:solidFill>
                        <a:srgbClr val="3f5d7c"/>
                      </a:solidFill>
                      <a:prstDash val="solid"/>
                    </a:lnB>
                    <a:solidFill>
                      <a:srgbClr val="e15a5a"/>
                    </a:solidFill>
                  </a:tcPr>
                </a:tc>
                <a:tc>
                  <a:txBody>
                    <a:bodyPr lIns="36360" rIns="36360" tIns="36360" bIns="36360" anchor="t">
                      <a:noAutofit/>
                    </a:bodyPr>
                    <a:p>
                      <a:pPr algn="ctr" defTabSz="914400">
                        <a:lnSpc>
                          <a:spcPct val="100000"/>
                        </a:lnSpc>
                        <a:tabLst>
                          <a:tab algn="l" pos="0"/>
                        </a:tabLst>
                      </a:pPr>
                      <a:r>
                        <a:rPr b="1" lang="en-US" sz="920" strike="noStrike" u="none">
                          <a:solidFill>
                            <a:srgbClr val="06172f"/>
                          </a:solidFill>
                          <a:effectLst/>
                          <a:uFillTx/>
                          <a:latin typeface="Aptos"/>
                          <a:ea typeface="Aptos"/>
                        </a:rPr>
                        <a:t>Potential environmental implication</a:t>
                      </a:r>
                      <a:endParaRPr b="0" lang="en-US" sz="920" strike="noStrike" u="none">
                        <a:solidFill>
                          <a:srgbClr val="ffffff"/>
                        </a:solidFill>
                        <a:effectLst/>
                        <a:uFillTx/>
                        <a:latin typeface="Arial"/>
                      </a:endParaRPr>
                    </a:p>
                  </a:txBody>
                  <a:tcPr anchor="t" marL="36360" marR="36360">
                    <a:lnL w="7200">
                      <a:solidFill>
                        <a:srgbClr val="3f5d7c"/>
                      </a:solidFill>
                      <a:prstDash val="solid"/>
                    </a:lnL>
                    <a:lnR w="7200">
                      <a:solidFill>
                        <a:srgbClr val="3f5d7c"/>
                      </a:solidFill>
                      <a:prstDash val="solid"/>
                    </a:lnR>
                    <a:lnT w="7200">
                      <a:solidFill>
                        <a:srgbClr val="3f5d7c"/>
                      </a:solidFill>
                      <a:prstDash val="solid"/>
                    </a:lnT>
                    <a:lnB w="7200">
                      <a:solidFill>
                        <a:srgbClr val="3f5d7c"/>
                      </a:solidFill>
                      <a:prstDash val="solid"/>
                    </a:lnB>
                    <a:solidFill>
                      <a:srgbClr val="e15a5a"/>
                    </a:solidFill>
                  </a:tcPr>
                </a:tc>
                <a:tc>
                  <a:txBody>
                    <a:bodyPr lIns="36360" rIns="36360" tIns="36360" bIns="36360" anchor="t">
                      <a:noAutofit/>
                    </a:bodyPr>
                    <a:p>
                      <a:pPr algn="ctr" defTabSz="914400">
                        <a:lnSpc>
                          <a:spcPct val="100000"/>
                        </a:lnSpc>
                        <a:tabLst>
                          <a:tab algn="l" pos="0"/>
                        </a:tabLst>
                      </a:pPr>
                      <a:r>
                        <a:rPr b="1" lang="en-US" sz="920" strike="noStrike" u="none">
                          <a:solidFill>
                            <a:srgbClr val="06172f"/>
                          </a:solidFill>
                          <a:effectLst/>
                          <a:uFillTx/>
                          <a:latin typeface="Aptos"/>
                          <a:ea typeface="Aptos"/>
                        </a:rPr>
                        <a:t>Required response</a:t>
                      </a:r>
                      <a:endParaRPr b="0" lang="en-US" sz="920" strike="noStrike" u="none">
                        <a:solidFill>
                          <a:srgbClr val="ffffff"/>
                        </a:solidFill>
                        <a:effectLst/>
                        <a:uFillTx/>
                        <a:latin typeface="Arial"/>
                      </a:endParaRPr>
                    </a:p>
                  </a:txBody>
                  <a:tcPr anchor="t" marL="36360" marR="36360">
                    <a:lnL w="7200">
                      <a:solidFill>
                        <a:srgbClr val="3f5d7c"/>
                      </a:solidFill>
                      <a:prstDash val="solid"/>
                    </a:lnL>
                    <a:lnR w="7200">
                      <a:solidFill>
                        <a:srgbClr val="3f5d7c"/>
                      </a:solidFill>
                      <a:prstDash val="solid"/>
                    </a:lnR>
                    <a:lnT w="7200">
                      <a:solidFill>
                        <a:srgbClr val="3f5d7c"/>
                      </a:solidFill>
                      <a:prstDash val="solid"/>
                    </a:lnT>
                    <a:lnB w="7200">
                      <a:solidFill>
                        <a:srgbClr val="3f5d7c"/>
                      </a:solidFill>
                      <a:prstDash val="solid"/>
                    </a:lnB>
                    <a:solidFill>
                      <a:srgbClr val="e15a5a"/>
                    </a:solidFill>
                  </a:tcPr>
                </a:tc>
              </a:tr>
              <a:tr h="754200">
                <a:tc>
                  <a:txBody>
                    <a:bodyPr lIns="36360" rIns="36360" tIns="36360" bIns="36360" anchor="t">
                      <a:noAutofit/>
                    </a:bodyPr>
                    <a:p>
                      <a:pPr defTabSz="914400">
                        <a:lnSpc>
                          <a:spcPct val="100000"/>
                        </a:lnSpc>
                        <a:tabLst>
                          <a:tab algn="l" pos="0"/>
                        </a:tabLst>
                      </a:pPr>
                      <a:r>
                        <a:rPr b="0" lang="en-US" sz="920" strike="noStrike" u="none">
                          <a:solidFill>
                            <a:srgbClr val="f5f8fc"/>
                          </a:solidFill>
                          <a:effectLst/>
                          <a:uFillTx/>
                          <a:latin typeface="Aptos"/>
                          <a:ea typeface="Aptos"/>
                        </a:rPr>
                        <a:t>Thermal discharge</a:t>
                      </a:r>
                      <a:endParaRPr b="0" lang="en-US" sz="920" strike="noStrike" u="none">
                        <a:solidFill>
                          <a:srgbClr val="ffffff"/>
                        </a:solidFill>
                        <a:effectLst/>
                        <a:uFillTx/>
                        <a:latin typeface="Arial"/>
                      </a:endParaRPr>
                    </a:p>
                  </a:txBody>
                  <a:tcPr anchor="t" marL="36360" marR="36360">
                    <a:lnL w="7200">
                      <a:solidFill>
                        <a:srgbClr val="3f5d7c"/>
                      </a:solidFill>
                      <a:prstDash val="solid"/>
                    </a:lnL>
                    <a:lnR w="7200">
                      <a:solidFill>
                        <a:srgbClr val="3f5d7c"/>
                      </a:solidFill>
                      <a:prstDash val="solid"/>
                    </a:lnR>
                    <a:lnT w="7200">
                      <a:solidFill>
                        <a:srgbClr val="3f5d7c"/>
                      </a:solidFill>
                      <a:prstDash val="solid"/>
                    </a:lnT>
                    <a:lnB w="7200">
                      <a:solidFill>
                        <a:srgbClr val="3f5d7c"/>
                      </a:solidFill>
                      <a:prstDash val="solid"/>
                    </a:lnB>
                    <a:solidFill>
                      <a:srgbClr val="0d3151"/>
                    </a:solidFill>
                  </a:tcPr>
                </a:tc>
                <a:tc>
                  <a:txBody>
                    <a:bodyPr lIns="36360" rIns="36360" tIns="36360" bIns="36360" anchor="t">
                      <a:noAutofit/>
                    </a:bodyPr>
                    <a:p>
                      <a:pPr defTabSz="914400">
                        <a:lnSpc>
                          <a:spcPct val="100000"/>
                        </a:lnSpc>
                        <a:tabLst>
                          <a:tab algn="l" pos="0"/>
                        </a:tabLst>
                      </a:pPr>
                      <a:r>
                        <a:rPr b="0" lang="en-US" sz="920" strike="noStrike" u="none">
                          <a:solidFill>
                            <a:srgbClr val="f5f8fc"/>
                          </a:solidFill>
                          <a:effectLst/>
                          <a:uFillTx/>
                          <a:latin typeface="Aptos"/>
                          <a:ea typeface="Aptos"/>
                        </a:rPr>
                        <a:t>River temperature change and aquatic stress</a:t>
                      </a:r>
                      <a:endParaRPr b="0" lang="en-US" sz="920" strike="noStrike" u="none">
                        <a:solidFill>
                          <a:srgbClr val="ffffff"/>
                        </a:solidFill>
                        <a:effectLst/>
                        <a:uFillTx/>
                        <a:latin typeface="Arial"/>
                      </a:endParaRPr>
                    </a:p>
                  </a:txBody>
                  <a:tcPr anchor="t" marL="36360" marR="36360">
                    <a:lnL w="7200">
                      <a:solidFill>
                        <a:srgbClr val="3f5d7c"/>
                      </a:solidFill>
                      <a:prstDash val="solid"/>
                    </a:lnL>
                    <a:lnR w="7200">
                      <a:solidFill>
                        <a:srgbClr val="3f5d7c"/>
                      </a:solidFill>
                      <a:prstDash val="solid"/>
                    </a:lnR>
                    <a:lnT w="7200">
                      <a:solidFill>
                        <a:srgbClr val="3f5d7c"/>
                      </a:solidFill>
                      <a:prstDash val="solid"/>
                    </a:lnT>
                    <a:lnB w="7200">
                      <a:solidFill>
                        <a:srgbClr val="3f5d7c"/>
                      </a:solidFill>
                      <a:prstDash val="solid"/>
                    </a:lnB>
                    <a:solidFill>
                      <a:srgbClr val="0d3151"/>
                    </a:solidFill>
                  </a:tcPr>
                </a:tc>
                <a:tc>
                  <a:txBody>
                    <a:bodyPr lIns="36360" rIns="36360" tIns="36360" bIns="36360" anchor="t">
                      <a:noAutofit/>
                    </a:bodyPr>
                    <a:p>
                      <a:pPr defTabSz="914400">
                        <a:lnSpc>
                          <a:spcPct val="100000"/>
                        </a:lnSpc>
                        <a:tabLst>
                          <a:tab algn="l" pos="0"/>
                        </a:tabLst>
                      </a:pPr>
                      <a:r>
                        <a:rPr b="0" lang="en-US" sz="920" strike="noStrike" u="none">
                          <a:solidFill>
                            <a:srgbClr val="f5f8fc"/>
                          </a:solidFill>
                          <a:effectLst/>
                          <a:uFillTx/>
                          <a:latin typeface="Aptos"/>
                          <a:ea typeface="Aptos"/>
                        </a:rPr>
                        <a:t>Cooling towers and discharge monitoring</a:t>
                      </a:r>
                      <a:endParaRPr b="0" lang="en-US" sz="920" strike="noStrike" u="none">
                        <a:solidFill>
                          <a:srgbClr val="ffffff"/>
                        </a:solidFill>
                        <a:effectLst/>
                        <a:uFillTx/>
                        <a:latin typeface="Arial"/>
                      </a:endParaRPr>
                    </a:p>
                  </a:txBody>
                  <a:tcPr anchor="t" marL="36360" marR="36360">
                    <a:lnL w="7200">
                      <a:solidFill>
                        <a:srgbClr val="3f5d7c"/>
                      </a:solidFill>
                      <a:prstDash val="solid"/>
                    </a:lnL>
                    <a:lnR w="7200">
                      <a:solidFill>
                        <a:srgbClr val="3f5d7c"/>
                      </a:solidFill>
                      <a:prstDash val="solid"/>
                    </a:lnR>
                    <a:lnT w="7200">
                      <a:solidFill>
                        <a:srgbClr val="3f5d7c"/>
                      </a:solidFill>
                      <a:prstDash val="solid"/>
                    </a:lnT>
                    <a:lnB w="7200">
                      <a:solidFill>
                        <a:srgbClr val="3f5d7c"/>
                      </a:solidFill>
                      <a:prstDash val="solid"/>
                    </a:lnB>
                    <a:solidFill>
                      <a:srgbClr val="0d3151"/>
                    </a:solidFill>
                  </a:tcPr>
                </a:tc>
              </a:tr>
              <a:tr h="754200">
                <a:tc>
                  <a:txBody>
                    <a:bodyPr lIns="36360" rIns="36360" tIns="36360" bIns="36360" anchor="t">
                      <a:noAutofit/>
                    </a:bodyPr>
                    <a:p>
                      <a:pPr defTabSz="914400">
                        <a:lnSpc>
                          <a:spcPct val="100000"/>
                        </a:lnSpc>
                        <a:tabLst>
                          <a:tab algn="l" pos="0"/>
                        </a:tabLst>
                      </a:pPr>
                      <a:r>
                        <a:rPr b="0" lang="en-US" sz="920" strike="noStrike" u="none">
                          <a:solidFill>
                            <a:srgbClr val="f5f8fc"/>
                          </a:solidFill>
                          <a:effectLst/>
                          <a:uFillTx/>
                          <a:latin typeface="Aptos"/>
                          <a:ea typeface="Aptos"/>
                        </a:rPr>
                        <a:t>Radioactive waste</a:t>
                      </a:r>
                      <a:endParaRPr b="0" lang="en-US" sz="920" strike="noStrike" u="none">
                        <a:solidFill>
                          <a:srgbClr val="ffffff"/>
                        </a:solidFill>
                        <a:effectLst/>
                        <a:uFillTx/>
                        <a:latin typeface="Arial"/>
                      </a:endParaRPr>
                    </a:p>
                  </a:txBody>
                  <a:tcPr anchor="t" marL="36360" marR="36360">
                    <a:lnL w="7200">
                      <a:solidFill>
                        <a:srgbClr val="3f5d7c"/>
                      </a:solidFill>
                      <a:prstDash val="solid"/>
                    </a:lnL>
                    <a:lnR w="7200">
                      <a:solidFill>
                        <a:srgbClr val="3f5d7c"/>
                      </a:solidFill>
                      <a:prstDash val="solid"/>
                    </a:lnR>
                    <a:lnT w="7200">
                      <a:solidFill>
                        <a:srgbClr val="3f5d7c"/>
                      </a:solidFill>
                      <a:prstDash val="solid"/>
                    </a:lnT>
                    <a:lnB w="7200">
                      <a:solidFill>
                        <a:srgbClr val="3f5d7c"/>
                      </a:solidFill>
                      <a:prstDash val="solid"/>
                    </a:lnB>
                    <a:solidFill>
                      <a:srgbClr val="0a2846"/>
                    </a:solidFill>
                  </a:tcPr>
                </a:tc>
                <a:tc>
                  <a:txBody>
                    <a:bodyPr lIns="36360" rIns="36360" tIns="36360" bIns="36360" anchor="t">
                      <a:noAutofit/>
                    </a:bodyPr>
                    <a:p>
                      <a:pPr defTabSz="914400">
                        <a:lnSpc>
                          <a:spcPct val="100000"/>
                        </a:lnSpc>
                        <a:tabLst>
                          <a:tab algn="l" pos="0"/>
                        </a:tabLst>
                      </a:pPr>
                      <a:r>
                        <a:rPr b="0" lang="en-US" sz="920" strike="noStrike" u="none">
                          <a:solidFill>
                            <a:srgbClr val="f5f8fc"/>
                          </a:solidFill>
                          <a:effectLst/>
                          <a:uFillTx/>
                          <a:latin typeface="Aptos"/>
                          <a:ea typeface="Aptos"/>
                        </a:rPr>
                        <a:t>Long-term contamination risk if mismanaged</a:t>
                      </a:r>
                      <a:endParaRPr b="0" lang="en-US" sz="920" strike="noStrike" u="none">
                        <a:solidFill>
                          <a:srgbClr val="ffffff"/>
                        </a:solidFill>
                        <a:effectLst/>
                        <a:uFillTx/>
                        <a:latin typeface="Arial"/>
                      </a:endParaRPr>
                    </a:p>
                  </a:txBody>
                  <a:tcPr anchor="t" marL="36360" marR="36360">
                    <a:lnL w="7200">
                      <a:solidFill>
                        <a:srgbClr val="3f5d7c"/>
                      </a:solidFill>
                      <a:prstDash val="solid"/>
                    </a:lnL>
                    <a:lnR w="7200">
                      <a:solidFill>
                        <a:srgbClr val="3f5d7c"/>
                      </a:solidFill>
                      <a:prstDash val="solid"/>
                    </a:lnR>
                    <a:lnT w="7200">
                      <a:solidFill>
                        <a:srgbClr val="3f5d7c"/>
                      </a:solidFill>
                      <a:prstDash val="solid"/>
                    </a:lnT>
                    <a:lnB w="7200">
                      <a:solidFill>
                        <a:srgbClr val="3f5d7c"/>
                      </a:solidFill>
                      <a:prstDash val="solid"/>
                    </a:lnB>
                    <a:solidFill>
                      <a:srgbClr val="0a2846"/>
                    </a:solidFill>
                  </a:tcPr>
                </a:tc>
                <a:tc>
                  <a:txBody>
                    <a:bodyPr lIns="36360" rIns="36360" tIns="36360" bIns="36360" anchor="t">
                      <a:noAutofit/>
                    </a:bodyPr>
                    <a:p>
                      <a:pPr defTabSz="914400">
                        <a:lnSpc>
                          <a:spcPct val="100000"/>
                        </a:lnSpc>
                        <a:tabLst>
                          <a:tab algn="l" pos="0"/>
                        </a:tabLst>
                      </a:pPr>
                      <a:r>
                        <a:rPr b="0" lang="en-US" sz="920" strike="noStrike" u="none">
                          <a:solidFill>
                            <a:srgbClr val="f5f8fc"/>
                          </a:solidFill>
                          <a:effectLst/>
                          <a:uFillTx/>
                          <a:latin typeface="Aptos"/>
                          <a:ea typeface="Aptos"/>
                        </a:rPr>
                        <a:t>Secure storage, tracking and international oversight</a:t>
                      </a:r>
                      <a:endParaRPr b="0" lang="en-US" sz="920" strike="noStrike" u="none">
                        <a:solidFill>
                          <a:srgbClr val="ffffff"/>
                        </a:solidFill>
                        <a:effectLst/>
                        <a:uFillTx/>
                        <a:latin typeface="Arial"/>
                      </a:endParaRPr>
                    </a:p>
                  </a:txBody>
                  <a:tcPr anchor="t" marL="36360" marR="36360">
                    <a:lnL w="7200">
                      <a:solidFill>
                        <a:srgbClr val="3f5d7c"/>
                      </a:solidFill>
                      <a:prstDash val="solid"/>
                    </a:lnL>
                    <a:lnR w="7200">
                      <a:solidFill>
                        <a:srgbClr val="3f5d7c"/>
                      </a:solidFill>
                      <a:prstDash val="solid"/>
                    </a:lnR>
                    <a:lnT w="7200">
                      <a:solidFill>
                        <a:srgbClr val="3f5d7c"/>
                      </a:solidFill>
                      <a:prstDash val="solid"/>
                    </a:lnT>
                    <a:lnB w="7200">
                      <a:solidFill>
                        <a:srgbClr val="3f5d7c"/>
                      </a:solidFill>
                      <a:prstDash val="solid"/>
                    </a:lnB>
                    <a:solidFill>
                      <a:srgbClr val="0a2846"/>
                    </a:solidFill>
                  </a:tcPr>
                </a:tc>
              </a:tr>
              <a:tr h="754200">
                <a:tc>
                  <a:txBody>
                    <a:bodyPr lIns="36360" rIns="36360" tIns="36360" bIns="36360" anchor="t">
                      <a:noAutofit/>
                    </a:bodyPr>
                    <a:p>
                      <a:pPr defTabSz="914400">
                        <a:lnSpc>
                          <a:spcPct val="100000"/>
                        </a:lnSpc>
                        <a:tabLst>
                          <a:tab algn="l" pos="0"/>
                        </a:tabLst>
                      </a:pPr>
                      <a:r>
                        <a:rPr b="0" lang="en-US" sz="920" strike="noStrike" u="none">
                          <a:solidFill>
                            <a:srgbClr val="f5f8fc"/>
                          </a:solidFill>
                          <a:effectLst/>
                          <a:uFillTx/>
                          <a:latin typeface="Aptos"/>
                          <a:ea typeface="Aptos"/>
                        </a:rPr>
                        <a:t>Water dependence</a:t>
                      </a:r>
                      <a:endParaRPr b="0" lang="en-US" sz="920" strike="noStrike" u="none">
                        <a:solidFill>
                          <a:srgbClr val="ffffff"/>
                        </a:solidFill>
                        <a:effectLst/>
                        <a:uFillTx/>
                        <a:latin typeface="Arial"/>
                      </a:endParaRPr>
                    </a:p>
                  </a:txBody>
                  <a:tcPr anchor="t" marL="36360" marR="36360">
                    <a:lnL w="7200">
                      <a:solidFill>
                        <a:srgbClr val="3f5d7c"/>
                      </a:solidFill>
                      <a:prstDash val="solid"/>
                    </a:lnL>
                    <a:lnR w="7200">
                      <a:solidFill>
                        <a:srgbClr val="3f5d7c"/>
                      </a:solidFill>
                      <a:prstDash val="solid"/>
                    </a:lnR>
                    <a:lnT w="7200">
                      <a:solidFill>
                        <a:srgbClr val="3f5d7c"/>
                      </a:solidFill>
                      <a:prstDash val="solid"/>
                    </a:lnT>
                    <a:lnB w="7200">
                      <a:solidFill>
                        <a:srgbClr val="3f5d7c"/>
                      </a:solidFill>
                      <a:prstDash val="solid"/>
                    </a:lnB>
                    <a:solidFill>
                      <a:srgbClr val="0d3151"/>
                    </a:solidFill>
                  </a:tcPr>
                </a:tc>
                <a:tc>
                  <a:txBody>
                    <a:bodyPr lIns="36360" rIns="36360" tIns="36360" bIns="36360" anchor="t">
                      <a:noAutofit/>
                    </a:bodyPr>
                    <a:p>
                      <a:pPr defTabSz="914400">
                        <a:lnSpc>
                          <a:spcPct val="100000"/>
                        </a:lnSpc>
                        <a:tabLst>
                          <a:tab algn="l" pos="0"/>
                        </a:tabLst>
                      </a:pPr>
                      <a:r>
                        <a:rPr b="0" lang="en-US" sz="920" strike="noStrike" u="none">
                          <a:solidFill>
                            <a:srgbClr val="f5f8fc"/>
                          </a:solidFill>
                          <a:effectLst/>
                          <a:uFillTx/>
                          <a:latin typeface="Aptos"/>
                          <a:ea typeface="Aptos"/>
                        </a:rPr>
                        <a:t>Operational vulnerability to river changes</a:t>
                      </a:r>
                      <a:endParaRPr b="0" lang="en-US" sz="920" strike="noStrike" u="none">
                        <a:solidFill>
                          <a:srgbClr val="ffffff"/>
                        </a:solidFill>
                        <a:effectLst/>
                        <a:uFillTx/>
                        <a:latin typeface="Arial"/>
                      </a:endParaRPr>
                    </a:p>
                  </a:txBody>
                  <a:tcPr anchor="t" marL="36360" marR="36360">
                    <a:lnL w="7200">
                      <a:solidFill>
                        <a:srgbClr val="3f5d7c"/>
                      </a:solidFill>
                      <a:prstDash val="solid"/>
                    </a:lnL>
                    <a:lnR w="7200">
                      <a:solidFill>
                        <a:srgbClr val="3f5d7c"/>
                      </a:solidFill>
                      <a:prstDash val="solid"/>
                    </a:lnR>
                    <a:lnT w="7200">
                      <a:solidFill>
                        <a:srgbClr val="3f5d7c"/>
                      </a:solidFill>
                      <a:prstDash val="solid"/>
                    </a:lnT>
                    <a:lnB w="7200">
                      <a:solidFill>
                        <a:srgbClr val="3f5d7c"/>
                      </a:solidFill>
                      <a:prstDash val="solid"/>
                    </a:lnB>
                    <a:solidFill>
                      <a:srgbClr val="0d3151"/>
                    </a:solidFill>
                  </a:tcPr>
                </a:tc>
                <a:tc>
                  <a:txBody>
                    <a:bodyPr lIns="36360" rIns="36360" tIns="36360" bIns="36360" anchor="t">
                      <a:noAutofit/>
                    </a:bodyPr>
                    <a:p>
                      <a:pPr defTabSz="914400">
                        <a:lnSpc>
                          <a:spcPct val="100000"/>
                        </a:lnSpc>
                        <a:tabLst>
                          <a:tab algn="l" pos="0"/>
                        </a:tabLst>
                      </a:pPr>
                      <a:r>
                        <a:rPr b="0" lang="en-US" sz="920" strike="noStrike" u="none">
                          <a:solidFill>
                            <a:srgbClr val="f5f8fc"/>
                          </a:solidFill>
                          <a:effectLst/>
                          <a:uFillTx/>
                          <a:latin typeface="Aptos"/>
                          <a:ea typeface="Aptos"/>
                        </a:rPr>
                        <a:t>Hydrological monitoring and contingency planning</a:t>
                      </a:r>
                      <a:endParaRPr b="0" lang="en-US" sz="920" strike="noStrike" u="none">
                        <a:solidFill>
                          <a:srgbClr val="ffffff"/>
                        </a:solidFill>
                        <a:effectLst/>
                        <a:uFillTx/>
                        <a:latin typeface="Arial"/>
                      </a:endParaRPr>
                    </a:p>
                  </a:txBody>
                  <a:tcPr anchor="t" marL="36360" marR="36360">
                    <a:lnL w="7200">
                      <a:solidFill>
                        <a:srgbClr val="3f5d7c"/>
                      </a:solidFill>
                      <a:prstDash val="solid"/>
                    </a:lnL>
                    <a:lnR w="7200">
                      <a:solidFill>
                        <a:srgbClr val="3f5d7c"/>
                      </a:solidFill>
                      <a:prstDash val="solid"/>
                    </a:lnR>
                    <a:lnT w="7200">
                      <a:solidFill>
                        <a:srgbClr val="3f5d7c"/>
                      </a:solidFill>
                      <a:prstDash val="solid"/>
                    </a:lnT>
                    <a:lnB w="7200">
                      <a:solidFill>
                        <a:srgbClr val="3f5d7c"/>
                      </a:solidFill>
                      <a:prstDash val="solid"/>
                    </a:lnB>
                    <a:solidFill>
                      <a:srgbClr val="0d3151"/>
                    </a:solidFill>
                  </a:tcPr>
                </a:tc>
              </a:tr>
              <a:tr h="754200">
                <a:tc>
                  <a:txBody>
                    <a:bodyPr lIns="36360" rIns="36360" tIns="36360" bIns="36360" anchor="t">
                      <a:noAutofit/>
                    </a:bodyPr>
                    <a:p>
                      <a:pPr defTabSz="914400">
                        <a:lnSpc>
                          <a:spcPct val="100000"/>
                        </a:lnSpc>
                        <a:tabLst>
                          <a:tab algn="l" pos="0"/>
                        </a:tabLst>
                      </a:pPr>
                      <a:r>
                        <a:rPr b="0" lang="en-US" sz="920" strike="noStrike" u="none">
                          <a:solidFill>
                            <a:srgbClr val="f5f8fc"/>
                          </a:solidFill>
                          <a:effectLst/>
                          <a:uFillTx/>
                          <a:latin typeface="Aptos"/>
                          <a:ea typeface="Aptos"/>
                        </a:rPr>
                        <a:t>Biodiversity</a:t>
                      </a:r>
                      <a:endParaRPr b="0" lang="en-US" sz="920" strike="noStrike" u="none">
                        <a:solidFill>
                          <a:srgbClr val="ffffff"/>
                        </a:solidFill>
                        <a:effectLst/>
                        <a:uFillTx/>
                        <a:latin typeface="Arial"/>
                      </a:endParaRPr>
                    </a:p>
                  </a:txBody>
                  <a:tcPr anchor="t" marL="36360" marR="36360">
                    <a:lnL w="7200">
                      <a:solidFill>
                        <a:srgbClr val="3f5d7c"/>
                      </a:solidFill>
                      <a:prstDash val="solid"/>
                    </a:lnL>
                    <a:lnR w="7200">
                      <a:solidFill>
                        <a:srgbClr val="3f5d7c"/>
                      </a:solidFill>
                      <a:prstDash val="solid"/>
                    </a:lnR>
                    <a:lnT w="7200">
                      <a:solidFill>
                        <a:srgbClr val="3f5d7c"/>
                      </a:solidFill>
                      <a:prstDash val="solid"/>
                    </a:lnT>
                    <a:lnB w="7200">
                      <a:solidFill>
                        <a:srgbClr val="3f5d7c"/>
                      </a:solidFill>
                      <a:prstDash val="solid"/>
                    </a:lnB>
                    <a:solidFill>
                      <a:srgbClr val="0a2846"/>
                    </a:solidFill>
                  </a:tcPr>
                </a:tc>
                <a:tc>
                  <a:txBody>
                    <a:bodyPr lIns="36360" rIns="36360" tIns="36360" bIns="36360" anchor="t">
                      <a:noAutofit/>
                    </a:bodyPr>
                    <a:p>
                      <a:pPr defTabSz="914400">
                        <a:lnSpc>
                          <a:spcPct val="100000"/>
                        </a:lnSpc>
                        <a:tabLst>
                          <a:tab algn="l" pos="0"/>
                        </a:tabLst>
                      </a:pPr>
                      <a:r>
                        <a:rPr b="0" lang="en-US" sz="920" strike="noStrike" u="none">
                          <a:solidFill>
                            <a:srgbClr val="f5f8fc"/>
                          </a:solidFill>
                          <a:effectLst/>
                          <a:uFillTx/>
                          <a:latin typeface="Aptos"/>
                          <a:ea typeface="Aptos"/>
                        </a:rPr>
                        <a:t>Fish migration and habitat stress</a:t>
                      </a:r>
                      <a:endParaRPr b="0" lang="en-US" sz="920" strike="noStrike" u="none">
                        <a:solidFill>
                          <a:srgbClr val="ffffff"/>
                        </a:solidFill>
                        <a:effectLst/>
                        <a:uFillTx/>
                        <a:latin typeface="Arial"/>
                      </a:endParaRPr>
                    </a:p>
                  </a:txBody>
                  <a:tcPr anchor="t" marL="36360" marR="36360">
                    <a:lnL w="7200">
                      <a:solidFill>
                        <a:srgbClr val="3f5d7c"/>
                      </a:solidFill>
                      <a:prstDash val="solid"/>
                    </a:lnL>
                    <a:lnR w="7200">
                      <a:solidFill>
                        <a:srgbClr val="3f5d7c"/>
                      </a:solidFill>
                      <a:prstDash val="solid"/>
                    </a:lnR>
                    <a:lnT w="7200">
                      <a:solidFill>
                        <a:srgbClr val="3f5d7c"/>
                      </a:solidFill>
                      <a:prstDash val="solid"/>
                    </a:lnT>
                    <a:lnB w="7200">
                      <a:solidFill>
                        <a:srgbClr val="3f5d7c"/>
                      </a:solidFill>
                      <a:prstDash val="solid"/>
                    </a:lnB>
                    <a:solidFill>
                      <a:srgbClr val="0a2846"/>
                    </a:solidFill>
                  </a:tcPr>
                </a:tc>
                <a:tc>
                  <a:txBody>
                    <a:bodyPr lIns="36360" rIns="36360" tIns="36360" bIns="36360" anchor="t">
                      <a:noAutofit/>
                    </a:bodyPr>
                    <a:p>
                      <a:pPr defTabSz="914400">
                        <a:lnSpc>
                          <a:spcPct val="100000"/>
                        </a:lnSpc>
                        <a:tabLst>
                          <a:tab algn="l" pos="0"/>
                        </a:tabLst>
                      </a:pPr>
                      <a:r>
                        <a:rPr b="0" lang="en-US" sz="920" strike="noStrike" u="none">
                          <a:solidFill>
                            <a:srgbClr val="f5f8fc"/>
                          </a:solidFill>
                          <a:effectLst/>
                          <a:uFillTx/>
                          <a:latin typeface="Aptos"/>
                          <a:ea typeface="Aptos"/>
                        </a:rPr>
                        <a:t>Intake screens and ecological auditing</a:t>
                      </a:r>
                      <a:endParaRPr b="0" lang="en-US" sz="920" strike="noStrike" u="none">
                        <a:solidFill>
                          <a:srgbClr val="ffffff"/>
                        </a:solidFill>
                        <a:effectLst/>
                        <a:uFillTx/>
                        <a:latin typeface="Arial"/>
                      </a:endParaRPr>
                    </a:p>
                  </a:txBody>
                  <a:tcPr anchor="t" marL="36360" marR="36360">
                    <a:lnL w="7200">
                      <a:solidFill>
                        <a:srgbClr val="3f5d7c"/>
                      </a:solidFill>
                      <a:prstDash val="solid"/>
                    </a:lnL>
                    <a:lnR w="7200">
                      <a:solidFill>
                        <a:srgbClr val="3f5d7c"/>
                      </a:solidFill>
                      <a:prstDash val="solid"/>
                    </a:lnR>
                    <a:lnT w="7200">
                      <a:solidFill>
                        <a:srgbClr val="3f5d7c"/>
                      </a:solidFill>
                      <a:prstDash val="solid"/>
                    </a:lnT>
                    <a:lnB w="7200">
                      <a:solidFill>
                        <a:srgbClr val="3f5d7c"/>
                      </a:solidFill>
                      <a:prstDash val="solid"/>
                    </a:lnB>
                    <a:solidFill>
                      <a:srgbClr val="0a2846"/>
                    </a:solidFill>
                  </a:tcPr>
                </a:tc>
              </a:tr>
              <a:tr h="754200">
                <a:tc>
                  <a:txBody>
                    <a:bodyPr lIns="36360" rIns="36360" tIns="36360" bIns="36360" anchor="t">
                      <a:noAutofit/>
                    </a:bodyPr>
                    <a:p>
                      <a:pPr defTabSz="914400">
                        <a:lnSpc>
                          <a:spcPct val="100000"/>
                        </a:lnSpc>
                        <a:tabLst>
                          <a:tab algn="l" pos="0"/>
                        </a:tabLst>
                      </a:pPr>
                      <a:r>
                        <a:rPr b="0" lang="en-US" sz="920" strike="noStrike" u="none">
                          <a:solidFill>
                            <a:srgbClr val="f5f8fc"/>
                          </a:solidFill>
                          <a:effectLst/>
                          <a:uFillTx/>
                          <a:latin typeface="Aptos"/>
                          <a:ea typeface="Aptos"/>
                        </a:rPr>
                        <a:t>Siltation</a:t>
                      </a:r>
                      <a:endParaRPr b="0" lang="en-US" sz="920" strike="noStrike" u="none">
                        <a:solidFill>
                          <a:srgbClr val="ffffff"/>
                        </a:solidFill>
                        <a:effectLst/>
                        <a:uFillTx/>
                        <a:latin typeface="Arial"/>
                      </a:endParaRPr>
                    </a:p>
                  </a:txBody>
                  <a:tcPr anchor="t" marL="36360" marR="36360">
                    <a:lnL w="7200">
                      <a:solidFill>
                        <a:srgbClr val="3f5d7c"/>
                      </a:solidFill>
                      <a:prstDash val="solid"/>
                    </a:lnL>
                    <a:lnR w="7200">
                      <a:solidFill>
                        <a:srgbClr val="3f5d7c"/>
                      </a:solidFill>
                      <a:prstDash val="solid"/>
                    </a:lnR>
                    <a:lnT w="7200">
                      <a:solidFill>
                        <a:srgbClr val="3f5d7c"/>
                      </a:solidFill>
                      <a:prstDash val="solid"/>
                    </a:lnT>
                    <a:lnB w="7200">
                      <a:solidFill>
                        <a:srgbClr val="3f5d7c"/>
                      </a:solidFill>
                      <a:prstDash val="solid"/>
                    </a:lnB>
                    <a:solidFill>
                      <a:srgbClr val="0d3151"/>
                    </a:solidFill>
                  </a:tcPr>
                </a:tc>
                <a:tc>
                  <a:txBody>
                    <a:bodyPr lIns="36360" rIns="36360" tIns="36360" bIns="36360" anchor="t">
                      <a:noAutofit/>
                    </a:bodyPr>
                    <a:p>
                      <a:pPr defTabSz="914400">
                        <a:lnSpc>
                          <a:spcPct val="100000"/>
                        </a:lnSpc>
                        <a:tabLst>
                          <a:tab algn="l" pos="0"/>
                        </a:tabLst>
                      </a:pPr>
                      <a:r>
                        <a:rPr b="0" lang="en-US" sz="920" strike="noStrike" u="none">
                          <a:solidFill>
                            <a:srgbClr val="f5f8fc"/>
                          </a:solidFill>
                          <a:effectLst/>
                          <a:uFillTx/>
                          <a:latin typeface="Aptos"/>
                          <a:ea typeface="Aptos"/>
                        </a:rPr>
                        <a:t>Intake blockage and maintenance pressure</a:t>
                      </a:r>
                      <a:endParaRPr b="0" lang="en-US" sz="920" strike="noStrike" u="none">
                        <a:solidFill>
                          <a:srgbClr val="ffffff"/>
                        </a:solidFill>
                        <a:effectLst/>
                        <a:uFillTx/>
                        <a:latin typeface="Arial"/>
                      </a:endParaRPr>
                    </a:p>
                  </a:txBody>
                  <a:tcPr anchor="t" marL="36360" marR="36360">
                    <a:lnL w="7200">
                      <a:solidFill>
                        <a:srgbClr val="3f5d7c"/>
                      </a:solidFill>
                      <a:prstDash val="solid"/>
                    </a:lnL>
                    <a:lnR w="7200">
                      <a:solidFill>
                        <a:srgbClr val="3f5d7c"/>
                      </a:solidFill>
                      <a:prstDash val="solid"/>
                    </a:lnR>
                    <a:lnT w="7200">
                      <a:solidFill>
                        <a:srgbClr val="3f5d7c"/>
                      </a:solidFill>
                      <a:prstDash val="solid"/>
                    </a:lnT>
                    <a:lnB w="7200">
                      <a:solidFill>
                        <a:srgbClr val="3f5d7c"/>
                      </a:solidFill>
                      <a:prstDash val="solid"/>
                    </a:lnB>
                    <a:solidFill>
                      <a:srgbClr val="0d3151"/>
                    </a:solidFill>
                  </a:tcPr>
                </a:tc>
                <a:tc>
                  <a:txBody>
                    <a:bodyPr lIns="36360" rIns="36360" tIns="36360" bIns="36360" anchor="t">
                      <a:noAutofit/>
                    </a:bodyPr>
                    <a:p>
                      <a:pPr defTabSz="914400">
                        <a:lnSpc>
                          <a:spcPct val="100000"/>
                        </a:lnSpc>
                        <a:tabLst>
                          <a:tab algn="l" pos="0"/>
                        </a:tabLst>
                      </a:pPr>
                      <a:r>
                        <a:rPr b="0" lang="en-US" sz="920" strike="noStrike" u="none">
                          <a:solidFill>
                            <a:srgbClr val="f5f8fc"/>
                          </a:solidFill>
                          <a:effectLst/>
                          <a:uFillTx/>
                          <a:latin typeface="Aptos"/>
                          <a:ea typeface="Aptos"/>
                        </a:rPr>
                        <a:t>Dredging and sediment management</a:t>
                      </a:r>
                      <a:endParaRPr b="0" lang="en-US" sz="920" strike="noStrike" u="none">
                        <a:solidFill>
                          <a:srgbClr val="ffffff"/>
                        </a:solidFill>
                        <a:effectLst/>
                        <a:uFillTx/>
                        <a:latin typeface="Arial"/>
                      </a:endParaRPr>
                    </a:p>
                  </a:txBody>
                  <a:tcPr anchor="t" marL="36360" marR="36360">
                    <a:lnL w="7200">
                      <a:solidFill>
                        <a:srgbClr val="3f5d7c"/>
                      </a:solidFill>
                      <a:prstDash val="solid"/>
                    </a:lnL>
                    <a:lnR w="7200">
                      <a:solidFill>
                        <a:srgbClr val="3f5d7c"/>
                      </a:solidFill>
                      <a:prstDash val="solid"/>
                    </a:lnR>
                    <a:lnT w="7200">
                      <a:solidFill>
                        <a:srgbClr val="3f5d7c"/>
                      </a:solidFill>
                      <a:prstDash val="solid"/>
                    </a:lnT>
                    <a:lnB w="7200">
                      <a:solidFill>
                        <a:srgbClr val="3f5d7c"/>
                      </a:solidFill>
                      <a:prstDash val="solid"/>
                    </a:lnB>
                    <a:solidFill>
                      <a:srgbClr val="0d3151"/>
                    </a:solidFill>
                  </a:tcPr>
                </a:tc>
              </a:tr>
            </a:tbl>
          </a:graphicData>
        </a:graphic>
      </p:graphicFrame>
    </p:spTree>
  </p:cSld>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6172f"/>
        </a:solidFill>
      </p:bgPr>
    </p:bg>
    <p:spTree>
      <p:nvGrpSpPr>
        <p:cNvPr id="1" name=""/>
        <p:cNvGrpSpPr/>
        <p:nvPr/>
      </p:nvGrpSpPr>
      <p:grpSpPr>
        <a:xfrm>
          <a:off x="0" y="0"/>
          <a:ext cx="0" cy="0"/>
          <a:chOff x="0" y="0"/>
          <a:chExt cx="0" cy="0"/>
        </a:xfrm>
      </p:grpSpPr>
      <p:sp>
        <p:nvSpPr>
          <p:cNvPr id="905" name="Shape 0"/>
          <p:cNvSpPr/>
          <p:nvPr/>
        </p:nvSpPr>
        <p:spPr>
          <a:xfrm>
            <a:off x="0" y="0"/>
            <a:ext cx="12191400" cy="6857640"/>
          </a:xfrm>
          <a:prstGeom prst="rect">
            <a:avLst/>
          </a:prstGeom>
          <a:solidFill>
            <a:srgbClr val="06172f"/>
          </a:solidFill>
          <a:ln w="12700">
            <a:solidFill>
              <a:srgbClr val="06172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906" name="Shape 1"/>
          <p:cNvSpPr/>
          <p:nvPr/>
        </p:nvSpPr>
        <p:spPr>
          <a:xfrm>
            <a:off x="7680960" y="-1005840"/>
            <a:ext cx="4388760" cy="2925720"/>
          </a:xfrm>
          <a:prstGeom prst="arc">
            <a:avLst>
              <a:gd name="adj1" fmla="val 16200000"/>
              <a:gd name="adj2" fmla="val 0"/>
            </a:avLst>
          </a:prstGeom>
          <a:solidFill>
            <a:srgbClr val="0e3a68">
              <a:alpha val="75000"/>
            </a:srgbClr>
          </a:solidFill>
          <a:ln w="12700">
            <a:solidFill>
              <a:srgbClr val="0e3a68">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907" name="Shape 2"/>
          <p:cNvSpPr/>
          <p:nvPr/>
        </p:nvSpPr>
        <p:spPr>
          <a:xfrm>
            <a:off x="8778240" y="-777240"/>
            <a:ext cx="3474360" cy="2285640"/>
          </a:xfrm>
          <a:prstGeom prst="arc">
            <a:avLst>
              <a:gd name="adj1" fmla="val 16200000"/>
              <a:gd name="adj2" fmla="val 0"/>
            </a:avLst>
          </a:prstGeom>
          <a:solidFill>
            <a:srgbClr val="0b4d5e">
              <a:alpha val="65000"/>
            </a:srgbClr>
          </a:solidFill>
          <a:ln w="12700">
            <a:solidFill>
              <a:srgbClr val="0b4d5e">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908" name="Shape 3"/>
          <p:cNvSpPr/>
          <p:nvPr/>
        </p:nvSpPr>
        <p:spPr>
          <a:xfrm>
            <a:off x="0" y="0"/>
            <a:ext cx="109440" cy="6857640"/>
          </a:xfrm>
          <a:prstGeom prst="rect">
            <a:avLst/>
          </a:prstGeom>
          <a:solidFill>
            <a:srgbClr val="00b078"/>
          </a:solidFill>
          <a:ln w="12700">
            <a:solidFill>
              <a:srgbClr val="00b078">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909" name="Shape 4"/>
          <p:cNvSpPr/>
          <p:nvPr/>
        </p:nvSpPr>
        <p:spPr>
          <a:xfrm>
            <a:off x="320040" y="6565320"/>
            <a:ext cx="11521080" cy="16200"/>
          </a:xfrm>
          <a:prstGeom prst="rect">
            <a:avLst/>
          </a:prstGeom>
          <a:solidFill>
            <a:srgbClr val="435d78"/>
          </a:solidFill>
          <a:ln w="12700">
            <a:solidFill>
              <a:srgbClr val="435d78">
                <a:alpha val="0"/>
              </a:srgbClr>
            </a:solidFill>
            <a:round/>
          </a:ln>
        </p:spPr>
        <p:style>
          <a:lnRef idx="0"/>
          <a:fillRef idx="0"/>
          <a:effectRef idx="0"/>
          <a:fontRef idx="minor"/>
        </p:style>
        <p:txBody>
          <a:bodyPr lIns="90000" rIns="90000" tIns="-28440" bIns="-28440" anchor="t">
            <a:noAutofit/>
          </a:bodyPr>
          <a:p>
            <a:endParaRPr b="0" lang="en-US" sz="1800" strike="noStrike" u="none">
              <a:solidFill>
                <a:srgbClr val="ffffff"/>
              </a:solidFill>
              <a:effectLst/>
              <a:uFillTx/>
              <a:latin typeface="Arial"/>
            </a:endParaRPr>
          </a:p>
        </p:txBody>
      </p:sp>
      <p:sp>
        <p:nvSpPr>
          <p:cNvPr id="910" name="Text 5"/>
          <p:cNvSpPr/>
          <p:nvPr/>
        </p:nvSpPr>
        <p:spPr>
          <a:xfrm>
            <a:off x="11356920" y="6602040"/>
            <a:ext cx="502560" cy="13680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50" strike="noStrike" u="none">
                <a:solidFill>
                  <a:srgbClr val="b0c1d5"/>
                </a:solidFill>
                <a:effectLst/>
                <a:uFillTx/>
                <a:latin typeface="Aptos"/>
                <a:ea typeface="Aptos"/>
              </a:rPr>
              <a:t>31</a:t>
            </a:r>
            <a:endParaRPr b="0" lang="en-US" sz="950" strike="noStrike" u="none">
              <a:solidFill>
                <a:srgbClr val="ffffff"/>
              </a:solidFill>
              <a:effectLst/>
              <a:uFillTx/>
              <a:latin typeface="Arial"/>
            </a:endParaRPr>
          </a:p>
        </p:txBody>
      </p:sp>
      <p:sp>
        <p:nvSpPr>
          <p:cNvPr id="911" name="Text 6"/>
          <p:cNvSpPr/>
          <p:nvPr/>
        </p:nvSpPr>
        <p:spPr>
          <a:xfrm>
            <a:off x="475560" y="228600"/>
            <a:ext cx="10972440" cy="383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500" strike="noStrike" u="none">
                <a:solidFill>
                  <a:srgbClr val="f5f8fc"/>
                </a:solidFill>
                <a:effectLst/>
                <a:uFillTx/>
                <a:latin typeface="Aptos Display"/>
                <a:ea typeface="Aptos Display"/>
              </a:rPr>
              <a:t>Recommendations</a:t>
            </a:r>
            <a:endParaRPr b="0" lang="en-US" sz="2500" strike="noStrike" u="none">
              <a:solidFill>
                <a:srgbClr val="ffffff"/>
              </a:solidFill>
              <a:effectLst/>
              <a:uFillTx/>
              <a:latin typeface="Arial"/>
            </a:endParaRPr>
          </a:p>
        </p:txBody>
      </p:sp>
      <p:sp>
        <p:nvSpPr>
          <p:cNvPr id="912" name="Text 7"/>
          <p:cNvSpPr/>
          <p:nvPr/>
        </p:nvSpPr>
        <p:spPr>
          <a:xfrm>
            <a:off x="502920" y="704160"/>
            <a:ext cx="10835280" cy="255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50" strike="noStrike" u="none">
                <a:solidFill>
                  <a:srgbClr val="b0c1d5"/>
                </a:solidFill>
                <a:effectLst/>
                <a:uFillTx/>
                <a:latin typeface="Aptos"/>
              </a:rPr>
              <a:t>Strengthening sustainability and governance</a:t>
            </a:r>
            <a:endParaRPr b="0" lang="en-US" sz="1250" strike="noStrike" u="none">
              <a:solidFill>
                <a:srgbClr val="ffffff"/>
              </a:solidFill>
              <a:effectLst/>
              <a:uFillTx/>
              <a:latin typeface="Arial"/>
            </a:endParaRPr>
          </a:p>
        </p:txBody>
      </p:sp>
      <p:sp>
        <p:nvSpPr>
          <p:cNvPr id="913" name="Text 8"/>
          <p:cNvSpPr/>
          <p:nvPr/>
        </p:nvSpPr>
        <p:spPr>
          <a:xfrm>
            <a:off x="777240" y="1234440"/>
            <a:ext cx="10789560" cy="4023000"/>
          </a:xfrm>
          <a:prstGeom prst="rect">
            <a:avLst/>
          </a:prstGeom>
          <a:noFill/>
          <a:ln w="0">
            <a:noFill/>
          </a:ln>
        </p:spPr>
        <p:style>
          <a:lnRef idx="0"/>
          <a:fillRef idx="0"/>
          <a:effectRef idx="0"/>
          <a:fontRef idx="minor"/>
        </p:style>
        <p:txBody>
          <a:bodyPr lIns="1080" rIns="1080" tIns="1080" bIns="1080" anchor="t">
            <a:normAutofit/>
          </a:bodyPr>
          <a:p>
            <a:pPr defTabSz="914400">
              <a:lnSpc>
                <a:spcPct val="100000"/>
              </a:lnSpc>
            </a:pPr>
            <a:r>
              <a:rPr b="0" lang="en-US" sz="1600" strike="noStrike" u="none">
                <a:solidFill>
                  <a:srgbClr val="f5f8fc"/>
                </a:solidFill>
                <a:effectLst/>
                <a:uFillTx/>
                <a:latin typeface="Aptos"/>
                <a:ea typeface="Aptos"/>
              </a:rPr>
              <a:t>Build local capacity by training Bangladeshi engineers, technicians and environmental monitoring specialists.</a:t>
            </a:r>
            <a:endParaRPr b="0" lang="en-US" sz="1600" strike="noStrike" u="none">
              <a:solidFill>
                <a:srgbClr val="ffffff"/>
              </a:solidFill>
              <a:effectLst/>
              <a:uFillTx/>
              <a:latin typeface="Arial"/>
            </a:endParaRPr>
          </a:p>
          <a:p>
            <a:pPr defTabSz="914400">
              <a:lnSpc>
                <a:spcPct val="100000"/>
              </a:lnSpc>
            </a:pPr>
            <a:r>
              <a:rPr b="0" lang="en-US" sz="1600" strike="noStrike" u="none">
                <a:solidFill>
                  <a:srgbClr val="f5f8fc"/>
                </a:solidFill>
                <a:effectLst/>
                <a:uFillTx/>
                <a:latin typeface="Aptos"/>
                <a:ea typeface="Aptos"/>
              </a:rPr>
              <a:t>Maintain transparent monitoring of Padma River temperature, dissolved oxygen, aquatic ecology and intake conditions.</a:t>
            </a:r>
            <a:endParaRPr b="0" lang="en-US" sz="1600" strike="noStrike" u="none">
              <a:solidFill>
                <a:srgbClr val="ffffff"/>
              </a:solidFill>
              <a:effectLst/>
              <a:uFillTx/>
              <a:latin typeface="Arial"/>
            </a:endParaRPr>
          </a:p>
          <a:p>
            <a:pPr defTabSz="914400">
              <a:lnSpc>
                <a:spcPct val="100000"/>
              </a:lnSpc>
            </a:pPr>
            <a:r>
              <a:rPr b="0" lang="en-US" sz="1600" strike="noStrike" u="none">
                <a:solidFill>
                  <a:srgbClr val="f5f8fc"/>
                </a:solidFill>
                <a:effectLst/>
                <a:uFillTx/>
                <a:latin typeface="Aptos"/>
                <a:ea typeface="Aptos"/>
              </a:rPr>
              <a:t>Keep radioactive waste and spent fuel transport under strict chain-of-custody and regulatory oversight.</a:t>
            </a:r>
            <a:endParaRPr b="0" lang="en-US" sz="1600" strike="noStrike" u="none">
              <a:solidFill>
                <a:srgbClr val="ffffff"/>
              </a:solidFill>
              <a:effectLst/>
              <a:uFillTx/>
              <a:latin typeface="Arial"/>
            </a:endParaRPr>
          </a:p>
          <a:p>
            <a:pPr defTabSz="914400">
              <a:lnSpc>
                <a:spcPct val="100000"/>
              </a:lnSpc>
            </a:pPr>
            <a:r>
              <a:rPr b="0" lang="en-US" sz="1600" strike="noStrike" u="none">
                <a:solidFill>
                  <a:srgbClr val="f5f8fc"/>
                </a:solidFill>
                <a:effectLst/>
                <a:uFillTx/>
                <a:latin typeface="Aptos"/>
                <a:ea typeface="Aptos"/>
              </a:rPr>
              <a:t>Strengthen emergency preparedness through drills, communication protocols and community awareness programmes.</a:t>
            </a:r>
            <a:endParaRPr b="0" lang="en-US" sz="1600" strike="noStrike" u="none">
              <a:solidFill>
                <a:srgbClr val="ffffff"/>
              </a:solidFill>
              <a:effectLst/>
              <a:uFillTx/>
              <a:latin typeface="Arial"/>
            </a:endParaRPr>
          </a:p>
          <a:p>
            <a:pPr defTabSz="914400">
              <a:lnSpc>
                <a:spcPct val="100000"/>
              </a:lnSpc>
            </a:pPr>
            <a:r>
              <a:rPr b="0" lang="en-US" sz="1600" strike="noStrike" u="none">
                <a:solidFill>
                  <a:srgbClr val="f5f8fc"/>
                </a:solidFill>
                <a:effectLst/>
                <a:uFillTx/>
                <a:latin typeface="Aptos"/>
                <a:ea typeface="Aptos"/>
              </a:rPr>
              <a:t>Publish periodic EMP implementation reports to improve accountability and public trust.</a:t>
            </a:r>
            <a:endParaRPr b="0" lang="en-US" sz="1600" strike="noStrike" u="none">
              <a:solidFill>
                <a:srgbClr val="ffffff"/>
              </a:solidFill>
              <a:effectLst/>
              <a:uFillTx/>
              <a:latin typeface="Arial"/>
            </a:endParaRPr>
          </a:p>
        </p:txBody>
      </p:sp>
      <p:sp>
        <p:nvSpPr>
          <p:cNvPr id="914" name="Shape 9"/>
          <p:cNvSpPr/>
          <p:nvPr/>
        </p:nvSpPr>
        <p:spPr>
          <a:xfrm>
            <a:off x="960120" y="5486400"/>
            <a:ext cx="1938240" cy="594000"/>
          </a:xfrm>
          <a:prstGeom prst="roundRect">
            <a:avLst>
              <a:gd name="adj" fmla="val 15385"/>
            </a:avLst>
          </a:prstGeom>
          <a:solidFill>
            <a:srgbClr val="00b078"/>
          </a:solidFill>
          <a:ln w="12700">
            <a:solidFill>
              <a:srgbClr val="00b078">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915" name="Text 10"/>
          <p:cNvSpPr/>
          <p:nvPr/>
        </p:nvSpPr>
        <p:spPr>
          <a:xfrm>
            <a:off x="1014840" y="5623560"/>
            <a:ext cx="1828440" cy="3380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50" strike="noStrike" u="none">
                <a:solidFill>
                  <a:srgbClr val="06172f"/>
                </a:solidFill>
                <a:effectLst/>
                <a:uFillTx/>
                <a:latin typeface="Aptos"/>
              </a:rPr>
              <a:t>Training</a:t>
            </a:r>
            <a:endParaRPr b="0" lang="en-US" sz="1050" strike="noStrike" u="none">
              <a:solidFill>
                <a:srgbClr val="ffffff"/>
              </a:solidFill>
              <a:effectLst/>
              <a:uFillTx/>
              <a:latin typeface="Arial"/>
            </a:endParaRPr>
          </a:p>
        </p:txBody>
      </p:sp>
      <p:sp>
        <p:nvSpPr>
          <p:cNvPr id="916" name="Shape 11"/>
          <p:cNvSpPr/>
          <p:nvPr/>
        </p:nvSpPr>
        <p:spPr>
          <a:xfrm>
            <a:off x="2880360" y="5706360"/>
            <a:ext cx="164160" cy="148320"/>
          </a:xfrm>
          <a:prstGeom prst="rightArrow">
            <a:avLst>
              <a:gd name="adj1" fmla="val 50000"/>
              <a:gd name="adj2" fmla="val 50000"/>
            </a:avLst>
          </a:prstGeom>
          <a:solidFill>
            <a:srgbClr val="b0c1d5"/>
          </a:solidFill>
          <a:ln w="12700">
            <a:solidFill>
              <a:srgbClr val="b0c1d5">
                <a:alpha val="0"/>
              </a:srgbClr>
            </a:solidFill>
            <a:round/>
          </a:ln>
        </p:spPr>
        <p:style>
          <a:lnRef idx="0"/>
          <a:fillRef idx="0"/>
          <a:effectRef idx="0"/>
          <a:fontRef idx="minor"/>
        </p:style>
        <p:txBody>
          <a:bodyPr lIns="90000" rIns="90000" tIns="29160" bIns="29160" anchor="t">
            <a:noAutofit/>
          </a:bodyPr>
          <a:p>
            <a:endParaRPr b="0" lang="en-US" sz="1800" strike="noStrike" u="none">
              <a:solidFill>
                <a:srgbClr val="000000"/>
              </a:solidFill>
              <a:effectLst/>
              <a:uFillTx/>
              <a:latin typeface="Arial"/>
            </a:endParaRPr>
          </a:p>
        </p:txBody>
      </p:sp>
      <p:sp>
        <p:nvSpPr>
          <p:cNvPr id="917" name="Shape 12"/>
          <p:cNvSpPr/>
          <p:nvPr/>
        </p:nvSpPr>
        <p:spPr>
          <a:xfrm>
            <a:off x="3017520" y="5486400"/>
            <a:ext cx="1938240" cy="594000"/>
          </a:xfrm>
          <a:prstGeom prst="roundRect">
            <a:avLst>
              <a:gd name="adj" fmla="val 15385"/>
            </a:avLst>
          </a:prstGeom>
          <a:solidFill>
            <a:srgbClr val="5bd2ff"/>
          </a:solidFill>
          <a:ln w="12700">
            <a:solidFill>
              <a:srgbClr val="5bd2f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918" name="Text 13"/>
          <p:cNvSpPr/>
          <p:nvPr/>
        </p:nvSpPr>
        <p:spPr>
          <a:xfrm>
            <a:off x="3072240" y="5623560"/>
            <a:ext cx="1828440" cy="3380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50" strike="noStrike" u="none">
                <a:solidFill>
                  <a:srgbClr val="06172f"/>
                </a:solidFill>
                <a:effectLst/>
                <a:uFillTx/>
                <a:latin typeface="Aptos"/>
              </a:rPr>
              <a:t>Monitoring</a:t>
            </a:r>
            <a:endParaRPr b="0" lang="en-US" sz="1050" strike="noStrike" u="none">
              <a:solidFill>
                <a:srgbClr val="ffffff"/>
              </a:solidFill>
              <a:effectLst/>
              <a:uFillTx/>
              <a:latin typeface="Arial"/>
            </a:endParaRPr>
          </a:p>
        </p:txBody>
      </p:sp>
      <p:sp>
        <p:nvSpPr>
          <p:cNvPr id="919" name="Shape 14"/>
          <p:cNvSpPr/>
          <p:nvPr/>
        </p:nvSpPr>
        <p:spPr>
          <a:xfrm>
            <a:off x="4937760" y="5706360"/>
            <a:ext cx="164160" cy="148320"/>
          </a:xfrm>
          <a:prstGeom prst="rightArrow">
            <a:avLst>
              <a:gd name="adj1" fmla="val 50000"/>
              <a:gd name="adj2" fmla="val 50000"/>
            </a:avLst>
          </a:prstGeom>
          <a:solidFill>
            <a:srgbClr val="b0c1d5"/>
          </a:solidFill>
          <a:ln w="12700">
            <a:solidFill>
              <a:srgbClr val="b0c1d5">
                <a:alpha val="0"/>
              </a:srgbClr>
            </a:solidFill>
            <a:round/>
          </a:ln>
        </p:spPr>
        <p:style>
          <a:lnRef idx="0"/>
          <a:fillRef idx="0"/>
          <a:effectRef idx="0"/>
          <a:fontRef idx="minor"/>
        </p:style>
        <p:txBody>
          <a:bodyPr lIns="90000" rIns="90000" tIns="29160" bIns="29160" anchor="t">
            <a:noAutofit/>
          </a:bodyPr>
          <a:p>
            <a:endParaRPr b="0" lang="en-US" sz="1800" strike="noStrike" u="none">
              <a:solidFill>
                <a:srgbClr val="000000"/>
              </a:solidFill>
              <a:effectLst/>
              <a:uFillTx/>
              <a:latin typeface="Arial"/>
            </a:endParaRPr>
          </a:p>
        </p:txBody>
      </p:sp>
      <p:sp>
        <p:nvSpPr>
          <p:cNvPr id="920" name="Shape 15"/>
          <p:cNvSpPr/>
          <p:nvPr/>
        </p:nvSpPr>
        <p:spPr>
          <a:xfrm>
            <a:off x="5074920" y="5486400"/>
            <a:ext cx="1938240" cy="594000"/>
          </a:xfrm>
          <a:prstGeom prst="roundRect">
            <a:avLst>
              <a:gd name="adj" fmla="val 15385"/>
            </a:avLst>
          </a:prstGeom>
          <a:solidFill>
            <a:srgbClr val="50d69b"/>
          </a:solidFill>
          <a:ln w="12700">
            <a:solidFill>
              <a:srgbClr val="50d69b">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921" name="Text 16"/>
          <p:cNvSpPr/>
          <p:nvPr/>
        </p:nvSpPr>
        <p:spPr>
          <a:xfrm>
            <a:off x="5129640" y="5623560"/>
            <a:ext cx="1828440" cy="3380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50" strike="noStrike" u="none">
                <a:solidFill>
                  <a:srgbClr val="06172f"/>
                </a:solidFill>
                <a:effectLst/>
                <a:uFillTx/>
                <a:latin typeface="Aptos"/>
              </a:rPr>
              <a:t>Waste</a:t>
            </a:r>
            <a:endParaRPr b="0" lang="en-US" sz="1050" strike="noStrike" u="none">
              <a:solidFill>
                <a:srgbClr val="ffffff"/>
              </a:solidFill>
              <a:effectLst/>
              <a:uFillTx/>
              <a:latin typeface="Arial"/>
            </a:endParaRPr>
          </a:p>
          <a:p>
            <a:pPr algn="ctr" defTabSz="914400">
              <a:lnSpc>
                <a:spcPct val="100000"/>
              </a:lnSpc>
              <a:tabLst>
                <a:tab algn="l" pos="0"/>
              </a:tabLst>
            </a:pPr>
            <a:r>
              <a:rPr b="1" lang="en-US" sz="1050" strike="noStrike" u="none">
                <a:solidFill>
                  <a:srgbClr val="06172f"/>
                </a:solidFill>
                <a:effectLst/>
                <a:uFillTx/>
                <a:latin typeface="Aptos"/>
              </a:rPr>
              <a:t>Control</a:t>
            </a:r>
            <a:endParaRPr b="0" lang="en-US" sz="1050" strike="noStrike" u="none">
              <a:solidFill>
                <a:srgbClr val="ffffff"/>
              </a:solidFill>
              <a:effectLst/>
              <a:uFillTx/>
              <a:latin typeface="Arial"/>
            </a:endParaRPr>
          </a:p>
        </p:txBody>
      </p:sp>
      <p:sp>
        <p:nvSpPr>
          <p:cNvPr id="922" name="Shape 17"/>
          <p:cNvSpPr/>
          <p:nvPr/>
        </p:nvSpPr>
        <p:spPr>
          <a:xfrm>
            <a:off x="6995160" y="5706360"/>
            <a:ext cx="164160" cy="148320"/>
          </a:xfrm>
          <a:prstGeom prst="rightArrow">
            <a:avLst>
              <a:gd name="adj1" fmla="val 50000"/>
              <a:gd name="adj2" fmla="val 50000"/>
            </a:avLst>
          </a:prstGeom>
          <a:solidFill>
            <a:srgbClr val="b0c1d5"/>
          </a:solidFill>
          <a:ln w="12700">
            <a:solidFill>
              <a:srgbClr val="b0c1d5">
                <a:alpha val="0"/>
              </a:srgbClr>
            </a:solidFill>
            <a:round/>
          </a:ln>
        </p:spPr>
        <p:style>
          <a:lnRef idx="0"/>
          <a:fillRef idx="0"/>
          <a:effectRef idx="0"/>
          <a:fontRef idx="minor"/>
        </p:style>
        <p:txBody>
          <a:bodyPr lIns="90000" rIns="90000" tIns="29160" bIns="29160" anchor="t">
            <a:noAutofit/>
          </a:bodyPr>
          <a:p>
            <a:endParaRPr b="0" lang="en-US" sz="1800" strike="noStrike" u="none">
              <a:solidFill>
                <a:srgbClr val="000000"/>
              </a:solidFill>
              <a:effectLst/>
              <a:uFillTx/>
              <a:latin typeface="Arial"/>
            </a:endParaRPr>
          </a:p>
        </p:txBody>
      </p:sp>
      <p:sp>
        <p:nvSpPr>
          <p:cNvPr id="923" name="Shape 18"/>
          <p:cNvSpPr/>
          <p:nvPr/>
        </p:nvSpPr>
        <p:spPr>
          <a:xfrm>
            <a:off x="7132320" y="5486400"/>
            <a:ext cx="1938240" cy="594000"/>
          </a:xfrm>
          <a:prstGeom prst="roundRect">
            <a:avLst>
              <a:gd name="adj" fmla="val 15385"/>
            </a:avLst>
          </a:prstGeom>
          <a:solidFill>
            <a:srgbClr val="1c69a2"/>
          </a:solidFill>
          <a:ln w="12700">
            <a:solidFill>
              <a:srgbClr val="1c69a2">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924" name="Text 19"/>
          <p:cNvSpPr/>
          <p:nvPr/>
        </p:nvSpPr>
        <p:spPr>
          <a:xfrm>
            <a:off x="7187040" y="5623560"/>
            <a:ext cx="1828440" cy="3380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50" strike="noStrike" u="none">
                <a:solidFill>
                  <a:srgbClr val="06172f"/>
                </a:solidFill>
                <a:effectLst/>
                <a:uFillTx/>
                <a:latin typeface="Aptos"/>
              </a:rPr>
              <a:t>Emergency</a:t>
            </a:r>
            <a:endParaRPr b="0" lang="en-US" sz="1050" strike="noStrike" u="none">
              <a:solidFill>
                <a:srgbClr val="ffffff"/>
              </a:solidFill>
              <a:effectLst/>
              <a:uFillTx/>
              <a:latin typeface="Arial"/>
            </a:endParaRPr>
          </a:p>
          <a:p>
            <a:pPr algn="ctr" defTabSz="914400">
              <a:lnSpc>
                <a:spcPct val="100000"/>
              </a:lnSpc>
              <a:tabLst>
                <a:tab algn="l" pos="0"/>
              </a:tabLst>
            </a:pPr>
            <a:r>
              <a:rPr b="1" lang="en-US" sz="1050" strike="noStrike" u="none">
                <a:solidFill>
                  <a:srgbClr val="06172f"/>
                </a:solidFill>
                <a:effectLst/>
                <a:uFillTx/>
                <a:latin typeface="Aptos"/>
              </a:rPr>
              <a:t>Planning</a:t>
            </a:r>
            <a:endParaRPr b="0" lang="en-US" sz="1050" strike="noStrike" u="none">
              <a:solidFill>
                <a:srgbClr val="ffffff"/>
              </a:solidFill>
              <a:effectLst/>
              <a:uFillTx/>
              <a:latin typeface="Arial"/>
            </a:endParaRPr>
          </a:p>
        </p:txBody>
      </p:sp>
      <p:sp>
        <p:nvSpPr>
          <p:cNvPr id="925" name="Shape 20"/>
          <p:cNvSpPr/>
          <p:nvPr/>
        </p:nvSpPr>
        <p:spPr>
          <a:xfrm>
            <a:off x="9052560" y="5706360"/>
            <a:ext cx="164160" cy="148320"/>
          </a:xfrm>
          <a:prstGeom prst="rightArrow">
            <a:avLst>
              <a:gd name="adj1" fmla="val 50000"/>
              <a:gd name="adj2" fmla="val 50000"/>
            </a:avLst>
          </a:prstGeom>
          <a:solidFill>
            <a:srgbClr val="b0c1d5"/>
          </a:solidFill>
          <a:ln w="12700">
            <a:solidFill>
              <a:srgbClr val="b0c1d5">
                <a:alpha val="0"/>
              </a:srgbClr>
            </a:solidFill>
            <a:round/>
          </a:ln>
        </p:spPr>
        <p:style>
          <a:lnRef idx="0"/>
          <a:fillRef idx="0"/>
          <a:effectRef idx="0"/>
          <a:fontRef idx="minor"/>
        </p:style>
        <p:txBody>
          <a:bodyPr lIns="90000" rIns="90000" tIns="29160" bIns="29160" anchor="t">
            <a:noAutofit/>
          </a:bodyPr>
          <a:p>
            <a:endParaRPr b="0" lang="en-US" sz="1800" strike="noStrike" u="none">
              <a:solidFill>
                <a:srgbClr val="000000"/>
              </a:solidFill>
              <a:effectLst/>
              <a:uFillTx/>
              <a:latin typeface="Arial"/>
            </a:endParaRPr>
          </a:p>
        </p:txBody>
      </p:sp>
      <p:sp>
        <p:nvSpPr>
          <p:cNvPr id="926" name="Shape 21"/>
          <p:cNvSpPr/>
          <p:nvPr/>
        </p:nvSpPr>
        <p:spPr>
          <a:xfrm>
            <a:off x="9189720" y="5486400"/>
            <a:ext cx="1938240" cy="594000"/>
          </a:xfrm>
          <a:prstGeom prst="roundRect">
            <a:avLst>
              <a:gd name="adj" fmla="val 15385"/>
            </a:avLst>
          </a:prstGeom>
          <a:solidFill>
            <a:srgbClr val="f0be49"/>
          </a:solidFill>
          <a:ln w="12700">
            <a:solidFill>
              <a:srgbClr val="f0be49">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927" name="Text 22"/>
          <p:cNvSpPr/>
          <p:nvPr/>
        </p:nvSpPr>
        <p:spPr>
          <a:xfrm>
            <a:off x="9244440" y="5623560"/>
            <a:ext cx="1828440" cy="3380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50" strike="noStrike" u="none">
                <a:solidFill>
                  <a:srgbClr val="06172f"/>
                </a:solidFill>
                <a:effectLst/>
                <a:uFillTx/>
                <a:latin typeface="Aptos"/>
              </a:rPr>
              <a:t>Transparency</a:t>
            </a:r>
            <a:endParaRPr b="0" lang="en-US" sz="1050" strike="noStrike" u="none">
              <a:solidFill>
                <a:srgbClr val="ffffff"/>
              </a:solidFill>
              <a:effectLst/>
              <a:uFillTx/>
              <a:latin typeface="Arial"/>
            </a:endParaRPr>
          </a:p>
        </p:txBody>
      </p:sp>
    </p:spTree>
  </p:cSld>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6172f"/>
        </a:solidFill>
      </p:bgPr>
    </p:bg>
    <p:spTree>
      <p:nvGrpSpPr>
        <p:cNvPr id="1" name=""/>
        <p:cNvGrpSpPr/>
        <p:nvPr/>
      </p:nvGrpSpPr>
      <p:grpSpPr>
        <a:xfrm>
          <a:off x="0" y="0"/>
          <a:ext cx="0" cy="0"/>
          <a:chOff x="0" y="0"/>
          <a:chExt cx="0" cy="0"/>
        </a:xfrm>
      </p:grpSpPr>
      <p:sp>
        <p:nvSpPr>
          <p:cNvPr id="928" name="Shape 0"/>
          <p:cNvSpPr/>
          <p:nvPr/>
        </p:nvSpPr>
        <p:spPr>
          <a:xfrm>
            <a:off x="0" y="0"/>
            <a:ext cx="12191400" cy="6857640"/>
          </a:xfrm>
          <a:prstGeom prst="rect">
            <a:avLst/>
          </a:prstGeom>
          <a:solidFill>
            <a:srgbClr val="06172f"/>
          </a:solidFill>
          <a:ln w="12700">
            <a:solidFill>
              <a:srgbClr val="06172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929" name="Shape 1"/>
          <p:cNvSpPr/>
          <p:nvPr/>
        </p:nvSpPr>
        <p:spPr>
          <a:xfrm>
            <a:off x="7680960" y="-1005840"/>
            <a:ext cx="4388760" cy="2925720"/>
          </a:xfrm>
          <a:prstGeom prst="arc">
            <a:avLst>
              <a:gd name="adj1" fmla="val 16200000"/>
              <a:gd name="adj2" fmla="val 0"/>
            </a:avLst>
          </a:prstGeom>
          <a:solidFill>
            <a:srgbClr val="0e3a68">
              <a:alpha val="75000"/>
            </a:srgbClr>
          </a:solidFill>
          <a:ln w="12700">
            <a:solidFill>
              <a:srgbClr val="0e3a68">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930" name="Shape 2"/>
          <p:cNvSpPr/>
          <p:nvPr/>
        </p:nvSpPr>
        <p:spPr>
          <a:xfrm>
            <a:off x="8778240" y="-777240"/>
            <a:ext cx="3474360" cy="2285640"/>
          </a:xfrm>
          <a:prstGeom prst="arc">
            <a:avLst>
              <a:gd name="adj1" fmla="val 16200000"/>
              <a:gd name="adj2" fmla="val 0"/>
            </a:avLst>
          </a:prstGeom>
          <a:solidFill>
            <a:srgbClr val="0b4d5e">
              <a:alpha val="65000"/>
            </a:srgbClr>
          </a:solidFill>
          <a:ln w="12700">
            <a:solidFill>
              <a:srgbClr val="0b4d5e">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931" name="Shape 3"/>
          <p:cNvSpPr/>
          <p:nvPr/>
        </p:nvSpPr>
        <p:spPr>
          <a:xfrm>
            <a:off x="0" y="0"/>
            <a:ext cx="109440" cy="6857640"/>
          </a:xfrm>
          <a:prstGeom prst="rect">
            <a:avLst/>
          </a:prstGeom>
          <a:solidFill>
            <a:srgbClr val="00b078"/>
          </a:solidFill>
          <a:ln w="12700">
            <a:solidFill>
              <a:srgbClr val="00b078">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932" name="Shape 4"/>
          <p:cNvSpPr/>
          <p:nvPr/>
        </p:nvSpPr>
        <p:spPr>
          <a:xfrm>
            <a:off x="320040" y="6565320"/>
            <a:ext cx="11521080" cy="16200"/>
          </a:xfrm>
          <a:prstGeom prst="rect">
            <a:avLst/>
          </a:prstGeom>
          <a:solidFill>
            <a:srgbClr val="435d78"/>
          </a:solidFill>
          <a:ln w="12700">
            <a:solidFill>
              <a:srgbClr val="435d78">
                <a:alpha val="0"/>
              </a:srgbClr>
            </a:solidFill>
            <a:round/>
          </a:ln>
        </p:spPr>
        <p:style>
          <a:lnRef idx="0"/>
          <a:fillRef idx="0"/>
          <a:effectRef idx="0"/>
          <a:fontRef idx="minor"/>
        </p:style>
        <p:txBody>
          <a:bodyPr lIns="90000" rIns="90000" tIns="-28440" bIns="-28440" anchor="t">
            <a:noAutofit/>
          </a:bodyPr>
          <a:p>
            <a:endParaRPr b="0" lang="en-US" sz="1800" strike="noStrike" u="none">
              <a:solidFill>
                <a:srgbClr val="ffffff"/>
              </a:solidFill>
              <a:effectLst/>
              <a:uFillTx/>
              <a:latin typeface="Arial"/>
            </a:endParaRPr>
          </a:p>
        </p:txBody>
      </p:sp>
      <p:sp>
        <p:nvSpPr>
          <p:cNvPr id="933" name="Text 5"/>
          <p:cNvSpPr/>
          <p:nvPr/>
        </p:nvSpPr>
        <p:spPr>
          <a:xfrm>
            <a:off x="11356920" y="6602040"/>
            <a:ext cx="502560" cy="13680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50" strike="noStrike" u="none">
                <a:solidFill>
                  <a:srgbClr val="b0c1d5"/>
                </a:solidFill>
                <a:effectLst/>
                <a:uFillTx/>
                <a:latin typeface="Aptos"/>
                <a:ea typeface="Aptos"/>
              </a:rPr>
              <a:t>32</a:t>
            </a:r>
            <a:endParaRPr b="0" lang="en-US" sz="950" strike="noStrike" u="none">
              <a:solidFill>
                <a:srgbClr val="ffffff"/>
              </a:solidFill>
              <a:effectLst/>
              <a:uFillTx/>
              <a:latin typeface="Arial"/>
            </a:endParaRPr>
          </a:p>
        </p:txBody>
      </p:sp>
      <p:sp>
        <p:nvSpPr>
          <p:cNvPr id="934" name="Text 6"/>
          <p:cNvSpPr/>
          <p:nvPr/>
        </p:nvSpPr>
        <p:spPr>
          <a:xfrm>
            <a:off x="475560" y="228600"/>
            <a:ext cx="10972440" cy="383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500" strike="noStrike" u="none">
                <a:solidFill>
                  <a:srgbClr val="f5f8fc"/>
                </a:solidFill>
                <a:effectLst/>
                <a:uFillTx/>
                <a:latin typeface="Aptos Display"/>
                <a:ea typeface="Aptos Display"/>
              </a:rPr>
              <a:t>Conclusion</a:t>
            </a:r>
            <a:endParaRPr b="0" lang="en-US" sz="2500" strike="noStrike" u="none">
              <a:solidFill>
                <a:srgbClr val="ffffff"/>
              </a:solidFill>
              <a:effectLst/>
              <a:uFillTx/>
              <a:latin typeface="Arial"/>
            </a:endParaRPr>
          </a:p>
        </p:txBody>
      </p:sp>
      <p:sp>
        <p:nvSpPr>
          <p:cNvPr id="935" name="Text 7"/>
          <p:cNvSpPr/>
          <p:nvPr/>
        </p:nvSpPr>
        <p:spPr>
          <a:xfrm>
            <a:off x="502920" y="704160"/>
            <a:ext cx="10835280" cy="255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50" strike="noStrike" u="none">
                <a:solidFill>
                  <a:srgbClr val="b0c1d5"/>
                </a:solidFill>
                <a:effectLst/>
                <a:uFillTx/>
                <a:latin typeface="Aptos"/>
              </a:rPr>
              <a:t>Balanced EIA interpretation of RNPP</a:t>
            </a:r>
            <a:endParaRPr b="0" lang="en-US" sz="1250" strike="noStrike" u="none">
              <a:solidFill>
                <a:srgbClr val="ffffff"/>
              </a:solidFill>
              <a:effectLst/>
              <a:uFillTx/>
              <a:latin typeface="Arial"/>
            </a:endParaRPr>
          </a:p>
        </p:txBody>
      </p:sp>
      <p:sp>
        <p:nvSpPr>
          <p:cNvPr id="936" name="Shape 8"/>
          <p:cNvSpPr/>
          <p:nvPr/>
        </p:nvSpPr>
        <p:spPr>
          <a:xfrm>
            <a:off x="685800" y="1234440"/>
            <a:ext cx="5074560" cy="1508400"/>
          </a:xfrm>
          <a:prstGeom prst="roundRect">
            <a:avLst>
              <a:gd name="adj" fmla="val 7273"/>
            </a:avLst>
          </a:prstGeom>
          <a:solidFill>
            <a:srgbClr val="0e2d4f">
              <a:alpha val="93000"/>
            </a:srgbClr>
          </a:solidFill>
          <a:ln w="12700">
            <a:solidFill>
              <a:srgbClr val="00b078">
                <a:alpha val="7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937" name="Text 9"/>
          <p:cNvSpPr/>
          <p:nvPr/>
        </p:nvSpPr>
        <p:spPr>
          <a:xfrm>
            <a:off x="850320" y="1353240"/>
            <a:ext cx="474552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50d69b"/>
                </a:solidFill>
                <a:effectLst/>
                <a:uFillTx/>
                <a:latin typeface="Aptos"/>
              </a:rPr>
              <a:t>Opportunity</a:t>
            </a:r>
            <a:endParaRPr b="0" lang="en-US" sz="1600" strike="noStrike" u="none">
              <a:solidFill>
                <a:srgbClr val="ffffff"/>
              </a:solidFill>
              <a:effectLst/>
              <a:uFillTx/>
              <a:latin typeface="Arial"/>
            </a:endParaRPr>
          </a:p>
        </p:txBody>
      </p:sp>
      <p:sp>
        <p:nvSpPr>
          <p:cNvPr id="938" name="Text 10"/>
          <p:cNvSpPr/>
          <p:nvPr/>
        </p:nvSpPr>
        <p:spPr>
          <a:xfrm>
            <a:off x="905400" y="1737360"/>
            <a:ext cx="4635720" cy="941400"/>
          </a:xfrm>
          <a:prstGeom prst="rect">
            <a:avLst/>
          </a:prstGeom>
          <a:noFill/>
          <a:ln w="0">
            <a:noFill/>
          </a:ln>
        </p:spPr>
        <p:style>
          <a:lnRef idx="0"/>
          <a:fillRef idx="0"/>
          <a:effectRef idx="0"/>
          <a:fontRef idx="minor"/>
        </p:style>
        <p:txBody>
          <a:bodyPr lIns="1080" rIns="1080" tIns="1080" bIns="1080" anchor="t">
            <a:normAutofit/>
          </a:bodyPr>
          <a:p>
            <a:pPr defTabSz="914400">
              <a:lnSpc>
                <a:spcPct val="100000"/>
              </a:lnSpc>
            </a:pPr>
            <a:r>
              <a:rPr b="0" lang="en-US" sz="1300" strike="noStrike" u="none">
                <a:solidFill>
                  <a:srgbClr val="f5f8fc"/>
                </a:solidFill>
                <a:effectLst/>
                <a:uFillTx/>
                <a:latin typeface="Aptos"/>
                <a:ea typeface="Aptos"/>
              </a:rPr>
              <a:t>RNPP provides large-scale baseload electricity and is framed as a cleaner alternative to fossil-fuel thermal generation.</a:t>
            </a:r>
            <a:endParaRPr b="0" lang="en-US" sz="1300" strike="noStrike" u="none">
              <a:solidFill>
                <a:srgbClr val="ffffff"/>
              </a:solidFill>
              <a:effectLst/>
              <a:uFillTx/>
              <a:latin typeface="Arial"/>
            </a:endParaRPr>
          </a:p>
        </p:txBody>
      </p:sp>
      <p:sp>
        <p:nvSpPr>
          <p:cNvPr id="939" name="Shape 11"/>
          <p:cNvSpPr/>
          <p:nvPr/>
        </p:nvSpPr>
        <p:spPr>
          <a:xfrm>
            <a:off x="6263640" y="1234440"/>
            <a:ext cx="5074560" cy="1508400"/>
          </a:xfrm>
          <a:prstGeom prst="roundRect">
            <a:avLst>
              <a:gd name="adj" fmla="val 7273"/>
            </a:avLst>
          </a:prstGeom>
          <a:solidFill>
            <a:srgbClr val="0e2d4f">
              <a:alpha val="93000"/>
            </a:srgbClr>
          </a:solidFill>
          <a:ln w="12700">
            <a:solidFill>
              <a:srgbClr val="e15a5a">
                <a:alpha val="7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940" name="Text 12"/>
          <p:cNvSpPr/>
          <p:nvPr/>
        </p:nvSpPr>
        <p:spPr>
          <a:xfrm>
            <a:off x="6428160" y="1353240"/>
            <a:ext cx="474552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50d69b"/>
                </a:solidFill>
                <a:effectLst/>
                <a:uFillTx/>
                <a:latin typeface="Aptos"/>
              </a:rPr>
              <a:t>Responsibility</a:t>
            </a:r>
            <a:endParaRPr b="0" lang="en-US" sz="1600" strike="noStrike" u="none">
              <a:solidFill>
                <a:srgbClr val="ffffff"/>
              </a:solidFill>
              <a:effectLst/>
              <a:uFillTx/>
              <a:latin typeface="Arial"/>
            </a:endParaRPr>
          </a:p>
        </p:txBody>
      </p:sp>
      <p:sp>
        <p:nvSpPr>
          <p:cNvPr id="941" name="Text 13"/>
          <p:cNvSpPr/>
          <p:nvPr/>
        </p:nvSpPr>
        <p:spPr>
          <a:xfrm>
            <a:off x="6483240" y="1737360"/>
            <a:ext cx="4635720" cy="941400"/>
          </a:xfrm>
          <a:prstGeom prst="rect">
            <a:avLst/>
          </a:prstGeom>
          <a:noFill/>
          <a:ln w="0">
            <a:noFill/>
          </a:ln>
        </p:spPr>
        <p:style>
          <a:lnRef idx="0"/>
          <a:fillRef idx="0"/>
          <a:effectRef idx="0"/>
          <a:fontRef idx="minor"/>
        </p:style>
        <p:txBody>
          <a:bodyPr lIns="1080" rIns="1080" tIns="1080" bIns="1080" anchor="t">
            <a:normAutofit/>
          </a:bodyPr>
          <a:p>
            <a:pPr defTabSz="914400">
              <a:lnSpc>
                <a:spcPct val="100000"/>
              </a:lnSpc>
            </a:pPr>
            <a:r>
              <a:rPr b="0" lang="en-US" sz="1300" strike="noStrike" u="none">
                <a:solidFill>
                  <a:srgbClr val="f5f8fc"/>
                </a:solidFill>
                <a:effectLst/>
                <a:uFillTx/>
                <a:latin typeface="Aptos"/>
                <a:ea typeface="Aptos"/>
              </a:rPr>
              <a:t>Nuclear power requires high institutional capacity because environmental risks can be long-term and highly sensitive.</a:t>
            </a:r>
            <a:endParaRPr b="0" lang="en-US" sz="1300" strike="noStrike" u="none">
              <a:solidFill>
                <a:srgbClr val="ffffff"/>
              </a:solidFill>
              <a:effectLst/>
              <a:uFillTx/>
              <a:latin typeface="Arial"/>
            </a:endParaRPr>
          </a:p>
        </p:txBody>
      </p:sp>
      <p:sp>
        <p:nvSpPr>
          <p:cNvPr id="942" name="Shape 14"/>
          <p:cNvSpPr/>
          <p:nvPr/>
        </p:nvSpPr>
        <p:spPr>
          <a:xfrm>
            <a:off x="685800" y="3200400"/>
            <a:ext cx="5074560" cy="1508400"/>
          </a:xfrm>
          <a:prstGeom prst="roundRect">
            <a:avLst>
              <a:gd name="adj" fmla="val 7273"/>
            </a:avLst>
          </a:prstGeom>
          <a:solidFill>
            <a:srgbClr val="0e2d4f">
              <a:alpha val="93000"/>
            </a:srgbClr>
          </a:solidFill>
          <a:ln w="12700">
            <a:solidFill>
              <a:srgbClr val="5bd2ff">
                <a:alpha val="7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943" name="Text 15"/>
          <p:cNvSpPr/>
          <p:nvPr/>
        </p:nvSpPr>
        <p:spPr>
          <a:xfrm>
            <a:off x="850320" y="3319200"/>
            <a:ext cx="474552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50d69b"/>
                </a:solidFill>
                <a:effectLst/>
                <a:uFillTx/>
                <a:latin typeface="Aptos"/>
              </a:rPr>
              <a:t>Core trade-off</a:t>
            </a:r>
            <a:endParaRPr b="0" lang="en-US" sz="1600" strike="noStrike" u="none">
              <a:solidFill>
                <a:srgbClr val="ffffff"/>
              </a:solidFill>
              <a:effectLst/>
              <a:uFillTx/>
              <a:latin typeface="Arial"/>
            </a:endParaRPr>
          </a:p>
        </p:txBody>
      </p:sp>
      <p:sp>
        <p:nvSpPr>
          <p:cNvPr id="944" name="Text 16"/>
          <p:cNvSpPr/>
          <p:nvPr/>
        </p:nvSpPr>
        <p:spPr>
          <a:xfrm>
            <a:off x="905400" y="3703320"/>
            <a:ext cx="4635720" cy="941400"/>
          </a:xfrm>
          <a:prstGeom prst="rect">
            <a:avLst/>
          </a:prstGeom>
          <a:noFill/>
          <a:ln w="0">
            <a:noFill/>
          </a:ln>
        </p:spPr>
        <p:style>
          <a:lnRef idx="0"/>
          <a:fillRef idx="0"/>
          <a:effectRef idx="0"/>
          <a:fontRef idx="minor"/>
        </p:style>
        <p:txBody>
          <a:bodyPr lIns="1080" rIns="1080" tIns="1080" bIns="1080" anchor="t">
            <a:normAutofit/>
          </a:bodyPr>
          <a:p>
            <a:pPr defTabSz="914400">
              <a:lnSpc>
                <a:spcPct val="100000"/>
              </a:lnSpc>
            </a:pPr>
            <a:r>
              <a:rPr b="0" lang="en-US" sz="1300" strike="noStrike" u="none">
                <a:solidFill>
                  <a:srgbClr val="f5f8fc"/>
                </a:solidFill>
                <a:effectLst/>
                <a:uFillTx/>
                <a:latin typeface="Aptos"/>
                <a:ea typeface="Aptos"/>
              </a:rPr>
              <a:t>The strongest environmental benefit is clean-air operation; the strongest challenge is radioactive waste and thermal-water management.</a:t>
            </a:r>
            <a:endParaRPr b="0" lang="en-US" sz="1300" strike="noStrike" u="none">
              <a:solidFill>
                <a:srgbClr val="ffffff"/>
              </a:solidFill>
              <a:effectLst/>
              <a:uFillTx/>
              <a:latin typeface="Arial"/>
            </a:endParaRPr>
          </a:p>
        </p:txBody>
      </p:sp>
      <p:sp>
        <p:nvSpPr>
          <p:cNvPr id="945" name="Shape 17"/>
          <p:cNvSpPr/>
          <p:nvPr/>
        </p:nvSpPr>
        <p:spPr>
          <a:xfrm>
            <a:off x="6263640" y="3200400"/>
            <a:ext cx="5074560" cy="1508400"/>
          </a:xfrm>
          <a:prstGeom prst="roundRect">
            <a:avLst>
              <a:gd name="adj" fmla="val 7273"/>
            </a:avLst>
          </a:prstGeom>
          <a:solidFill>
            <a:srgbClr val="0e2d4f">
              <a:alpha val="93000"/>
            </a:srgbClr>
          </a:solidFill>
          <a:ln w="12700">
            <a:solidFill>
              <a:srgbClr val="50d69b">
                <a:alpha val="7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946" name="Text 18"/>
          <p:cNvSpPr/>
          <p:nvPr/>
        </p:nvSpPr>
        <p:spPr>
          <a:xfrm>
            <a:off x="6428160" y="3319200"/>
            <a:ext cx="474552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50d69b"/>
                </a:solidFill>
                <a:effectLst/>
                <a:uFillTx/>
                <a:latin typeface="Aptos"/>
              </a:rPr>
              <a:t>Final message</a:t>
            </a:r>
            <a:endParaRPr b="0" lang="en-US" sz="1600" strike="noStrike" u="none">
              <a:solidFill>
                <a:srgbClr val="ffffff"/>
              </a:solidFill>
              <a:effectLst/>
              <a:uFillTx/>
              <a:latin typeface="Arial"/>
            </a:endParaRPr>
          </a:p>
        </p:txBody>
      </p:sp>
      <p:sp>
        <p:nvSpPr>
          <p:cNvPr id="947" name="Text 19"/>
          <p:cNvSpPr/>
          <p:nvPr/>
        </p:nvSpPr>
        <p:spPr>
          <a:xfrm>
            <a:off x="6483240" y="3703320"/>
            <a:ext cx="4635720" cy="941400"/>
          </a:xfrm>
          <a:prstGeom prst="rect">
            <a:avLst/>
          </a:prstGeom>
          <a:noFill/>
          <a:ln w="0">
            <a:noFill/>
          </a:ln>
        </p:spPr>
        <p:style>
          <a:lnRef idx="0"/>
          <a:fillRef idx="0"/>
          <a:effectRef idx="0"/>
          <a:fontRef idx="minor"/>
        </p:style>
        <p:txBody>
          <a:bodyPr lIns="1080" rIns="1080" tIns="1080" bIns="1080" anchor="t">
            <a:normAutofit/>
          </a:bodyPr>
          <a:p>
            <a:pPr defTabSz="914400">
              <a:lnSpc>
                <a:spcPct val="100000"/>
              </a:lnSpc>
            </a:pPr>
            <a:r>
              <a:rPr b="0" lang="en-US" sz="1300" strike="noStrike" u="none">
                <a:solidFill>
                  <a:srgbClr val="f5f8fc"/>
                </a:solidFill>
                <a:effectLst/>
                <a:uFillTx/>
                <a:latin typeface="Aptos"/>
                <a:ea typeface="Aptos"/>
              </a:rPr>
              <a:t>RNPP sustainability depends on technology, monitoring, regulation, public trust and adaptive environmental management.</a:t>
            </a:r>
            <a:endParaRPr b="0" lang="en-US" sz="1300" strike="noStrike" u="none">
              <a:solidFill>
                <a:srgbClr val="ffffff"/>
              </a:solidFill>
              <a:effectLst/>
              <a:uFillTx/>
              <a:latin typeface="Arial"/>
            </a:endParaRPr>
          </a:p>
        </p:txBody>
      </p:sp>
      <p:sp>
        <p:nvSpPr>
          <p:cNvPr id="948" name="Text 20"/>
          <p:cNvSpPr/>
          <p:nvPr/>
        </p:nvSpPr>
        <p:spPr>
          <a:xfrm>
            <a:off x="1097280" y="5623560"/>
            <a:ext cx="9875160" cy="319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800" strike="noStrike" u="none">
                <a:solidFill>
                  <a:srgbClr val="f0be49"/>
                </a:solidFill>
                <a:effectLst/>
                <a:uFillTx/>
                <a:latin typeface="Aptos"/>
              </a:rPr>
              <a:t>EIA is not only approval; it is continuous environmental governance.</a:t>
            </a:r>
            <a:endParaRPr b="0" lang="en-US" sz="1800" strike="noStrike" u="none">
              <a:solidFill>
                <a:srgbClr val="ffffff"/>
              </a:solidFill>
              <a:effectLst/>
              <a:uFillTx/>
              <a:latin typeface="Arial"/>
            </a:endParaRPr>
          </a:p>
        </p:txBody>
      </p:sp>
    </p:spTree>
  </p:cSld>
  <p:transition spd="med">
    <p:fade/>
  </p:transition>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6172f"/>
        </a:solidFill>
      </p:bgPr>
    </p:bg>
    <p:spTree>
      <p:nvGrpSpPr>
        <p:cNvPr id="1" name=""/>
        <p:cNvGrpSpPr/>
        <p:nvPr/>
      </p:nvGrpSpPr>
      <p:grpSpPr>
        <a:xfrm>
          <a:off x="0" y="0"/>
          <a:ext cx="0" cy="0"/>
          <a:chOff x="0" y="0"/>
          <a:chExt cx="0" cy="0"/>
        </a:xfrm>
      </p:grpSpPr>
      <p:sp>
        <p:nvSpPr>
          <p:cNvPr id="949" name="Shape 0"/>
          <p:cNvSpPr/>
          <p:nvPr/>
        </p:nvSpPr>
        <p:spPr>
          <a:xfrm>
            <a:off x="0" y="0"/>
            <a:ext cx="12191400" cy="6857640"/>
          </a:xfrm>
          <a:prstGeom prst="rect">
            <a:avLst/>
          </a:prstGeom>
          <a:solidFill>
            <a:srgbClr val="06172f"/>
          </a:solidFill>
          <a:ln w="12700">
            <a:solidFill>
              <a:srgbClr val="06172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950" name="Shape 1"/>
          <p:cNvSpPr/>
          <p:nvPr/>
        </p:nvSpPr>
        <p:spPr>
          <a:xfrm>
            <a:off x="7680960" y="-1005840"/>
            <a:ext cx="4388760" cy="2925720"/>
          </a:xfrm>
          <a:prstGeom prst="arc">
            <a:avLst>
              <a:gd name="adj1" fmla="val 16200000"/>
              <a:gd name="adj2" fmla="val 0"/>
            </a:avLst>
          </a:prstGeom>
          <a:solidFill>
            <a:srgbClr val="0e3a68">
              <a:alpha val="75000"/>
            </a:srgbClr>
          </a:solidFill>
          <a:ln w="12700">
            <a:solidFill>
              <a:srgbClr val="0e3a68">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951" name="Shape 2"/>
          <p:cNvSpPr/>
          <p:nvPr/>
        </p:nvSpPr>
        <p:spPr>
          <a:xfrm>
            <a:off x="8778240" y="-777240"/>
            <a:ext cx="3474360" cy="2285640"/>
          </a:xfrm>
          <a:prstGeom prst="arc">
            <a:avLst>
              <a:gd name="adj1" fmla="val 16200000"/>
              <a:gd name="adj2" fmla="val 0"/>
            </a:avLst>
          </a:prstGeom>
          <a:solidFill>
            <a:srgbClr val="0b4d5e">
              <a:alpha val="65000"/>
            </a:srgbClr>
          </a:solidFill>
          <a:ln w="12700">
            <a:solidFill>
              <a:srgbClr val="0b4d5e">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952" name="Shape 3"/>
          <p:cNvSpPr/>
          <p:nvPr/>
        </p:nvSpPr>
        <p:spPr>
          <a:xfrm>
            <a:off x="0" y="0"/>
            <a:ext cx="109440" cy="6857640"/>
          </a:xfrm>
          <a:prstGeom prst="rect">
            <a:avLst/>
          </a:prstGeom>
          <a:solidFill>
            <a:srgbClr val="00b078"/>
          </a:solidFill>
          <a:ln w="12700">
            <a:solidFill>
              <a:srgbClr val="00b078">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953" name="Shape 4"/>
          <p:cNvSpPr/>
          <p:nvPr/>
        </p:nvSpPr>
        <p:spPr>
          <a:xfrm>
            <a:off x="320040" y="6565320"/>
            <a:ext cx="11521080" cy="16200"/>
          </a:xfrm>
          <a:prstGeom prst="rect">
            <a:avLst/>
          </a:prstGeom>
          <a:solidFill>
            <a:srgbClr val="435d78"/>
          </a:solidFill>
          <a:ln w="12700">
            <a:solidFill>
              <a:srgbClr val="435d78">
                <a:alpha val="0"/>
              </a:srgbClr>
            </a:solidFill>
            <a:round/>
          </a:ln>
        </p:spPr>
        <p:style>
          <a:lnRef idx="0"/>
          <a:fillRef idx="0"/>
          <a:effectRef idx="0"/>
          <a:fontRef idx="minor"/>
        </p:style>
        <p:txBody>
          <a:bodyPr lIns="90000" rIns="90000" tIns="-28440" bIns="-28440" anchor="t">
            <a:noAutofit/>
          </a:bodyPr>
          <a:p>
            <a:endParaRPr b="0" lang="en-US" sz="1800" strike="noStrike" u="none">
              <a:solidFill>
                <a:srgbClr val="ffffff"/>
              </a:solidFill>
              <a:effectLst/>
              <a:uFillTx/>
              <a:latin typeface="Arial"/>
            </a:endParaRPr>
          </a:p>
        </p:txBody>
      </p:sp>
      <p:sp>
        <p:nvSpPr>
          <p:cNvPr id="954" name="Text 5"/>
          <p:cNvSpPr/>
          <p:nvPr/>
        </p:nvSpPr>
        <p:spPr>
          <a:xfrm>
            <a:off x="11356920" y="6602040"/>
            <a:ext cx="502560" cy="13680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50" strike="noStrike" u="none">
                <a:solidFill>
                  <a:srgbClr val="b0c1d5"/>
                </a:solidFill>
                <a:effectLst/>
                <a:uFillTx/>
                <a:latin typeface="Aptos"/>
                <a:ea typeface="Aptos"/>
              </a:rPr>
              <a:t>33</a:t>
            </a:r>
            <a:endParaRPr b="0" lang="en-US" sz="950" strike="noStrike" u="none">
              <a:solidFill>
                <a:srgbClr val="ffffff"/>
              </a:solidFill>
              <a:effectLst/>
              <a:uFillTx/>
              <a:latin typeface="Arial"/>
            </a:endParaRPr>
          </a:p>
        </p:txBody>
      </p:sp>
      <p:sp>
        <p:nvSpPr>
          <p:cNvPr id="955" name="Text 6"/>
          <p:cNvSpPr/>
          <p:nvPr/>
        </p:nvSpPr>
        <p:spPr>
          <a:xfrm>
            <a:off x="475560" y="228600"/>
            <a:ext cx="10972440" cy="383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500" strike="noStrike" u="none">
                <a:solidFill>
                  <a:srgbClr val="f5f8fc"/>
                </a:solidFill>
                <a:effectLst/>
                <a:uFillTx/>
                <a:latin typeface="Aptos Display"/>
                <a:ea typeface="Aptos Display"/>
              </a:rPr>
              <a:t>Future Research</a:t>
            </a:r>
            <a:endParaRPr b="0" lang="en-US" sz="2500" strike="noStrike" u="none">
              <a:solidFill>
                <a:srgbClr val="ffffff"/>
              </a:solidFill>
              <a:effectLst/>
              <a:uFillTx/>
              <a:latin typeface="Arial"/>
            </a:endParaRPr>
          </a:p>
        </p:txBody>
      </p:sp>
      <p:sp>
        <p:nvSpPr>
          <p:cNvPr id="956" name="Text 7"/>
          <p:cNvSpPr/>
          <p:nvPr/>
        </p:nvSpPr>
        <p:spPr>
          <a:xfrm>
            <a:off x="502920" y="704160"/>
            <a:ext cx="10835280" cy="255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50" strike="noStrike" u="none">
                <a:solidFill>
                  <a:srgbClr val="b0c1d5"/>
                </a:solidFill>
                <a:effectLst/>
                <a:uFillTx/>
                <a:latin typeface="Aptos"/>
              </a:rPr>
              <a:t>Gaps that should be studied in detail</a:t>
            </a:r>
            <a:endParaRPr b="0" lang="en-US" sz="1250" strike="noStrike" u="none">
              <a:solidFill>
                <a:srgbClr val="ffffff"/>
              </a:solidFill>
              <a:effectLst/>
              <a:uFillTx/>
              <a:latin typeface="Arial"/>
            </a:endParaRPr>
          </a:p>
        </p:txBody>
      </p:sp>
      <p:sp>
        <p:nvSpPr>
          <p:cNvPr id="957" name="Text 8"/>
          <p:cNvSpPr/>
          <p:nvPr/>
        </p:nvSpPr>
        <p:spPr>
          <a:xfrm>
            <a:off x="777240" y="1234440"/>
            <a:ext cx="10789560" cy="4114440"/>
          </a:xfrm>
          <a:prstGeom prst="rect">
            <a:avLst/>
          </a:prstGeom>
          <a:noFill/>
          <a:ln w="0">
            <a:noFill/>
          </a:ln>
        </p:spPr>
        <p:style>
          <a:lnRef idx="0"/>
          <a:fillRef idx="0"/>
          <a:effectRef idx="0"/>
          <a:fontRef idx="minor"/>
        </p:style>
        <p:txBody>
          <a:bodyPr lIns="1080" rIns="1080" tIns="1080" bIns="1080" anchor="t">
            <a:normAutofit/>
          </a:bodyPr>
          <a:p>
            <a:pPr defTabSz="914400">
              <a:lnSpc>
                <a:spcPct val="100000"/>
              </a:lnSpc>
            </a:pPr>
            <a:r>
              <a:rPr b="0" lang="en-US" sz="1600" strike="noStrike" u="none">
                <a:solidFill>
                  <a:srgbClr val="f5f8fc"/>
                </a:solidFill>
                <a:effectLst/>
                <a:uFillTx/>
                <a:latin typeface="Aptos"/>
                <a:ea typeface="Aptos"/>
              </a:rPr>
              <a:t>Detailed Padma River thermal plume modelling under seasonal low-flow and high-flow conditions.</a:t>
            </a:r>
            <a:endParaRPr b="0" lang="en-US" sz="1600" strike="noStrike" u="none">
              <a:solidFill>
                <a:srgbClr val="ffffff"/>
              </a:solidFill>
              <a:effectLst/>
              <a:uFillTx/>
              <a:latin typeface="Arial"/>
            </a:endParaRPr>
          </a:p>
          <a:p>
            <a:pPr defTabSz="914400">
              <a:lnSpc>
                <a:spcPct val="100000"/>
              </a:lnSpc>
            </a:pPr>
            <a:r>
              <a:rPr b="0" lang="en-US" sz="1600" strike="noStrike" u="none">
                <a:solidFill>
                  <a:srgbClr val="f5f8fc"/>
                </a:solidFill>
                <a:effectLst/>
                <a:uFillTx/>
                <a:latin typeface="Aptos"/>
                <a:ea typeface="Aptos"/>
              </a:rPr>
              <a:t>Long-term aquatic biodiversity monitoring with emphasis on fish migration and intake-system effects.</a:t>
            </a:r>
            <a:endParaRPr b="0" lang="en-US" sz="1600" strike="noStrike" u="none">
              <a:solidFill>
                <a:srgbClr val="ffffff"/>
              </a:solidFill>
              <a:effectLst/>
              <a:uFillTx/>
              <a:latin typeface="Arial"/>
            </a:endParaRPr>
          </a:p>
          <a:p>
            <a:pPr defTabSz="914400">
              <a:lnSpc>
                <a:spcPct val="100000"/>
              </a:lnSpc>
            </a:pPr>
            <a:r>
              <a:rPr b="0" lang="en-US" sz="1600" strike="noStrike" u="none">
                <a:solidFill>
                  <a:srgbClr val="f5f8fc"/>
                </a:solidFill>
                <a:effectLst/>
                <a:uFillTx/>
                <a:latin typeface="Aptos"/>
                <a:ea typeface="Aptos"/>
              </a:rPr>
              <a:t>Independent population exposure and emergency-response mapping for the surrounding planning zones.</a:t>
            </a:r>
            <a:endParaRPr b="0" lang="en-US" sz="1600" strike="noStrike" u="none">
              <a:solidFill>
                <a:srgbClr val="ffffff"/>
              </a:solidFill>
              <a:effectLst/>
              <a:uFillTx/>
              <a:latin typeface="Arial"/>
            </a:endParaRPr>
          </a:p>
          <a:p>
            <a:pPr defTabSz="914400">
              <a:lnSpc>
                <a:spcPct val="100000"/>
              </a:lnSpc>
            </a:pPr>
            <a:r>
              <a:rPr b="0" lang="en-US" sz="1600" strike="noStrike" u="none">
                <a:solidFill>
                  <a:srgbClr val="f5f8fc"/>
                </a:solidFill>
                <a:effectLst/>
                <a:uFillTx/>
                <a:latin typeface="Aptos"/>
                <a:ea typeface="Aptos"/>
              </a:rPr>
              <a:t>Life-cycle waste management assessment, including storage, transport, return and final-disposal accountability.</a:t>
            </a:r>
            <a:endParaRPr b="0" lang="en-US" sz="1600" strike="noStrike" u="none">
              <a:solidFill>
                <a:srgbClr val="ffffff"/>
              </a:solidFill>
              <a:effectLst/>
              <a:uFillTx/>
              <a:latin typeface="Arial"/>
            </a:endParaRPr>
          </a:p>
          <a:p>
            <a:pPr defTabSz="914400">
              <a:lnSpc>
                <a:spcPct val="100000"/>
              </a:lnSpc>
            </a:pPr>
            <a:r>
              <a:rPr b="0" lang="en-US" sz="1600" strike="noStrike" u="none">
                <a:solidFill>
                  <a:srgbClr val="f5f8fc"/>
                </a:solidFill>
                <a:effectLst/>
                <a:uFillTx/>
                <a:latin typeface="Aptos"/>
                <a:ea typeface="Aptos"/>
              </a:rPr>
              <a:t>Social perception and risk communication research among communities living near the RNPP site.</a:t>
            </a:r>
            <a:endParaRPr b="0" lang="en-US" sz="1600" strike="noStrike" u="none">
              <a:solidFill>
                <a:srgbClr val="ffffff"/>
              </a:solidFill>
              <a:effectLst/>
              <a:uFillTx/>
              <a:latin typeface="Arial"/>
            </a:endParaRPr>
          </a:p>
        </p:txBody>
      </p:sp>
      <p:sp>
        <p:nvSpPr>
          <p:cNvPr id="958" name="Shape 9"/>
          <p:cNvSpPr/>
          <p:nvPr/>
        </p:nvSpPr>
        <p:spPr>
          <a:xfrm>
            <a:off x="1280160" y="5486400"/>
            <a:ext cx="1737000" cy="749520"/>
          </a:xfrm>
          <a:prstGeom prst="roundRect">
            <a:avLst>
              <a:gd name="adj" fmla="val 14634"/>
            </a:avLst>
          </a:prstGeom>
          <a:solidFill>
            <a:srgbClr val="0a3455">
              <a:alpha val="95000"/>
            </a:srgbClr>
          </a:solidFill>
          <a:ln w="12700">
            <a:solidFill>
              <a:srgbClr val="5bd2ff">
                <a:alpha val="7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959" name="Text 10"/>
          <p:cNvSpPr/>
          <p:nvPr/>
        </p:nvSpPr>
        <p:spPr>
          <a:xfrm>
            <a:off x="1325880" y="5623560"/>
            <a:ext cx="1645560" cy="347040"/>
          </a:xfrm>
          <a:prstGeom prst="rect">
            <a:avLst/>
          </a:prstGeom>
          <a:noFill/>
          <a:ln w="0">
            <a:noFill/>
          </a:ln>
        </p:spPr>
        <p:style>
          <a:lnRef idx="0"/>
          <a:fillRef idx="0"/>
          <a:effectRef idx="0"/>
          <a:fontRef idx="minor"/>
        </p:style>
        <p:txBody>
          <a:bodyPr lIns="0" rIns="0" tIns="0" bIns="0" anchor="ctr">
            <a:normAutofit lnSpcReduction="9999"/>
          </a:bodyPr>
          <a:p>
            <a:pPr algn="ctr" defTabSz="914400">
              <a:lnSpc>
                <a:spcPct val="100000"/>
              </a:lnSpc>
              <a:tabLst>
                <a:tab algn="l" pos="0"/>
              </a:tabLst>
            </a:pPr>
            <a:r>
              <a:rPr b="1" lang="en-US" sz="2300" strike="noStrike" u="none">
                <a:solidFill>
                  <a:srgbClr val="5bd2ff"/>
                </a:solidFill>
                <a:effectLst/>
                <a:uFillTx/>
                <a:latin typeface="Aptos"/>
              </a:rPr>
              <a:t>Water</a:t>
            </a:r>
            <a:endParaRPr b="0" lang="en-US" sz="2300" strike="noStrike" u="none">
              <a:solidFill>
                <a:srgbClr val="ffffff"/>
              </a:solidFill>
              <a:effectLst/>
              <a:uFillTx/>
              <a:latin typeface="Arial"/>
            </a:endParaRPr>
          </a:p>
        </p:txBody>
      </p:sp>
      <p:sp>
        <p:nvSpPr>
          <p:cNvPr id="960" name="Text 11"/>
          <p:cNvSpPr/>
          <p:nvPr/>
        </p:nvSpPr>
        <p:spPr>
          <a:xfrm>
            <a:off x="1389960" y="6080760"/>
            <a:ext cx="1517400" cy="109440"/>
          </a:xfrm>
          <a:prstGeom prst="rect">
            <a:avLst/>
          </a:prstGeom>
          <a:noFill/>
          <a:ln w="0">
            <a:noFill/>
          </a:ln>
        </p:spPr>
        <p:style>
          <a:lnRef idx="0"/>
          <a:fillRef idx="0"/>
          <a:effectRef idx="0"/>
          <a:fontRef idx="minor"/>
        </p:style>
        <p:txBody>
          <a:bodyPr lIns="0" rIns="0" tIns="0" bIns="0" anchor="ctr">
            <a:normAutofit fontScale="77500" lnSpcReduction="19999"/>
          </a:bodyPr>
          <a:p>
            <a:pPr algn="ctr" defTabSz="914400">
              <a:lnSpc>
                <a:spcPct val="100000"/>
              </a:lnSpc>
              <a:tabLst>
                <a:tab algn="l" pos="0"/>
              </a:tabLst>
            </a:pPr>
            <a:r>
              <a:rPr b="0" lang="en-US" sz="980" strike="noStrike" u="none">
                <a:solidFill>
                  <a:srgbClr val="b0c1d5"/>
                </a:solidFill>
                <a:effectLst/>
                <a:uFillTx/>
                <a:latin typeface="Aptos"/>
              </a:rPr>
              <a:t>Thermal plume study</a:t>
            </a:r>
            <a:endParaRPr b="0" lang="en-US" sz="980" strike="noStrike" u="none">
              <a:solidFill>
                <a:srgbClr val="ffffff"/>
              </a:solidFill>
              <a:effectLst/>
              <a:uFillTx/>
              <a:latin typeface="Arial"/>
            </a:endParaRPr>
          </a:p>
        </p:txBody>
      </p:sp>
      <p:sp>
        <p:nvSpPr>
          <p:cNvPr id="961" name="Shape 12"/>
          <p:cNvSpPr/>
          <p:nvPr/>
        </p:nvSpPr>
        <p:spPr>
          <a:xfrm>
            <a:off x="3840480" y="5486400"/>
            <a:ext cx="1737000" cy="749520"/>
          </a:xfrm>
          <a:prstGeom prst="roundRect">
            <a:avLst>
              <a:gd name="adj" fmla="val 14634"/>
            </a:avLst>
          </a:prstGeom>
          <a:solidFill>
            <a:srgbClr val="0a3455">
              <a:alpha val="95000"/>
            </a:srgbClr>
          </a:solidFill>
          <a:ln w="12700">
            <a:solidFill>
              <a:srgbClr val="e15a5a">
                <a:alpha val="7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962" name="Text 13"/>
          <p:cNvSpPr/>
          <p:nvPr/>
        </p:nvSpPr>
        <p:spPr>
          <a:xfrm>
            <a:off x="3886200" y="5623560"/>
            <a:ext cx="1645560" cy="347040"/>
          </a:xfrm>
          <a:prstGeom prst="rect">
            <a:avLst/>
          </a:prstGeom>
          <a:noFill/>
          <a:ln w="0">
            <a:noFill/>
          </a:ln>
        </p:spPr>
        <p:style>
          <a:lnRef idx="0"/>
          <a:fillRef idx="0"/>
          <a:effectRef idx="0"/>
          <a:fontRef idx="minor"/>
        </p:style>
        <p:txBody>
          <a:bodyPr lIns="0" rIns="0" tIns="0" bIns="0" anchor="ctr">
            <a:normAutofit lnSpcReduction="9999"/>
          </a:bodyPr>
          <a:p>
            <a:pPr algn="ctr" defTabSz="914400">
              <a:lnSpc>
                <a:spcPct val="100000"/>
              </a:lnSpc>
              <a:tabLst>
                <a:tab algn="l" pos="0"/>
              </a:tabLst>
            </a:pPr>
            <a:r>
              <a:rPr b="1" lang="en-US" sz="2300" strike="noStrike" u="none">
                <a:solidFill>
                  <a:srgbClr val="e15a5a"/>
                </a:solidFill>
                <a:effectLst/>
                <a:uFillTx/>
                <a:latin typeface="Aptos"/>
              </a:rPr>
              <a:t>Waste</a:t>
            </a:r>
            <a:endParaRPr b="0" lang="en-US" sz="2300" strike="noStrike" u="none">
              <a:solidFill>
                <a:srgbClr val="ffffff"/>
              </a:solidFill>
              <a:effectLst/>
              <a:uFillTx/>
              <a:latin typeface="Arial"/>
            </a:endParaRPr>
          </a:p>
        </p:txBody>
      </p:sp>
      <p:sp>
        <p:nvSpPr>
          <p:cNvPr id="963" name="Text 14"/>
          <p:cNvSpPr/>
          <p:nvPr/>
        </p:nvSpPr>
        <p:spPr>
          <a:xfrm>
            <a:off x="3950280" y="6080760"/>
            <a:ext cx="1517400" cy="109440"/>
          </a:xfrm>
          <a:prstGeom prst="rect">
            <a:avLst/>
          </a:prstGeom>
          <a:noFill/>
          <a:ln w="0">
            <a:noFill/>
          </a:ln>
        </p:spPr>
        <p:style>
          <a:lnRef idx="0"/>
          <a:fillRef idx="0"/>
          <a:effectRef idx="0"/>
          <a:fontRef idx="minor"/>
        </p:style>
        <p:txBody>
          <a:bodyPr lIns="0" rIns="0" tIns="0" bIns="0" anchor="ctr">
            <a:normAutofit fontScale="77500" lnSpcReduction="19999"/>
          </a:bodyPr>
          <a:p>
            <a:pPr algn="ctr" defTabSz="914400">
              <a:lnSpc>
                <a:spcPct val="100000"/>
              </a:lnSpc>
              <a:tabLst>
                <a:tab algn="l" pos="0"/>
              </a:tabLst>
            </a:pPr>
            <a:r>
              <a:rPr b="0" lang="en-US" sz="980" strike="noStrike" u="none">
                <a:solidFill>
                  <a:srgbClr val="b0c1d5"/>
                </a:solidFill>
                <a:effectLst/>
                <a:uFillTx/>
                <a:latin typeface="Aptos"/>
              </a:rPr>
              <a:t>Life-cycle audit</a:t>
            </a:r>
            <a:endParaRPr b="0" lang="en-US" sz="980" strike="noStrike" u="none">
              <a:solidFill>
                <a:srgbClr val="ffffff"/>
              </a:solidFill>
              <a:effectLst/>
              <a:uFillTx/>
              <a:latin typeface="Arial"/>
            </a:endParaRPr>
          </a:p>
        </p:txBody>
      </p:sp>
      <p:sp>
        <p:nvSpPr>
          <p:cNvPr id="964" name="Shape 15"/>
          <p:cNvSpPr/>
          <p:nvPr/>
        </p:nvSpPr>
        <p:spPr>
          <a:xfrm>
            <a:off x="6400800" y="5486400"/>
            <a:ext cx="1737000" cy="749520"/>
          </a:xfrm>
          <a:prstGeom prst="roundRect">
            <a:avLst>
              <a:gd name="adj" fmla="val 14634"/>
            </a:avLst>
          </a:prstGeom>
          <a:solidFill>
            <a:srgbClr val="0a3455">
              <a:alpha val="95000"/>
            </a:srgbClr>
          </a:solidFill>
          <a:ln w="12700">
            <a:solidFill>
              <a:srgbClr val="f0be49">
                <a:alpha val="7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965" name="Text 16"/>
          <p:cNvSpPr/>
          <p:nvPr/>
        </p:nvSpPr>
        <p:spPr>
          <a:xfrm>
            <a:off x="6446520" y="5623560"/>
            <a:ext cx="1645560" cy="347040"/>
          </a:xfrm>
          <a:prstGeom prst="rect">
            <a:avLst/>
          </a:prstGeom>
          <a:noFill/>
          <a:ln w="0">
            <a:noFill/>
          </a:ln>
        </p:spPr>
        <p:style>
          <a:lnRef idx="0"/>
          <a:fillRef idx="0"/>
          <a:effectRef idx="0"/>
          <a:fontRef idx="minor"/>
        </p:style>
        <p:txBody>
          <a:bodyPr lIns="0" rIns="0" tIns="0" bIns="0" anchor="ctr">
            <a:normAutofit lnSpcReduction="9999"/>
          </a:bodyPr>
          <a:p>
            <a:pPr algn="ctr" defTabSz="914400">
              <a:lnSpc>
                <a:spcPct val="100000"/>
              </a:lnSpc>
              <a:tabLst>
                <a:tab algn="l" pos="0"/>
              </a:tabLst>
            </a:pPr>
            <a:r>
              <a:rPr b="1" lang="en-US" sz="2300" strike="noStrike" u="none">
                <a:solidFill>
                  <a:srgbClr val="f0be49"/>
                </a:solidFill>
                <a:effectLst/>
                <a:uFillTx/>
                <a:latin typeface="Aptos"/>
              </a:rPr>
              <a:t>People</a:t>
            </a:r>
            <a:endParaRPr b="0" lang="en-US" sz="2300" strike="noStrike" u="none">
              <a:solidFill>
                <a:srgbClr val="ffffff"/>
              </a:solidFill>
              <a:effectLst/>
              <a:uFillTx/>
              <a:latin typeface="Arial"/>
            </a:endParaRPr>
          </a:p>
        </p:txBody>
      </p:sp>
      <p:sp>
        <p:nvSpPr>
          <p:cNvPr id="966" name="Text 17"/>
          <p:cNvSpPr/>
          <p:nvPr/>
        </p:nvSpPr>
        <p:spPr>
          <a:xfrm>
            <a:off x="6510600" y="6080760"/>
            <a:ext cx="1517400" cy="109440"/>
          </a:xfrm>
          <a:prstGeom prst="rect">
            <a:avLst/>
          </a:prstGeom>
          <a:noFill/>
          <a:ln w="0">
            <a:noFill/>
          </a:ln>
        </p:spPr>
        <p:style>
          <a:lnRef idx="0"/>
          <a:fillRef idx="0"/>
          <a:effectRef idx="0"/>
          <a:fontRef idx="minor"/>
        </p:style>
        <p:txBody>
          <a:bodyPr lIns="0" rIns="0" tIns="0" bIns="0" anchor="ctr">
            <a:normAutofit fontScale="77500" lnSpcReduction="19999"/>
          </a:bodyPr>
          <a:p>
            <a:pPr algn="ctr" defTabSz="914400">
              <a:lnSpc>
                <a:spcPct val="100000"/>
              </a:lnSpc>
              <a:tabLst>
                <a:tab algn="l" pos="0"/>
              </a:tabLst>
            </a:pPr>
            <a:r>
              <a:rPr b="0" lang="en-US" sz="980" strike="noStrike" u="none">
                <a:solidFill>
                  <a:srgbClr val="b0c1d5"/>
                </a:solidFill>
                <a:effectLst/>
                <a:uFillTx/>
                <a:latin typeface="Aptos"/>
              </a:rPr>
              <a:t>Risk perception</a:t>
            </a:r>
            <a:endParaRPr b="0" lang="en-US" sz="980" strike="noStrike" u="none">
              <a:solidFill>
                <a:srgbClr val="ffffff"/>
              </a:solidFill>
              <a:effectLst/>
              <a:uFillTx/>
              <a:latin typeface="Arial"/>
            </a:endParaRPr>
          </a:p>
        </p:txBody>
      </p:sp>
      <p:sp>
        <p:nvSpPr>
          <p:cNvPr id="967" name="Shape 18"/>
          <p:cNvSpPr/>
          <p:nvPr/>
        </p:nvSpPr>
        <p:spPr>
          <a:xfrm>
            <a:off x="8961120" y="5486400"/>
            <a:ext cx="1737000" cy="749520"/>
          </a:xfrm>
          <a:prstGeom prst="roundRect">
            <a:avLst>
              <a:gd name="adj" fmla="val 14634"/>
            </a:avLst>
          </a:prstGeom>
          <a:solidFill>
            <a:srgbClr val="0a3455">
              <a:alpha val="95000"/>
            </a:srgbClr>
          </a:solidFill>
          <a:ln w="12700">
            <a:solidFill>
              <a:srgbClr val="00b078">
                <a:alpha val="7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968" name="Text 19"/>
          <p:cNvSpPr/>
          <p:nvPr/>
        </p:nvSpPr>
        <p:spPr>
          <a:xfrm>
            <a:off x="9006840" y="5623560"/>
            <a:ext cx="1645560" cy="347040"/>
          </a:xfrm>
          <a:prstGeom prst="rect">
            <a:avLst/>
          </a:prstGeom>
          <a:noFill/>
          <a:ln w="0">
            <a:noFill/>
          </a:ln>
        </p:spPr>
        <p:style>
          <a:lnRef idx="0"/>
          <a:fillRef idx="0"/>
          <a:effectRef idx="0"/>
          <a:fontRef idx="minor"/>
        </p:style>
        <p:txBody>
          <a:bodyPr lIns="0" rIns="0" tIns="0" bIns="0" anchor="ctr">
            <a:normAutofit lnSpcReduction="9999"/>
          </a:bodyPr>
          <a:p>
            <a:pPr algn="ctr" defTabSz="914400">
              <a:lnSpc>
                <a:spcPct val="100000"/>
              </a:lnSpc>
              <a:tabLst>
                <a:tab algn="l" pos="0"/>
              </a:tabLst>
            </a:pPr>
            <a:r>
              <a:rPr b="1" lang="en-US" sz="2300" strike="noStrike" u="none">
                <a:solidFill>
                  <a:srgbClr val="00b078"/>
                </a:solidFill>
                <a:effectLst/>
                <a:uFillTx/>
                <a:latin typeface="Aptos"/>
              </a:rPr>
              <a:t>Ecology</a:t>
            </a:r>
            <a:endParaRPr b="0" lang="en-US" sz="2300" strike="noStrike" u="none">
              <a:solidFill>
                <a:srgbClr val="ffffff"/>
              </a:solidFill>
              <a:effectLst/>
              <a:uFillTx/>
              <a:latin typeface="Arial"/>
            </a:endParaRPr>
          </a:p>
        </p:txBody>
      </p:sp>
      <p:sp>
        <p:nvSpPr>
          <p:cNvPr id="969" name="Text 20"/>
          <p:cNvSpPr/>
          <p:nvPr/>
        </p:nvSpPr>
        <p:spPr>
          <a:xfrm>
            <a:off x="9070920" y="6080760"/>
            <a:ext cx="1517400" cy="109440"/>
          </a:xfrm>
          <a:prstGeom prst="rect">
            <a:avLst/>
          </a:prstGeom>
          <a:noFill/>
          <a:ln w="0">
            <a:noFill/>
          </a:ln>
        </p:spPr>
        <p:style>
          <a:lnRef idx="0"/>
          <a:fillRef idx="0"/>
          <a:effectRef idx="0"/>
          <a:fontRef idx="minor"/>
        </p:style>
        <p:txBody>
          <a:bodyPr lIns="0" rIns="0" tIns="0" bIns="0" anchor="ctr">
            <a:normAutofit fontScale="77500" lnSpcReduction="19999"/>
          </a:bodyPr>
          <a:p>
            <a:pPr algn="ctr" defTabSz="914400">
              <a:lnSpc>
                <a:spcPct val="100000"/>
              </a:lnSpc>
              <a:tabLst>
                <a:tab algn="l" pos="0"/>
              </a:tabLst>
            </a:pPr>
            <a:r>
              <a:rPr b="0" lang="en-US" sz="980" strike="noStrike" u="none">
                <a:solidFill>
                  <a:srgbClr val="b0c1d5"/>
                </a:solidFill>
                <a:effectLst/>
                <a:uFillTx/>
                <a:latin typeface="Aptos"/>
              </a:rPr>
              <a:t>Fish + habitat</a:t>
            </a:r>
            <a:endParaRPr b="0" lang="en-US" sz="980" strike="noStrike" u="none">
              <a:solidFill>
                <a:srgbClr val="ffffff"/>
              </a:solidFill>
              <a:effectLst/>
              <a:uFillTx/>
              <a:latin typeface="Arial"/>
            </a:endParaRPr>
          </a:p>
        </p:txBody>
      </p:sp>
    </p:spTree>
  </p:cSld>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6172f"/>
        </a:solidFill>
      </p:bgPr>
    </p:bg>
    <p:spTree>
      <p:nvGrpSpPr>
        <p:cNvPr id="1" name=""/>
        <p:cNvGrpSpPr/>
        <p:nvPr/>
      </p:nvGrpSpPr>
      <p:grpSpPr>
        <a:xfrm>
          <a:off x="0" y="0"/>
          <a:ext cx="0" cy="0"/>
          <a:chOff x="0" y="0"/>
          <a:chExt cx="0" cy="0"/>
        </a:xfrm>
      </p:grpSpPr>
      <p:sp>
        <p:nvSpPr>
          <p:cNvPr id="970" name="Shape 0"/>
          <p:cNvSpPr/>
          <p:nvPr/>
        </p:nvSpPr>
        <p:spPr>
          <a:xfrm>
            <a:off x="0" y="0"/>
            <a:ext cx="12191400" cy="6857640"/>
          </a:xfrm>
          <a:prstGeom prst="rect">
            <a:avLst/>
          </a:prstGeom>
          <a:solidFill>
            <a:srgbClr val="06172f"/>
          </a:solidFill>
          <a:ln w="12700">
            <a:solidFill>
              <a:srgbClr val="06172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971" name="Shape 1"/>
          <p:cNvSpPr/>
          <p:nvPr/>
        </p:nvSpPr>
        <p:spPr>
          <a:xfrm>
            <a:off x="7680960" y="-1005840"/>
            <a:ext cx="4388760" cy="2925720"/>
          </a:xfrm>
          <a:prstGeom prst="arc">
            <a:avLst>
              <a:gd name="adj1" fmla="val 16200000"/>
              <a:gd name="adj2" fmla="val 0"/>
            </a:avLst>
          </a:prstGeom>
          <a:solidFill>
            <a:srgbClr val="0e3a68">
              <a:alpha val="75000"/>
            </a:srgbClr>
          </a:solidFill>
          <a:ln w="12700">
            <a:solidFill>
              <a:srgbClr val="0e3a68">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972" name="Shape 2"/>
          <p:cNvSpPr/>
          <p:nvPr/>
        </p:nvSpPr>
        <p:spPr>
          <a:xfrm>
            <a:off x="8778240" y="-777240"/>
            <a:ext cx="3474360" cy="2285640"/>
          </a:xfrm>
          <a:prstGeom prst="arc">
            <a:avLst>
              <a:gd name="adj1" fmla="val 16200000"/>
              <a:gd name="adj2" fmla="val 0"/>
            </a:avLst>
          </a:prstGeom>
          <a:solidFill>
            <a:srgbClr val="0b4d5e">
              <a:alpha val="65000"/>
            </a:srgbClr>
          </a:solidFill>
          <a:ln w="12700">
            <a:solidFill>
              <a:srgbClr val="0b4d5e">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973" name="Shape 3"/>
          <p:cNvSpPr/>
          <p:nvPr/>
        </p:nvSpPr>
        <p:spPr>
          <a:xfrm>
            <a:off x="0" y="0"/>
            <a:ext cx="109440" cy="6857640"/>
          </a:xfrm>
          <a:prstGeom prst="rect">
            <a:avLst/>
          </a:prstGeom>
          <a:solidFill>
            <a:srgbClr val="00b078"/>
          </a:solidFill>
          <a:ln w="12700">
            <a:solidFill>
              <a:srgbClr val="00b078">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974" name="Shape 4"/>
          <p:cNvSpPr/>
          <p:nvPr/>
        </p:nvSpPr>
        <p:spPr>
          <a:xfrm>
            <a:off x="320040" y="6565320"/>
            <a:ext cx="11521080" cy="16200"/>
          </a:xfrm>
          <a:prstGeom prst="rect">
            <a:avLst/>
          </a:prstGeom>
          <a:solidFill>
            <a:srgbClr val="435d78"/>
          </a:solidFill>
          <a:ln w="12700">
            <a:solidFill>
              <a:srgbClr val="435d78">
                <a:alpha val="0"/>
              </a:srgbClr>
            </a:solidFill>
            <a:round/>
          </a:ln>
        </p:spPr>
        <p:style>
          <a:lnRef idx="0"/>
          <a:fillRef idx="0"/>
          <a:effectRef idx="0"/>
          <a:fontRef idx="minor"/>
        </p:style>
        <p:txBody>
          <a:bodyPr lIns="90000" rIns="90000" tIns="-28440" bIns="-28440" anchor="t">
            <a:noAutofit/>
          </a:bodyPr>
          <a:p>
            <a:endParaRPr b="0" lang="en-US" sz="1800" strike="noStrike" u="none">
              <a:solidFill>
                <a:srgbClr val="ffffff"/>
              </a:solidFill>
              <a:effectLst/>
              <a:uFillTx/>
              <a:latin typeface="Arial"/>
            </a:endParaRPr>
          </a:p>
        </p:txBody>
      </p:sp>
      <p:sp>
        <p:nvSpPr>
          <p:cNvPr id="975" name="Text 5"/>
          <p:cNvSpPr/>
          <p:nvPr/>
        </p:nvSpPr>
        <p:spPr>
          <a:xfrm>
            <a:off x="11356920" y="6602040"/>
            <a:ext cx="502560" cy="13680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50" strike="noStrike" u="none">
                <a:solidFill>
                  <a:srgbClr val="b0c1d5"/>
                </a:solidFill>
                <a:effectLst/>
                <a:uFillTx/>
                <a:latin typeface="Aptos"/>
                <a:ea typeface="Aptos"/>
              </a:rPr>
              <a:t>34</a:t>
            </a:r>
            <a:endParaRPr b="0" lang="en-US" sz="950" strike="noStrike" u="none">
              <a:solidFill>
                <a:srgbClr val="ffffff"/>
              </a:solidFill>
              <a:effectLst/>
              <a:uFillTx/>
              <a:latin typeface="Arial"/>
            </a:endParaRPr>
          </a:p>
        </p:txBody>
      </p:sp>
      <p:sp>
        <p:nvSpPr>
          <p:cNvPr id="976" name="Text 6"/>
          <p:cNvSpPr/>
          <p:nvPr/>
        </p:nvSpPr>
        <p:spPr>
          <a:xfrm>
            <a:off x="475560" y="228600"/>
            <a:ext cx="10972440" cy="383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500" strike="noStrike" u="none">
                <a:solidFill>
                  <a:srgbClr val="f5f8fc"/>
                </a:solidFill>
                <a:effectLst/>
                <a:uFillTx/>
                <a:latin typeface="Aptos Display"/>
                <a:ea typeface="Aptos Display"/>
              </a:rPr>
              <a:t>References</a:t>
            </a:r>
            <a:endParaRPr b="0" lang="en-US" sz="2500" strike="noStrike" u="none">
              <a:solidFill>
                <a:srgbClr val="ffffff"/>
              </a:solidFill>
              <a:effectLst/>
              <a:uFillTx/>
              <a:latin typeface="Arial"/>
            </a:endParaRPr>
          </a:p>
        </p:txBody>
      </p:sp>
      <p:sp>
        <p:nvSpPr>
          <p:cNvPr id="977" name="Text 7"/>
          <p:cNvSpPr/>
          <p:nvPr/>
        </p:nvSpPr>
        <p:spPr>
          <a:xfrm>
            <a:off x="502920" y="704160"/>
            <a:ext cx="10835280" cy="255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50" strike="noStrike" u="none">
                <a:solidFill>
                  <a:srgbClr val="b0c1d5"/>
                </a:solidFill>
                <a:effectLst/>
                <a:uFillTx/>
                <a:latin typeface="Aptos"/>
              </a:rPr>
              <a:t>Source basis for the presentation</a:t>
            </a:r>
            <a:endParaRPr b="0" lang="en-US" sz="1250" strike="noStrike" u="none">
              <a:solidFill>
                <a:srgbClr val="ffffff"/>
              </a:solidFill>
              <a:effectLst/>
              <a:uFillTx/>
              <a:latin typeface="Arial"/>
            </a:endParaRPr>
          </a:p>
        </p:txBody>
      </p:sp>
      <p:sp>
        <p:nvSpPr>
          <p:cNvPr id="978" name="Shape 8"/>
          <p:cNvSpPr/>
          <p:nvPr/>
        </p:nvSpPr>
        <p:spPr>
          <a:xfrm>
            <a:off x="731520" y="1234440"/>
            <a:ext cx="10606680" cy="1371240"/>
          </a:xfrm>
          <a:prstGeom prst="roundRect">
            <a:avLst>
              <a:gd name="adj" fmla="val 8000"/>
            </a:avLst>
          </a:prstGeom>
          <a:solidFill>
            <a:srgbClr val="0e2d4f">
              <a:alpha val="93000"/>
            </a:srgbClr>
          </a:solidFill>
          <a:ln w="12700">
            <a:solidFill>
              <a:srgbClr val="50d69b">
                <a:alpha val="7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979" name="Text 9"/>
          <p:cNvSpPr/>
          <p:nvPr/>
        </p:nvSpPr>
        <p:spPr>
          <a:xfrm>
            <a:off x="896040" y="1353240"/>
            <a:ext cx="1027764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50d69b"/>
                </a:solidFill>
                <a:effectLst/>
                <a:uFillTx/>
                <a:latin typeface="Aptos"/>
              </a:rPr>
              <a:t>Primary uploaded source</a:t>
            </a:r>
            <a:endParaRPr b="0" lang="en-US" sz="1600" strike="noStrike" u="none">
              <a:solidFill>
                <a:srgbClr val="ffffff"/>
              </a:solidFill>
              <a:effectLst/>
              <a:uFillTx/>
              <a:latin typeface="Arial"/>
            </a:endParaRPr>
          </a:p>
        </p:txBody>
      </p:sp>
      <p:sp>
        <p:nvSpPr>
          <p:cNvPr id="980" name="Text 10"/>
          <p:cNvSpPr/>
          <p:nvPr/>
        </p:nvSpPr>
        <p:spPr>
          <a:xfrm>
            <a:off x="951120" y="1737360"/>
            <a:ext cx="10167840" cy="804240"/>
          </a:xfrm>
          <a:prstGeom prst="rect">
            <a:avLst/>
          </a:prstGeom>
          <a:noFill/>
          <a:ln w="0">
            <a:noFill/>
          </a:ln>
        </p:spPr>
        <p:style>
          <a:lnRef idx="0"/>
          <a:fillRef idx="0"/>
          <a:effectRef idx="0"/>
          <a:fontRef idx="minor"/>
        </p:style>
        <p:txBody>
          <a:bodyPr lIns="1080" rIns="1080" tIns="1080" bIns="1080" anchor="t">
            <a:normAutofit/>
          </a:bodyPr>
          <a:p>
            <a:pPr defTabSz="914400">
              <a:lnSpc>
                <a:spcPct val="100000"/>
              </a:lnSpc>
            </a:pPr>
            <a:r>
              <a:rPr b="0" lang="en-US" sz="1300" strike="noStrike" u="none">
                <a:solidFill>
                  <a:srgbClr val="f5f8fc"/>
                </a:solidFill>
                <a:effectLst/>
                <a:uFillTx/>
                <a:latin typeface="Aptos"/>
                <a:ea typeface="Aptos"/>
              </a:rPr>
              <a:t>Ruppur 222222(1).pptx, uploaded in this conversation. Content includes RNPP location, capacity, VVER‑1200 technology, safety, waste, biodiversity, thermal pollution and recommendations.</a:t>
            </a:r>
            <a:endParaRPr b="0" lang="en-US" sz="1300" strike="noStrike" u="none">
              <a:solidFill>
                <a:srgbClr val="ffffff"/>
              </a:solidFill>
              <a:effectLst/>
              <a:uFillTx/>
              <a:latin typeface="Arial"/>
            </a:endParaRPr>
          </a:p>
        </p:txBody>
      </p:sp>
      <p:sp>
        <p:nvSpPr>
          <p:cNvPr id="981" name="Shape 11"/>
          <p:cNvSpPr/>
          <p:nvPr/>
        </p:nvSpPr>
        <p:spPr>
          <a:xfrm>
            <a:off x="731520" y="2971800"/>
            <a:ext cx="10606680" cy="1371240"/>
          </a:xfrm>
          <a:prstGeom prst="roundRect">
            <a:avLst>
              <a:gd name="adj" fmla="val 8000"/>
            </a:avLst>
          </a:prstGeom>
          <a:solidFill>
            <a:srgbClr val="0e2d4f">
              <a:alpha val="93000"/>
            </a:srgbClr>
          </a:solidFill>
          <a:ln w="12700">
            <a:solidFill>
              <a:srgbClr val="f0be49">
                <a:alpha val="7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982" name="Text 12"/>
          <p:cNvSpPr/>
          <p:nvPr/>
        </p:nvSpPr>
        <p:spPr>
          <a:xfrm>
            <a:off x="896040" y="3090600"/>
            <a:ext cx="1027764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50d69b"/>
                </a:solidFill>
                <a:effectLst/>
                <a:uFillTx/>
                <a:latin typeface="Aptos"/>
              </a:rPr>
              <a:t>Requested paper</a:t>
            </a:r>
            <a:endParaRPr b="0" lang="en-US" sz="1600" strike="noStrike" u="none">
              <a:solidFill>
                <a:srgbClr val="ffffff"/>
              </a:solidFill>
              <a:effectLst/>
              <a:uFillTx/>
              <a:latin typeface="Arial"/>
            </a:endParaRPr>
          </a:p>
        </p:txBody>
      </p:sp>
      <p:sp>
        <p:nvSpPr>
          <p:cNvPr id="983" name="Text 13"/>
          <p:cNvSpPr/>
          <p:nvPr/>
        </p:nvSpPr>
        <p:spPr>
          <a:xfrm>
            <a:off x="951120" y="3474720"/>
            <a:ext cx="10167840" cy="804240"/>
          </a:xfrm>
          <a:prstGeom prst="rect">
            <a:avLst/>
          </a:prstGeom>
          <a:noFill/>
          <a:ln w="0">
            <a:noFill/>
          </a:ln>
        </p:spPr>
        <p:style>
          <a:lnRef idx="0"/>
          <a:fillRef idx="0"/>
          <a:effectRef idx="0"/>
          <a:fontRef idx="minor"/>
        </p:style>
        <p:txBody>
          <a:bodyPr lIns="1080" rIns="1080" tIns="1080" bIns="1080" anchor="t">
            <a:normAutofit/>
          </a:bodyPr>
          <a:p>
            <a:pPr defTabSz="914400">
              <a:lnSpc>
                <a:spcPct val="100000"/>
              </a:lnSpc>
            </a:pPr>
            <a:r>
              <a:rPr b="0" lang="en-US" sz="1300" strike="noStrike" u="none">
                <a:solidFill>
                  <a:srgbClr val="f5f8fc"/>
                </a:solidFill>
                <a:effectLst/>
                <a:uFillTx/>
                <a:latin typeface="Aptos"/>
                <a:ea typeface="Aptos"/>
              </a:rPr>
              <a:t>The requested paper title was: Environmental Impact of Nuclear Power Plant (Rooppur Nuclear Power Plant) on Third World Country like Bangladesh by Md. Nesar Ali et al. The searchable uploaded files did not contain the actual PDF paper.</a:t>
            </a:r>
            <a:endParaRPr b="0" lang="en-US" sz="1300" strike="noStrike" u="none">
              <a:solidFill>
                <a:srgbClr val="ffffff"/>
              </a:solidFill>
              <a:effectLst/>
              <a:uFillTx/>
              <a:latin typeface="Arial"/>
            </a:endParaRPr>
          </a:p>
        </p:txBody>
      </p:sp>
      <p:sp>
        <p:nvSpPr>
          <p:cNvPr id="984" name="Shape 14"/>
          <p:cNvSpPr/>
          <p:nvPr/>
        </p:nvSpPr>
        <p:spPr>
          <a:xfrm>
            <a:off x="731520" y="4709160"/>
            <a:ext cx="10606680" cy="1051200"/>
          </a:xfrm>
          <a:prstGeom prst="roundRect">
            <a:avLst>
              <a:gd name="adj" fmla="val 10435"/>
            </a:avLst>
          </a:prstGeom>
          <a:solidFill>
            <a:srgbClr val="0e2d4f">
              <a:alpha val="93000"/>
            </a:srgbClr>
          </a:solidFill>
          <a:ln w="12700">
            <a:solidFill>
              <a:srgbClr val="5bd2ff">
                <a:alpha val="7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985" name="Text 15"/>
          <p:cNvSpPr/>
          <p:nvPr/>
        </p:nvSpPr>
        <p:spPr>
          <a:xfrm>
            <a:off x="896040" y="4827960"/>
            <a:ext cx="1027764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50d69b"/>
                </a:solidFill>
                <a:effectLst/>
                <a:uFillTx/>
                <a:latin typeface="Aptos"/>
              </a:rPr>
              <a:t>Visual note</a:t>
            </a:r>
            <a:endParaRPr b="0" lang="en-US" sz="1600" strike="noStrike" u="none">
              <a:solidFill>
                <a:srgbClr val="ffffff"/>
              </a:solidFill>
              <a:effectLst/>
              <a:uFillTx/>
              <a:latin typeface="Arial"/>
            </a:endParaRPr>
          </a:p>
        </p:txBody>
      </p:sp>
      <p:sp>
        <p:nvSpPr>
          <p:cNvPr id="986" name="Text 16"/>
          <p:cNvSpPr/>
          <p:nvPr/>
        </p:nvSpPr>
        <p:spPr>
          <a:xfrm>
            <a:off x="951120" y="5212080"/>
            <a:ext cx="10167840" cy="484200"/>
          </a:xfrm>
          <a:prstGeom prst="rect">
            <a:avLst/>
          </a:prstGeom>
          <a:noFill/>
          <a:ln w="0">
            <a:noFill/>
          </a:ln>
        </p:spPr>
        <p:style>
          <a:lnRef idx="0"/>
          <a:fillRef idx="0"/>
          <a:effectRef idx="0"/>
          <a:fontRef idx="minor"/>
        </p:style>
        <p:txBody>
          <a:bodyPr lIns="1080" rIns="1080" tIns="1080" bIns="1080" anchor="t">
            <a:normAutofit/>
          </a:bodyPr>
          <a:p>
            <a:pPr defTabSz="914400">
              <a:lnSpc>
                <a:spcPct val="100000"/>
              </a:lnSpc>
            </a:pPr>
            <a:r>
              <a:rPr b="0" lang="en-US" sz="1300" strike="noStrike" u="none">
                <a:solidFill>
                  <a:srgbClr val="f5f8fc"/>
                </a:solidFill>
                <a:effectLst/>
                <a:uFillTx/>
                <a:latin typeface="Aptos"/>
                <a:ea typeface="Aptos"/>
              </a:rPr>
              <a:t>Maps, diagrams, risk matrices and flowcharts are presentation visuals created from the available RNPP source content and generic EIA structure.</a:t>
            </a:r>
            <a:endParaRPr b="0" lang="en-US" sz="1300" strike="noStrike" u="none">
              <a:solidFill>
                <a:srgbClr val="ffffff"/>
              </a:solidFill>
              <a:effectLst/>
              <a:uFillTx/>
              <a:latin typeface="Arial"/>
            </a:endParaRPr>
          </a:p>
        </p:txBody>
      </p:sp>
    </p:spTree>
  </p:cSld>
  <p:transition spd="med">
    <p:fade/>
  </p:transition>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6172f"/>
        </a:solidFill>
      </p:bgPr>
    </p:bg>
    <p:spTree>
      <p:nvGrpSpPr>
        <p:cNvPr id="1" name=""/>
        <p:cNvGrpSpPr/>
        <p:nvPr/>
      </p:nvGrpSpPr>
      <p:grpSpPr>
        <a:xfrm>
          <a:off x="0" y="0"/>
          <a:ext cx="0" cy="0"/>
          <a:chOff x="0" y="0"/>
          <a:chExt cx="0" cy="0"/>
        </a:xfrm>
      </p:grpSpPr>
      <p:sp>
        <p:nvSpPr>
          <p:cNvPr id="987" name="Shape 0"/>
          <p:cNvSpPr/>
          <p:nvPr/>
        </p:nvSpPr>
        <p:spPr>
          <a:xfrm>
            <a:off x="0" y="0"/>
            <a:ext cx="12191400" cy="6857640"/>
          </a:xfrm>
          <a:prstGeom prst="rect">
            <a:avLst/>
          </a:prstGeom>
          <a:solidFill>
            <a:srgbClr val="06172f"/>
          </a:solidFill>
          <a:ln w="12700">
            <a:solidFill>
              <a:srgbClr val="06172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988" name="Shape 1"/>
          <p:cNvSpPr/>
          <p:nvPr/>
        </p:nvSpPr>
        <p:spPr>
          <a:xfrm>
            <a:off x="7680960" y="-1005840"/>
            <a:ext cx="4388760" cy="2925720"/>
          </a:xfrm>
          <a:prstGeom prst="arc">
            <a:avLst>
              <a:gd name="adj1" fmla="val 16200000"/>
              <a:gd name="adj2" fmla="val 0"/>
            </a:avLst>
          </a:prstGeom>
          <a:solidFill>
            <a:srgbClr val="0e3a68">
              <a:alpha val="75000"/>
            </a:srgbClr>
          </a:solidFill>
          <a:ln w="12700">
            <a:solidFill>
              <a:srgbClr val="0e3a68">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989" name="Shape 2"/>
          <p:cNvSpPr/>
          <p:nvPr/>
        </p:nvSpPr>
        <p:spPr>
          <a:xfrm>
            <a:off x="8778240" y="-777240"/>
            <a:ext cx="3474360" cy="2285640"/>
          </a:xfrm>
          <a:prstGeom prst="arc">
            <a:avLst>
              <a:gd name="adj1" fmla="val 16200000"/>
              <a:gd name="adj2" fmla="val 0"/>
            </a:avLst>
          </a:prstGeom>
          <a:solidFill>
            <a:srgbClr val="0b4d5e">
              <a:alpha val="65000"/>
            </a:srgbClr>
          </a:solidFill>
          <a:ln w="12700">
            <a:solidFill>
              <a:srgbClr val="0b4d5e">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990" name="Shape 3"/>
          <p:cNvSpPr/>
          <p:nvPr/>
        </p:nvSpPr>
        <p:spPr>
          <a:xfrm>
            <a:off x="0" y="0"/>
            <a:ext cx="109440" cy="6857640"/>
          </a:xfrm>
          <a:prstGeom prst="rect">
            <a:avLst/>
          </a:prstGeom>
          <a:solidFill>
            <a:srgbClr val="00b078"/>
          </a:solidFill>
          <a:ln w="12700">
            <a:solidFill>
              <a:srgbClr val="00b078">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991" name="Shape 4"/>
          <p:cNvSpPr/>
          <p:nvPr/>
        </p:nvSpPr>
        <p:spPr>
          <a:xfrm>
            <a:off x="320040" y="6565320"/>
            <a:ext cx="11521080" cy="16200"/>
          </a:xfrm>
          <a:prstGeom prst="rect">
            <a:avLst/>
          </a:prstGeom>
          <a:solidFill>
            <a:srgbClr val="435d78"/>
          </a:solidFill>
          <a:ln w="12700">
            <a:solidFill>
              <a:srgbClr val="435d78">
                <a:alpha val="0"/>
              </a:srgbClr>
            </a:solidFill>
            <a:round/>
          </a:ln>
        </p:spPr>
        <p:style>
          <a:lnRef idx="0"/>
          <a:fillRef idx="0"/>
          <a:effectRef idx="0"/>
          <a:fontRef idx="minor"/>
        </p:style>
        <p:txBody>
          <a:bodyPr lIns="90000" rIns="90000" tIns="-28440" bIns="-28440" anchor="t">
            <a:noAutofit/>
          </a:bodyPr>
          <a:p>
            <a:endParaRPr b="0" lang="en-US" sz="1800" strike="noStrike" u="none">
              <a:solidFill>
                <a:srgbClr val="ffffff"/>
              </a:solidFill>
              <a:effectLst/>
              <a:uFillTx/>
              <a:latin typeface="Arial"/>
            </a:endParaRPr>
          </a:p>
        </p:txBody>
      </p:sp>
      <p:sp>
        <p:nvSpPr>
          <p:cNvPr id="992" name="Text 5"/>
          <p:cNvSpPr/>
          <p:nvPr/>
        </p:nvSpPr>
        <p:spPr>
          <a:xfrm>
            <a:off x="11356920" y="6602040"/>
            <a:ext cx="502560" cy="13680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50" strike="noStrike" u="none">
                <a:solidFill>
                  <a:srgbClr val="b0c1d5"/>
                </a:solidFill>
                <a:effectLst/>
                <a:uFillTx/>
                <a:latin typeface="Aptos"/>
                <a:ea typeface="Aptos"/>
              </a:rPr>
              <a:t>35</a:t>
            </a:r>
            <a:endParaRPr b="0" lang="en-US" sz="950" strike="noStrike" u="none">
              <a:solidFill>
                <a:srgbClr val="ffffff"/>
              </a:solidFill>
              <a:effectLst/>
              <a:uFillTx/>
              <a:latin typeface="Arial"/>
            </a:endParaRPr>
          </a:p>
        </p:txBody>
      </p:sp>
      <p:sp>
        <p:nvSpPr>
          <p:cNvPr id="993" name="Text 6"/>
          <p:cNvSpPr/>
          <p:nvPr/>
        </p:nvSpPr>
        <p:spPr>
          <a:xfrm>
            <a:off x="475560" y="228600"/>
            <a:ext cx="10972440" cy="383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500" strike="noStrike" u="none">
                <a:solidFill>
                  <a:srgbClr val="f5f8fc"/>
                </a:solidFill>
                <a:effectLst/>
                <a:uFillTx/>
                <a:latin typeface="Aptos Display"/>
                <a:ea typeface="Aptos Display"/>
              </a:rPr>
              <a:t>Thank You</a:t>
            </a:r>
            <a:endParaRPr b="0" lang="en-US" sz="2500" strike="noStrike" u="none">
              <a:solidFill>
                <a:srgbClr val="ffffff"/>
              </a:solidFill>
              <a:effectLst/>
              <a:uFillTx/>
              <a:latin typeface="Arial"/>
            </a:endParaRPr>
          </a:p>
        </p:txBody>
      </p:sp>
      <p:sp>
        <p:nvSpPr>
          <p:cNvPr id="994" name="Text 7"/>
          <p:cNvSpPr/>
          <p:nvPr/>
        </p:nvSpPr>
        <p:spPr>
          <a:xfrm>
            <a:off x="502920" y="704160"/>
            <a:ext cx="10835280" cy="255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50" strike="noStrike" u="none">
                <a:solidFill>
                  <a:srgbClr val="b0c1d5"/>
                </a:solidFill>
                <a:effectLst/>
                <a:uFillTx/>
                <a:latin typeface="Aptos"/>
              </a:rPr>
              <a:t>Questions and Discussion</a:t>
            </a:r>
            <a:endParaRPr b="0" lang="en-US" sz="1250" strike="noStrike" u="none">
              <a:solidFill>
                <a:srgbClr val="ffffff"/>
              </a:solidFill>
              <a:effectLst/>
              <a:uFillTx/>
              <a:latin typeface="Arial"/>
            </a:endParaRPr>
          </a:p>
        </p:txBody>
      </p:sp>
      <p:pic>
        <p:nvPicPr>
          <p:cNvPr id="995" name="Image 0" descr="/mnt/data/wide_panoramic_landscape_scene_of_a_modern_industr.png"/>
          <p:cNvPicPr/>
          <p:nvPr/>
        </p:nvPicPr>
        <p:blipFill>
          <a:blip r:embed="rId1"/>
          <a:srcRect l="0" t="10684" r="0" b="10684"/>
          <a:stretch/>
        </p:blipFill>
        <p:spPr>
          <a:xfrm>
            <a:off x="0" y="1051560"/>
            <a:ext cx="12191400" cy="5394600"/>
          </a:xfrm>
          <a:prstGeom prst="rect">
            <a:avLst/>
          </a:prstGeom>
          <a:noFill/>
          <a:ln w="0">
            <a:noFill/>
          </a:ln>
        </p:spPr>
      </p:pic>
      <p:sp>
        <p:nvSpPr>
          <p:cNvPr id="996" name="Shape 8"/>
          <p:cNvSpPr/>
          <p:nvPr/>
        </p:nvSpPr>
        <p:spPr>
          <a:xfrm>
            <a:off x="0" y="1051560"/>
            <a:ext cx="12191400" cy="5394600"/>
          </a:xfrm>
          <a:prstGeom prst="rect">
            <a:avLst/>
          </a:prstGeom>
          <a:solidFill>
            <a:srgbClr val="06172f">
              <a:alpha val="58000"/>
            </a:srgbClr>
          </a:solidFill>
          <a:ln w="12700">
            <a:solidFill>
              <a:srgbClr val="06172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997" name="Text 9"/>
          <p:cNvSpPr/>
          <p:nvPr/>
        </p:nvSpPr>
        <p:spPr>
          <a:xfrm>
            <a:off x="914400" y="2514600"/>
            <a:ext cx="10240920" cy="6397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3400" strike="noStrike" u="none">
                <a:solidFill>
                  <a:srgbClr val="f5f8fc"/>
                </a:solidFill>
                <a:effectLst/>
                <a:uFillTx/>
                <a:latin typeface="Aptos"/>
              </a:rPr>
              <a:t>Thank You</a:t>
            </a:r>
            <a:endParaRPr b="0" lang="en-US" sz="3400" strike="noStrike" u="none">
              <a:solidFill>
                <a:srgbClr val="ffffff"/>
              </a:solidFill>
              <a:effectLst/>
              <a:uFillTx/>
              <a:latin typeface="Arial"/>
            </a:endParaRPr>
          </a:p>
        </p:txBody>
      </p:sp>
      <p:sp>
        <p:nvSpPr>
          <p:cNvPr id="998" name="Text 10"/>
          <p:cNvSpPr/>
          <p:nvPr/>
        </p:nvSpPr>
        <p:spPr>
          <a:xfrm>
            <a:off x="1828800" y="3246120"/>
            <a:ext cx="850356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500" strike="noStrike" u="none">
                <a:solidFill>
                  <a:srgbClr val="50d69b"/>
                </a:solidFill>
                <a:effectLst/>
                <a:uFillTx/>
                <a:latin typeface="Aptos"/>
              </a:rPr>
              <a:t>Environmental Impact Assessment of Rooppur Nuclear Power Plant</a:t>
            </a:r>
            <a:endParaRPr b="0" lang="en-US" sz="1500" strike="noStrike" u="none">
              <a:solidFill>
                <a:srgbClr val="ffffff"/>
              </a:solidFill>
              <a:effectLst/>
              <a:uFillTx/>
              <a:latin typeface="Arial"/>
            </a:endParaRPr>
          </a:p>
        </p:txBody>
      </p:sp>
    </p:spTree>
  </p:cSld>
  <p:transition spd="med">
    <p:fade/>
  </p:transition>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pitchFamily="0" charset="1"/>
        <a:ea typeface=""/>
        <a:cs typeface=""/>
      </a:majorFont>
      <a:minorFont>
        <a:latin typeface="Apto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LibreOffice/25.2.3.2$Linux_X86_64 LibreOffice_project/520$Build-2</Application>
  <AppVersion>15.0000</AppVersion>
  <Words>0</Words>
  <Paragraphs>0</Paragraphs>
  <Company>OpenAI</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2026-07-26T14:41:11Z</dcterms:created>
  <dc:creator>OpenAI</dc:creator>
  <dc:description/>
  <dc:language>en-US</dc:language>
  <cp:lastModifiedBy>OpenAI</cp:lastModifiedBy>
  <dcterms:modified xsi:type="dcterms:W3CDTF">2026-07-26T14:41:11Z</dcterms:modified>
  <cp:revision>1</cp:revision>
  <dc:subject>Environmental Impact Assessment of Rooppur Nuclear Power Plant</dc:subject>
  <dc:title>Environmental Impact Assessment (EIA) of Rooppur Nuclear Power Plant (RNPP), Bangladesh</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35</vt:r8>
  </property>
  <property fmtid="{D5CDD505-2E9C-101B-9397-08002B2CF9AE}" pid="3" name="PresentationFormat">
    <vt:lpwstr>On-screen Show (16:9)</vt:lpwstr>
  </property>
  <property fmtid="{D5CDD505-2E9C-101B-9397-08002B2CF9AE}" pid="4" name="Slides">
    <vt:r8>35</vt:r8>
  </property>
</Properties>
</file>