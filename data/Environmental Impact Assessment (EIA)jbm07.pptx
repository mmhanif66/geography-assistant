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4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F26C-85BB-37EC-E760-B5393E70A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1" y="1967751"/>
            <a:ext cx="8689976" cy="84268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WELCOME TO OUR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DE670-FAEF-3986-D645-3CCE48BB9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8340" y="3823448"/>
            <a:ext cx="4515317" cy="726142"/>
          </a:xfrm>
        </p:spPr>
        <p:txBody>
          <a:bodyPr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AABED7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Roll No.  2110656107</a:t>
            </a:r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D549BD7-8BA8-32DC-8A6D-D49B319E3249}"/>
              </a:ext>
            </a:extLst>
          </p:cNvPr>
          <p:cNvSpPr txBox="1">
            <a:spLocks/>
          </p:cNvSpPr>
          <p:nvPr/>
        </p:nvSpPr>
        <p:spPr>
          <a:xfrm>
            <a:off x="3838340" y="3191436"/>
            <a:ext cx="4515317" cy="632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00000"/>
              </a:lnSpc>
              <a:spcBef>
                <a:spcPts val="0"/>
              </a:spcBef>
              <a:buClrTx/>
              <a:buFontTx/>
              <a:buNone/>
              <a:defRPr/>
            </a:pPr>
            <a:r>
              <a:rPr lang="en-US" sz="2800" b="1" cap="none" dirty="0">
                <a:solidFill>
                  <a:srgbClr val="AABED7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Sohag Hasan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95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4922B-75D0-9035-FA42-B0CC3F28C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70" y="1725709"/>
            <a:ext cx="8770660" cy="90095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 assessment of </a:t>
            </a:r>
            <a:r>
              <a:rPr lang="en-US" sz="2400" b="1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teesta</a:t>
            </a:r>
            <a:r>
              <a:rPr lang="en-US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barrage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B12BE-E444-4C3F-2AEA-D5C369F4C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3" y="3429000"/>
            <a:ext cx="8689976" cy="1963268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Type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Mega Infrastructure &amp; River Management Project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Partnership: 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 of the People’s Republic of Bangladesh &amp; Government of the People’s Republic of China (</a:t>
            </a:r>
            <a:r>
              <a:rPr lang="en-US" sz="18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PowerChina</a:t>
            </a:r>
            <a:r>
              <a:rPr lang="en-US" sz="18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4740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DCD24-47CB-6347-8F48-F8A602AD0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492" y="493058"/>
            <a:ext cx="6320744" cy="564824"/>
          </a:xfrm>
        </p:spPr>
        <p:txBody>
          <a:bodyPr>
            <a:noAutofit/>
          </a:bodyPr>
          <a:lstStyle/>
          <a:p>
            <a:r>
              <a:rPr lang="en-US" sz="2400" b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Project Location and Spatial Boundaries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138F6-2757-2914-E43B-D8C5141553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174376"/>
            <a:ext cx="6831732" cy="519056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1800" cap="none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Geographical Coverage: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110–113 km stretch of the Teesta River within Bangladesh. </a:t>
            </a:r>
          </a:p>
          <a:p>
            <a:pPr marL="0" indent="0" algn="just">
              <a:buNone/>
            </a:pPr>
            <a:r>
              <a:rPr lang="en-US" sz="18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Spatial Limits (Area of Influence): </a:t>
            </a:r>
          </a:p>
          <a:p>
            <a:pPr marL="0" indent="0" algn="just">
              <a:buNone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 Starting Point: Dalia Teesta Barrage (Border of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Nilphamari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Lalmonirhat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districts). </a:t>
            </a:r>
          </a:p>
          <a:p>
            <a:pPr marL="0" indent="0" algn="just">
              <a:buNone/>
            </a:pPr>
            <a:r>
              <a:rPr lang="en-US" sz="1800" cap="none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○  End Point: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Confluence of the Teesta River with the Brahmaputra River at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Chilmari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Kurigram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Sundarganj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(Gaibandha). </a:t>
            </a:r>
          </a:p>
          <a:p>
            <a:pPr marL="0" indent="0" algn="just">
              <a:buNone/>
            </a:pPr>
            <a:r>
              <a:rPr lang="en-US" sz="1800" cap="none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Affected Districts and Upazilas:</a:t>
            </a:r>
          </a:p>
          <a:p>
            <a:pPr marL="0" indent="0" algn="just">
              <a:buNone/>
            </a:pPr>
            <a:r>
              <a:rPr lang="en-US" sz="1800" cap="none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○  </a:t>
            </a:r>
            <a:r>
              <a:rPr lang="en-US" sz="1800" cap="none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Nilphamari</a:t>
            </a:r>
            <a:r>
              <a:rPr lang="en-US" sz="1800" cap="none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Dimla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Jaldhaka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sz="1800" cap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○  </a:t>
            </a:r>
            <a:r>
              <a:rPr lang="en-US" sz="1800" cap="none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Lalmonirhat</a:t>
            </a:r>
            <a:r>
              <a:rPr lang="en-US" sz="1800" cap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Hatibandha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Kaliganj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Aditmari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Lalmonirhat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Sadar. </a:t>
            </a:r>
          </a:p>
          <a:p>
            <a:pPr marL="0" indent="0" algn="just">
              <a:buNone/>
            </a:pPr>
            <a:r>
              <a:rPr lang="en-US" sz="1800" cap="none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○  Rangpur: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Gangachara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Kaunia,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Pirgachha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sz="1800" cap="none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○  </a:t>
            </a:r>
            <a:r>
              <a:rPr lang="en-US" sz="1800" cap="none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Kurigram</a:t>
            </a:r>
            <a:r>
              <a:rPr lang="en-US" sz="1800" cap="none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Rajarhat,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Ulipur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Chilmari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sz="1800" cap="none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○  Gaibandha: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Sundarganj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B1F54-DB1A-CF99-8E1C-D5C3547D0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483" y="1084729"/>
            <a:ext cx="3890962" cy="528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160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EB876-3C54-4FCE-2558-D619D5BC5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164" y="614083"/>
            <a:ext cx="7199283" cy="618564"/>
          </a:xfrm>
        </p:spPr>
        <p:txBody>
          <a:bodyPr>
            <a:normAutofit/>
          </a:bodyPr>
          <a:lstStyle/>
          <a:p>
            <a:r>
              <a:rPr lang="en-US" sz="2400" b="1" cap="none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Cost, Financing, and Socio-Economic Benefits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51DA6-FC84-6BC7-AE0B-7C221A89246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164" y="1434352"/>
            <a:ext cx="7710274" cy="520849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1800" b="1" cap="none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Estimated Cost &amp; Funding:</a:t>
            </a:r>
            <a:r>
              <a:rPr lang="en-US" sz="1800" cap="none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at USD 1.0 Billion (approx. BDT 11,000–12,000 Crore). Proposed to be funded under a G2G Concessional Soft Loan framework within China's Belt and Road Initiative (BRI), implemented by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PowerChina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Key Socio-Economic Benefits: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Flood &amp; Erosion Mitigation: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thousands of hectares of arable land and settlements across 5 northern districts from annual erosion.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Dry-Season Irrigation Security: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stored in off-stream reservoirs will ensure irrigation supply during dry periods.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Land Reclamation (170+ sq. km):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Channelizing the river creates ~40,000 acres of reclaimed land for economic zones, solar parks, and eco-tourism.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Regional Navigation &amp; Employment: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Year-round inland navigation for light vessels and long-term employment through industrialization and modernized agriculture.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E80F5-8437-9156-330A-507EBC459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049" y="1319439"/>
            <a:ext cx="3388658" cy="532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194C5-E06E-9CA9-79CA-3E17DE57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869" y="340612"/>
            <a:ext cx="5944225" cy="618612"/>
          </a:xfrm>
        </p:spPr>
        <p:txBody>
          <a:bodyPr>
            <a:normAutofit/>
          </a:bodyPr>
          <a:lstStyle/>
          <a:p>
            <a:r>
              <a:rPr lang="en-US" sz="2400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Environmental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8320C-7638-996B-BD21-CA3615F28D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1703" y="1380566"/>
            <a:ext cx="6284885" cy="455407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b="1" cap="none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Hydro-Morphology: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seasonal variation with monsoon discharges exceeding 280,000 cusecs and dry-season flows dropping below 1,000 cusecs. The river carries an annual sediment load of 30–40 million tons.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Aquatic Ecosystem: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to over 140 indigenous fish species, including endangered species (e.g., Mahseer,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Bagarius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aquatic mammals such as the Gangetic Dolphin (Platanista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gangetica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Char Ecology: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 riverine islands (chars) support seasonal ecosystems, migratory birds, and marginalized char-dwelling agricultural communities.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008B19-7D2D-141E-D0B9-24B799001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635" y="1237130"/>
            <a:ext cx="4337871" cy="510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46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A834-FEB6-DF9A-E7D2-AAA16775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6984131" cy="645507"/>
          </a:xfrm>
        </p:spPr>
        <p:txBody>
          <a:bodyPr>
            <a:normAutofit/>
          </a:bodyPr>
          <a:lstStyle/>
          <a:p>
            <a:r>
              <a:rPr lang="en-US" sz="2400" b="1" cap="none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Stage-Wise Potential Environmental Impacts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B6D72-94AB-948C-4FFA-93B230AFF9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8622" y="1452280"/>
            <a:ext cx="6760014" cy="4545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Construction Phase Impacts </a:t>
            </a:r>
          </a:p>
          <a:p>
            <a:pPr marL="0" indent="0" algn="just">
              <a:buNone/>
            </a:pPr>
            <a:r>
              <a:rPr lang="en-US" sz="1800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1.Capital Dredging &amp; Turbidity: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Extensive dredging over 110 km will temporarily spike Total Suspended      Solids (TSS) and turbidity, disrupting photosynthesis, benthic organisms, and fish feeding grounds. </a:t>
            </a:r>
          </a:p>
          <a:p>
            <a:pPr marL="0" indent="0" algn="just">
              <a:buNone/>
            </a:pPr>
            <a:r>
              <a:rPr lang="en-US" sz="1800" cap="none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Morphological Shift (Braided to Channelized):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Restricting a multi-channel braided river into a single ~1 km wide channel will increase flow velocity by 1.5–2 times, increasing the risk of toe scour along embankment revetments. </a:t>
            </a:r>
          </a:p>
          <a:p>
            <a:pPr marL="0" indent="0" algn="just">
              <a:buNone/>
            </a:pPr>
            <a:r>
              <a:rPr lang="en-US" sz="1800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Air &amp; Noise Pollution: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of heavy dredgers, piling equipment, and material transport will cause localized noise and emissions.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BC6880-F5E4-B44A-AB55-6EB04443E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790" y="1452280"/>
            <a:ext cx="4222376" cy="454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532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416F-1967-7F3D-DCFA-D7C8C8244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448189"/>
            <a:ext cx="5433238" cy="896518"/>
          </a:xfrm>
        </p:spPr>
        <p:txBody>
          <a:bodyPr>
            <a:normAutofit/>
          </a:bodyPr>
          <a:lstStyle/>
          <a:p>
            <a:r>
              <a:rPr lang="en-US" sz="2400" b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Operation Phase Impacts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18DA8-A4F3-9D57-B55A-B5CAC2920C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7586" y="1506071"/>
            <a:ext cx="6284886" cy="428512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b="1" cap="none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1.Rapid Siltation Risk: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sediment coming from upstream Himalayas could rapidly silt up the narrow channel, necessitating continuous, costly maintenance dredging.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Groundwater Depletion: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Industrialization on reclaimed land may lead to over-abstraction of groundwater, lowering water tables in surrounding agricultural areas.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Char Ecosystem Loss: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channelization will eliminate natural char dynamics, disturbing the riverine food web.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90181D-22A6-1D7C-593D-00C6FEC16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482" y="1506071"/>
            <a:ext cx="4796119" cy="467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89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BC2F-7584-A28F-AB5D-381E10DC7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537836"/>
            <a:ext cx="10364451" cy="591718"/>
          </a:xfrm>
        </p:spPr>
        <p:txBody>
          <a:bodyPr>
            <a:normAutofit/>
          </a:bodyPr>
          <a:lstStyle/>
          <a:p>
            <a:r>
              <a:rPr lang="fr-FR" sz="2400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fr-FR" sz="2400" b="1" cap="none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</a:t>
            </a:r>
            <a:r>
              <a:rPr lang="fr-FR" sz="2400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Impact </a:t>
            </a:r>
            <a:r>
              <a:rPr lang="fr-FR" sz="2400" b="1" cap="none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  <a:r>
              <a:rPr lang="fr-FR" sz="2400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(EIA) Matrix </a:t>
            </a:r>
            <a:endParaRPr lang="en-US" sz="2400" b="1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4FB7CD-F6D8-34DF-C3EE-A16AE499A03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75116403"/>
              </p:ext>
            </p:extLst>
          </p:nvPr>
        </p:nvGraphicFramePr>
        <p:xfrm>
          <a:off x="914400" y="1407459"/>
          <a:ext cx="10363200" cy="48050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2640">
                  <a:extLst>
                    <a:ext uri="{9D8B030D-6E8A-4147-A177-3AD203B41FA5}">
                      <a16:colId xmlns:a16="http://schemas.microsoft.com/office/drawing/2014/main" val="861151443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3292299104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3547835198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4059812274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808752414"/>
                    </a:ext>
                  </a:extLst>
                </a:gridCol>
              </a:tblGrid>
              <a:tr h="8008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Environmental Parameter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Impact Type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Severity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Duration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Spatial Extent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75801115"/>
                  </a:ext>
                </a:extLst>
              </a:tr>
              <a:tr h="8008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Water Quality &amp; Turbidity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Direct Negative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Moderate to High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Short-term (Construction)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Local &amp; Downstream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85777985"/>
                  </a:ext>
                </a:extLst>
              </a:tr>
              <a:tr h="8008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Fish Spawning &amp; Habitats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Direct Negative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High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Long-term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River-wide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08363399"/>
                  </a:ext>
                </a:extLst>
              </a:tr>
              <a:tr h="8008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Hydro-Morphology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Indirect Negative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High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Permanent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Dalia to Chilmari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97864714"/>
                  </a:ext>
                </a:extLst>
              </a:tr>
              <a:tr h="8008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Agricultural Protection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Direct Positive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Very High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Long-term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5 Northern Districts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399299355"/>
                  </a:ext>
                </a:extLst>
              </a:tr>
              <a:tr h="8008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Char Island Ecosystem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Direct Negative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High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Permanent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Project Area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56743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2000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79921-BF6C-A263-05F9-5925BDB6B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793" y="412377"/>
            <a:ext cx="9198414" cy="672400"/>
          </a:xfrm>
        </p:spPr>
        <p:txBody>
          <a:bodyPr>
            <a:noAutofit/>
          </a:bodyPr>
          <a:lstStyle/>
          <a:p>
            <a:pPr algn="just"/>
            <a:r>
              <a:rPr lang="en-US" sz="2400" b="1" cap="none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Environmental Management Plan (EMP) &amp; Mitigation Measures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F43E4-AF32-5F19-F378-D6CD6A79AD0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4480" y="1255058"/>
            <a:ext cx="7226179" cy="540571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 Pre-Construction Phase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Advanced Modeling: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comprehensive 2D and 3D numerical hydro-morphological modeling (by BUET or IWM) to simulate flow velocity, scour depth, and sediment transport.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Seasonal Baselines: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seasonal baseline data for surface water quality, heavy metal content, and aquatic diversity.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Construction Phase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Turbidity Control (Silt Curtains):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silt curtains around dredging zones to prevent sediment plumes from spreading downstream.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Seasonal Suspension: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Halt major dredging activities during peak fish breeding months (April to August).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Bio-Engineering: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bio-engineering techniques (e.g., Vetiver grass planting) along embankments alongside hard revetments (CC blocks/riprap). 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D8F068-0899-F4CF-3341-49908CA12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376" y="1255058"/>
            <a:ext cx="3989295" cy="540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990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51C23-7872-8971-C44C-0C96ABA062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048870"/>
            <a:ext cx="6311779" cy="474232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b="1" cap="none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Sediment Management: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dredged sand/soil for filling reclaimed land only after verifying non-toxicity. </a:t>
            </a:r>
          </a:p>
          <a:p>
            <a:pPr marL="0" indent="0" algn="just">
              <a:buNone/>
            </a:pPr>
            <a:r>
              <a:rPr lang="en-US" sz="1800" cap="none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Operational Phase </a:t>
            </a:r>
          </a:p>
          <a:p>
            <a:pPr marL="0" indent="0" algn="just">
              <a:buNone/>
            </a:pPr>
            <a:r>
              <a:rPr lang="en-US" sz="1800" b="1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Fish Passages &amp; Sanctuaries: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fish passes or designated sanctuaries around key hydraulic structures to allow migratory fish movement.</a:t>
            </a:r>
          </a:p>
          <a:p>
            <a:pPr marL="0" indent="0" algn="just">
              <a:buNone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cap="none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Mandatory Industrial ETPs: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Mandate Central Effluent Treatment Plants (CETP) for any industrial zones established on reclaimed land.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D11B5-58CA-86E3-0B94-8165683C3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706" y="923365"/>
            <a:ext cx="4536142" cy="512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4974-3B8D-D0BB-BC4E-73185A91D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636542"/>
          </a:xfrm>
        </p:spPr>
        <p:txBody>
          <a:bodyPr>
            <a:normAutofit/>
          </a:bodyPr>
          <a:lstStyle/>
          <a:p>
            <a:r>
              <a:rPr lang="en-US" sz="2400" b="1" cap="none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Environmental Monitoring Framework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45458D-3596-54E6-616D-6956558A87E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22282311"/>
              </p:ext>
            </p:extLst>
          </p:nvPr>
        </p:nvGraphicFramePr>
        <p:xfrm>
          <a:off x="1058069" y="1559859"/>
          <a:ext cx="10363200" cy="46349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396462062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44831161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29786707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158161717"/>
                    </a:ext>
                  </a:extLst>
                </a:gridCol>
              </a:tblGrid>
              <a:tr h="7314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Parameter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Key Performance Indicator (KPI)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Frequency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Responsible Agency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5427121"/>
                  </a:ext>
                </a:extLst>
              </a:tr>
              <a:tr h="7314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Water Quality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pH, DO, BOD, Turbidity, Heavy Metals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Monthly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DoE &amp; IWM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88457369"/>
                  </a:ext>
                </a:extLst>
              </a:tr>
              <a:tr h="11708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Fisheries &amp; Ecology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Species richness, Gangetic Dolphin sightings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Bi-annually (Pre/Post Monsoon)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Dept. of Fisheries / BFRI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20775539"/>
                  </a:ext>
                </a:extLst>
              </a:tr>
              <a:tr h="11708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Erosion &amp; Siltation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Bed level profiles, revetment scour depth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Post-Monsoon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BWDB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5115497"/>
                  </a:ext>
                </a:extLst>
              </a:tr>
              <a:tr h="7314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Socio-Economic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Compensation &amp; Resettlement status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Bi-annually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Independent 3rd Party NGO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70792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4885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5625-30D9-30E5-AF1C-9F07C696B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92" y="950211"/>
            <a:ext cx="10364451" cy="851695"/>
          </a:xfrm>
        </p:spPr>
        <p:txBody>
          <a:bodyPr>
            <a:normAutofit/>
          </a:bodyPr>
          <a:lstStyle/>
          <a:p>
            <a:r>
              <a:rPr lang="en-US" sz="2400" b="1" cap="none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Conclusion and Policy 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5B474-0C56-1C8E-5FF1-7F0503BED2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232212"/>
            <a:ext cx="9852838" cy="355898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Teesta River Comprehensive Restoration Project offers major flood control and economic opportunities for northern Bangladesh, its long-term viability depends on balancing hard engineering solutions with </a:t>
            </a:r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Nature-based Solutions (</a:t>
            </a:r>
            <a:r>
              <a:rPr lang="en-US" sz="18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NbS</a:t>
            </a:r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Furthermore, establishing a transparent Resettlement Action Plan (RAP) for char communities and addressing basin-wide transboundary water flows are critical to ensuring environmental and social sustainability. </a:t>
            </a:r>
          </a:p>
        </p:txBody>
      </p:sp>
    </p:spTree>
    <p:extLst>
      <p:ext uri="{BB962C8B-B14F-4D97-AF65-F5344CB8AC3E}">
        <p14:creationId xmlns:p14="http://schemas.microsoft.com/office/powerpoint/2010/main" val="20445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EEE46-4246-62D7-CED0-2EAEC19D0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575" y="788894"/>
            <a:ext cx="3612777" cy="905435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C194FDA-D3D6-A663-C6ED-92FB97148AF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56401" y="1897350"/>
            <a:ext cx="1033576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BWDB &amp;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PowerChina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(2019).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Feasibility Study Report on Teesta River Comprehensive Restoration Project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Bangladesh Water Development Board, Ministry of Water Resources, Dhaka.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 of Environment (DoE).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(1997/2021).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EIA Guidelines for Water Sector Projects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Ministry of Environment, Forest and Climate Change, Government of Bangladesh.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IUCN Bangladesh.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(2015).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List of Bangladesh (Vol. 4: Freshwater Fishes)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International Union for Conservation of Nature, Dhaka, Bangladesh.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Khalequzzaman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(2020).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Teesta River Comprehensive Management and Restoration Project: A Preliminary Assessment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4th International Conference on Bangladesh Environment (ICBEN-4), Dhaka.</a:t>
            </a:r>
          </a:p>
        </p:txBody>
      </p:sp>
    </p:spTree>
    <p:extLst>
      <p:ext uri="{BB962C8B-B14F-4D97-AF65-F5344CB8AC3E}">
        <p14:creationId xmlns:p14="http://schemas.microsoft.com/office/powerpoint/2010/main" val="2146243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8C2FE-A5A3-79A0-5B29-4FF1ABC628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48117" y="1120588"/>
            <a:ext cx="9170894" cy="4616823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marL="0" indent="0" algn="ctr">
              <a:buNone/>
            </a:pPr>
            <a:r>
              <a:rPr lang="en-US" sz="2400" b="1" cap="none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66429539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{498109DE-6C1D-48FE-908B-F9F9BA7CF052}TF62d0d592-7ac2-4846-a919-75806e8bead47c13978d-7a72a11451b2</Template>
  <TotalTime>172</TotalTime>
  <Words>1135</Words>
  <Application>Microsoft Office PowerPoint</Application>
  <PresentationFormat>Widescreen</PresentationFormat>
  <Paragraphs>117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Tw Cen MT</vt:lpstr>
      <vt:lpstr>Droplet</vt:lpstr>
      <vt:lpstr>WELCOME TO OUR PRESENTATION</vt:lpstr>
      <vt:lpstr>Environmental impact assessment of teesta barrage project</vt:lpstr>
      <vt:lpstr>1. Project Location and Spatial Boundaries </vt:lpstr>
      <vt:lpstr>2. Cost, Financing, and Socio-Economic Benefits </vt:lpstr>
      <vt:lpstr>3. Environmental Baseline</vt:lpstr>
      <vt:lpstr>4. Stage-Wise Potential Environmental Impacts </vt:lpstr>
      <vt:lpstr>4.2 Operation Phase Impacts</vt:lpstr>
      <vt:lpstr>5. Environmental Impact Assessment (EIA) Matrix </vt:lpstr>
      <vt:lpstr>6. Environmental Management Plan (EMP) &amp; Mitigation Measures </vt:lpstr>
      <vt:lpstr>PowerPoint Presentation</vt:lpstr>
      <vt:lpstr>7. Environmental Monitoring Framework </vt:lpstr>
      <vt:lpstr>8. Conclusion and Policy Recommendations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11</cp:revision>
  <dcterms:created xsi:type="dcterms:W3CDTF">2026-08-01T07:25:05Z</dcterms:created>
  <dcterms:modified xsi:type="dcterms:W3CDTF">2026-08-04T03:13:11Z</dcterms:modified>
</cp:coreProperties>
</file>