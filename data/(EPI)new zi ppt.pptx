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7" r:id="rId4"/>
    <p:sldId id="261" r:id="rId5"/>
    <p:sldId id="257" r:id="rId6"/>
    <p:sldId id="259" r:id="rId7"/>
    <p:sldId id="258" r:id="rId8"/>
    <p:sldId id="262" r:id="rId9"/>
    <p:sldId id="263" r:id="rId10"/>
    <p:sldId id="346" r:id="rId11"/>
    <p:sldId id="266" r:id="rId12"/>
    <p:sldId id="265" r:id="rId13"/>
    <p:sldId id="264"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78" d="100"/>
          <a:sy n="78" d="100"/>
        </p:scale>
        <p:origin x="5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B29A7-B407-4A85-993F-D474C08703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5FA4D0-3114-4892-A49B-FD2B73BAA8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C72436-AC0B-425B-AA07-44E9DFF6E034}"/>
              </a:ext>
            </a:extLst>
          </p:cNvPr>
          <p:cNvSpPr>
            <a:spLocks noGrp="1"/>
          </p:cNvSpPr>
          <p:nvPr>
            <p:ph type="dt" sz="half" idx="10"/>
          </p:nvPr>
        </p:nvSpPr>
        <p:spPr/>
        <p:txBody>
          <a:bodyPr/>
          <a:lstStyle/>
          <a:p>
            <a:fld id="{CAD5DEDF-8486-4493-BB48-0017EF283EC4}" type="datetimeFigureOut">
              <a:rPr lang="en-US" smtClean="0"/>
              <a:t>08-Oct-25</a:t>
            </a:fld>
            <a:endParaRPr lang="en-US"/>
          </a:p>
        </p:txBody>
      </p:sp>
      <p:sp>
        <p:nvSpPr>
          <p:cNvPr id="5" name="Footer Placeholder 4">
            <a:extLst>
              <a:ext uri="{FF2B5EF4-FFF2-40B4-BE49-F238E27FC236}">
                <a16:creationId xmlns:a16="http://schemas.microsoft.com/office/drawing/2014/main" id="{4DC144E5-A243-4CCD-9C32-9E492EBB7E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02F4F3-094B-4535-B67B-9F3A3FE1CC4B}"/>
              </a:ext>
            </a:extLst>
          </p:cNvPr>
          <p:cNvSpPr>
            <a:spLocks noGrp="1"/>
          </p:cNvSpPr>
          <p:nvPr>
            <p:ph type="sldNum" sz="quarter" idx="12"/>
          </p:nvPr>
        </p:nvSpPr>
        <p:spPr/>
        <p:txBody>
          <a:bodyPr/>
          <a:lstStyle/>
          <a:p>
            <a:fld id="{E99B69FA-F9AA-4EB7-B0D2-927BB4CFF564}" type="slidenum">
              <a:rPr lang="en-US" smtClean="0"/>
              <a:t>‹#›</a:t>
            </a:fld>
            <a:endParaRPr lang="en-US"/>
          </a:p>
        </p:txBody>
      </p:sp>
    </p:spTree>
    <p:extLst>
      <p:ext uri="{BB962C8B-B14F-4D97-AF65-F5344CB8AC3E}">
        <p14:creationId xmlns:p14="http://schemas.microsoft.com/office/powerpoint/2010/main" val="4006803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D4B21-9952-45F8-B9FB-FDDE06909F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C1C65C-2F5E-412D-BEA2-AA7EA36B50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A2D3C0-4F8D-41DB-90FA-E5C1A77D638D}"/>
              </a:ext>
            </a:extLst>
          </p:cNvPr>
          <p:cNvSpPr>
            <a:spLocks noGrp="1"/>
          </p:cNvSpPr>
          <p:nvPr>
            <p:ph type="dt" sz="half" idx="10"/>
          </p:nvPr>
        </p:nvSpPr>
        <p:spPr/>
        <p:txBody>
          <a:bodyPr/>
          <a:lstStyle/>
          <a:p>
            <a:fld id="{CAD5DEDF-8486-4493-BB48-0017EF283EC4}" type="datetimeFigureOut">
              <a:rPr lang="en-US" smtClean="0"/>
              <a:t>08-Oct-25</a:t>
            </a:fld>
            <a:endParaRPr lang="en-US"/>
          </a:p>
        </p:txBody>
      </p:sp>
      <p:sp>
        <p:nvSpPr>
          <p:cNvPr id="5" name="Footer Placeholder 4">
            <a:extLst>
              <a:ext uri="{FF2B5EF4-FFF2-40B4-BE49-F238E27FC236}">
                <a16:creationId xmlns:a16="http://schemas.microsoft.com/office/drawing/2014/main" id="{A910F75C-6FD4-48E9-B697-DCC461E533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7A6225-D4E1-43A8-981C-F3E53FFD9073}"/>
              </a:ext>
            </a:extLst>
          </p:cNvPr>
          <p:cNvSpPr>
            <a:spLocks noGrp="1"/>
          </p:cNvSpPr>
          <p:nvPr>
            <p:ph type="sldNum" sz="quarter" idx="12"/>
          </p:nvPr>
        </p:nvSpPr>
        <p:spPr/>
        <p:txBody>
          <a:bodyPr/>
          <a:lstStyle/>
          <a:p>
            <a:fld id="{E99B69FA-F9AA-4EB7-B0D2-927BB4CFF564}" type="slidenum">
              <a:rPr lang="en-US" smtClean="0"/>
              <a:t>‹#›</a:t>
            </a:fld>
            <a:endParaRPr lang="en-US"/>
          </a:p>
        </p:txBody>
      </p:sp>
    </p:spTree>
    <p:extLst>
      <p:ext uri="{BB962C8B-B14F-4D97-AF65-F5344CB8AC3E}">
        <p14:creationId xmlns:p14="http://schemas.microsoft.com/office/powerpoint/2010/main" val="3290009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CB1C3-908D-459C-83AB-D829A9721C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8ED0F2-6710-45B4-AF6D-A7F265984B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F8C8AC-16D0-47AA-A2E5-C431D88310A7}"/>
              </a:ext>
            </a:extLst>
          </p:cNvPr>
          <p:cNvSpPr>
            <a:spLocks noGrp="1"/>
          </p:cNvSpPr>
          <p:nvPr>
            <p:ph type="dt" sz="half" idx="10"/>
          </p:nvPr>
        </p:nvSpPr>
        <p:spPr/>
        <p:txBody>
          <a:bodyPr/>
          <a:lstStyle/>
          <a:p>
            <a:fld id="{CAD5DEDF-8486-4493-BB48-0017EF283EC4}" type="datetimeFigureOut">
              <a:rPr lang="en-US" smtClean="0"/>
              <a:t>08-Oct-25</a:t>
            </a:fld>
            <a:endParaRPr lang="en-US"/>
          </a:p>
        </p:txBody>
      </p:sp>
      <p:sp>
        <p:nvSpPr>
          <p:cNvPr id="5" name="Footer Placeholder 4">
            <a:extLst>
              <a:ext uri="{FF2B5EF4-FFF2-40B4-BE49-F238E27FC236}">
                <a16:creationId xmlns:a16="http://schemas.microsoft.com/office/drawing/2014/main" id="{7D00FFC4-BAE1-4900-9EA2-A946C04401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2809AB-29B7-4D65-A09C-C97F60251463}"/>
              </a:ext>
            </a:extLst>
          </p:cNvPr>
          <p:cNvSpPr>
            <a:spLocks noGrp="1"/>
          </p:cNvSpPr>
          <p:nvPr>
            <p:ph type="sldNum" sz="quarter" idx="12"/>
          </p:nvPr>
        </p:nvSpPr>
        <p:spPr/>
        <p:txBody>
          <a:bodyPr/>
          <a:lstStyle/>
          <a:p>
            <a:fld id="{E99B69FA-F9AA-4EB7-B0D2-927BB4CFF564}" type="slidenum">
              <a:rPr lang="en-US" smtClean="0"/>
              <a:t>‹#›</a:t>
            </a:fld>
            <a:endParaRPr lang="en-US"/>
          </a:p>
        </p:txBody>
      </p:sp>
    </p:spTree>
    <p:extLst>
      <p:ext uri="{BB962C8B-B14F-4D97-AF65-F5344CB8AC3E}">
        <p14:creationId xmlns:p14="http://schemas.microsoft.com/office/powerpoint/2010/main" val="799900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F5A59-A61F-48BF-A3C7-69A7D07370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93F0B7-7199-4D92-868A-FD18261CAE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1D7855-9CEA-468D-BF22-792B375561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83D209-8820-4698-B26D-10F843D3F9D0}"/>
              </a:ext>
            </a:extLst>
          </p:cNvPr>
          <p:cNvSpPr>
            <a:spLocks noGrp="1"/>
          </p:cNvSpPr>
          <p:nvPr>
            <p:ph type="dt" sz="half" idx="10"/>
          </p:nvPr>
        </p:nvSpPr>
        <p:spPr/>
        <p:txBody>
          <a:bodyPr/>
          <a:lstStyle/>
          <a:p>
            <a:fld id="{CAD5DEDF-8486-4493-BB48-0017EF283EC4}" type="datetimeFigureOut">
              <a:rPr lang="en-US" smtClean="0"/>
              <a:t>08-Oct-25</a:t>
            </a:fld>
            <a:endParaRPr lang="en-US"/>
          </a:p>
        </p:txBody>
      </p:sp>
      <p:sp>
        <p:nvSpPr>
          <p:cNvPr id="6" name="Footer Placeholder 5">
            <a:extLst>
              <a:ext uri="{FF2B5EF4-FFF2-40B4-BE49-F238E27FC236}">
                <a16:creationId xmlns:a16="http://schemas.microsoft.com/office/drawing/2014/main" id="{5CE95BD6-F3E5-4330-8221-412249BF18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ACEC65-3D66-47D6-88CA-D96E70F4B387}"/>
              </a:ext>
            </a:extLst>
          </p:cNvPr>
          <p:cNvSpPr>
            <a:spLocks noGrp="1"/>
          </p:cNvSpPr>
          <p:nvPr>
            <p:ph type="sldNum" sz="quarter" idx="12"/>
          </p:nvPr>
        </p:nvSpPr>
        <p:spPr/>
        <p:txBody>
          <a:bodyPr/>
          <a:lstStyle/>
          <a:p>
            <a:fld id="{E99B69FA-F9AA-4EB7-B0D2-927BB4CFF564}" type="slidenum">
              <a:rPr lang="en-US" smtClean="0"/>
              <a:t>‹#›</a:t>
            </a:fld>
            <a:endParaRPr lang="en-US"/>
          </a:p>
        </p:txBody>
      </p:sp>
    </p:spTree>
    <p:extLst>
      <p:ext uri="{BB962C8B-B14F-4D97-AF65-F5344CB8AC3E}">
        <p14:creationId xmlns:p14="http://schemas.microsoft.com/office/powerpoint/2010/main" val="44285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4E84-5D9C-49E3-BABF-204A8D90937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2A4A9A-4E60-4AA4-9601-302C184955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C4BB58-99E9-4D1F-8B67-5B6682B0ED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F80EA4E-2709-4584-938B-CF99062F14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A03404-C274-4B1D-9A60-06910EC88A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A2FBC7-70C5-4C33-92C9-7C4FBD1ABA1A}"/>
              </a:ext>
            </a:extLst>
          </p:cNvPr>
          <p:cNvSpPr>
            <a:spLocks noGrp="1"/>
          </p:cNvSpPr>
          <p:nvPr>
            <p:ph type="dt" sz="half" idx="10"/>
          </p:nvPr>
        </p:nvSpPr>
        <p:spPr/>
        <p:txBody>
          <a:bodyPr/>
          <a:lstStyle/>
          <a:p>
            <a:fld id="{CAD5DEDF-8486-4493-BB48-0017EF283EC4}" type="datetimeFigureOut">
              <a:rPr lang="en-US" smtClean="0"/>
              <a:t>08-Oct-25</a:t>
            </a:fld>
            <a:endParaRPr lang="en-US"/>
          </a:p>
        </p:txBody>
      </p:sp>
      <p:sp>
        <p:nvSpPr>
          <p:cNvPr id="8" name="Footer Placeholder 7">
            <a:extLst>
              <a:ext uri="{FF2B5EF4-FFF2-40B4-BE49-F238E27FC236}">
                <a16:creationId xmlns:a16="http://schemas.microsoft.com/office/drawing/2014/main" id="{B7776E60-0C22-46EA-837C-C66E9B7BF8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C6D1E71-94FB-4ABD-ABC3-E14D86BEECC9}"/>
              </a:ext>
            </a:extLst>
          </p:cNvPr>
          <p:cNvSpPr>
            <a:spLocks noGrp="1"/>
          </p:cNvSpPr>
          <p:nvPr>
            <p:ph type="sldNum" sz="quarter" idx="12"/>
          </p:nvPr>
        </p:nvSpPr>
        <p:spPr/>
        <p:txBody>
          <a:bodyPr/>
          <a:lstStyle/>
          <a:p>
            <a:fld id="{E99B69FA-F9AA-4EB7-B0D2-927BB4CFF564}" type="slidenum">
              <a:rPr lang="en-US" smtClean="0"/>
              <a:t>‹#›</a:t>
            </a:fld>
            <a:endParaRPr lang="en-US"/>
          </a:p>
        </p:txBody>
      </p:sp>
    </p:spTree>
    <p:extLst>
      <p:ext uri="{BB962C8B-B14F-4D97-AF65-F5344CB8AC3E}">
        <p14:creationId xmlns:p14="http://schemas.microsoft.com/office/powerpoint/2010/main" val="139763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30D06-8D28-4EF8-9327-F4EC2D9DE5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FBE625-79AB-45DC-9361-0EE38EE7716A}"/>
              </a:ext>
            </a:extLst>
          </p:cNvPr>
          <p:cNvSpPr>
            <a:spLocks noGrp="1"/>
          </p:cNvSpPr>
          <p:nvPr>
            <p:ph type="dt" sz="half" idx="10"/>
          </p:nvPr>
        </p:nvSpPr>
        <p:spPr/>
        <p:txBody>
          <a:bodyPr/>
          <a:lstStyle/>
          <a:p>
            <a:fld id="{CAD5DEDF-8486-4493-BB48-0017EF283EC4}" type="datetimeFigureOut">
              <a:rPr lang="en-US" smtClean="0"/>
              <a:t>08-Oct-25</a:t>
            </a:fld>
            <a:endParaRPr lang="en-US"/>
          </a:p>
        </p:txBody>
      </p:sp>
      <p:sp>
        <p:nvSpPr>
          <p:cNvPr id="4" name="Footer Placeholder 3">
            <a:extLst>
              <a:ext uri="{FF2B5EF4-FFF2-40B4-BE49-F238E27FC236}">
                <a16:creationId xmlns:a16="http://schemas.microsoft.com/office/drawing/2014/main" id="{78BB19B7-2E41-4342-91F7-D4229E2588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0330190-C8A0-49B0-973C-A5AA82024130}"/>
              </a:ext>
            </a:extLst>
          </p:cNvPr>
          <p:cNvSpPr>
            <a:spLocks noGrp="1"/>
          </p:cNvSpPr>
          <p:nvPr>
            <p:ph type="sldNum" sz="quarter" idx="12"/>
          </p:nvPr>
        </p:nvSpPr>
        <p:spPr/>
        <p:txBody>
          <a:bodyPr/>
          <a:lstStyle/>
          <a:p>
            <a:fld id="{E99B69FA-F9AA-4EB7-B0D2-927BB4CFF564}" type="slidenum">
              <a:rPr lang="en-US" smtClean="0"/>
              <a:t>‹#›</a:t>
            </a:fld>
            <a:endParaRPr lang="en-US"/>
          </a:p>
        </p:txBody>
      </p:sp>
    </p:spTree>
    <p:extLst>
      <p:ext uri="{BB962C8B-B14F-4D97-AF65-F5344CB8AC3E}">
        <p14:creationId xmlns:p14="http://schemas.microsoft.com/office/powerpoint/2010/main" val="3889558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5325F0-955E-4B67-8F1B-57F5E810277B}"/>
              </a:ext>
            </a:extLst>
          </p:cNvPr>
          <p:cNvSpPr>
            <a:spLocks noGrp="1"/>
          </p:cNvSpPr>
          <p:nvPr>
            <p:ph type="dt" sz="half" idx="10"/>
          </p:nvPr>
        </p:nvSpPr>
        <p:spPr/>
        <p:txBody>
          <a:bodyPr/>
          <a:lstStyle/>
          <a:p>
            <a:fld id="{CAD5DEDF-8486-4493-BB48-0017EF283EC4}" type="datetimeFigureOut">
              <a:rPr lang="en-US" smtClean="0"/>
              <a:t>08-Oct-25</a:t>
            </a:fld>
            <a:endParaRPr lang="en-US"/>
          </a:p>
        </p:txBody>
      </p:sp>
      <p:sp>
        <p:nvSpPr>
          <p:cNvPr id="3" name="Footer Placeholder 2">
            <a:extLst>
              <a:ext uri="{FF2B5EF4-FFF2-40B4-BE49-F238E27FC236}">
                <a16:creationId xmlns:a16="http://schemas.microsoft.com/office/drawing/2014/main" id="{F6810F12-B4A7-4C87-B4BD-7E8B4B67B5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EB0EE01-3758-424C-9A14-D4B9D37D18AE}"/>
              </a:ext>
            </a:extLst>
          </p:cNvPr>
          <p:cNvSpPr>
            <a:spLocks noGrp="1"/>
          </p:cNvSpPr>
          <p:nvPr>
            <p:ph type="sldNum" sz="quarter" idx="12"/>
          </p:nvPr>
        </p:nvSpPr>
        <p:spPr/>
        <p:txBody>
          <a:bodyPr/>
          <a:lstStyle/>
          <a:p>
            <a:fld id="{E99B69FA-F9AA-4EB7-B0D2-927BB4CFF564}" type="slidenum">
              <a:rPr lang="en-US" smtClean="0"/>
              <a:t>‹#›</a:t>
            </a:fld>
            <a:endParaRPr lang="en-US"/>
          </a:p>
        </p:txBody>
      </p:sp>
    </p:spTree>
    <p:extLst>
      <p:ext uri="{BB962C8B-B14F-4D97-AF65-F5344CB8AC3E}">
        <p14:creationId xmlns:p14="http://schemas.microsoft.com/office/powerpoint/2010/main" val="1253566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283AA-CC5D-4682-BD9F-0DFDEF3632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14E2E1E-7987-4CC7-938C-28B3CFB462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4A6478-FF2B-441E-BDCB-C941073D4A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E56321-D7E9-4958-9893-46688E0D4F12}"/>
              </a:ext>
            </a:extLst>
          </p:cNvPr>
          <p:cNvSpPr>
            <a:spLocks noGrp="1"/>
          </p:cNvSpPr>
          <p:nvPr>
            <p:ph type="dt" sz="half" idx="10"/>
          </p:nvPr>
        </p:nvSpPr>
        <p:spPr/>
        <p:txBody>
          <a:bodyPr/>
          <a:lstStyle/>
          <a:p>
            <a:fld id="{CAD5DEDF-8486-4493-BB48-0017EF283EC4}" type="datetimeFigureOut">
              <a:rPr lang="en-US" smtClean="0"/>
              <a:t>08-Oct-25</a:t>
            </a:fld>
            <a:endParaRPr lang="en-US"/>
          </a:p>
        </p:txBody>
      </p:sp>
      <p:sp>
        <p:nvSpPr>
          <p:cNvPr id="6" name="Footer Placeholder 5">
            <a:extLst>
              <a:ext uri="{FF2B5EF4-FFF2-40B4-BE49-F238E27FC236}">
                <a16:creationId xmlns:a16="http://schemas.microsoft.com/office/drawing/2014/main" id="{45652FA4-F9C3-49EE-BF38-2FD4B1C13C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40CEF2-A8B4-4721-80DF-A64395559783}"/>
              </a:ext>
            </a:extLst>
          </p:cNvPr>
          <p:cNvSpPr>
            <a:spLocks noGrp="1"/>
          </p:cNvSpPr>
          <p:nvPr>
            <p:ph type="sldNum" sz="quarter" idx="12"/>
          </p:nvPr>
        </p:nvSpPr>
        <p:spPr/>
        <p:txBody>
          <a:bodyPr/>
          <a:lstStyle/>
          <a:p>
            <a:fld id="{E99B69FA-F9AA-4EB7-B0D2-927BB4CFF564}" type="slidenum">
              <a:rPr lang="en-US" smtClean="0"/>
              <a:t>‹#›</a:t>
            </a:fld>
            <a:endParaRPr lang="en-US"/>
          </a:p>
        </p:txBody>
      </p:sp>
    </p:spTree>
    <p:extLst>
      <p:ext uri="{BB962C8B-B14F-4D97-AF65-F5344CB8AC3E}">
        <p14:creationId xmlns:p14="http://schemas.microsoft.com/office/powerpoint/2010/main" val="2464609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C239-E34A-443B-A3D0-1A94679AB8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3A218C-EEB8-4322-B156-95F1E2B597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0FB394F-96ED-4628-9CE5-8C4F78FBDA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058276-9ABF-4FDB-9E51-CF73D9471E66}"/>
              </a:ext>
            </a:extLst>
          </p:cNvPr>
          <p:cNvSpPr>
            <a:spLocks noGrp="1"/>
          </p:cNvSpPr>
          <p:nvPr>
            <p:ph type="dt" sz="half" idx="10"/>
          </p:nvPr>
        </p:nvSpPr>
        <p:spPr/>
        <p:txBody>
          <a:bodyPr/>
          <a:lstStyle/>
          <a:p>
            <a:fld id="{CAD5DEDF-8486-4493-BB48-0017EF283EC4}" type="datetimeFigureOut">
              <a:rPr lang="en-US" smtClean="0"/>
              <a:t>08-Oct-25</a:t>
            </a:fld>
            <a:endParaRPr lang="en-US"/>
          </a:p>
        </p:txBody>
      </p:sp>
      <p:sp>
        <p:nvSpPr>
          <p:cNvPr id="6" name="Footer Placeholder 5">
            <a:extLst>
              <a:ext uri="{FF2B5EF4-FFF2-40B4-BE49-F238E27FC236}">
                <a16:creationId xmlns:a16="http://schemas.microsoft.com/office/drawing/2014/main" id="{EF7F582A-554F-4C4E-82A9-7B3FE7F61B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1E467C-7626-4530-B1E6-8E07F3838337}"/>
              </a:ext>
            </a:extLst>
          </p:cNvPr>
          <p:cNvSpPr>
            <a:spLocks noGrp="1"/>
          </p:cNvSpPr>
          <p:nvPr>
            <p:ph type="sldNum" sz="quarter" idx="12"/>
          </p:nvPr>
        </p:nvSpPr>
        <p:spPr/>
        <p:txBody>
          <a:bodyPr/>
          <a:lstStyle/>
          <a:p>
            <a:fld id="{E99B69FA-F9AA-4EB7-B0D2-927BB4CFF564}" type="slidenum">
              <a:rPr lang="en-US" smtClean="0"/>
              <a:t>‹#›</a:t>
            </a:fld>
            <a:endParaRPr lang="en-US"/>
          </a:p>
        </p:txBody>
      </p:sp>
    </p:spTree>
    <p:extLst>
      <p:ext uri="{BB962C8B-B14F-4D97-AF65-F5344CB8AC3E}">
        <p14:creationId xmlns:p14="http://schemas.microsoft.com/office/powerpoint/2010/main" val="2595374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FC94D-1B59-4D63-ACEF-E1C36B1DFB1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97599A-5A52-4975-BC7C-636095BF2D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D1818B-2259-475C-8FBA-24AAB70F33A6}"/>
              </a:ext>
            </a:extLst>
          </p:cNvPr>
          <p:cNvSpPr>
            <a:spLocks noGrp="1"/>
          </p:cNvSpPr>
          <p:nvPr>
            <p:ph type="dt" sz="half" idx="10"/>
          </p:nvPr>
        </p:nvSpPr>
        <p:spPr/>
        <p:txBody>
          <a:bodyPr/>
          <a:lstStyle/>
          <a:p>
            <a:fld id="{CAD5DEDF-8486-4493-BB48-0017EF283EC4}" type="datetimeFigureOut">
              <a:rPr lang="en-US" smtClean="0"/>
              <a:t>08-Oct-25</a:t>
            </a:fld>
            <a:endParaRPr lang="en-US"/>
          </a:p>
        </p:txBody>
      </p:sp>
      <p:sp>
        <p:nvSpPr>
          <p:cNvPr id="5" name="Footer Placeholder 4">
            <a:extLst>
              <a:ext uri="{FF2B5EF4-FFF2-40B4-BE49-F238E27FC236}">
                <a16:creationId xmlns:a16="http://schemas.microsoft.com/office/drawing/2014/main" id="{93EE4E9D-293F-486E-85D3-8DA9B7A2D5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F424F1-AF79-4A4C-8F7C-BA4839C320D2}"/>
              </a:ext>
            </a:extLst>
          </p:cNvPr>
          <p:cNvSpPr>
            <a:spLocks noGrp="1"/>
          </p:cNvSpPr>
          <p:nvPr>
            <p:ph type="sldNum" sz="quarter" idx="12"/>
          </p:nvPr>
        </p:nvSpPr>
        <p:spPr/>
        <p:txBody>
          <a:bodyPr/>
          <a:lstStyle/>
          <a:p>
            <a:fld id="{E99B69FA-F9AA-4EB7-B0D2-927BB4CFF564}" type="slidenum">
              <a:rPr lang="en-US" smtClean="0"/>
              <a:t>‹#›</a:t>
            </a:fld>
            <a:endParaRPr lang="en-US"/>
          </a:p>
        </p:txBody>
      </p:sp>
    </p:spTree>
    <p:extLst>
      <p:ext uri="{BB962C8B-B14F-4D97-AF65-F5344CB8AC3E}">
        <p14:creationId xmlns:p14="http://schemas.microsoft.com/office/powerpoint/2010/main" val="2049078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023123-7681-4B1C-9BA8-7827A373EF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CC692C3-09CC-454C-99F0-2FF5BF4DF4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82FB88-A3E0-4208-9852-FE6D3CA21FC9}"/>
              </a:ext>
            </a:extLst>
          </p:cNvPr>
          <p:cNvSpPr>
            <a:spLocks noGrp="1"/>
          </p:cNvSpPr>
          <p:nvPr>
            <p:ph type="dt" sz="half" idx="10"/>
          </p:nvPr>
        </p:nvSpPr>
        <p:spPr/>
        <p:txBody>
          <a:bodyPr/>
          <a:lstStyle/>
          <a:p>
            <a:fld id="{CAD5DEDF-8486-4493-BB48-0017EF283EC4}" type="datetimeFigureOut">
              <a:rPr lang="en-US" smtClean="0"/>
              <a:t>08-Oct-25</a:t>
            </a:fld>
            <a:endParaRPr lang="en-US"/>
          </a:p>
        </p:txBody>
      </p:sp>
      <p:sp>
        <p:nvSpPr>
          <p:cNvPr id="5" name="Footer Placeholder 4">
            <a:extLst>
              <a:ext uri="{FF2B5EF4-FFF2-40B4-BE49-F238E27FC236}">
                <a16:creationId xmlns:a16="http://schemas.microsoft.com/office/drawing/2014/main" id="{6E091268-A1A0-406C-8DAB-4A2AB34B48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3381DF-9A30-4C74-9981-0C71F640DC9D}"/>
              </a:ext>
            </a:extLst>
          </p:cNvPr>
          <p:cNvSpPr>
            <a:spLocks noGrp="1"/>
          </p:cNvSpPr>
          <p:nvPr>
            <p:ph type="sldNum" sz="quarter" idx="12"/>
          </p:nvPr>
        </p:nvSpPr>
        <p:spPr/>
        <p:txBody>
          <a:bodyPr/>
          <a:lstStyle/>
          <a:p>
            <a:fld id="{E99B69FA-F9AA-4EB7-B0D2-927BB4CFF564}" type="slidenum">
              <a:rPr lang="en-US" smtClean="0"/>
              <a:t>‹#›</a:t>
            </a:fld>
            <a:endParaRPr lang="en-US"/>
          </a:p>
        </p:txBody>
      </p:sp>
    </p:spTree>
    <p:extLst>
      <p:ext uri="{BB962C8B-B14F-4D97-AF65-F5344CB8AC3E}">
        <p14:creationId xmlns:p14="http://schemas.microsoft.com/office/powerpoint/2010/main" val="356666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443AD1-191E-4422-8DBF-2D6494E51E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19AAC31-BF12-49FF-A60D-A99DBC718C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513212-0FF1-4BD6-82DD-6EA49ACA23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D5DEDF-8486-4493-BB48-0017EF283EC4}" type="datetimeFigureOut">
              <a:rPr lang="en-US" smtClean="0"/>
              <a:t>08-Oct-25</a:t>
            </a:fld>
            <a:endParaRPr lang="en-US"/>
          </a:p>
        </p:txBody>
      </p:sp>
      <p:sp>
        <p:nvSpPr>
          <p:cNvPr id="5" name="Footer Placeholder 4">
            <a:extLst>
              <a:ext uri="{FF2B5EF4-FFF2-40B4-BE49-F238E27FC236}">
                <a16:creationId xmlns:a16="http://schemas.microsoft.com/office/drawing/2014/main" id="{C24B9F59-1923-4B73-BA65-F078E3FF28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8AEA660-6D17-4F93-9BAE-BAACB9B31F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9B69FA-F9AA-4EB7-B0D2-927BB4CFF564}" type="slidenum">
              <a:rPr lang="en-US" smtClean="0"/>
              <a:t>‹#›</a:t>
            </a:fld>
            <a:endParaRPr lang="en-US"/>
          </a:p>
        </p:txBody>
      </p:sp>
    </p:spTree>
    <p:extLst>
      <p:ext uri="{BB962C8B-B14F-4D97-AF65-F5344CB8AC3E}">
        <p14:creationId xmlns:p14="http://schemas.microsoft.com/office/powerpoint/2010/main" val="6464313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8ED5F-3ED1-430E-B8F0-92F23CBE02F5}"/>
              </a:ext>
            </a:extLst>
          </p:cNvPr>
          <p:cNvSpPr>
            <a:spLocks noGrp="1"/>
          </p:cNvSpPr>
          <p:nvPr>
            <p:ph type="ctrTitle"/>
          </p:nvPr>
        </p:nvSpPr>
        <p:spPr/>
        <p:txBody>
          <a:bodyPr>
            <a:normAutofit/>
          </a:bodyPr>
          <a:lstStyle/>
          <a:p>
            <a:r>
              <a:rPr lang="en-US" sz="4400" b="1" dirty="0">
                <a:latin typeface="Times New Roman" panose="02020603050405020304" pitchFamily="18" charset="0"/>
                <a:cs typeface="Times New Roman" panose="02020603050405020304" pitchFamily="18" charset="0"/>
              </a:rPr>
              <a:t>Environmental Performance Index (EPI)</a:t>
            </a:r>
            <a:endParaRPr lang="en-US"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CB220A8-EFBF-4540-A611-6924958E01D2}"/>
              </a:ext>
            </a:extLst>
          </p:cNvPr>
          <p:cNvSpPr>
            <a:spLocks noGrp="1"/>
          </p:cNvSpPr>
          <p:nvPr>
            <p:ph type="subTitle" idx="1"/>
          </p:nvPr>
        </p:nvSpPr>
        <p:spPr>
          <a:xfrm>
            <a:off x="1524000" y="4863548"/>
            <a:ext cx="9144000" cy="394252"/>
          </a:xfrm>
        </p:spPr>
        <p:txBody>
          <a:bodyPr>
            <a:normAutofit lnSpcReduction="10000"/>
          </a:bodyPr>
          <a:lstStyle/>
          <a:p>
            <a:endParaRPr lang="en-US" dirty="0"/>
          </a:p>
        </p:txBody>
      </p:sp>
    </p:spTree>
    <p:extLst>
      <p:ext uri="{BB962C8B-B14F-4D97-AF65-F5344CB8AC3E}">
        <p14:creationId xmlns:p14="http://schemas.microsoft.com/office/powerpoint/2010/main" val="2009421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91CFE-4AF1-4BAB-9628-F253C12A6F30}"/>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95FE2E45-2E2C-4F36-BE66-0C924845BB42}"/>
              </a:ext>
            </a:extLst>
          </p:cNvPr>
          <p:cNvSpPr>
            <a:spLocks noGrp="1"/>
          </p:cNvSpPr>
          <p:nvPr>
            <p:ph idx="1"/>
          </p:nvPr>
        </p:nvSpPr>
        <p:spPr/>
        <p:txBody>
          <a:bodyPr>
            <a:normAutofit lnSpcReduction="10000"/>
          </a:bodyPr>
          <a:lstStyle/>
          <a:p>
            <a:pPr algn="just"/>
            <a:r>
              <a:rPr lang="en-US" b="0" i="0" dirty="0">
                <a:effectLst/>
                <a:latin typeface="Times New Roman" panose="02020603050405020304" pitchFamily="18" charset="0"/>
                <a:cs typeface="Times New Roman" panose="02020603050405020304" pitchFamily="18" charset="0"/>
              </a:rPr>
              <a:t>The Environmental Performance Index was established in 2002 by Yale University and Columbia University in partnership with the WEF. Its goal is to offer practical guidelines for decision-making regarding the protection of the environment by basing the action plan on facts rather than on guesswork.</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A biennial, data-rich scorecard that ranks countries on their environmental performance.</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A quantitative measure that translates scientific findings into actionable policy insights.</a:t>
            </a:r>
          </a:p>
          <a:p>
            <a:pPr algn="just">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A framework that helps to spot problems, set targets, track trends, and understand outcomes in environmental policy.</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6501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6D99F-FE85-4C06-811A-4627F76A4F9B}"/>
              </a:ext>
            </a:extLst>
          </p:cNvPr>
          <p:cNvSpPr>
            <a:spLocks noGrp="1"/>
          </p:cNvSpPr>
          <p:nvPr>
            <p:ph type="title"/>
          </p:nvPr>
        </p:nvSpPr>
        <p:spPr/>
        <p:txBody>
          <a:bodyPr>
            <a:normAutofit fontScale="90000"/>
          </a:bodyPr>
          <a:lstStyle/>
          <a:p>
            <a:pPr algn="ctr"/>
            <a:r>
              <a:rPr lang="en-CA" sz="3600" b="0" dirty="0">
                <a:effectLst/>
                <a:latin typeface="Times New Roman" panose="02020603050405020304" pitchFamily="18" charset="0"/>
                <a:cs typeface="Times New Roman" panose="02020603050405020304" pitchFamily="18" charset="0"/>
              </a:rPr>
              <a:t>What is the reason that an EPI was established as a complement to the ESI?</a:t>
            </a:r>
            <a:br>
              <a:rPr lang="en-CA" sz="4400" b="0" dirty="0">
                <a:solidFill>
                  <a:srgbClr val="002060"/>
                </a:solidFill>
                <a:effectLst/>
                <a:latin typeface="Times" pitchFamily="2" charset="0"/>
              </a:rPr>
            </a:br>
            <a:endParaRPr lang="en-US" dirty="0"/>
          </a:p>
        </p:txBody>
      </p:sp>
      <p:sp>
        <p:nvSpPr>
          <p:cNvPr id="3" name="Content Placeholder 2">
            <a:extLst>
              <a:ext uri="{FF2B5EF4-FFF2-40B4-BE49-F238E27FC236}">
                <a16:creationId xmlns:a16="http://schemas.microsoft.com/office/drawing/2014/main" id="{0F703571-2FBA-4720-8781-C95D4AECBF50}"/>
              </a:ext>
            </a:extLst>
          </p:cNvPr>
          <p:cNvSpPr>
            <a:spLocks noGrp="1"/>
          </p:cNvSpPr>
          <p:nvPr>
            <p:ph idx="1"/>
          </p:nvPr>
        </p:nvSpPr>
        <p:spPr/>
        <p:txBody>
          <a:bodyPr/>
          <a:lstStyle/>
          <a:p>
            <a:r>
              <a:rPr lang="en-CA" sz="2800" dirty="0">
                <a:effectLst/>
                <a:latin typeface="Times" pitchFamily="2" charset="0"/>
              </a:rPr>
              <a:t>The two indices, while similar some ways (there are overlapping data sets for instance), are fundamentally different in that </a:t>
            </a:r>
            <a:r>
              <a:rPr lang="en-CA" sz="2800" i="1" dirty="0">
                <a:solidFill>
                  <a:schemeClr val="accent5"/>
                </a:solidFill>
                <a:effectLst/>
                <a:latin typeface="Times" pitchFamily="2" charset="0"/>
              </a:rPr>
              <a:t>EPI applies a proximity to target approach</a:t>
            </a:r>
            <a:r>
              <a:rPr lang="en-CA" sz="2800" dirty="0">
                <a:effectLst/>
                <a:latin typeface="Times" pitchFamily="2" charset="0"/>
              </a:rPr>
              <a:t>, which tells you if a country is getting closer to some absolute benchmark of sustainability (for the measures we have data for), and the </a:t>
            </a:r>
            <a:r>
              <a:rPr lang="en-CA" sz="2800" i="1" dirty="0">
                <a:solidFill>
                  <a:schemeClr val="accent5"/>
                </a:solidFill>
                <a:effectLst/>
                <a:latin typeface="Times New Roman" panose="02020603050405020304" pitchFamily="18" charset="0"/>
                <a:cs typeface="Times New Roman" panose="02020603050405020304" pitchFamily="18" charset="0"/>
              </a:rPr>
              <a:t>ESI only tells you how a country performs relative to other countries</a:t>
            </a:r>
            <a:r>
              <a:rPr lang="en-CA" sz="2800" dirty="0">
                <a:effectLst/>
                <a:latin typeface="Times" pitchFamily="2" charset="0"/>
              </a:rPr>
              <a:t>. It cannot tell you whether the country is getting closer to some defined level of sustainability.</a:t>
            </a:r>
          </a:p>
          <a:p>
            <a:pPr marL="0" indent="0">
              <a:buNone/>
            </a:pPr>
            <a:endParaRPr lang="en-US" dirty="0"/>
          </a:p>
        </p:txBody>
      </p:sp>
    </p:spTree>
    <p:extLst>
      <p:ext uri="{BB962C8B-B14F-4D97-AF65-F5344CB8AC3E}">
        <p14:creationId xmlns:p14="http://schemas.microsoft.com/office/powerpoint/2010/main" val="3732602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38B64-234E-4378-BB16-7760BB25528B}"/>
              </a:ext>
            </a:extLst>
          </p:cNvPr>
          <p:cNvSpPr>
            <a:spLocks noGrp="1"/>
          </p:cNvSpPr>
          <p:nvPr>
            <p:ph type="title"/>
          </p:nvPr>
        </p:nvSpPr>
        <p:spPr>
          <a:xfrm>
            <a:off x="838200" y="365126"/>
            <a:ext cx="10515600" cy="602284"/>
          </a:xfrm>
        </p:spPr>
        <p:txBody>
          <a:bodyPr>
            <a:normAutofit/>
          </a:bodyPr>
          <a:lstStyle/>
          <a:p>
            <a:pPr algn="ctr"/>
            <a:r>
              <a:rPr lang="en-US" sz="3600" dirty="0">
                <a:latin typeface="Times New Roman" panose="02020603050405020304" pitchFamily="18" charset="0"/>
                <a:cs typeface="Times New Roman" panose="02020603050405020304" pitchFamily="18" charset="0"/>
              </a:rPr>
              <a:t>Factors EPI</a:t>
            </a:r>
          </a:p>
        </p:txBody>
      </p:sp>
      <p:sp>
        <p:nvSpPr>
          <p:cNvPr id="3" name="Content Placeholder 2">
            <a:extLst>
              <a:ext uri="{FF2B5EF4-FFF2-40B4-BE49-F238E27FC236}">
                <a16:creationId xmlns:a16="http://schemas.microsoft.com/office/drawing/2014/main" id="{F817524D-FBA4-4AEE-B03F-7A6116C1E936}"/>
              </a:ext>
            </a:extLst>
          </p:cNvPr>
          <p:cNvSpPr>
            <a:spLocks noGrp="1"/>
          </p:cNvSpPr>
          <p:nvPr>
            <p:ph idx="1"/>
          </p:nvPr>
        </p:nvSpPr>
        <p:spPr>
          <a:xfrm>
            <a:off x="838200" y="1855303"/>
            <a:ext cx="10515600" cy="4321659"/>
          </a:xfrm>
        </p:spPr>
        <p:txBody>
          <a:bodyPr/>
          <a:lstStyle/>
          <a:p>
            <a:pPr algn="just"/>
            <a:r>
              <a:rPr lang="en-US" b="0" i="0" dirty="0">
                <a:effectLst/>
                <a:latin typeface="Times New Roman" panose="02020603050405020304" pitchFamily="18" charset="0"/>
                <a:cs typeface="Times New Roman" panose="02020603050405020304" pitchFamily="18" charset="0"/>
              </a:rPr>
              <a:t>Overall, the EPI determines the degree to which a country works toward </a:t>
            </a:r>
            <a:r>
              <a:rPr lang="en-US" b="1" dirty="0">
                <a:latin typeface="Times New Roman" panose="02020603050405020304" pitchFamily="18" charset="0"/>
                <a:cs typeface="Times New Roman" panose="02020603050405020304" pitchFamily="18" charset="0"/>
              </a:rPr>
              <a:t>(a) m</a:t>
            </a:r>
            <a:r>
              <a:rPr lang="en-US" b="1" i="0" dirty="0">
                <a:effectLst/>
                <a:latin typeface="Times New Roman" panose="02020603050405020304" pitchFamily="18" charset="0"/>
                <a:cs typeface="Times New Roman" panose="02020603050405020304" pitchFamily="18" charset="0"/>
              </a:rPr>
              <a:t>itigation of climate change, (b) ensuring ecosystem vitality, and (c) maintaining environmental health</a:t>
            </a:r>
            <a:r>
              <a:rPr lang="en-US" b="0" i="0" dirty="0">
                <a:effectLst/>
                <a:latin typeface="Times New Roman" panose="02020603050405020304" pitchFamily="18" charset="0"/>
                <a:cs typeface="Times New Roman" panose="02020603050405020304" pitchFamily="18" charset="0"/>
              </a:rPr>
              <a:t>.</a:t>
            </a:r>
          </a:p>
          <a:p>
            <a:pPr algn="just"/>
            <a:r>
              <a:rPr lang="en-US" b="0" i="0" dirty="0">
                <a:effectLst/>
                <a:latin typeface="Times New Roman" panose="02020603050405020304" pitchFamily="18" charset="0"/>
                <a:cs typeface="Times New Roman" panose="02020603050405020304" pitchFamily="18" charset="0"/>
              </a:rPr>
              <a:t>The EPI uses 58 performance indicators across 11 issue categories to calculate the overall value. Environmental issue categories used for the EPI include acid rain, air quality, agriculture, biodiversity, climate change mitigation, drinking water and sanitation, ecosystem services, fisheries, heavy metals, waste management, and water resources.</a:t>
            </a:r>
          </a:p>
          <a:p>
            <a:endParaRPr lang="en-US" dirty="0"/>
          </a:p>
        </p:txBody>
      </p:sp>
    </p:spTree>
    <p:extLst>
      <p:ext uri="{BB962C8B-B14F-4D97-AF65-F5344CB8AC3E}">
        <p14:creationId xmlns:p14="http://schemas.microsoft.com/office/powerpoint/2010/main" val="2700856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270DB-C0D9-4508-ABF4-B66D9A62672E}"/>
              </a:ext>
            </a:extLst>
          </p:cNvPr>
          <p:cNvSpPr>
            <a:spLocks noGrp="1"/>
          </p:cNvSpPr>
          <p:nvPr>
            <p:ph type="title"/>
          </p:nvPr>
        </p:nvSpPr>
        <p:spPr>
          <a:xfrm>
            <a:off x="838200" y="365126"/>
            <a:ext cx="10515600" cy="315912"/>
          </a:xfrm>
        </p:spPr>
        <p:txBody>
          <a:bodyPr>
            <a:noAutofit/>
          </a:bodyPr>
          <a:lstStyle/>
          <a:p>
            <a:pPr algn="ctr"/>
            <a:r>
              <a:rPr lang="en-US" sz="2800" dirty="0">
                <a:latin typeface="Times New Roman" panose="02020603050405020304" pitchFamily="18" charset="0"/>
                <a:cs typeface="Times New Roman" panose="02020603050405020304" pitchFamily="18" charset="0"/>
              </a:rPr>
              <a:t>EPI framework, 2024</a:t>
            </a:r>
          </a:p>
        </p:txBody>
      </p:sp>
      <p:pic>
        <p:nvPicPr>
          <p:cNvPr id="1026" name="Picture 2">
            <a:extLst>
              <a:ext uri="{FF2B5EF4-FFF2-40B4-BE49-F238E27FC236}">
                <a16:creationId xmlns:a16="http://schemas.microsoft.com/office/drawing/2014/main" id="{E3AA1099-9394-4DB6-BC65-1777B534C61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03353" y="822325"/>
            <a:ext cx="6985293" cy="5935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6304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4BD1E-3157-4CF2-AC69-AFEC6E1D6D77}"/>
              </a:ext>
            </a:extLst>
          </p:cNvPr>
          <p:cNvSpPr>
            <a:spLocks noGrp="1"/>
          </p:cNvSpPr>
          <p:nvPr>
            <p:ph type="title"/>
          </p:nvPr>
        </p:nvSpPr>
        <p:spPr>
          <a:xfrm>
            <a:off x="838200" y="311427"/>
            <a:ext cx="10515600" cy="496956"/>
          </a:xfrm>
        </p:spPr>
        <p:txBody>
          <a:bodyPr>
            <a:noAutofit/>
          </a:bodyPr>
          <a:lstStyle/>
          <a:p>
            <a:pPr algn="ctr"/>
            <a:r>
              <a:rPr lang="en-US" sz="3600" b="0" i="0" dirty="0">
                <a:effectLst/>
                <a:latin typeface="Times New Roman" panose="02020603050405020304" pitchFamily="18" charset="0"/>
                <a:cs typeface="Times New Roman" panose="02020603050405020304" pitchFamily="18" charset="0"/>
              </a:rPr>
              <a:t>Global Insights from EPI Rankings</a:t>
            </a:r>
            <a:br>
              <a:rPr lang="en-US" sz="3600" b="0" i="0" dirty="0">
                <a:effectLst/>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59EEEAC-E5BB-4C2F-B607-7B60162DC001}"/>
              </a:ext>
            </a:extLst>
          </p:cNvPr>
          <p:cNvSpPr>
            <a:spLocks noGrp="1"/>
          </p:cNvSpPr>
          <p:nvPr>
            <p:ph idx="1"/>
          </p:nvPr>
        </p:nvSpPr>
        <p:spPr>
          <a:xfrm>
            <a:off x="838200" y="1113182"/>
            <a:ext cx="10515600" cy="5433391"/>
          </a:xfrm>
        </p:spPr>
        <p:txBody>
          <a:bodyPr>
            <a:normAutofit lnSpcReduction="10000"/>
          </a:bodyPr>
          <a:lstStyle/>
          <a:p>
            <a:pPr algn="just"/>
            <a:r>
              <a:rPr lang="en-US" b="0" i="0" dirty="0">
                <a:effectLst/>
                <a:latin typeface="Times New Roman" panose="02020603050405020304" pitchFamily="18" charset="0"/>
                <a:cs typeface="Times New Roman" panose="02020603050405020304" pitchFamily="18" charset="0"/>
              </a:rPr>
              <a:t>The Environmental Performance Index (EPI) ranks countries based on their environmental performance across various indicators, such as air quality, climate change policies, and biodiversity protection. These rankings provide a snapshot of global efforts to achieve sustainability goals.</a:t>
            </a:r>
          </a:p>
          <a:p>
            <a:pPr algn="just" fontAlgn="ctr"/>
            <a:r>
              <a:rPr lang="en-US" b="0" i="0" dirty="0">
                <a:effectLst/>
                <a:latin typeface="Times New Roman" panose="02020603050405020304" pitchFamily="18" charset="0"/>
                <a:cs typeface="Times New Roman" panose="02020603050405020304" pitchFamily="18" charset="0"/>
              </a:rPr>
              <a:t>In the 2024 EPI, </a:t>
            </a:r>
            <a:r>
              <a:rPr lang="en-US" dirty="0">
                <a:latin typeface="Times New Roman" panose="02020603050405020304" pitchFamily="18" charset="0"/>
                <a:cs typeface="Times New Roman" panose="02020603050405020304" pitchFamily="18" charset="0"/>
              </a:rPr>
              <a:t>Estonia</a:t>
            </a:r>
            <a:r>
              <a:rPr lang="en-US" b="0" i="0" dirty="0">
                <a:effectLst/>
                <a:latin typeface="Times New Roman" panose="02020603050405020304" pitchFamily="18" charset="0"/>
                <a:cs typeface="Times New Roman" panose="02020603050405020304" pitchFamily="18" charset="0"/>
              </a:rPr>
              <a:t> ranked first, performing strongly in biodiversity conservation with a significant portion of its land and seas protected</a:t>
            </a:r>
            <a:r>
              <a:rPr lang="en-US" dirty="0">
                <a:latin typeface="Times New Roman" panose="02020603050405020304" pitchFamily="18" charset="0"/>
                <a:cs typeface="Times New Roman" panose="02020603050405020304" pitchFamily="18" charset="0"/>
              </a:rPr>
              <a:t>. Countries’ wealth is a strong predictor of their overall environmental performance.</a:t>
            </a:r>
          </a:p>
          <a:p>
            <a:pPr algn="just" fontAlgn="ctr"/>
            <a:r>
              <a:rPr lang="en-US" dirty="0">
                <a:latin typeface="Times New Roman" panose="02020603050405020304" pitchFamily="18" charset="0"/>
                <a:cs typeface="Times New Roman" panose="02020603050405020304" pitchFamily="18" charset="0"/>
              </a:rPr>
              <a:t>Bangladesh</a:t>
            </a:r>
            <a:r>
              <a:rPr lang="en-US" b="0" i="0" dirty="0">
                <a:effectLst/>
                <a:latin typeface="Times New Roman" panose="02020603050405020304" pitchFamily="18" charset="0"/>
                <a:cs typeface="Times New Roman" panose="02020603050405020304" pitchFamily="18" charset="0"/>
              </a:rPr>
              <a:t> ranked 175th out of 180 countries in the 2024 EPI, according to data from the </a:t>
            </a:r>
            <a:r>
              <a:rPr lang="en-US" dirty="0">
                <a:latin typeface="Times New Roman" panose="02020603050405020304" pitchFamily="18" charset="0"/>
                <a:cs typeface="Times New Roman" panose="02020603050405020304" pitchFamily="18" charset="0"/>
              </a:rPr>
              <a:t>Ministry of Environment, Forest and Climate Change of Bangladesh</a:t>
            </a:r>
            <a:r>
              <a:rPr lang="en-US" b="0" i="0" dirty="0">
                <a:effectLst/>
                <a:latin typeface="Times New Roman" panose="02020603050405020304" pitchFamily="18" charset="0"/>
                <a:cs typeface="Times New Roman" panose="02020603050405020304" pitchFamily="18" charset="0"/>
              </a:rPr>
              <a:t>. </a:t>
            </a:r>
            <a:r>
              <a:rPr lang="en-CA" sz="2800" b="0" i="0" u="none" strike="noStrike" dirty="0">
                <a:effectLst/>
                <a:latin typeface="Times New Roman" panose="02020603050405020304" pitchFamily="18" charset="0"/>
                <a:cs typeface="Times New Roman" panose="02020603050405020304" pitchFamily="18" charset="0"/>
              </a:rPr>
              <a:t> The majority of low-scoring countries have prioritised economic expansion above sustainability or are dealing with civil upheaval and other crises.</a:t>
            </a:r>
            <a:endParaRPr lang="en-US" b="0" i="0" dirty="0">
              <a:effectLst/>
              <a:latin typeface="Times New Roman" panose="02020603050405020304" pitchFamily="18" charset="0"/>
              <a:cs typeface="Times New Roman" panose="02020603050405020304" pitchFamily="18" charset="0"/>
            </a:endParaRPr>
          </a:p>
          <a:p>
            <a:pPr algn="l"/>
            <a:endParaRPr lang="en-US" b="0" i="0" dirty="0">
              <a:solidFill>
                <a:srgbClr val="383838"/>
              </a:solidFill>
              <a:effectLst/>
              <a:latin typeface="Gilroy"/>
            </a:endParaRPr>
          </a:p>
          <a:p>
            <a:endParaRPr lang="en-US" dirty="0"/>
          </a:p>
        </p:txBody>
      </p:sp>
    </p:spTree>
    <p:extLst>
      <p:ext uri="{BB962C8B-B14F-4D97-AF65-F5344CB8AC3E}">
        <p14:creationId xmlns:p14="http://schemas.microsoft.com/office/powerpoint/2010/main" val="3728231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835E6-4C91-4FA0-A822-D71B7E676C3E}"/>
              </a:ext>
            </a:extLst>
          </p:cNvPr>
          <p:cNvSpPr>
            <a:spLocks noGrp="1"/>
          </p:cNvSpPr>
          <p:nvPr>
            <p:ph type="title"/>
          </p:nvPr>
        </p:nvSpPr>
        <p:spPr>
          <a:xfrm>
            <a:off x="838200" y="365125"/>
            <a:ext cx="10515600" cy="416753"/>
          </a:xfrm>
        </p:spPr>
        <p:txBody>
          <a:bodyPr>
            <a:noAutofit/>
          </a:bodyPr>
          <a:lstStyle/>
          <a:p>
            <a:pPr algn="ctr"/>
            <a:r>
              <a:rPr lang="en-US" sz="2800" dirty="0">
                <a:latin typeface="Times New Roman" panose="02020603050405020304" pitchFamily="18" charset="0"/>
                <a:cs typeface="Times New Roman" panose="02020603050405020304" pitchFamily="18" charset="0"/>
              </a:rPr>
              <a:t>Scores: decreased from deep to light</a:t>
            </a:r>
          </a:p>
        </p:txBody>
      </p:sp>
      <p:pic>
        <p:nvPicPr>
          <p:cNvPr id="5" name="Content Placeholder 4">
            <a:extLst>
              <a:ext uri="{FF2B5EF4-FFF2-40B4-BE49-F238E27FC236}">
                <a16:creationId xmlns:a16="http://schemas.microsoft.com/office/drawing/2014/main" id="{417BABD8-CAD5-445D-9156-E9D25765BCA5}"/>
              </a:ext>
            </a:extLst>
          </p:cNvPr>
          <p:cNvPicPr>
            <a:picLocks noGrp="1" noChangeAspect="1"/>
          </p:cNvPicPr>
          <p:nvPr>
            <p:ph idx="1"/>
          </p:nvPr>
        </p:nvPicPr>
        <p:blipFill>
          <a:blip r:embed="rId2"/>
          <a:stretch>
            <a:fillRect/>
          </a:stretch>
        </p:blipFill>
        <p:spPr>
          <a:xfrm>
            <a:off x="1577010" y="1285461"/>
            <a:ext cx="8931964" cy="5207414"/>
          </a:xfrm>
        </p:spPr>
      </p:pic>
    </p:spTree>
    <p:extLst>
      <p:ext uri="{BB962C8B-B14F-4D97-AF65-F5344CB8AC3E}">
        <p14:creationId xmlns:p14="http://schemas.microsoft.com/office/powerpoint/2010/main" val="2146582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932E4-935E-4F7A-870E-83CFF32DB499}"/>
              </a:ext>
            </a:extLst>
          </p:cNvPr>
          <p:cNvSpPr>
            <a:spLocks noGrp="1"/>
          </p:cNvSpPr>
          <p:nvPr>
            <p:ph type="title"/>
          </p:nvPr>
        </p:nvSpPr>
        <p:spPr>
          <a:xfrm>
            <a:off x="839788" y="365125"/>
            <a:ext cx="10515600" cy="695049"/>
          </a:xfrm>
        </p:spPr>
        <p:txBody>
          <a:bodyPr>
            <a:normAutofit/>
          </a:bodyPr>
          <a:lstStyle/>
          <a:p>
            <a:pPr algn="ctr"/>
            <a:r>
              <a:rPr lang="en-US" sz="3600" b="0" i="0" dirty="0">
                <a:effectLst/>
                <a:latin typeface="Times New Roman" panose="02020603050405020304" pitchFamily="18" charset="0"/>
                <a:cs typeface="Times New Roman" panose="02020603050405020304" pitchFamily="18" charset="0"/>
              </a:rPr>
              <a:t>Example of Country's Performance</a:t>
            </a:r>
            <a:endParaRPr lang="en-US" sz="36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19C3A45-DC86-482A-B46D-7D4281EECDCB}"/>
              </a:ext>
            </a:extLst>
          </p:cNvPr>
          <p:cNvSpPr>
            <a:spLocks noGrp="1"/>
          </p:cNvSpPr>
          <p:nvPr>
            <p:ph type="body" idx="1"/>
          </p:nvPr>
        </p:nvSpPr>
        <p:spPr/>
        <p:txBody>
          <a:bodyPr/>
          <a:lstStyle/>
          <a:p>
            <a:pPr algn="ctr"/>
            <a:r>
              <a:rPr lang="en-US" dirty="0"/>
              <a:t>European/development countries</a:t>
            </a:r>
          </a:p>
        </p:txBody>
      </p:sp>
      <p:graphicFrame>
        <p:nvGraphicFramePr>
          <p:cNvPr id="7" name="Table 7">
            <a:extLst>
              <a:ext uri="{FF2B5EF4-FFF2-40B4-BE49-F238E27FC236}">
                <a16:creationId xmlns:a16="http://schemas.microsoft.com/office/drawing/2014/main" id="{01FBB6FB-760B-455C-95DC-403A1BE796A7}"/>
              </a:ext>
            </a:extLst>
          </p:cNvPr>
          <p:cNvGraphicFramePr>
            <a:graphicFrameLocks noGrp="1"/>
          </p:cNvGraphicFramePr>
          <p:nvPr>
            <p:ph sz="half" idx="2"/>
            <p:extLst>
              <p:ext uri="{D42A27DB-BD31-4B8C-83A1-F6EECF244321}">
                <p14:modId xmlns:p14="http://schemas.microsoft.com/office/powerpoint/2010/main" val="2934316228"/>
              </p:ext>
            </p:extLst>
          </p:nvPr>
        </p:nvGraphicFramePr>
        <p:xfrm>
          <a:off x="862015" y="2655443"/>
          <a:ext cx="5157786" cy="3534220"/>
        </p:xfrm>
        <a:graphic>
          <a:graphicData uri="http://schemas.openxmlformats.org/drawingml/2006/table">
            <a:tbl>
              <a:tblPr firstRow="1" bandRow="1">
                <a:tableStyleId>{5C22544A-7EE6-4342-B048-85BDC9FD1C3A}</a:tableStyleId>
              </a:tblPr>
              <a:tblGrid>
                <a:gridCol w="1575284">
                  <a:extLst>
                    <a:ext uri="{9D8B030D-6E8A-4147-A177-3AD203B41FA5}">
                      <a16:colId xmlns:a16="http://schemas.microsoft.com/office/drawing/2014/main" val="504267817"/>
                    </a:ext>
                  </a:extLst>
                </a:gridCol>
                <a:gridCol w="1656521">
                  <a:extLst>
                    <a:ext uri="{9D8B030D-6E8A-4147-A177-3AD203B41FA5}">
                      <a16:colId xmlns:a16="http://schemas.microsoft.com/office/drawing/2014/main" val="4204321873"/>
                    </a:ext>
                  </a:extLst>
                </a:gridCol>
                <a:gridCol w="1925981">
                  <a:extLst>
                    <a:ext uri="{9D8B030D-6E8A-4147-A177-3AD203B41FA5}">
                      <a16:colId xmlns:a16="http://schemas.microsoft.com/office/drawing/2014/main" val="3612389988"/>
                    </a:ext>
                  </a:extLst>
                </a:gridCol>
              </a:tblGrid>
              <a:tr h="578828">
                <a:tc>
                  <a:txBody>
                    <a:bodyPr/>
                    <a:lstStyle/>
                    <a:p>
                      <a:pPr algn="ctr"/>
                      <a:r>
                        <a:rPr lang="en-US" dirty="0">
                          <a:latin typeface="Times New Roman" panose="02020603050405020304" pitchFamily="18" charset="0"/>
                          <a:cs typeface="Times New Roman" panose="02020603050405020304" pitchFamily="18" charset="0"/>
                        </a:rPr>
                        <a:t>Country</a:t>
                      </a:r>
                    </a:p>
                  </a:txBody>
                  <a:tcPr/>
                </a:tc>
                <a:tc>
                  <a:txBody>
                    <a:bodyPr/>
                    <a:lstStyle/>
                    <a:p>
                      <a:pPr algn="ctr"/>
                      <a:r>
                        <a:rPr lang="en-US" dirty="0">
                          <a:latin typeface="Times New Roman" panose="02020603050405020304" pitchFamily="18" charset="0"/>
                          <a:cs typeface="Times New Roman" panose="02020603050405020304" pitchFamily="18" charset="0"/>
                        </a:rPr>
                        <a:t>EPI Score 2024</a:t>
                      </a:r>
                    </a:p>
                  </a:txBody>
                  <a:tcPr/>
                </a:tc>
                <a:tc>
                  <a:txBody>
                    <a:bodyPr/>
                    <a:lstStyle/>
                    <a:p>
                      <a:pPr algn="ctr"/>
                      <a:r>
                        <a:rPr lang="en-US" dirty="0">
                          <a:latin typeface="Times New Roman" panose="02020603050405020304" pitchFamily="18" charset="0"/>
                          <a:cs typeface="Times New Roman" panose="02020603050405020304" pitchFamily="18" charset="0"/>
                        </a:rPr>
                        <a:t>Change</a:t>
                      </a:r>
                    </a:p>
                    <a:p>
                      <a:pPr algn="ctr"/>
                      <a:r>
                        <a:rPr lang="en-US" dirty="0">
                          <a:latin typeface="Times New Roman" panose="02020603050405020304" pitchFamily="18" charset="0"/>
                          <a:cs typeface="Times New Roman" panose="02020603050405020304" pitchFamily="18" charset="0"/>
                        </a:rPr>
                        <a:t>(2014-2024)</a:t>
                      </a:r>
                    </a:p>
                  </a:txBody>
                  <a:tcPr/>
                </a:tc>
                <a:extLst>
                  <a:ext uri="{0D108BD9-81ED-4DB2-BD59-A6C34878D82A}">
                    <a16:rowId xmlns:a16="http://schemas.microsoft.com/office/drawing/2014/main" val="910283850"/>
                  </a:ext>
                </a:extLst>
              </a:tr>
              <a:tr h="578828">
                <a:tc>
                  <a:txBody>
                    <a:bodyPr/>
                    <a:lstStyle/>
                    <a:p>
                      <a:pPr algn="ctr"/>
                      <a:r>
                        <a:rPr lang="en-US" dirty="0">
                          <a:latin typeface="Times New Roman" panose="02020603050405020304" pitchFamily="18" charset="0"/>
                          <a:cs typeface="Times New Roman" panose="02020603050405020304" pitchFamily="18" charset="0"/>
                        </a:rPr>
                        <a:t>Estonia</a:t>
                      </a:r>
                    </a:p>
                  </a:txBody>
                  <a:tcPr/>
                </a:tc>
                <a:tc>
                  <a:txBody>
                    <a:bodyPr/>
                    <a:lstStyle/>
                    <a:p>
                      <a:pPr algn="ctr"/>
                      <a:r>
                        <a:rPr lang="en-US" dirty="0">
                          <a:latin typeface="Times New Roman" panose="02020603050405020304" pitchFamily="18" charset="0"/>
                          <a:cs typeface="Times New Roman" panose="02020603050405020304" pitchFamily="18" charset="0"/>
                        </a:rPr>
                        <a:t>75.70</a:t>
                      </a:r>
                    </a:p>
                  </a:txBody>
                  <a:tcPr/>
                </a:tc>
                <a:tc>
                  <a:txBody>
                    <a:bodyPr/>
                    <a:lstStyle/>
                    <a:p>
                      <a:pPr algn="ctr"/>
                      <a:r>
                        <a:rPr lang="en-US" dirty="0">
                          <a:latin typeface="Times New Roman" panose="02020603050405020304" pitchFamily="18" charset="0"/>
                          <a:cs typeface="Times New Roman" panose="02020603050405020304" pitchFamily="18" charset="0"/>
                        </a:rPr>
                        <a:t>17.60</a:t>
                      </a:r>
                    </a:p>
                  </a:txBody>
                  <a:tcPr/>
                </a:tc>
                <a:extLst>
                  <a:ext uri="{0D108BD9-81ED-4DB2-BD59-A6C34878D82A}">
                    <a16:rowId xmlns:a16="http://schemas.microsoft.com/office/drawing/2014/main" val="2124592442"/>
                  </a:ext>
                </a:extLst>
              </a:tr>
              <a:tr h="578828">
                <a:tc>
                  <a:txBody>
                    <a:bodyPr/>
                    <a:lstStyle/>
                    <a:p>
                      <a:pPr algn="ctr"/>
                      <a:r>
                        <a:rPr lang="en-US" dirty="0">
                          <a:latin typeface="Times New Roman" panose="02020603050405020304" pitchFamily="18" charset="0"/>
                          <a:cs typeface="Times New Roman" panose="02020603050405020304" pitchFamily="18" charset="0"/>
                        </a:rPr>
                        <a:t>Luxembourg</a:t>
                      </a:r>
                    </a:p>
                  </a:txBody>
                  <a:tcPr/>
                </a:tc>
                <a:tc>
                  <a:txBody>
                    <a:bodyPr/>
                    <a:lstStyle/>
                    <a:p>
                      <a:pPr algn="ctr"/>
                      <a:r>
                        <a:rPr lang="en-US" dirty="0">
                          <a:latin typeface="Times New Roman" panose="02020603050405020304" pitchFamily="18" charset="0"/>
                          <a:cs typeface="Times New Roman" panose="02020603050405020304" pitchFamily="18" charset="0"/>
                        </a:rPr>
                        <a:t>75.10</a:t>
                      </a:r>
                    </a:p>
                  </a:txBody>
                  <a:tcPr/>
                </a:tc>
                <a:tc>
                  <a:txBody>
                    <a:bodyPr/>
                    <a:lstStyle/>
                    <a:p>
                      <a:pPr algn="ctr"/>
                      <a:r>
                        <a:rPr lang="en-US" dirty="0">
                          <a:latin typeface="Times New Roman" panose="02020603050405020304" pitchFamily="18" charset="0"/>
                          <a:cs typeface="Times New Roman" panose="02020603050405020304" pitchFamily="18" charset="0"/>
                        </a:rPr>
                        <a:t>4.20</a:t>
                      </a:r>
                    </a:p>
                  </a:txBody>
                  <a:tcPr/>
                </a:tc>
                <a:extLst>
                  <a:ext uri="{0D108BD9-81ED-4DB2-BD59-A6C34878D82A}">
                    <a16:rowId xmlns:a16="http://schemas.microsoft.com/office/drawing/2014/main" val="3266629111"/>
                  </a:ext>
                </a:extLst>
              </a:tr>
              <a:tr h="578828">
                <a:tc>
                  <a:txBody>
                    <a:bodyPr/>
                    <a:lstStyle/>
                    <a:p>
                      <a:pPr algn="ctr"/>
                      <a:r>
                        <a:rPr lang="en-US" dirty="0">
                          <a:latin typeface="Times New Roman" panose="02020603050405020304" pitchFamily="18" charset="0"/>
                          <a:cs typeface="Times New Roman" panose="02020603050405020304" pitchFamily="18" charset="0"/>
                        </a:rPr>
                        <a:t>Germany</a:t>
                      </a:r>
                    </a:p>
                  </a:txBody>
                  <a:tcPr/>
                </a:tc>
                <a:tc>
                  <a:txBody>
                    <a:bodyPr/>
                    <a:lstStyle/>
                    <a:p>
                      <a:pPr algn="ctr"/>
                      <a:r>
                        <a:rPr lang="en-US" dirty="0">
                          <a:latin typeface="Times New Roman" panose="02020603050405020304" pitchFamily="18" charset="0"/>
                          <a:cs typeface="Times New Roman" panose="02020603050405020304" pitchFamily="18" charset="0"/>
                        </a:rPr>
                        <a:t>74.50</a:t>
                      </a:r>
                    </a:p>
                  </a:txBody>
                  <a:tcPr/>
                </a:tc>
                <a:tc>
                  <a:txBody>
                    <a:bodyPr/>
                    <a:lstStyle/>
                    <a:p>
                      <a:pPr algn="ctr"/>
                      <a:r>
                        <a:rPr lang="en-US" dirty="0">
                          <a:latin typeface="Times New Roman" panose="02020603050405020304" pitchFamily="18" charset="0"/>
                          <a:cs typeface="Times New Roman" panose="02020603050405020304" pitchFamily="18" charset="0"/>
                        </a:rPr>
                        <a:t>4.60</a:t>
                      </a:r>
                    </a:p>
                  </a:txBody>
                  <a:tcPr/>
                </a:tc>
                <a:extLst>
                  <a:ext uri="{0D108BD9-81ED-4DB2-BD59-A6C34878D82A}">
                    <a16:rowId xmlns:a16="http://schemas.microsoft.com/office/drawing/2014/main" val="1860184314"/>
                  </a:ext>
                </a:extLst>
              </a:tr>
              <a:tr h="578828">
                <a:tc>
                  <a:txBody>
                    <a:bodyPr/>
                    <a:lstStyle/>
                    <a:p>
                      <a:pPr algn="ctr"/>
                      <a:r>
                        <a:rPr lang="en-US" dirty="0">
                          <a:latin typeface="Times New Roman" panose="02020603050405020304" pitchFamily="18" charset="0"/>
                          <a:cs typeface="Times New Roman" panose="02020603050405020304" pitchFamily="18" charset="0"/>
                        </a:rPr>
                        <a:t>Finland</a:t>
                      </a:r>
                    </a:p>
                  </a:txBody>
                  <a:tcPr/>
                </a:tc>
                <a:tc>
                  <a:txBody>
                    <a:bodyPr/>
                    <a:lstStyle/>
                    <a:p>
                      <a:pPr algn="ctr"/>
                      <a:r>
                        <a:rPr lang="en-US" dirty="0">
                          <a:latin typeface="Times New Roman" panose="02020603050405020304" pitchFamily="18" charset="0"/>
                          <a:cs typeface="Times New Roman" panose="02020603050405020304" pitchFamily="18" charset="0"/>
                        </a:rPr>
                        <a:t>73.80</a:t>
                      </a:r>
                    </a:p>
                  </a:txBody>
                  <a:tcPr/>
                </a:tc>
                <a:tc>
                  <a:txBody>
                    <a:bodyPr/>
                    <a:lstStyle/>
                    <a:p>
                      <a:pPr algn="ctr"/>
                      <a:r>
                        <a:rPr lang="en-US" dirty="0">
                          <a:latin typeface="Times New Roman" panose="02020603050405020304" pitchFamily="18" charset="0"/>
                          <a:cs typeface="Times New Roman" panose="02020603050405020304" pitchFamily="18" charset="0"/>
                        </a:rPr>
                        <a:t>8.30</a:t>
                      </a:r>
                    </a:p>
                  </a:txBody>
                  <a:tcPr/>
                </a:tc>
                <a:extLst>
                  <a:ext uri="{0D108BD9-81ED-4DB2-BD59-A6C34878D82A}">
                    <a16:rowId xmlns:a16="http://schemas.microsoft.com/office/drawing/2014/main" val="3225558902"/>
                  </a:ext>
                </a:extLst>
              </a:tr>
              <a:tr h="578828">
                <a:tc>
                  <a:txBody>
                    <a:bodyPr/>
                    <a:lstStyle/>
                    <a:p>
                      <a:pPr algn="ctr"/>
                      <a:r>
                        <a:rPr lang="en-US" dirty="0">
                          <a:latin typeface="Times New Roman" panose="02020603050405020304" pitchFamily="18" charset="0"/>
                          <a:cs typeface="Times New Roman" panose="02020603050405020304" pitchFamily="18" charset="0"/>
                        </a:rPr>
                        <a:t>UK</a:t>
                      </a:r>
                    </a:p>
                  </a:txBody>
                  <a:tcPr/>
                </a:tc>
                <a:tc>
                  <a:txBody>
                    <a:bodyPr/>
                    <a:lstStyle/>
                    <a:p>
                      <a:pPr algn="ctr"/>
                      <a:r>
                        <a:rPr lang="en-US" dirty="0">
                          <a:latin typeface="Times New Roman" panose="02020603050405020304" pitchFamily="18" charset="0"/>
                          <a:cs typeface="Times New Roman" panose="02020603050405020304" pitchFamily="18" charset="0"/>
                        </a:rPr>
                        <a:t>72.60</a:t>
                      </a:r>
                    </a:p>
                  </a:txBody>
                  <a:tcPr/>
                </a:tc>
                <a:tc>
                  <a:txBody>
                    <a:bodyPr/>
                    <a:lstStyle/>
                    <a:p>
                      <a:pPr algn="ctr"/>
                      <a:r>
                        <a:rPr lang="en-US" dirty="0">
                          <a:latin typeface="Times New Roman" panose="02020603050405020304" pitchFamily="18" charset="0"/>
                          <a:cs typeface="Times New Roman" panose="02020603050405020304" pitchFamily="18" charset="0"/>
                        </a:rPr>
                        <a:t>2.10</a:t>
                      </a:r>
                    </a:p>
                  </a:txBody>
                  <a:tcPr/>
                </a:tc>
                <a:extLst>
                  <a:ext uri="{0D108BD9-81ED-4DB2-BD59-A6C34878D82A}">
                    <a16:rowId xmlns:a16="http://schemas.microsoft.com/office/drawing/2014/main" val="3975820821"/>
                  </a:ext>
                </a:extLst>
              </a:tr>
            </a:tbl>
          </a:graphicData>
        </a:graphic>
      </p:graphicFrame>
      <p:sp>
        <p:nvSpPr>
          <p:cNvPr id="5" name="Text Placeholder 4">
            <a:extLst>
              <a:ext uri="{FF2B5EF4-FFF2-40B4-BE49-F238E27FC236}">
                <a16:creationId xmlns:a16="http://schemas.microsoft.com/office/drawing/2014/main" id="{5DD70A84-5D41-4DA4-8306-6AA5F5AE0DEF}"/>
              </a:ext>
            </a:extLst>
          </p:cNvPr>
          <p:cNvSpPr>
            <a:spLocks noGrp="1"/>
          </p:cNvSpPr>
          <p:nvPr>
            <p:ph type="body" sz="quarter" idx="3"/>
          </p:nvPr>
        </p:nvSpPr>
        <p:spPr/>
        <p:txBody>
          <a:bodyPr/>
          <a:lstStyle/>
          <a:p>
            <a:pPr algn="ctr"/>
            <a:r>
              <a:rPr lang="en-US" dirty="0"/>
              <a:t>Asian/developing countries</a:t>
            </a:r>
          </a:p>
        </p:txBody>
      </p:sp>
      <p:graphicFrame>
        <p:nvGraphicFramePr>
          <p:cNvPr id="8" name="Table 8">
            <a:extLst>
              <a:ext uri="{FF2B5EF4-FFF2-40B4-BE49-F238E27FC236}">
                <a16:creationId xmlns:a16="http://schemas.microsoft.com/office/drawing/2014/main" id="{9FDBAA04-B5AB-4EA6-8895-05CEF3728054}"/>
              </a:ext>
            </a:extLst>
          </p:cNvPr>
          <p:cNvGraphicFramePr>
            <a:graphicFrameLocks noGrp="1"/>
          </p:cNvGraphicFramePr>
          <p:nvPr>
            <p:ph sz="quarter" idx="4"/>
            <p:extLst>
              <p:ext uri="{D42A27DB-BD31-4B8C-83A1-F6EECF244321}">
                <p14:modId xmlns:p14="http://schemas.microsoft.com/office/powerpoint/2010/main" val="211799451"/>
              </p:ext>
            </p:extLst>
          </p:nvPr>
        </p:nvGraphicFramePr>
        <p:xfrm>
          <a:off x="6194426" y="2655442"/>
          <a:ext cx="5183187" cy="3585265"/>
        </p:xfrm>
        <a:graphic>
          <a:graphicData uri="http://schemas.openxmlformats.org/drawingml/2006/table">
            <a:tbl>
              <a:tblPr firstRow="1" bandRow="1">
                <a:tableStyleId>{5C22544A-7EE6-4342-B048-85BDC9FD1C3A}</a:tableStyleId>
              </a:tblPr>
              <a:tblGrid>
                <a:gridCol w="1727729">
                  <a:extLst>
                    <a:ext uri="{9D8B030D-6E8A-4147-A177-3AD203B41FA5}">
                      <a16:colId xmlns:a16="http://schemas.microsoft.com/office/drawing/2014/main" val="3428244218"/>
                    </a:ext>
                  </a:extLst>
                </a:gridCol>
                <a:gridCol w="1727729">
                  <a:extLst>
                    <a:ext uri="{9D8B030D-6E8A-4147-A177-3AD203B41FA5}">
                      <a16:colId xmlns:a16="http://schemas.microsoft.com/office/drawing/2014/main" val="204711904"/>
                    </a:ext>
                  </a:extLst>
                </a:gridCol>
                <a:gridCol w="1727729">
                  <a:extLst>
                    <a:ext uri="{9D8B030D-6E8A-4147-A177-3AD203B41FA5}">
                      <a16:colId xmlns:a16="http://schemas.microsoft.com/office/drawing/2014/main" val="495170045"/>
                    </a:ext>
                  </a:extLst>
                </a:gridCol>
              </a:tblGrid>
              <a:tr h="589037">
                <a:tc>
                  <a:txBody>
                    <a:bodyPr/>
                    <a:lstStyle/>
                    <a:p>
                      <a:pPr algn="ctr"/>
                      <a:r>
                        <a:rPr lang="en-US" dirty="0">
                          <a:latin typeface="Times New Roman" panose="02020603050405020304" pitchFamily="18" charset="0"/>
                          <a:cs typeface="Times New Roman" panose="02020603050405020304" pitchFamily="18" charset="0"/>
                        </a:rPr>
                        <a:t>Country</a:t>
                      </a:r>
                    </a:p>
                  </a:txBody>
                  <a:tcPr/>
                </a:tc>
                <a:tc>
                  <a:txBody>
                    <a:bodyPr/>
                    <a:lstStyle/>
                    <a:p>
                      <a:pPr algn="ctr"/>
                      <a:r>
                        <a:rPr lang="en-US" dirty="0">
                          <a:latin typeface="Times New Roman" panose="02020603050405020304" pitchFamily="18" charset="0"/>
                          <a:cs typeface="Times New Roman" panose="02020603050405020304" pitchFamily="18" charset="0"/>
                        </a:rPr>
                        <a:t>EPI Score 2024</a:t>
                      </a:r>
                    </a:p>
                  </a:txBody>
                  <a:tcPr/>
                </a:tc>
                <a:tc>
                  <a:txBody>
                    <a:bodyPr/>
                    <a:lstStyle/>
                    <a:p>
                      <a:pPr algn="ctr"/>
                      <a:r>
                        <a:rPr lang="en-US" dirty="0">
                          <a:latin typeface="Times New Roman" panose="02020603050405020304" pitchFamily="18" charset="0"/>
                          <a:cs typeface="Times New Roman" panose="02020603050405020304" pitchFamily="18" charset="0"/>
                        </a:rPr>
                        <a:t>Change</a:t>
                      </a:r>
                    </a:p>
                    <a:p>
                      <a:pPr algn="ctr"/>
                      <a:r>
                        <a:rPr lang="en-US" dirty="0">
                          <a:latin typeface="Times New Roman" panose="02020603050405020304" pitchFamily="18" charset="0"/>
                          <a:cs typeface="Times New Roman" panose="02020603050405020304" pitchFamily="18" charset="0"/>
                        </a:rPr>
                        <a:t>(2014-2024)</a:t>
                      </a:r>
                    </a:p>
                  </a:txBody>
                  <a:tcPr/>
                </a:tc>
                <a:extLst>
                  <a:ext uri="{0D108BD9-81ED-4DB2-BD59-A6C34878D82A}">
                    <a16:rowId xmlns:a16="http://schemas.microsoft.com/office/drawing/2014/main" val="2788666429"/>
                  </a:ext>
                </a:extLst>
              </a:tr>
              <a:tr h="589037">
                <a:tc>
                  <a:txBody>
                    <a:bodyPr/>
                    <a:lstStyle/>
                    <a:p>
                      <a:pPr algn="ctr"/>
                      <a:r>
                        <a:rPr lang="en-US" dirty="0"/>
                        <a:t>Bangladesh</a:t>
                      </a:r>
                    </a:p>
                  </a:txBody>
                  <a:tcPr/>
                </a:tc>
                <a:tc>
                  <a:txBody>
                    <a:bodyPr/>
                    <a:lstStyle/>
                    <a:p>
                      <a:pPr algn="ctr"/>
                      <a:r>
                        <a:rPr lang="en-US" dirty="0"/>
                        <a:t>28.10</a:t>
                      </a:r>
                    </a:p>
                  </a:txBody>
                  <a:tcPr/>
                </a:tc>
                <a:tc>
                  <a:txBody>
                    <a:bodyPr/>
                    <a:lstStyle/>
                    <a:p>
                      <a:pPr algn="ctr"/>
                      <a:r>
                        <a:rPr lang="en-US" dirty="0"/>
                        <a:t>2.40</a:t>
                      </a:r>
                    </a:p>
                  </a:txBody>
                  <a:tcPr/>
                </a:tc>
                <a:extLst>
                  <a:ext uri="{0D108BD9-81ED-4DB2-BD59-A6C34878D82A}">
                    <a16:rowId xmlns:a16="http://schemas.microsoft.com/office/drawing/2014/main" val="1719857071"/>
                  </a:ext>
                </a:extLst>
              </a:tr>
              <a:tr h="589037">
                <a:tc>
                  <a:txBody>
                    <a:bodyPr/>
                    <a:lstStyle/>
                    <a:p>
                      <a:pPr algn="ctr"/>
                      <a:r>
                        <a:rPr lang="en-US" dirty="0"/>
                        <a:t>India</a:t>
                      </a:r>
                    </a:p>
                  </a:txBody>
                  <a:tcPr/>
                </a:tc>
                <a:tc>
                  <a:txBody>
                    <a:bodyPr/>
                    <a:lstStyle/>
                    <a:p>
                      <a:pPr algn="ctr"/>
                      <a:r>
                        <a:rPr lang="en-US" dirty="0"/>
                        <a:t>27.60</a:t>
                      </a:r>
                    </a:p>
                  </a:txBody>
                  <a:tcPr/>
                </a:tc>
                <a:tc>
                  <a:txBody>
                    <a:bodyPr/>
                    <a:lstStyle/>
                    <a:p>
                      <a:pPr algn="ctr"/>
                      <a:r>
                        <a:rPr lang="en-US" dirty="0"/>
                        <a:t>4.70</a:t>
                      </a:r>
                    </a:p>
                  </a:txBody>
                  <a:tcPr/>
                </a:tc>
                <a:extLst>
                  <a:ext uri="{0D108BD9-81ED-4DB2-BD59-A6C34878D82A}">
                    <a16:rowId xmlns:a16="http://schemas.microsoft.com/office/drawing/2014/main" val="4277886867"/>
                  </a:ext>
                </a:extLst>
              </a:tr>
              <a:tr h="589037">
                <a:tc>
                  <a:txBody>
                    <a:bodyPr/>
                    <a:lstStyle/>
                    <a:p>
                      <a:pPr algn="ctr"/>
                      <a:r>
                        <a:rPr lang="en-US" dirty="0"/>
                        <a:t>Myanmar</a:t>
                      </a:r>
                    </a:p>
                  </a:txBody>
                  <a:tcPr/>
                </a:tc>
                <a:tc>
                  <a:txBody>
                    <a:bodyPr/>
                    <a:lstStyle/>
                    <a:p>
                      <a:pPr algn="ctr"/>
                      <a:r>
                        <a:rPr lang="en-US" dirty="0"/>
                        <a:t>27.10</a:t>
                      </a:r>
                    </a:p>
                  </a:txBody>
                  <a:tcPr/>
                </a:tc>
                <a:tc>
                  <a:txBody>
                    <a:bodyPr/>
                    <a:lstStyle/>
                    <a:p>
                      <a:pPr algn="ctr"/>
                      <a:r>
                        <a:rPr lang="en-US" dirty="0"/>
                        <a:t>-2.70</a:t>
                      </a:r>
                    </a:p>
                  </a:txBody>
                  <a:tcPr/>
                </a:tc>
                <a:extLst>
                  <a:ext uri="{0D108BD9-81ED-4DB2-BD59-A6C34878D82A}">
                    <a16:rowId xmlns:a16="http://schemas.microsoft.com/office/drawing/2014/main" val="3638312139"/>
                  </a:ext>
                </a:extLst>
              </a:tr>
              <a:tr h="589037">
                <a:tc>
                  <a:txBody>
                    <a:bodyPr/>
                    <a:lstStyle/>
                    <a:p>
                      <a:pPr algn="ctr"/>
                      <a:r>
                        <a:rPr lang="en-US" dirty="0"/>
                        <a:t>Laos</a:t>
                      </a:r>
                    </a:p>
                  </a:txBody>
                  <a:tcPr/>
                </a:tc>
                <a:tc>
                  <a:txBody>
                    <a:bodyPr/>
                    <a:lstStyle/>
                    <a:p>
                      <a:pPr algn="ctr"/>
                      <a:r>
                        <a:rPr lang="en-US" dirty="0"/>
                        <a:t>26.30</a:t>
                      </a:r>
                    </a:p>
                  </a:txBody>
                  <a:tcPr/>
                </a:tc>
                <a:tc>
                  <a:txBody>
                    <a:bodyPr/>
                    <a:lstStyle/>
                    <a:p>
                      <a:pPr algn="ctr"/>
                      <a:r>
                        <a:rPr lang="en-US" dirty="0"/>
                        <a:t>1.10</a:t>
                      </a:r>
                    </a:p>
                  </a:txBody>
                  <a:tcPr/>
                </a:tc>
                <a:extLst>
                  <a:ext uri="{0D108BD9-81ED-4DB2-BD59-A6C34878D82A}">
                    <a16:rowId xmlns:a16="http://schemas.microsoft.com/office/drawing/2014/main" val="1203504027"/>
                  </a:ext>
                </a:extLst>
              </a:tr>
              <a:tr h="589037">
                <a:tc>
                  <a:txBody>
                    <a:bodyPr/>
                    <a:lstStyle/>
                    <a:p>
                      <a:pPr algn="ctr"/>
                      <a:r>
                        <a:rPr lang="en-US" dirty="0"/>
                        <a:t>Pakistan</a:t>
                      </a:r>
                    </a:p>
                  </a:txBody>
                  <a:tcPr/>
                </a:tc>
                <a:tc>
                  <a:txBody>
                    <a:bodyPr/>
                    <a:lstStyle/>
                    <a:p>
                      <a:pPr algn="ctr"/>
                      <a:r>
                        <a:rPr lang="en-US" dirty="0"/>
                        <a:t>25.50</a:t>
                      </a:r>
                    </a:p>
                  </a:txBody>
                  <a:tcPr/>
                </a:tc>
                <a:tc>
                  <a:txBody>
                    <a:bodyPr/>
                    <a:lstStyle/>
                    <a:p>
                      <a:pPr algn="ctr"/>
                      <a:r>
                        <a:rPr lang="en-US" dirty="0"/>
                        <a:t>-4.00</a:t>
                      </a:r>
                    </a:p>
                  </a:txBody>
                  <a:tcPr/>
                </a:tc>
                <a:extLst>
                  <a:ext uri="{0D108BD9-81ED-4DB2-BD59-A6C34878D82A}">
                    <a16:rowId xmlns:a16="http://schemas.microsoft.com/office/drawing/2014/main" val="1232780993"/>
                  </a:ext>
                </a:extLst>
              </a:tr>
            </a:tbl>
          </a:graphicData>
        </a:graphic>
      </p:graphicFrame>
    </p:spTree>
    <p:extLst>
      <p:ext uri="{BB962C8B-B14F-4D97-AF65-F5344CB8AC3E}">
        <p14:creationId xmlns:p14="http://schemas.microsoft.com/office/powerpoint/2010/main" val="3258619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FA5FE-DC24-4EB5-B280-56B9116F5240}"/>
              </a:ext>
            </a:extLst>
          </p:cNvPr>
          <p:cNvSpPr>
            <a:spLocks noGrp="1"/>
          </p:cNvSpPr>
          <p:nvPr>
            <p:ph type="title"/>
          </p:nvPr>
        </p:nvSpPr>
        <p:spPr>
          <a:xfrm>
            <a:off x="838200" y="365125"/>
            <a:ext cx="10515600" cy="549275"/>
          </a:xfrm>
        </p:spPr>
        <p:txBody>
          <a:bodyPr>
            <a:normAutofit/>
          </a:bodyPr>
          <a:lstStyle/>
          <a:p>
            <a:pPr algn="ctr"/>
            <a:r>
              <a:rPr lang="en-US" sz="3200" dirty="0">
                <a:latin typeface="Times New Roman" panose="02020603050405020304" pitchFamily="18" charset="0"/>
                <a:cs typeface="Times New Roman" panose="02020603050405020304" pitchFamily="18" charset="0"/>
              </a:rPr>
              <a:t>EPI scores and GDP</a:t>
            </a:r>
          </a:p>
        </p:txBody>
      </p:sp>
      <p:pic>
        <p:nvPicPr>
          <p:cNvPr id="5" name="Content Placeholder 4">
            <a:extLst>
              <a:ext uri="{FF2B5EF4-FFF2-40B4-BE49-F238E27FC236}">
                <a16:creationId xmlns:a16="http://schemas.microsoft.com/office/drawing/2014/main" id="{9177E28C-655E-4504-A2F4-1F2BCB4A5F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1046921"/>
            <a:ext cx="9462052" cy="5685183"/>
          </a:xfrm>
        </p:spPr>
      </p:pic>
    </p:spTree>
    <p:extLst>
      <p:ext uri="{BB962C8B-B14F-4D97-AF65-F5344CB8AC3E}">
        <p14:creationId xmlns:p14="http://schemas.microsoft.com/office/powerpoint/2010/main" val="1667128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F3E7B4EF-6C40-C8AF-644E-A8EB46D5B965}"/>
              </a:ext>
            </a:extLst>
          </p:cNvPr>
          <p:cNvPicPr>
            <a:picLocks noGrp="1" noChangeAspect="1"/>
          </p:cNvPicPr>
          <p:nvPr>
            <p:ph idx="1"/>
          </p:nvPr>
        </p:nvPicPr>
        <p:blipFill>
          <a:blip r:embed="rId2"/>
          <a:stretch>
            <a:fillRect/>
          </a:stretch>
        </p:blipFill>
        <p:spPr>
          <a:xfrm>
            <a:off x="1219899" y="1608935"/>
            <a:ext cx="9501588" cy="4745482"/>
          </a:xfrm>
          <a:prstGeom prst="rect">
            <a:avLst/>
          </a:prstGeom>
        </p:spPr>
      </p:pic>
      <p:sp>
        <p:nvSpPr>
          <p:cNvPr id="3" name="TextBox 2">
            <a:extLst>
              <a:ext uri="{FF2B5EF4-FFF2-40B4-BE49-F238E27FC236}">
                <a16:creationId xmlns:a16="http://schemas.microsoft.com/office/drawing/2014/main" id="{9CA179E7-AFA5-4793-A76A-C91EA94F72B9}"/>
              </a:ext>
            </a:extLst>
          </p:cNvPr>
          <p:cNvSpPr txBox="1"/>
          <p:nvPr/>
        </p:nvSpPr>
        <p:spPr>
          <a:xfrm>
            <a:off x="1961322" y="503583"/>
            <a:ext cx="8760165" cy="523220"/>
          </a:xfrm>
          <a:prstGeom prst="rect">
            <a:avLst/>
          </a:prstGeom>
          <a:noFill/>
        </p:spPr>
        <p:txBody>
          <a:bodyPr wrap="square" rtlCol="0">
            <a:spAutoFit/>
          </a:bodyPr>
          <a:lstStyle/>
          <a:p>
            <a:pPr algn="ctr"/>
            <a:r>
              <a:rPr lang="en-US" sz="2800" dirty="0"/>
              <a:t>Carbon dioxide emissions countries</a:t>
            </a:r>
          </a:p>
        </p:txBody>
      </p:sp>
    </p:spTree>
    <p:extLst>
      <p:ext uri="{BB962C8B-B14F-4D97-AF65-F5344CB8AC3E}">
        <p14:creationId xmlns:p14="http://schemas.microsoft.com/office/powerpoint/2010/main" val="844961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5B71A-EFE0-49D7-814D-24127457DD9D}"/>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Significance of EPI </a:t>
            </a:r>
          </a:p>
        </p:txBody>
      </p:sp>
      <p:sp>
        <p:nvSpPr>
          <p:cNvPr id="3" name="Content Placeholder 2">
            <a:extLst>
              <a:ext uri="{FF2B5EF4-FFF2-40B4-BE49-F238E27FC236}">
                <a16:creationId xmlns:a16="http://schemas.microsoft.com/office/drawing/2014/main" id="{B2B25104-B2D2-444B-A3CA-05F94A8A7FEA}"/>
              </a:ext>
            </a:extLst>
          </p:cNvPr>
          <p:cNvSpPr>
            <a:spLocks noGrp="1"/>
          </p:cNvSpPr>
          <p:nvPr>
            <p:ph idx="1"/>
          </p:nvPr>
        </p:nvSpPr>
        <p:spPr/>
        <p:txBody>
          <a:bodyPr/>
          <a:lstStyle/>
          <a:p>
            <a:pPr algn="just"/>
            <a:r>
              <a:rPr lang="en-CA" sz="2800" b="0" i="0" u="none" strike="noStrike" dirty="0">
                <a:solidFill>
                  <a:srgbClr val="444444"/>
                </a:solidFill>
                <a:effectLst/>
                <a:latin typeface="Times" pitchFamily="2" charset="0"/>
              </a:rPr>
              <a:t>The Environmental Performance Index (EPI) statistics show that financial resources, excellent governance, human development and regulatory quality all play a role in boosting a country’s sustainability. EPI helps decision-makers to identify all these factors that contribute to top-tier performance.</a:t>
            </a:r>
          </a:p>
          <a:p>
            <a:pPr algn="just"/>
            <a:endParaRPr lang="en-CA" sz="2800" b="0" i="0" u="none" strike="noStrike" dirty="0">
              <a:solidFill>
                <a:srgbClr val="444444"/>
              </a:solidFill>
              <a:effectLst/>
              <a:latin typeface="Times" pitchFamily="2" charset="0"/>
            </a:endParaRPr>
          </a:p>
          <a:p>
            <a:pPr algn="just"/>
            <a:r>
              <a:rPr lang="en-CA" sz="2800" b="0" i="0" u="none" strike="noStrike" dirty="0">
                <a:solidFill>
                  <a:srgbClr val="444444"/>
                </a:solidFill>
                <a:effectLst/>
                <a:latin typeface="Times" pitchFamily="2" charset="0"/>
              </a:rPr>
              <a:t>By emphasising these connections, the EPI contributes to the promotion of sustainable development in support of a more ecologically secure and equitable future.</a:t>
            </a:r>
          </a:p>
          <a:p>
            <a:endParaRPr lang="en-US" dirty="0"/>
          </a:p>
        </p:txBody>
      </p:sp>
    </p:spTree>
    <p:extLst>
      <p:ext uri="{BB962C8B-B14F-4D97-AF65-F5344CB8AC3E}">
        <p14:creationId xmlns:p14="http://schemas.microsoft.com/office/powerpoint/2010/main" val="2138843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97BCB-4006-4764-9B54-AB423B718677}"/>
              </a:ext>
            </a:extLst>
          </p:cNvPr>
          <p:cNvSpPr>
            <a:spLocks noGrp="1"/>
          </p:cNvSpPr>
          <p:nvPr>
            <p:ph type="title"/>
          </p:nvPr>
        </p:nvSpPr>
        <p:spPr>
          <a:xfrm>
            <a:off x="838200" y="365126"/>
            <a:ext cx="10515600" cy="1225136"/>
          </a:xfrm>
        </p:spPr>
        <p:txBody>
          <a:bodyPr>
            <a:normAutofit fontScale="90000"/>
          </a:bodyPr>
          <a:lstStyle/>
          <a:p>
            <a:pPr algn="ctr"/>
            <a:r>
              <a:rPr lang="en-US" sz="4000" b="0" i="0" dirty="0">
                <a:solidFill>
                  <a:srgbClr val="000000"/>
                </a:solidFill>
                <a:effectLst/>
                <a:latin typeface="Times New Roman" panose="02020603050405020304" pitchFamily="18" charset="0"/>
                <a:cs typeface="Times New Roman" panose="02020603050405020304" pitchFamily="18" charset="0"/>
              </a:rPr>
              <a:t>Criticism and Limitations of the EPI</a:t>
            </a:r>
            <a:br>
              <a:rPr lang="en-US" b="0" i="0" dirty="0">
                <a:solidFill>
                  <a:srgbClr val="000000"/>
                </a:solidFill>
                <a:effectLst/>
                <a:latin typeface="Gilroy"/>
              </a:rPr>
            </a:br>
            <a:endParaRPr lang="en-US" dirty="0"/>
          </a:p>
        </p:txBody>
      </p:sp>
      <p:sp>
        <p:nvSpPr>
          <p:cNvPr id="3" name="Content Placeholder 2">
            <a:extLst>
              <a:ext uri="{FF2B5EF4-FFF2-40B4-BE49-F238E27FC236}">
                <a16:creationId xmlns:a16="http://schemas.microsoft.com/office/drawing/2014/main" id="{F067D47D-D141-4F00-9498-5182C7FEF7FA}"/>
              </a:ext>
            </a:extLst>
          </p:cNvPr>
          <p:cNvSpPr>
            <a:spLocks noGrp="1"/>
          </p:cNvSpPr>
          <p:nvPr>
            <p:ph idx="1"/>
          </p:nvPr>
        </p:nvSpPr>
        <p:spPr/>
        <p:txBody>
          <a:bodyPr/>
          <a:lstStyle/>
          <a:p>
            <a:pPr algn="just">
              <a:buFont typeface="Arial" panose="020B0604020202020204" pitchFamily="34" charset="0"/>
              <a:buChar char="•"/>
            </a:pPr>
            <a:r>
              <a:rPr lang="en-US" b="1" i="0" dirty="0">
                <a:solidFill>
                  <a:srgbClr val="383838"/>
                </a:solidFill>
                <a:effectLst/>
                <a:latin typeface="Times New Roman" panose="02020603050405020304" pitchFamily="18" charset="0"/>
                <a:cs typeface="Times New Roman" panose="02020603050405020304" pitchFamily="18" charset="0"/>
              </a:rPr>
              <a:t>Data Gaps</a:t>
            </a:r>
            <a:r>
              <a:rPr lang="en-US" b="0" i="0" dirty="0">
                <a:solidFill>
                  <a:srgbClr val="383838"/>
                </a:solidFill>
                <a:effectLst/>
                <a:latin typeface="Times New Roman" panose="02020603050405020304" pitchFamily="18" charset="0"/>
                <a:cs typeface="Times New Roman" panose="02020603050405020304" pitchFamily="18" charset="0"/>
              </a:rPr>
              <a:t>: It may be noted that several low-income countries do not possess accurate data. Therefore, their evaluation could be partial or even biased.</a:t>
            </a:r>
          </a:p>
          <a:p>
            <a:pPr algn="just">
              <a:buFont typeface="Arial" panose="020B0604020202020204" pitchFamily="34" charset="0"/>
              <a:buChar char="•"/>
            </a:pPr>
            <a:r>
              <a:rPr lang="en-US" b="1" i="0" dirty="0">
                <a:solidFill>
                  <a:srgbClr val="383838"/>
                </a:solidFill>
                <a:effectLst/>
                <a:latin typeface="Times New Roman" panose="02020603050405020304" pitchFamily="18" charset="0"/>
                <a:cs typeface="Times New Roman" panose="02020603050405020304" pitchFamily="18" charset="0"/>
              </a:rPr>
              <a:t>Cultural Bias</a:t>
            </a:r>
            <a:r>
              <a:rPr lang="en-US" b="0" i="0" dirty="0">
                <a:solidFill>
                  <a:srgbClr val="383838"/>
                </a:solidFill>
                <a:effectLst/>
                <a:latin typeface="Times New Roman" panose="02020603050405020304" pitchFamily="18" charset="0"/>
                <a:cs typeface="Times New Roman" panose="02020603050405020304" pitchFamily="18" charset="0"/>
              </a:rPr>
              <a:t>: Others have explained that the metrics benefit the countries of the West because they consider parameters that suit the West, like clean energy and policy compliance.</a:t>
            </a:r>
          </a:p>
          <a:p>
            <a:pPr algn="just">
              <a:buFont typeface="Arial" panose="020B0604020202020204" pitchFamily="34" charset="0"/>
              <a:buChar char="•"/>
            </a:pPr>
            <a:r>
              <a:rPr lang="en-US" b="1" i="0" dirty="0">
                <a:solidFill>
                  <a:srgbClr val="383838"/>
                </a:solidFill>
                <a:effectLst/>
                <a:latin typeface="Times New Roman" panose="02020603050405020304" pitchFamily="18" charset="0"/>
                <a:cs typeface="Times New Roman" panose="02020603050405020304" pitchFamily="18" charset="0"/>
              </a:rPr>
              <a:t>Dynamic Challenges</a:t>
            </a:r>
            <a:r>
              <a:rPr lang="en-US" b="0" i="0" dirty="0">
                <a:solidFill>
                  <a:srgbClr val="383838"/>
                </a:solidFill>
                <a:effectLst/>
                <a:latin typeface="Times New Roman" panose="02020603050405020304" pitchFamily="18" charset="0"/>
                <a:cs typeface="Times New Roman" panose="02020603050405020304" pitchFamily="18" charset="0"/>
              </a:rPr>
              <a:t>: Some aspects of the environment are constantly evolving, which is why metrics should adjust to society’s constantly shifting pace. Examples of such aspects are plastic pollution and the sprawl of cities across the globe.</a:t>
            </a:r>
          </a:p>
          <a:p>
            <a:endParaRPr lang="en-US" dirty="0"/>
          </a:p>
        </p:txBody>
      </p:sp>
    </p:spTree>
    <p:extLst>
      <p:ext uri="{BB962C8B-B14F-4D97-AF65-F5344CB8AC3E}">
        <p14:creationId xmlns:p14="http://schemas.microsoft.com/office/powerpoint/2010/main" val="125734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2400A-2160-45A6-858A-77C7B2B4CA7C}"/>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490E7139-CF82-41B0-887C-8C8669DC9B3D}"/>
              </a:ext>
            </a:extLst>
          </p:cNvPr>
          <p:cNvSpPr>
            <a:spLocks noGrp="1"/>
          </p:cNvSpPr>
          <p:nvPr>
            <p:ph idx="1"/>
          </p:nvPr>
        </p:nvSpPr>
        <p:spPr/>
        <p:txBody>
          <a:bodyPr/>
          <a:lstStyle/>
          <a:p>
            <a:pPr algn="just"/>
            <a:r>
              <a:rPr lang="en-US" b="0" i="0" dirty="0">
                <a:effectLst/>
                <a:latin typeface="Times New Roman" panose="02020603050405020304" pitchFamily="18" charset="0"/>
                <a:cs typeface="Times New Roman" panose="02020603050405020304" pitchFamily="18" charset="0"/>
              </a:rPr>
              <a:t>The Environmental Performance Index (EPI) is essential for driving global sustainability by helping nations set goals, track progress, and identify areas for improvement. High-ranking countries show the impact of strong policies while developing nations highlight the need for innovation and collaboration.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103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DE197-C9B0-4903-8E87-B040D6E292C0}"/>
              </a:ext>
            </a:extLst>
          </p:cNvPr>
          <p:cNvSpPr>
            <a:spLocks noGrp="1"/>
          </p:cNvSpPr>
          <p:nvPr>
            <p:ph type="title"/>
          </p:nvPr>
        </p:nvSpPr>
        <p:spPr/>
        <p:txBody>
          <a:bodyPr/>
          <a:lstStyle/>
          <a:p>
            <a:pPr algn="ctr"/>
            <a:endParaRPr lang="en-US"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DB1F3755-401A-46EA-AD4F-B4B990E07E02}"/>
              </a:ext>
            </a:extLst>
          </p:cNvPr>
          <p:cNvSpPr/>
          <p:nvPr/>
        </p:nvSpPr>
        <p:spPr>
          <a:xfrm>
            <a:off x="4781959" y="2222763"/>
            <a:ext cx="2416046"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cap="none" spc="0" dirty="0">
                <a:ln/>
                <a:solidFill>
                  <a:schemeClr val="accent3"/>
                </a:solidFill>
                <a:effectLst/>
                <a:latin typeface="Times New Roman" panose="02020603050405020304" pitchFamily="18" charset="0"/>
                <a:cs typeface="Times New Roman" panose="02020603050405020304" pitchFamily="18" charset="0"/>
              </a:rPr>
              <a:t>Thanks</a:t>
            </a:r>
            <a:endParaRPr lang="en-US" sz="5400" b="1" cap="none" spc="0" dirty="0">
              <a:ln/>
              <a:solidFill>
                <a:schemeClr val="accent3"/>
              </a:solidFill>
              <a:effectLst/>
            </a:endParaRPr>
          </a:p>
        </p:txBody>
      </p:sp>
    </p:spTree>
    <p:extLst>
      <p:ext uri="{BB962C8B-B14F-4D97-AF65-F5344CB8AC3E}">
        <p14:creationId xmlns:p14="http://schemas.microsoft.com/office/powerpoint/2010/main" val="6308022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TotalTime>
  <Words>743</Words>
  <Application>Microsoft Office PowerPoint</Application>
  <PresentationFormat>Widescreen</PresentationFormat>
  <Paragraphs>71</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Gilroy</vt:lpstr>
      <vt:lpstr>Times</vt:lpstr>
      <vt:lpstr>Times New Roman</vt:lpstr>
      <vt:lpstr>Office Theme</vt:lpstr>
      <vt:lpstr>Environmental Performance Index (EPI)</vt:lpstr>
      <vt:lpstr>Introduction</vt:lpstr>
      <vt:lpstr>What is the reason that an EPI was established as a complement to the ESI? </vt:lpstr>
      <vt:lpstr>Factors EPI</vt:lpstr>
      <vt:lpstr>EPI framework, 2024</vt:lpstr>
      <vt:lpstr>Global Insights from EPI Rankings </vt:lpstr>
      <vt:lpstr>Scores: decreased from deep to light</vt:lpstr>
      <vt:lpstr>Example of Country's Performance</vt:lpstr>
      <vt:lpstr>EPI scores and GDP</vt:lpstr>
      <vt:lpstr>PowerPoint Presentation</vt:lpstr>
      <vt:lpstr>Significance of EPI </vt:lpstr>
      <vt:lpstr>Criticism and Limitations of the EPI </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Environmental Performance Index (EPI)</dc:title>
  <dc:creator>Vostro</dc:creator>
  <cp:lastModifiedBy>Vostro</cp:lastModifiedBy>
  <cp:revision>6</cp:revision>
  <dcterms:created xsi:type="dcterms:W3CDTF">2025-10-07T12:29:33Z</dcterms:created>
  <dcterms:modified xsi:type="dcterms:W3CDTF">2025-10-08T06:35:33Z</dcterms:modified>
</cp:coreProperties>
</file>