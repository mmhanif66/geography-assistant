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5" r:id="rId6"/>
    <p:sldId id="260" r:id="rId7"/>
    <p:sldId id="261" r:id="rId8"/>
    <p:sldId id="262" r:id="rId9"/>
    <p:sldId id="267" r:id="rId10"/>
    <p:sldId id="268" r:id="rId11"/>
    <p:sldId id="269" r:id="rId12"/>
    <p:sldId id="270" r:id="rId13"/>
    <p:sldId id="271" r:id="rId14"/>
    <p:sldId id="272" r:id="rId15"/>
    <p:sldId id="266" r:id="rId16"/>
    <p:sldId id="263" r:id="rId17"/>
    <p:sldId id="26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A1FF9-BF49-486B-A2E6-CB9A271F7E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DB5FCD3-44C7-4FE2-A54D-BE383D8190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95BFD4-5EEA-493F-8CA1-1FB2B267B8B0}"/>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5" name="Footer Placeholder 4">
            <a:extLst>
              <a:ext uri="{FF2B5EF4-FFF2-40B4-BE49-F238E27FC236}">
                <a16:creationId xmlns:a16="http://schemas.microsoft.com/office/drawing/2014/main" id="{8A989E29-5EEF-4186-A544-D45041DEE4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866385-5B25-484E-B532-3ECAD7F40F2A}"/>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457030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1233A-17E2-4C88-B45D-E74390CBEBC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BE6F26-CBAE-4588-AD51-F7A2F25B73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212EFA-7163-436C-814F-0718A612DFB8}"/>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5" name="Footer Placeholder 4">
            <a:extLst>
              <a:ext uri="{FF2B5EF4-FFF2-40B4-BE49-F238E27FC236}">
                <a16:creationId xmlns:a16="http://schemas.microsoft.com/office/drawing/2014/main" id="{57C0445D-F3CE-4692-8F0E-0E3BE78016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814A65-8B72-4F66-B91A-9DE41224372C}"/>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2178554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8C2ED-FBA0-41A1-91E5-1E5143AD7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6063EC6-F91D-4D1F-85C5-99E2620C6D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8730A5-D2A0-4222-B062-4D813C141FC1}"/>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5" name="Footer Placeholder 4">
            <a:extLst>
              <a:ext uri="{FF2B5EF4-FFF2-40B4-BE49-F238E27FC236}">
                <a16:creationId xmlns:a16="http://schemas.microsoft.com/office/drawing/2014/main" id="{AB502636-7FC9-4D0F-B853-A942382537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F928B-A52A-479E-A9CC-EDC2C7599F9D}"/>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2348279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8098B-4061-4AD0-BFDC-990D8E65CF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6F9888-5FE0-4063-8EE2-B4BAA2F1AA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E5B0D1-63BA-4929-BAE0-B37959EC0A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596CC1-13A8-40C7-9B4D-8F6F15898623}"/>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6" name="Footer Placeholder 5">
            <a:extLst>
              <a:ext uri="{FF2B5EF4-FFF2-40B4-BE49-F238E27FC236}">
                <a16:creationId xmlns:a16="http://schemas.microsoft.com/office/drawing/2014/main" id="{50AEB728-6A75-416C-A744-C26F06A5BF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B0045A-0DD6-409F-8EE8-6C15FD4CE23D}"/>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16784972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D9881-0C36-48F7-B383-F071C6EBFDA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76332D2-A38C-4EAE-B714-F1064784F4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6B2D073-0E10-47B0-A502-FF4B93320E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159896C-4CE0-4187-AFA0-B99E8438721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77DC23B-FA63-4454-A55D-8AAEA191EC8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F290675-CE41-4E84-9D72-AF43546D43FD}"/>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8" name="Footer Placeholder 7">
            <a:extLst>
              <a:ext uri="{FF2B5EF4-FFF2-40B4-BE49-F238E27FC236}">
                <a16:creationId xmlns:a16="http://schemas.microsoft.com/office/drawing/2014/main" id="{AD09BE01-5ADA-4D7F-8995-9CF685A16E9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971360-A480-403C-A41F-47BCC8CBD13F}"/>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4134360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7AD0-1E96-4102-8569-668BEB4679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8420C-510B-4F58-941F-A3046A533EA2}"/>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4" name="Footer Placeholder 3">
            <a:extLst>
              <a:ext uri="{FF2B5EF4-FFF2-40B4-BE49-F238E27FC236}">
                <a16:creationId xmlns:a16="http://schemas.microsoft.com/office/drawing/2014/main" id="{C3DF6908-2549-4DFF-91A4-415A6001635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C60351D-D789-4232-BED6-822F862C3420}"/>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4029181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0AA71E-88C8-4213-91B8-4FD45732085F}"/>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3" name="Footer Placeholder 2">
            <a:extLst>
              <a:ext uri="{FF2B5EF4-FFF2-40B4-BE49-F238E27FC236}">
                <a16:creationId xmlns:a16="http://schemas.microsoft.com/office/drawing/2014/main" id="{C234F5B0-1322-411F-9BB7-CFFDBEBAD2F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B48628F-98D1-43BD-BCB4-775466C5626E}"/>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15343313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1A540-7537-4CCA-8228-1A2BAC40A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176667-ABE9-42F0-B1E1-7FC518BC594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DBB0F8-53F5-4B1A-8A70-B836A28700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25F8D4-7490-4909-9B00-E24BFC82FF55}"/>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6" name="Footer Placeholder 5">
            <a:extLst>
              <a:ext uri="{FF2B5EF4-FFF2-40B4-BE49-F238E27FC236}">
                <a16:creationId xmlns:a16="http://schemas.microsoft.com/office/drawing/2014/main" id="{0539DE71-97BD-4400-893B-36F047CD48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51A564-5CE4-4015-AC6B-3CE42E472AEB}"/>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22100742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2ACB6-E447-4A71-B422-53680F80FE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8CAEED8-DF3A-4466-B09D-5C01EF7F67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F4B81F0-5E0F-4273-A4D3-105428035A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7ECA20-3025-4973-BA64-B6AED4B5F9C6}"/>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6" name="Footer Placeholder 5">
            <a:extLst>
              <a:ext uri="{FF2B5EF4-FFF2-40B4-BE49-F238E27FC236}">
                <a16:creationId xmlns:a16="http://schemas.microsoft.com/office/drawing/2014/main" id="{31F14F24-74BB-4E08-91C7-22948074EB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05CE01-5888-4521-BD4C-335DD5BAD1A7}"/>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331210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FC8BD-C78F-4402-B5A4-4F39536466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5A99C9A-ADE3-4B80-B9E1-FFA1DFC415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BD9EA3-753E-4769-8B3E-A67A9229B55B}"/>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5" name="Footer Placeholder 4">
            <a:extLst>
              <a:ext uri="{FF2B5EF4-FFF2-40B4-BE49-F238E27FC236}">
                <a16:creationId xmlns:a16="http://schemas.microsoft.com/office/drawing/2014/main" id="{C1C62718-62EA-438B-96DB-929AEDC438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F51033-A912-4AAC-9101-3C9E483E71B8}"/>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3105051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EECC52-C3CF-4F76-AF43-AF330AD3ACD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5E3034C-FD96-4439-936F-ABE43E81C90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F2961D-A07A-43EF-A5D1-FCF0179F51AF}"/>
              </a:ext>
            </a:extLst>
          </p:cNvPr>
          <p:cNvSpPr>
            <a:spLocks noGrp="1"/>
          </p:cNvSpPr>
          <p:nvPr>
            <p:ph type="dt" sz="half" idx="10"/>
          </p:nvPr>
        </p:nvSpPr>
        <p:spPr/>
        <p:txBody>
          <a:bodyPr/>
          <a:lstStyle/>
          <a:p>
            <a:fld id="{F622CF02-82AC-4A6A-9B51-74B361F6CA96}" type="datetimeFigureOut">
              <a:rPr lang="en-US" smtClean="0"/>
              <a:t>7/14/2026</a:t>
            </a:fld>
            <a:endParaRPr lang="en-US"/>
          </a:p>
        </p:txBody>
      </p:sp>
      <p:sp>
        <p:nvSpPr>
          <p:cNvPr id="5" name="Footer Placeholder 4">
            <a:extLst>
              <a:ext uri="{FF2B5EF4-FFF2-40B4-BE49-F238E27FC236}">
                <a16:creationId xmlns:a16="http://schemas.microsoft.com/office/drawing/2014/main" id="{D0FA45C5-6D5C-41CF-8A41-0A5558DB95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1E5E6C-65E5-4BC2-8B0E-A595EF6A7307}"/>
              </a:ext>
            </a:extLst>
          </p:cNvPr>
          <p:cNvSpPr>
            <a:spLocks noGrp="1"/>
          </p:cNvSpPr>
          <p:nvPr>
            <p:ph type="sldNum" sz="quarter" idx="12"/>
          </p:nvPr>
        </p:nvSpPr>
        <p:spPr/>
        <p:txBody>
          <a:bodyPr/>
          <a:lstStyle/>
          <a:p>
            <a:fld id="{A33F1CA8-0EC8-46E9-8EAD-4D5C48DAA5BA}" type="slidenum">
              <a:rPr lang="en-US" smtClean="0"/>
              <a:t>‹#›</a:t>
            </a:fld>
            <a:endParaRPr lang="en-US"/>
          </a:p>
        </p:txBody>
      </p:sp>
    </p:spTree>
    <p:extLst>
      <p:ext uri="{BB962C8B-B14F-4D97-AF65-F5344CB8AC3E}">
        <p14:creationId xmlns:p14="http://schemas.microsoft.com/office/powerpoint/2010/main" val="7383015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553A33-3577-4EC1-B68E-9DC7CF76F2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945E17E-8BBB-414E-B1EC-E3A65888F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BF3779E-7A88-4D33-9BD6-7E5500EAF8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22CF02-82AC-4A6A-9B51-74B361F6CA96}" type="datetimeFigureOut">
              <a:rPr lang="en-US" smtClean="0"/>
              <a:t>7/14/2026</a:t>
            </a:fld>
            <a:endParaRPr lang="en-US"/>
          </a:p>
        </p:txBody>
      </p:sp>
      <p:sp>
        <p:nvSpPr>
          <p:cNvPr id="5" name="Footer Placeholder 4">
            <a:extLst>
              <a:ext uri="{FF2B5EF4-FFF2-40B4-BE49-F238E27FC236}">
                <a16:creationId xmlns:a16="http://schemas.microsoft.com/office/drawing/2014/main" id="{420C940B-9FD4-4AC2-8EA1-3756F94CF7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E0E7011-701D-4D38-8B85-FC2C2B6802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3F1CA8-0EC8-46E9-8EAD-4D5C48DAA5BA}" type="slidenum">
              <a:rPr lang="en-US" smtClean="0"/>
              <a:t>‹#›</a:t>
            </a:fld>
            <a:endParaRPr lang="en-US"/>
          </a:p>
        </p:txBody>
      </p:sp>
    </p:spTree>
    <p:extLst>
      <p:ext uri="{BB962C8B-B14F-4D97-AF65-F5344CB8AC3E}">
        <p14:creationId xmlns:p14="http://schemas.microsoft.com/office/powerpoint/2010/main" val="41095573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47C2A-BF01-4582-A645-F4BAC7C0C7CB}"/>
              </a:ext>
            </a:extLst>
          </p:cNvPr>
          <p:cNvSpPr>
            <a:spLocks noGrp="1"/>
          </p:cNvSpPr>
          <p:nvPr>
            <p:ph type="ctrTitle"/>
          </p:nvPr>
        </p:nvSpPr>
        <p:spPr/>
        <p:txBody>
          <a:bodyPr>
            <a:normAutofit/>
          </a:bodyPr>
          <a:lstStyle/>
          <a:p>
            <a:r>
              <a:rPr lang="en-US" sz="4400" b="1" dirty="0">
                <a:latin typeface="Times New Roman" panose="02020603050405020304" pitchFamily="18" charset="0"/>
                <a:cs typeface="Times New Roman" panose="02020603050405020304" pitchFamily="18" charset="0"/>
              </a:rPr>
              <a:t>National Environment policy</a:t>
            </a:r>
          </a:p>
        </p:txBody>
      </p:sp>
      <p:sp>
        <p:nvSpPr>
          <p:cNvPr id="3" name="Subtitle 2">
            <a:extLst>
              <a:ext uri="{FF2B5EF4-FFF2-40B4-BE49-F238E27FC236}">
                <a16:creationId xmlns:a16="http://schemas.microsoft.com/office/drawing/2014/main" id="{44C1A89E-A95D-4B1F-A11F-3670525175B2}"/>
              </a:ext>
            </a:extLst>
          </p:cNvPr>
          <p:cNvSpPr>
            <a:spLocks noGrp="1"/>
          </p:cNvSpPr>
          <p:nvPr>
            <p:ph type="subTitle" idx="1"/>
          </p:nvPr>
        </p:nvSpPr>
        <p:spPr>
          <a:xfrm>
            <a:off x="1524000" y="4224758"/>
            <a:ext cx="9144000" cy="1033041"/>
          </a:xfrm>
        </p:spPr>
        <p:txBody>
          <a:bodyPr/>
          <a:lstStyle/>
          <a:p>
            <a:endParaRPr lang="en-US" dirty="0"/>
          </a:p>
        </p:txBody>
      </p:sp>
    </p:spTree>
    <p:extLst>
      <p:ext uri="{BB962C8B-B14F-4D97-AF65-F5344CB8AC3E}">
        <p14:creationId xmlns:p14="http://schemas.microsoft.com/office/powerpoint/2010/main" val="2674580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C1338-00A1-4B28-A41B-BEA74E3B33D4}"/>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199F157-3BF4-457A-B856-0605DB66FAA2}"/>
              </a:ext>
            </a:extLst>
          </p:cNvPr>
          <p:cNvSpPr>
            <a:spLocks noGrp="1"/>
          </p:cNvSpPr>
          <p:nvPr>
            <p:ph idx="1"/>
          </p:nvPr>
        </p:nvSpPr>
        <p:spPr>
          <a:xfrm>
            <a:off x="838200" y="1825624"/>
            <a:ext cx="10515600" cy="4852967"/>
          </a:xfrm>
        </p:spPr>
        <p:txBody>
          <a:bodyPr>
            <a:normAutofit fontScale="92500"/>
          </a:bodyPr>
          <a:lstStyle/>
          <a:p>
            <a:pPr marL="0" marR="0" algn="just">
              <a:lnSpc>
                <a:spcPct val="107000"/>
              </a:lnSpc>
              <a:spcBef>
                <a:spcPts val="0"/>
              </a:spcBef>
              <a:spcAft>
                <a:spcPts val="0"/>
              </a:spcAft>
            </a:pP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Environmental policy is any action deliberately taken to manage human activities with a view to prevent, reduce, or mitigate harmful effects on nature and natural resources, and ensuring that man-made changes to the environment do not have harmful effects on humans. It is useful to consider that environmental policy comprises two major terms: environment and policy. </a:t>
            </a:r>
            <a:r>
              <a:rPr lang="en-US" b="1"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Environment</a:t>
            </a: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refers to the physical ecosystems but can also take into consideration the social dimension and an economic dimension. </a:t>
            </a:r>
            <a:r>
              <a:rPr lang="en-US" b="1"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Policy</a:t>
            </a: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can be defined as a course of action or principle adopted or proposed by a government, party, business or individual. So, environmental policy refers to a set of guidelines that define action taken by human beings to mitigate the harmful effects of changes to the environment. </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3850384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18351-F0DB-4593-8476-EF84C498B22A}"/>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Definitions of Environment policy</a:t>
            </a:r>
          </a:p>
        </p:txBody>
      </p:sp>
      <p:sp>
        <p:nvSpPr>
          <p:cNvPr id="3" name="Content Placeholder 2">
            <a:extLst>
              <a:ext uri="{FF2B5EF4-FFF2-40B4-BE49-F238E27FC236}">
                <a16:creationId xmlns:a16="http://schemas.microsoft.com/office/drawing/2014/main" id="{5C16E648-73D8-456D-BDE5-190021C7E16B}"/>
              </a:ext>
            </a:extLst>
          </p:cNvPr>
          <p:cNvSpPr>
            <a:spLocks noGrp="1"/>
          </p:cNvSpPr>
          <p:nvPr>
            <p:ph idx="1"/>
          </p:nvPr>
        </p:nvSpPr>
        <p:spPr/>
        <p:txBody>
          <a:bodyPr>
            <a:normAutofit/>
          </a:bodyPr>
          <a:lstStyle/>
          <a:p>
            <a:pPr marL="0" marR="0" algn="just">
              <a:lnSpc>
                <a:spcPct val="107000"/>
              </a:lnSpc>
              <a:spcBef>
                <a:spcPts val="0"/>
              </a:spcBef>
              <a:spcAft>
                <a:spcPts val="0"/>
              </a:spcAft>
            </a:pP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 </a:t>
            </a: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Environmental policy refers to the commitment of an organization to the laws, regulations, and other policy mechanisms concerning environmental issues and sustainability. </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Wikipedia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0"/>
              </a:spcAft>
            </a:pPr>
            <a:r>
              <a:rPr lang="en-US" spc="-5"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II. </a:t>
            </a: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Environmental policy is the statement by a supranational, national, or regional government of its approach to environmental protection. </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Oxford Dictionary of Geography</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2336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FF7A-4A49-4AB6-9430-0A85BEBF4095}"/>
              </a:ext>
            </a:extLst>
          </p:cNvPr>
          <p:cNvSpPr>
            <a:spLocks noGrp="1"/>
          </p:cNvSpPr>
          <p:nvPr>
            <p:ph type="title"/>
          </p:nvPr>
        </p:nvSpPr>
        <p:spPr>
          <a:xfrm>
            <a:off x="838200" y="365126"/>
            <a:ext cx="10515600" cy="699746"/>
          </a:xfrm>
        </p:spPr>
        <p:txBody>
          <a:bodyPr/>
          <a:lstStyle/>
          <a:p>
            <a:pPr algn="ctr"/>
            <a:r>
              <a:rPr lang="en-US" b="1" dirty="0">
                <a:latin typeface="Times New Roman" panose="02020603050405020304" pitchFamily="18" charset="0"/>
                <a:cs typeface="Times New Roman" panose="02020603050405020304" pitchFamily="18" charset="0"/>
              </a:rPr>
              <a:t>Background of BD Env policy</a:t>
            </a:r>
          </a:p>
        </p:txBody>
      </p:sp>
      <p:sp>
        <p:nvSpPr>
          <p:cNvPr id="3" name="Content Placeholder 2">
            <a:extLst>
              <a:ext uri="{FF2B5EF4-FFF2-40B4-BE49-F238E27FC236}">
                <a16:creationId xmlns:a16="http://schemas.microsoft.com/office/drawing/2014/main" id="{2DE71D11-4381-49C5-B50A-635F349B85B7}"/>
              </a:ext>
            </a:extLst>
          </p:cNvPr>
          <p:cNvSpPr>
            <a:spLocks noGrp="1"/>
          </p:cNvSpPr>
          <p:nvPr>
            <p:ph idx="1"/>
          </p:nvPr>
        </p:nvSpPr>
        <p:spPr>
          <a:xfrm>
            <a:off x="838200" y="1273215"/>
            <a:ext cx="10515600" cy="4903748"/>
          </a:xfrm>
        </p:spPr>
        <p:txBody>
          <a:bodyPr/>
          <a:lstStyle/>
          <a:p>
            <a:pPr algn="just"/>
            <a:r>
              <a:rPr lang="en-US" dirty="0">
                <a:latin typeface="Times New Roman" panose="02020603050405020304" pitchFamily="18" charset="0"/>
                <a:cs typeface="Times New Roman" panose="02020603050405020304" pitchFamily="18" charset="0"/>
              </a:rPr>
              <a:t>The idea of environmental protection through national efforts was first recognized and declared with the adoption of the env policy in 1992. Env policy of BD is formulated based on a set of guiding principles of two UN conference---</a:t>
            </a:r>
          </a:p>
          <a:p>
            <a:pPr algn="just"/>
            <a:r>
              <a:rPr lang="en-US" dirty="0">
                <a:latin typeface="Times New Roman" panose="02020603050405020304" pitchFamily="18" charset="0"/>
                <a:cs typeface="Times New Roman" panose="02020603050405020304" pitchFamily="18" charset="0"/>
              </a:rPr>
              <a:t>1972 conference on the Human Env in Stockholm</a:t>
            </a:r>
          </a:p>
          <a:p>
            <a:pPr algn="just"/>
            <a:r>
              <a:rPr lang="en-US" dirty="0">
                <a:latin typeface="Times New Roman" panose="02020603050405020304" pitchFamily="18" charset="0"/>
                <a:cs typeface="Times New Roman" panose="02020603050405020304" pitchFamily="18" charset="0"/>
              </a:rPr>
              <a:t>1992 Earth Summit held in Rio De Janeiro </a:t>
            </a:r>
          </a:p>
        </p:txBody>
      </p:sp>
    </p:spTree>
    <p:extLst>
      <p:ext uri="{BB962C8B-B14F-4D97-AF65-F5344CB8AC3E}">
        <p14:creationId xmlns:p14="http://schemas.microsoft.com/office/powerpoint/2010/main" val="2285018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F749-4A39-4093-ADE7-4BAF5736FBD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Associated actors</a:t>
            </a:r>
          </a:p>
        </p:txBody>
      </p:sp>
      <p:sp>
        <p:nvSpPr>
          <p:cNvPr id="3" name="Text Placeholder 2">
            <a:extLst>
              <a:ext uri="{FF2B5EF4-FFF2-40B4-BE49-F238E27FC236}">
                <a16:creationId xmlns:a16="http://schemas.microsoft.com/office/drawing/2014/main" id="{BAD93D37-4658-4579-92D3-3F320BC8F353}"/>
              </a:ext>
            </a:extLst>
          </p:cNvPr>
          <p:cNvSpPr>
            <a:spLocks noGrp="1"/>
          </p:cNvSpPr>
          <p:nvPr>
            <p:ph type="body" idx="1"/>
          </p:nvPr>
        </p:nvSpPr>
        <p:spPr/>
        <p:txBody>
          <a:bodyPr>
            <a:normAutofit/>
          </a:bodyPr>
          <a:lstStyle/>
          <a:p>
            <a:r>
              <a:rPr lang="en-US" sz="3200" dirty="0">
                <a:latin typeface="Times New Roman" panose="02020603050405020304" pitchFamily="18" charset="0"/>
                <a:cs typeface="Times New Roman" panose="02020603050405020304" pitchFamily="18" charset="0"/>
              </a:rPr>
              <a:t>External</a:t>
            </a:r>
          </a:p>
        </p:txBody>
      </p:sp>
      <p:sp>
        <p:nvSpPr>
          <p:cNvPr id="4" name="Content Placeholder 3">
            <a:extLst>
              <a:ext uri="{FF2B5EF4-FFF2-40B4-BE49-F238E27FC236}">
                <a16:creationId xmlns:a16="http://schemas.microsoft.com/office/drawing/2014/main" id="{31085636-B19F-4445-87D5-120A65669AED}"/>
              </a:ext>
            </a:extLst>
          </p:cNvPr>
          <p:cNvSpPr>
            <a:spLocks noGrp="1"/>
          </p:cNvSpPr>
          <p:nvPr>
            <p:ph sz="half" idx="2"/>
          </p:nvPr>
        </p:nvSpPr>
        <p:spPr>
          <a:xfrm>
            <a:off x="312516" y="2505075"/>
            <a:ext cx="5685059" cy="3684588"/>
          </a:xfrm>
        </p:spPr>
        <p:txBody>
          <a:bodyPr/>
          <a:lstStyle/>
          <a:p>
            <a:r>
              <a:rPr lang="en-US" dirty="0"/>
              <a:t>United Nations Organization</a:t>
            </a:r>
          </a:p>
          <a:p>
            <a:r>
              <a:rPr lang="en-US" dirty="0"/>
              <a:t>Donor Agencies (USAID, OXFAM)</a:t>
            </a:r>
          </a:p>
          <a:p>
            <a:r>
              <a:rPr lang="en-US" dirty="0"/>
              <a:t>Banks (ADB, IDB)</a:t>
            </a:r>
          </a:p>
          <a:p>
            <a:r>
              <a:rPr lang="en-US" dirty="0"/>
              <a:t>Development Countries(Japan, KSA)</a:t>
            </a:r>
          </a:p>
          <a:p>
            <a:r>
              <a:rPr lang="en-US" dirty="0"/>
              <a:t>International Forum</a:t>
            </a:r>
          </a:p>
        </p:txBody>
      </p:sp>
      <p:sp>
        <p:nvSpPr>
          <p:cNvPr id="5" name="Text Placeholder 4">
            <a:extLst>
              <a:ext uri="{FF2B5EF4-FFF2-40B4-BE49-F238E27FC236}">
                <a16:creationId xmlns:a16="http://schemas.microsoft.com/office/drawing/2014/main" id="{CB50E7FB-8E10-4075-BADC-FDE85CB880C6}"/>
              </a:ext>
            </a:extLst>
          </p:cNvPr>
          <p:cNvSpPr>
            <a:spLocks noGrp="1"/>
          </p:cNvSpPr>
          <p:nvPr>
            <p:ph type="body" sz="quarter" idx="3"/>
          </p:nvPr>
        </p:nvSpPr>
        <p:spPr/>
        <p:txBody>
          <a:bodyPr>
            <a:normAutofit/>
          </a:bodyPr>
          <a:lstStyle/>
          <a:p>
            <a:r>
              <a:rPr lang="en-US" sz="3200" dirty="0">
                <a:latin typeface="Times New Roman" panose="02020603050405020304" pitchFamily="18" charset="0"/>
                <a:cs typeface="Times New Roman" panose="02020603050405020304" pitchFamily="18" charset="0"/>
              </a:rPr>
              <a:t>Internal</a:t>
            </a:r>
          </a:p>
        </p:txBody>
      </p:sp>
      <p:sp>
        <p:nvSpPr>
          <p:cNvPr id="6" name="Content Placeholder 5">
            <a:extLst>
              <a:ext uri="{FF2B5EF4-FFF2-40B4-BE49-F238E27FC236}">
                <a16:creationId xmlns:a16="http://schemas.microsoft.com/office/drawing/2014/main" id="{9871F20A-20DB-49CB-B297-A477F3426845}"/>
              </a:ext>
            </a:extLst>
          </p:cNvPr>
          <p:cNvSpPr>
            <a:spLocks noGrp="1"/>
          </p:cNvSpPr>
          <p:nvPr>
            <p:ph sz="quarter" idx="4"/>
          </p:nvPr>
        </p:nvSpPr>
        <p:spPr>
          <a:xfrm>
            <a:off x="6172200" y="2505075"/>
            <a:ext cx="5819172" cy="3684588"/>
          </a:xfrm>
        </p:spPr>
        <p:txBody>
          <a:bodyPr/>
          <a:lstStyle/>
          <a:p>
            <a:r>
              <a:rPr lang="en-US" dirty="0"/>
              <a:t>Ministry of Env and Forest</a:t>
            </a:r>
          </a:p>
          <a:p>
            <a:r>
              <a:rPr lang="en-US" dirty="0"/>
              <a:t>Department of Environment (DoE)</a:t>
            </a:r>
          </a:p>
          <a:p>
            <a:r>
              <a:rPr lang="en-US" dirty="0"/>
              <a:t>Planning Commission</a:t>
            </a:r>
          </a:p>
          <a:p>
            <a:r>
              <a:rPr lang="en-US" dirty="0"/>
              <a:t>Concern Ministries</a:t>
            </a:r>
          </a:p>
          <a:p>
            <a:r>
              <a:rPr lang="en-US" dirty="0"/>
              <a:t>NGOs</a:t>
            </a:r>
          </a:p>
          <a:p>
            <a:r>
              <a:rPr lang="en-US" dirty="0"/>
              <a:t>Consultants</a:t>
            </a:r>
          </a:p>
          <a:p>
            <a:r>
              <a:rPr lang="en-US" dirty="0"/>
              <a:t>Civil Society</a:t>
            </a:r>
          </a:p>
        </p:txBody>
      </p:sp>
    </p:spTree>
    <p:extLst>
      <p:ext uri="{BB962C8B-B14F-4D97-AF65-F5344CB8AC3E}">
        <p14:creationId xmlns:p14="http://schemas.microsoft.com/office/powerpoint/2010/main" val="42061386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97FB0-3B03-46D8-8880-60CC3CE72431}"/>
              </a:ext>
            </a:extLst>
          </p:cNvPr>
          <p:cNvSpPr>
            <a:spLocks noGrp="1"/>
          </p:cNvSpPr>
          <p:nvPr>
            <p:ph type="title"/>
          </p:nvPr>
        </p:nvSpPr>
        <p:spPr>
          <a:xfrm>
            <a:off x="838200" y="365126"/>
            <a:ext cx="10515600" cy="734470"/>
          </a:xfrm>
        </p:spPr>
        <p:txBody>
          <a:bodyPr/>
          <a:lstStyle/>
          <a:p>
            <a:pPr algn="ctr"/>
            <a:r>
              <a:rPr lang="en-US" b="1" dirty="0">
                <a:latin typeface="Times New Roman" panose="02020603050405020304" pitchFamily="18" charset="0"/>
                <a:cs typeface="Times New Roman" panose="02020603050405020304" pitchFamily="18" charset="0"/>
              </a:rPr>
              <a:t>Objectives of the Env Policy</a:t>
            </a:r>
          </a:p>
        </p:txBody>
      </p:sp>
      <p:sp>
        <p:nvSpPr>
          <p:cNvPr id="3" name="Content Placeholder 2">
            <a:extLst>
              <a:ext uri="{FF2B5EF4-FFF2-40B4-BE49-F238E27FC236}">
                <a16:creationId xmlns:a16="http://schemas.microsoft.com/office/drawing/2014/main" id="{9D2701A9-6F56-4624-95A7-551A492BB038}"/>
              </a:ext>
            </a:extLst>
          </p:cNvPr>
          <p:cNvSpPr>
            <a:spLocks noGrp="1"/>
          </p:cNvSpPr>
          <p:nvPr>
            <p:ph idx="1"/>
          </p:nvPr>
        </p:nvSpPr>
        <p:spPr>
          <a:xfrm>
            <a:off x="838200" y="1192192"/>
            <a:ext cx="10515600" cy="4984771"/>
          </a:xfrm>
        </p:spPr>
        <p:txBody>
          <a:bodyPr/>
          <a:lstStyle/>
          <a:p>
            <a:pPr algn="just"/>
            <a:r>
              <a:rPr lang="en-US" dirty="0">
                <a:latin typeface="Times New Roman" panose="02020603050405020304" pitchFamily="18" charset="0"/>
                <a:cs typeface="Times New Roman" panose="02020603050405020304" pitchFamily="18" charset="0"/>
              </a:rPr>
              <a:t>To ensure ecological balance and overall development through protection and improvement of the env</a:t>
            </a:r>
          </a:p>
          <a:p>
            <a:pPr algn="just"/>
            <a:r>
              <a:rPr lang="en-US" dirty="0">
                <a:latin typeface="Times New Roman" panose="02020603050405020304" pitchFamily="18" charset="0"/>
                <a:cs typeface="Times New Roman" panose="02020603050405020304" pitchFamily="18" charset="0"/>
              </a:rPr>
              <a:t>To protect the country against natural disasters</a:t>
            </a:r>
          </a:p>
          <a:p>
            <a:pPr algn="just"/>
            <a:r>
              <a:rPr lang="en-US" dirty="0">
                <a:latin typeface="Times New Roman" panose="02020603050405020304" pitchFamily="18" charset="0"/>
                <a:cs typeface="Times New Roman" panose="02020603050405020304" pitchFamily="18" charset="0"/>
              </a:rPr>
              <a:t>To identify and regulate activities which pollute and degrade the env</a:t>
            </a:r>
          </a:p>
          <a:p>
            <a:pPr algn="just"/>
            <a:r>
              <a:rPr lang="en-US" dirty="0">
                <a:latin typeface="Times New Roman" panose="02020603050405020304" pitchFamily="18" charset="0"/>
                <a:cs typeface="Times New Roman" panose="02020603050405020304" pitchFamily="18" charset="0"/>
              </a:rPr>
              <a:t>To ensure environmentally sound development in all sectors</a:t>
            </a:r>
          </a:p>
          <a:p>
            <a:pPr algn="just"/>
            <a:r>
              <a:rPr lang="en-US" dirty="0">
                <a:latin typeface="Times New Roman" panose="02020603050405020304" pitchFamily="18" charset="0"/>
                <a:cs typeface="Times New Roman" panose="02020603050405020304" pitchFamily="18" charset="0"/>
              </a:rPr>
              <a:t>To ensure sustainable, long term and environmentally sound use of national resources</a:t>
            </a:r>
          </a:p>
          <a:p>
            <a:pPr algn="just"/>
            <a:r>
              <a:rPr lang="en-US" dirty="0">
                <a:latin typeface="Times New Roman" panose="02020603050405020304" pitchFamily="18" charset="0"/>
                <a:cs typeface="Times New Roman" panose="02020603050405020304" pitchFamily="18" charset="0"/>
              </a:rPr>
              <a:t>To remain associated with all the international environmental initiatives to the maximum possible extent</a:t>
            </a:r>
          </a:p>
        </p:txBody>
      </p:sp>
    </p:spTree>
    <p:extLst>
      <p:ext uri="{BB962C8B-B14F-4D97-AF65-F5344CB8AC3E}">
        <p14:creationId xmlns:p14="http://schemas.microsoft.com/office/powerpoint/2010/main" val="2997690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5136C-8622-4CFC-8807-F77E4ADF4B67}"/>
              </a:ext>
            </a:extLst>
          </p:cNvPr>
          <p:cNvSpPr>
            <a:spLocks noGrp="1"/>
          </p:cNvSpPr>
          <p:nvPr>
            <p:ph type="title"/>
          </p:nvPr>
        </p:nvSpPr>
        <p:spPr>
          <a:xfrm>
            <a:off x="838200" y="1"/>
            <a:ext cx="10515600" cy="1825624"/>
          </a:xfrm>
        </p:spPr>
        <p:txBody>
          <a:bodyPr>
            <a:normAutofit/>
          </a:bodyPr>
          <a:lstStyle/>
          <a:p>
            <a:pPr algn="ctr"/>
            <a:r>
              <a:rPr lang="en-US" sz="4000" b="1" spc="15"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Major Features of Environmental Policy of Banglade</a:t>
            </a:r>
            <a:r>
              <a:rPr lang="en-US" sz="4000" b="1" spc="15"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sh</a:t>
            </a:r>
            <a:r>
              <a:rPr lang="en-US" sz="4000" b="1" spc="15"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F0A34D65-86DC-4F2A-BC97-8EC1C0B9CEA0}"/>
              </a:ext>
            </a:extLst>
          </p:cNvPr>
          <p:cNvSpPr>
            <a:spLocks noGrp="1"/>
          </p:cNvSpPr>
          <p:nvPr>
            <p:ph idx="1"/>
          </p:nvPr>
        </p:nvSpPr>
        <p:spPr/>
        <p:txBody>
          <a:bodyPr>
            <a:noAutofit/>
          </a:bodyPr>
          <a:lstStyle/>
          <a:p>
            <a:pPr marL="0" marR="0" algn="just">
              <a:lnSpc>
                <a:spcPct val="107000"/>
              </a:lnSpc>
              <a:spcBef>
                <a:spcPts val="0"/>
              </a:spcBef>
              <a:spcAft>
                <a:spcPts val="0"/>
              </a:spcAft>
            </a:pP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policy covered all geographical regions and 24 development sectors like Agriculture, Industry, Health &amp; Sanitation, Energy and Fuel, Water Development, Flood Control and Irrigation, Land, Forest, Wildlife and Bio-diversity, Fisheries and Livestock, Food, Coastal and Marine Environment, Transport and Communication, Housing and Urbanization, Population, Education and Public Awareness, Science, Technology and Research, Legal Framework and Institutional Arrangements etc. </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175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EB2DB-B809-4570-A69C-DFD2DCCF3470}"/>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Agriculture</a:t>
            </a:r>
          </a:p>
        </p:txBody>
      </p:sp>
      <p:sp>
        <p:nvSpPr>
          <p:cNvPr id="3" name="Content Placeholder 2">
            <a:extLst>
              <a:ext uri="{FF2B5EF4-FFF2-40B4-BE49-F238E27FC236}">
                <a16:creationId xmlns:a16="http://schemas.microsoft.com/office/drawing/2014/main" id="{C56AA110-1144-4EEC-9124-4435BE4D9708}"/>
              </a:ext>
            </a:extLst>
          </p:cNvPr>
          <p:cNvSpPr>
            <a:spLocks noGrp="1"/>
          </p:cNvSpPr>
          <p:nvPr>
            <p:ph idx="1"/>
          </p:nvPr>
        </p:nvSpPr>
        <p:spPr/>
        <p:txBody>
          <a:bodyPr>
            <a:normAutofit/>
          </a:bodyPr>
          <a:lstStyle/>
          <a:p>
            <a:pPr algn="just"/>
            <a:r>
              <a:rPr lang="en-US" sz="3200" spc="10" dirty="0">
                <a:solidFill>
                  <a:srgbClr val="000000"/>
                </a:solidFill>
                <a:effectLst/>
                <a:latin typeface="Times New Roman" panose="02020603050405020304" pitchFamily="18" charset="0"/>
                <a:ea typeface="Times New Roman" panose="02020603050405020304" pitchFamily="18" charset="0"/>
              </a:rPr>
              <a:t>Environmentally sound agricultural practices are to be encouraged</a:t>
            </a:r>
          </a:p>
          <a:p>
            <a:pPr algn="just"/>
            <a:r>
              <a:rPr lang="en-US" sz="3200" spc="10" dirty="0">
                <a:solidFill>
                  <a:srgbClr val="000000"/>
                </a:solidFill>
                <a:latin typeface="Times New Roman" panose="02020603050405020304" pitchFamily="18" charset="0"/>
                <a:ea typeface="Times New Roman" panose="02020603050405020304" pitchFamily="18" charset="0"/>
              </a:rPr>
              <a:t>E</a:t>
            </a:r>
            <a:r>
              <a:rPr lang="en-US" sz="3200" spc="10" dirty="0">
                <a:solidFill>
                  <a:srgbClr val="000000"/>
                </a:solidFill>
                <a:effectLst/>
                <a:latin typeface="Times New Roman" panose="02020603050405020304" pitchFamily="18" charset="0"/>
                <a:ea typeface="Times New Roman" panose="02020603050405020304" pitchFamily="18" charset="0"/>
              </a:rPr>
              <a:t>nsured for attainment of self-sufficiency in food </a:t>
            </a:r>
          </a:p>
          <a:p>
            <a:pPr algn="just"/>
            <a:r>
              <a:rPr lang="en-US" sz="3200" spc="10" dirty="0">
                <a:solidFill>
                  <a:srgbClr val="000000"/>
                </a:solidFill>
                <a:effectLst/>
                <a:latin typeface="Times New Roman" panose="02020603050405020304" pitchFamily="18" charset="0"/>
                <a:ea typeface="Times New Roman" panose="02020603050405020304" pitchFamily="18" charset="0"/>
              </a:rPr>
              <a:t>Among the various specific measures, use of natural fertilizers and insecticides is encouraged as opposed to the application of </a:t>
            </a:r>
            <a:r>
              <a:rPr lang="en-US" sz="3200" spc="10" dirty="0" err="1">
                <a:solidFill>
                  <a:srgbClr val="000000"/>
                </a:solidFill>
                <a:effectLst/>
                <a:latin typeface="Times New Roman" panose="02020603050405020304" pitchFamily="18" charset="0"/>
                <a:ea typeface="Times New Roman" panose="02020603050405020304" pitchFamily="18" charset="0"/>
              </a:rPr>
              <a:t>agro</a:t>
            </a:r>
            <a:r>
              <a:rPr lang="en-US" sz="3200" spc="10" dirty="0">
                <a:solidFill>
                  <a:srgbClr val="000000"/>
                </a:solidFill>
                <a:effectLst/>
                <a:latin typeface="Times New Roman" panose="02020603050405020304" pitchFamily="18" charset="0"/>
                <a:ea typeface="Times New Roman" panose="02020603050405020304" pitchFamily="18" charset="0"/>
              </a:rPr>
              <a:t>-chemicals and artificial materials</a:t>
            </a:r>
          </a:p>
          <a:p>
            <a:pPr algn="just"/>
            <a:r>
              <a:rPr lang="en-US" sz="3200" spc="10" dirty="0">
                <a:solidFill>
                  <a:srgbClr val="000000"/>
                </a:solidFill>
                <a:latin typeface="Times New Roman" panose="02020603050405020304" pitchFamily="18" charset="0"/>
              </a:rPr>
              <a:t>Promote environment-friendly jute and jute goods</a:t>
            </a:r>
            <a:endParaRPr lang="en-US" sz="3200" dirty="0"/>
          </a:p>
        </p:txBody>
      </p:sp>
    </p:spTree>
    <p:extLst>
      <p:ext uri="{BB962C8B-B14F-4D97-AF65-F5344CB8AC3E}">
        <p14:creationId xmlns:p14="http://schemas.microsoft.com/office/powerpoint/2010/main" val="408351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A748F-531F-4127-B935-2E6839ED65B0}"/>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Industry</a:t>
            </a:r>
          </a:p>
        </p:txBody>
      </p:sp>
      <p:sp>
        <p:nvSpPr>
          <p:cNvPr id="3" name="Content Placeholder 2">
            <a:extLst>
              <a:ext uri="{FF2B5EF4-FFF2-40B4-BE49-F238E27FC236}">
                <a16:creationId xmlns:a16="http://schemas.microsoft.com/office/drawing/2014/main" id="{90AC597F-2E5E-42EA-A189-C389A46E1EE5}"/>
              </a:ext>
            </a:extLst>
          </p:cNvPr>
          <p:cNvSpPr>
            <a:spLocks noGrp="1"/>
          </p:cNvSpPr>
          <p:nvPr>
            <p:ph idx="1"/>
          </p:nvPr>
        </p:nvSpPr>
        <p:spPr/>
        <p:txBody>
          <a:bodyPr/>
          <a:lstStyle/>
          <a:p>
            <a:pPr algn="just"/>
            <a:r>
              <a:rPr lang="en-US" sz="3200" dirty="0">
                <a:latin typeface="Times New Roman" panose="02020603050405020304" pitchFamily="18" charset="0"/>
                <a:cs typeface="Times New Roman" panose="02020603050405020304" pitchFamily="18" charset="0"/>
              </a:rPr>
              <a:t>To adapt corrective measures to contain pollution</a:t>
            </a:r>
          </a:p>
          <a:p>
            <a:pPr algn="just"/>
            <a:r>
              <a:rPr lang="en-US" sz="3200" dirty="0">
                <a:latin typeface="Times New Roman" panose="02020603050405020304" pitchFamily="18" charset="0"/>
                <a:cs typeface="Times New Roman" panose="02020603050405020304" pitchFamily="18" charset="0"/>
              </a:rPr>
              <a:t>To conduct EIA for all new industries</a:t>
            </a:r>
          </a:p>
          <a:p>
            <a:pPr algn="just"/>
            <a:r>
              <a:rPr lang="en-US" sz="3200" dirty="0">
                <a:latin typeface="Times New Roman" panose="02020603050405020304" pitchFamily="18" charset="0"/>
                <a:cs typeface="Times New Roman" panose="02020603050405020304" pitchFamily="18" charset="0"/>
              </a:rPr>
              <a:t>Factories that cause pollution cannot be established</a:t>
            </a:r>
          </a:p>
          <a:p>
            <a:pPr algn="just"/>
            <a:r>
              <a:rPr lang="en-US" sz="3200" dirty="0">
                <a:latin typeface="Times New Roman" panose="02020603050405020304" pitchFamily="18" charset="0"/>
                <a:cs typeface="Times New Roman" panose="02020603050405020304" pitchFamily="18" charset="0"/>
              </a:rPr>
              <a:t>To ensure sustainable use of raw materials in industries</a:t>
            </a:r>
          </a:p>
          <a:p>
            <a:endParaRPr lang="en-US" dirty="0"/>
          </a:p>
        </p:txBody>
      </p:sp>
    </p:spTree>
    <p:extLst>
      <p:ext uri="{BB962C8B-B14F-4D97-AF65-F5344CB8AC3E}">
        <p14:creationId xmlns:p14="http://schemas.microsoft.com/office/powerpoint/2010/main" val="446169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2DC8C-1370-411D-BEE2-D21112FF94E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Health and Sanitation</a:t>
            </a:r>
          </a:p>
        </p:txBody>
      </p:sp>
      <p:sp>
        <p:nvSpPr>
          <p:cNvPr id="3" name="Content Placeholder 2">
            <a:extLst>
              <a:ext uri="{FF2B5EF4-FFF2-40B4-BE49-F238E27FC236}">
                <a16:creationId xmlns:a16="http://schemas.microsoft.com/office/drawing/2014/main" id="{470F735F-F165-4CE9-BB1A-37404E53F963}"/>
              </a:ext>
            </a:extLst>
          </p:cNvPr>
          <p:cNvSpPr>
            <a:spLocks noGrp="1"/>
          </p:cNvSpPr>
          <p:nvPr>
            <p:ph idx="1"/>
          </p:nvPr>
        </p:nvSpPr>
        <p:spPr/>
        <p:txBody>
          <a:bodyPr/>
          <a:lstStyle/>
          <a:p>
            <a:pPr algn="just"/>
            <a:r>
              <a:rPr lang="en-US" sz="3200" dirty="0">
                <a:latin typeface="Times New Roman" panose="02020603050405020304" pitchFamily="18" charset="0"/>
                <a:cs typeface="Times New Roman" panose="02020603050405020304" pitchFamily="18" charset="0"/>
              </a:rPr>
              <a:t>Ensure the workplace is hygienic for workers</a:t>
            </a:r>
          </a:p>
          <a:p>
            <a:pPr algn="just"/>
            <a:r>
              <a:rPr lang="en-US" sz="3200" dirty="0">
                <a:latin typeface="Times New Roman" panose="02020603050405020304" pitchFamily="18" charset="0"/>
                <a:cs typeface="Times New Roman" panose="02020603050405020304" pitchFamily="18" charset="0"/>
              </a:rPr>
              <a:t>Integrating environmental concern into the country’s health policy</a:t>
            </a:r>
          </a:p>
          <a:p>
            <a:pPr algn="just"/>
            <a:r>
              <a:rPr lang="en-US" sz="3200" dirty="0">
                <a:latin typeface="Times New Roman" panose="02020603050405020304" pitchFamily="18" charset="0"/>
                <a:cs typeface="Times New Roman" panose="02020603050405020304" pitchFamily="18" charset="0"/>
              </a:rPr>
              <a:t>Incorporating environmental curriculum into health education system</a:t>
            </a:r>
          </a:p>
          <a:p>
            <a:pPr algn="just"/>
            <a:r>
              <a:rPr lang="en-US" sz="3200" dirty="0">
                <a:latin typeface="Times New Roman" panose="02020603050405020304" pitchFamily="18" charset="0"/>
                <a:cs typeface="Times New Roman" panose="02020603050405020304" pitchFamily="18" charset="0"/>
              </a:rPr>
              <a:t>Improving medical care in rural areas</a:t>
            </a:r>
          </a:p>
          <a:p>
            <a:endParaRPr lang="en-US" dirty="0"/>
          </a:p>
        </p:txBody>
      </p:sp>
    </p:spTree>
    <p:extLst>
      <p:ext uri="{BB962C8B-B14F-4D97-AF65-F5344CB8AC3E}">
        <p14:creationId xmlns:p14="http://schemas.microsoft.com/office/powerpoint/2010/main" val="660778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C9AB7-C96F-4094-92B0-53488AD57237}"/>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Fuel and Energy</a:t>
            </a:r>
          </a:p>
        </p:txBody>
      </p:sp>
      <p:sp>
        <p:nvSpPr>
          <p:cNvPr id="3" name="Content Placeholder 2">
            <a:extLst>
              <a:ext uri="{FF2B5EF4-FFF2-40B4-BE49-F238E27FC236}">
                <a16:creationId xmlns:a16="http://schemas.microsoft.com/office/drawing/2014/main" id="{4B51A09E-BA30-4F6C-B4AD-55181BE645B6}"/>
              </a:ext>
            </a:extLst>
          </p:cNvPr>
          <p:cNvSpPr>
            <a:spLocks noGrp="1"/>
          </p:cNvSpPr>
          <p:nvPr>
            <p:ph idx="1"/>
          </p:nvPr>
        </p:nvSpPr>
        <p:spPr/>
        <p:txBody>
          <a:bodyPr/>
          <a:lstStyle/>
          <a:p>
            <a:pPr algn="just"/>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Reduction of the use of fuel-wood and agricultural residues, </a:t>
            </a: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E</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xploring alternative energy resources, precautionary measures against potentially harmful use of nuclear energy and nuclear radiation </a:t>
            </a: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onservation of forest fuel and development of improved energy saving technology are recommended options for the sector.</a:t>
            </a:r>
          </a:p>
          <a:p>
            <a:pPr marL="0" indent="0">
              <a:buNone/>
            </a:pPr>
            <a:r>
              <a:rPr lang="en-US" sz="18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28379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62F7E-9ED4-471A-B986-487FBEDA22E4}"/>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Water resources and Irrigation</a:t>
            </a:r>
          </a:p>
        </p:txBody>
      </p:sp>
      <p:sp>
        <p:nvSpPr>
          <p:cNvPr id="3" name="Content Placeholder 2">
            <a:extLst>
              <a:ext uri="{FF2B5EF4-FFF2-40B4-BE49-F238E27FC236}">
                <a16:creationId xmlns:a16="http://schemas.microsoft.com/office/drawing/2014/main" id="{F23157AF-4F15-4A6A-8EAE-DBAB015B5638}"/>
              </a:ext>
            </a:extLst>
          </p:cNvPr>
          <p:cNvSpPr>
            <a:spLocks noGrp="1"/>
          </p:cNvSpPr>
          <p:nvPr>
            <p:ph idx="1"/>
          </p:nvPr>
        </p:nvSpPr>
        <p:spPr/>
        <p:txBody>
          <a:bodyPr/>
          <a:lstStyle/>
          <a:p>
            <a:pPr algn="just"/>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Environmentally sound water resource management is suggested in utilization</a:t>
            </a: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evelopment of water resources, </a:t>
            </a: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onstruction of irrigation network and embankments, </a:t>
            </a: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D</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redging of watercourses and </a:t>
            </a:r>
            <a:endPar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T</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aking measures against river pollution. </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8223147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D352E-0F4A-4FC1-B745-00E72716233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Land Management</a:t>
            </a:r>
          </a:p>
        </p:txBody>
      </p:sp>
      <p:sp>
        <p:nvSpPr>
          <p:cNvPr id="3" name="Content Placeholder 2">
            <a:extLst>
              <a:ext uri="{FF2B5EF4-FFF2-40B4-BE49-F238E27FC236}">
                <a16:creationId xmlns:a16="http://schemas.microsoft.com/office/drawing/2014/main" id="{3144FD2C-4068-412D-AA35-A1F509BA7FB7}"/>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Formulation of environmental-friendly national LULC policy</a:t>
            </a:r>
          </a:p>
          <a:p>
            <a:pPr algn="just"/>
            <a:r>
              <a:rPr lang="en-US" sz="3200" dirty="0">
                <a:latin typeface="Times New Roman" panose="02020603050405020304" pitchFamily="18" charset="0"/>
                <a:cs typeface="Times New Roman" panose="02020603050405020304" pitchFamily="18" charset="0"/>
              </a:rPr>
              <a:t>Strengthen land conservation policy and law</a:t>
            </a:r>
          </a:p>
          <a:p>
            <a:pPr algn="just"/>
            <a:r>
              <a:rPr lang="en-US" sz="3200" dirty="0">
                <a:latin typeface="Times New Roman" panose="02020603050405020304" pitchFamily="18" charset="0"/>
                <a:cs typeface="Times New Roman" panose="02020603050405020304" pitchFamily="18" charset="0"/>
              </a:rPr>
              <a:t>EIA based on the surrounding area must be implemented</a:t>
            </a:r>
          </a:p>
          <a:p>
            <a:pPr algn="just"/>
            <a:r>
              <a:rPr lang="en-US" sz="3200" dirty="0">
                <a:latin typeface="Times New Roman" panose="02020603050405020304" pitchFamily="18" charset="0"/>
                <a:cs typeface="Times New Roman" panose="02020603050405020304" pitchFamily="18" charset="0"/>
              </a:rPr>
              <a:t>Salinity intrusion should be prevented</a:t>
            </a:r>
          </a:p>
        </p:txBody>
      </p:sp>
    </p:spTree>
    <p:extLst>
      <p:ext uri="{BB962C8B-B14F-4D97-AF65-F5344CB8AC3E}">
        <p14:creationId xmlns:p14="http://schemas.microsoft.com/office/powerpoint/2010/main" val="321590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EB5FD-C85C-45CE-BEF9-C9AC10808BE1}"/>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Forest and Biodiversity</a:t>
            </a:r>
          </a:p>
        </p:txBody>
      </p:sp>
      <p:sp>
        <p:nvSpPr>
          <p:cNvPr id="3" name="Content Placeholder 2">
            <a:extLst>
              <a:ext uri="{FF2B5EF4-FFF2-40B4-BE49-F238E27FC236}">
                <a16:creationId xmlns:a16="http://schemas.microsoft.com/office/drawing/2014/main" id="{DAAB4A30-C292-42D4-B1B6-5F1EE9C124CE}"/>
              </a:ext>
            </a:extLst>
          </p:cNvPr>
          <p:cNvSpPr>
            <a:spLocks noGrp="1"/>
          </p:cNvSpPr>
          <p:nvPr>
            <p:ph idx="1"/>
          </p:nvPr>
        </p:nvSpPr>
        <p:spPr/>
        <p:txBody>
          <a:bodyPr/>
          <a:lstStyle/>
          <a:p>
            <a:pPr algn="just"/>
            <a:r>
              <a:rPr lang="en-US" sz="3200" dirty="0">
                <a:latin typeface="Times New Roman" panose="02020603050405020304" pitchFamily="18" charset="0"/>
                <a:cs typeface="Times New Roman" panose="02020603050405020304" pitchFamily="18" charset="0"/>
              </a:rPr>
              <a:t>Forest area must be expanded and developed to maintain ecological balance</a:t>
            </a:r>
          </a:p>
          <a:p>
            <a:pPr algn="just"/>
            <a:r>
              <a:rPr lang="en-US" sz="3200" dirty="0">
                <a:latin typeface="Times New Roman" panose="02020603050405020304" pitchFamily="18" charset="0"/>
                <a:cs typeface="Times New Roman" panose="02020603050405020304" pitchFamily="18" charset="0"/>
              </a:rPr>
              <a:t>Tree plantation programs should be included to protect environment</a:t>
            </a:r>
          </a:p>
          <a:p>
            <a:pPr algn="just"/>
            <a:r>
              <a:rPr lang="en-US" sz="3200" spc="1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C</a:t>
            </a:r>
            <a:r>
              <a:rPr lang="en-US" sz="3200"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onservation of wetlands are recognized as priority areas for action. </a:t>
            </a:r>
            <a:endParaRPr lang="en-US" sz="32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731810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24020-29D1-47A3-A134-EFEB24FEC066}"/>
              </a:ext>
            </a:extLst>
          </p:cNvPr>
          <p:cNvSpPr>
            <a:spLocks noGrp="1"/>
          </p:cNvSpPr>
          <p:nvPr>
            <p:ph type="title"/>
          </p:nvPr>
        </p:nvSpPr>
        <p:spPr>
          <a:xfrm>
            <a:off x="838200" y="365126"/>
            <a:ext cx="10515600" cy="965964"/>
          </a:xfrm>
        </p:spPr>
        <p:txBody>
          <a:bodyPr>
            <a:normAutofit fontScale="90000"/>
          </a:bodyPr>
          <a:lstStyle/>
          <a:p>
            <a:pPr algn="ctr"/>
            <a:r>
              <a:rPr lang="en-US" sz="4000" b="1" spc="15" dirty="0">
                <a:solidFill>
                  <a:srgbClr val="0D0D0D"/>
                </a:solidFill>
                <a:effectLst/>
                <a:latin typeface="Times New Roman" panose="02020603050405020304" pitchFamily="18" charset="0"/>
                <a:ea typeface="Times New Roman" panose="02020603050405020304" pitchFamily="18" charset="0"/>
                <a:cs typeface="Times New Roman" panose="02020603050405020304" pitchFamily="18" charset="0"/>
              </a:rPr>
              <a:t>Legal Framework of Environment Policy </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5466AA62-7682-4C5F-BB21-A7FDCEAC3864}"/>
              </a:ext>
            </a:extLst>
          </p:cNvPr>
          <p:cNvSpPr>
            <a:spLocks noGrp="1"/>
          </p:cNvSpPr>
          <p:nvPr>
            <p:ph idx="1"/>
          </p:nvPr>
        </p:nvSpPr>
        <p:spPr>
          <a:xfrm>
            <a:off x="838200" y="1331090"/>
            <a:ext cx="10515600" cy="5440100"/>
          </a:xfrm>
        </p:spPr>
        <p:txBody>
          <a:bodyPr>
            <a:normAutofit/>
          </a:bodyPr>
          <a:lstStyle/>
          <a:p>
            <a:pPr marL="0" marR="0" algn="just">
              <a:lnSpc>
                <a:spcPct val="107000"/>
              </a:lnSpc>
              <a:spcBef>
                <a:spcPts val="0"/>
              </a:spcBef>
              <a:spcAft>
                <a:spcPts val="0"/>
              </a:spcAft>
            </a:pPr>
            <a:r>
              <a:rPr lang="en-US" spc="1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policy directs to amend all laws and regulations related to protection of environment, conservation of natural resources, and control of environmental pollution and degradation with a view to meet present day s needs without compromising the ability to meet future needs. Frame new laws in all sectors necessary to control activities concerning environmental pollution and degradation. Ensure proper implementation of all relevant laws/regulations and create wide spread public awareness in this regard. Ratify all concerned international laws/conventions/ protocols which Bangladesh considers rectifiable and amend/modify existing national </a:t>
            </a:r>
            <a:r>
              <a:rPr lang="en-US" spc="10" dirty="0">
                <a:solidFill>
                  <a:srgbClr val="000000"/>
                </a:solidFill>
                <a:effectLst/>
                <a:latin typeface="Times New Roman" panose="02020603050405020304" pitchFamily="18" charset="0"/>
                <a:ea typeface="Times New Roman" panose="02020603050405020304" pitchFamily="18" charset="0"/>
              </a:rPr>
              <a:t>laws/regulations in line with the ratified international laws/conventions/protocols.</a:t>
            </a:r>
            <a:endParaRPr lang="en-US" dirty="0"/>
          </a:p>
        </p:txBody>
      </p:sp>
    </p:spTree>
    <p:extLst>
      <p:ext uri="{BB962C8B-B14F-4D97-AF65-F5344CB8AC3E}">
        <p14:creationId xmlns:p14="http://schemas.microsoft.com/office/powerpoint/2010/main" val="1330115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34197-8A4B-4242-B0A2-05FA6AA74585}"/>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Challenges of Implementation</a:t>
            </a:r>
          </a:p>
        </p:txBody>
      </p:sp>
      <p:sp>
        <p:nvSpPr>
          <p:cNvPr id="3" name="Content Placeholder 2">
            <a:extLst>
              <a:ext uri="{FF2B5EF4-FFF2-40B4-BE49-F238E27FC236}">
                <a16:creationId xmlns:a16="http://schemas.microsoft.com/office/drawing/2014/main" id="{1A34BDEE-0F58-4836-8203-6FC39769FAFB}"/>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Environment to be the priority of the government with the political blessing irrespective of the changes of the regime</a:t>
            </a:r>
          </a:p>
          <a:p>
            <a:pPr algn="just"/>
            <a:r>
              <a:rPr lang="en-US" sz="3200" dirty="0">
                <a:latin typeface="Times New Roman" panose="02020603050405020304" pitchFamily="18" charset="0"/>
                <a:cs typeface="Times New Roman" panose="02020603050405020304" pitchFamily="18" charset="0"/>
              </a:rPr>
              <a:t>Role of the judiciary is important in taking </a:t>
            </a:r>
            <a:r>
              <a:rPr lang="en-US" sz="3200" dirty="0" err="1">
                <a:latin typeface="Times New Roman" panose="02020603050405020304" pitchFamily="18" charset="0"/>
                <a:cs typeface="Times New Roman" panose="02020603050405020304" pitchFamily="18" charset="0"/>
              </a:rPr>
              <a:t>soumotu</a:t>
            </a:r>
            <a:r>
              <a:rPr lang="en-US" sz="3200" dirty="0">
                <a:latin typeface="Times New Roman" panose="02020603050405020304" pitchFamily="18" charset="0"/>
                <a:cs typeface="Times New Roman" panose="02020603050405020304" pitchFamily="18" charset="0"/>
              </a:rPr>
              <a:t> rules</a:t>
            </a:r>
          </a:p>
          <a:p>
            <a:pPr algn="just"/>
            <a:r>
              <a:rPr lang="en-US" sz="3200" dirty="0">
                <a:latin typeface="Times New Roman" panose="02020603050405020304" pitchFamily="18" charset="0"/>
                <a:cs typeface="Times New Roman" panose="02020603050405020304" pitchFamily="18" charset="0"/>
              </a:rPr>
              <a:t>Role of civil society and media as watch dog helps effective implementation of the policy</a:t>
            </a:r>
          </a:p>
          <a:p>
            <a:pPr algn="just"/>
            <a:r>
              <a:rPr lang="en-US" sz="3200" dirty="0">
                <a:latin typeface="Times New Roman" panose="02020603050405020304" pitchFamily="18" charset="0"/>
                <a:cs typeface="Times New Roman" panose="02020603050405020304" pitchFamily="18" charset="0"/>
              </a:rPr>
              <a:t>Priority should be given to the indigenous knowledge of the people of the concern area</a:t>
            </a:r>
          </a:p>
        </p:txBody>
      </p:sp>
    </p:spTree>
    <p:extLst>
      <p:ext uri="{BB962C8B-B14F-4D97-AF65-F5344CB8AC3E}">
        <p14:creationId xmlns:p14="http://schemas.microsoft.com/office/powerpoint/2010/main" val="167993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113B5-6012-443F-AE03-2E14FD86C5E8}"/>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34A8FFFA-47CB-4F4D-9E58-0487B18490C0}"/>
              </a:ext>
            </a:extLst>
          </p:cNvPr>
          <p:cNvSpPr>
            <a:spLocks noGrp="1"/>
          </p:cNvSpPr>
          <p:nvPr>
            <p:ph idx="1"/>
          </p:nvPr>
        </p:nvSpPr>
        <p:spPr/>
        <p:txBody>
          <a:bodyPr>
            <a:normAutofit/>
          </a:bodyPr>
          <a:lstStyle/>
          <a:p>
            <a:pPr algn="just"/>
            <a:r>
              <a:rPr lang="en-US" sz="3200" dirty="0">
                <a:latin typeface="Times New Roman" panose="02020603050405020304" pitchFamily="18" charset="0"/>
                <a:cs typeface="Times New Roman" panose="02020603050405020304" pitchFamily="18" charset="0"/>
              </a:rPr>
              <a:t>The ultimate objective of environment policy is to ensure environmentally sound development in all sectors. Thus this policy is to provide the basic premise to define the goals of economic and social development in terms of sustainability in the respective sector and in overall national planning.</a:t>
            </a:r>
          </a:p>
        </p:txBody>
      </p:sp>
    </p:spTree>
    <p:extLst>
      <p:ext uri="{BB962C8B-B14F-4D97-AF65-F5344CB8AC3E}">
        <p14:creationId xmlns:p14="http://schemas.microsoft.com/office/powerpoint/2010/main" val="35680084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952</Words>
  <Application>Microsoft Office PowerPoint</Application>
  <PresentationFormat>Widescreen</PresentationFormat>
  <Paragraphs>78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National Environment policy</vt:lpstr>
      <vt:lpstr>Introduction</vt:lpstr>
      <vt:lpstr>Definitions of Environment policy</vt:lpstr>
      <vt:lpstr>Background of BD Env policy</vt:lpstr>
      <vt:lpstr>Associated actors</vt:lpstr>
      <vt:lpstr>Objectives of the Env Policy</vt:lpstr>
      <vt:lpstr>Major Features of Environmental Policy of Bangladesh  </vt:lpstr>
      <vt:lpstr>Agriculture</vt:lpstr>
      <vt:lpstr>Industry</vt:lpstr>
      <vt:lpstr>Health and Sanitation</vt:lpstr>
      <vt:lpstr>Fuel and Energy</vt:lpstr>
      <vt:lpstr>Water resources and Irrigation</vt:lpstr>
      <vt:lpstr>Land Management</vt:lpstr>
      <vt:lpstr>Forest and Biodiversity</vt:lpstr>
      <vt:lpstr>Legal Framework of Environment Policy  </vt:lpstr>
      <vt:lpstr>Challenges of Implementation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National Environment policy</dc:title>
  <dc:creator>HP</dc:creator>
  <cp:lastModifiedBy>user</cp:lastModifiedBy>
  <cp:revision>27</cp:revision>
  <dcterms:created xsi:type="dcterms:W3CDTF">2025-10-28T14:39:44Z</dcterms:created>
  <dcterms:modified xsi:type="dcterms:W3CDTF">2026-07-14T04:46:03Z</dcterms:modified>
</cp:coreProperties>
</file>