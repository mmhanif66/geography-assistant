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5" r:id="rId6"/>
    <p:sldId id="264" r:id="rId7"/>
    <p:sldId id="260" r:id="rId8"/>
    <p:sldId id="266" r:id="rId9"/>
    <p:sldId id="261"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91" autoAdjust="0"/>
  </p:normalViewPr>
  <p:slideViewPr>
    <p:cSldViewPr snapToGrid="0">
      <p:cViewPr varScale="1">
        <p:scale>
          <a:sx n="74" d="100"/>
          <a:sy n="74" d="100"/>
        </p:scale>
        <p:origin x="104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3ED46-2F68-448E-B36F-259E71E0DD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561440-0ED7-4B28-9CB2-9AD79A9EAF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90026F-883A-4A89-9323-8EF8AE4CB562}"/>
              </a:ext>
            </a:extLst>
          </p:cNvPr>
          <p:cNvSpPr>
            <a:spLocks noGrp="1"/>
          </p:cNvSpPr>
          <p:nvPr>
            <p:ph type="dt" sz="half" idx="10"/>
          </p:nvPr>
        </p:nvSpPr>
        <p:spPr/>
        <p:txBody>
          <a:bodyPr/>
          <a:lstStyle/>
          <a:p>
            <a:fld id="{5EEF0999-84A0-4A19-ADA0-4A0D4F3DBBB1}" type="datetimeFigureOut">
              <a:rPr lang="en-US" smtClean="0"/>
              <a:t>7/1/2026</a:t>
            </a:fld>
            <a:endParaRPr lang="en-US"/>
          </a:p>
        </p:txBody>
      </p:sp>
      <p:sp>
        <p:nvSpPr>
          <p:cNvPr id="5" name="Footer Placeholder 4">
            <a:extLst>
              <a:ext uri="{FF2B5EF4-FFF2-40B4-BE49-F238E27FC236}">
                <a16:creationId xmlns:a16="http://schemas.microsoft.com/office/drawing/2014/main" id="{F754BAA8-4077-4B9D-AEAC-C6011035AA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B3302C-7BBE-471B-BA4B-DD06D364A2FE}"/>
              </a:ext>
            </a:extLst>
          </p:cNvPr>
          <p:cNvSpPr>
            <a:spLocks noGrp="1"/>
          </p:cNvSpPr>
          <p:nvPr>
            <p:ph type="sldNum" sz="quarter" idx="12"/>
          </p:nvPr>
        </p:nvSpPr>
        <p:spPr/>
        <p:txBody>
          <a:bodyPr/>
          <a:lstStyle/>
          <a:p>
            <a:fld id="{0350AE78-CD10-4D00-A2C0-06CA6000B825}" type="slidenum">
              <a:rPr lang="en-US" smtClean="0"/>
              <a:t>‹#›</a:t>
            </a:fld>
            <a:endParaRPr lang="en-US"/>
          </a:p>
        </p:txBody>
      </p:sp>
    </p:spTree>
    <p:extLst>
      <p:ext uri="{BB962C8B-B14F-4D97-AF65-F5344CB8AC3E}">
        <p14:creationId xmlns:p14="http://schemas.microsoft.com/office/powerpoint/2010/main" val="3362810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E7175-A495-45C1-A6E4-DF7BC5E490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44AACE-1F8E-4C40-BBBC-F53D90F828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EECD8F-BAB7-4741-BE6D-5E266ECF42DC}"/>
              </a:ext>
            </a:extLst>
          </p:cNvPr>
          <p:cNvSpPr>
            <a:spLocks noGrp="1"/>
          </p:cNvSpPr>
          <p:nvPr>
            <p:ph type="dt" sz="half" idx="10"/>
          </p:nvPr>
        </p:nvSpPr>
        <p:spPr/>
        <p:txBody>
          <a:bodyPr/>
          <a:lstStyle/>
          <a:p>
            <a:fld id="{5EEF0999-84A0-4A19-ADA0-4A0D4F3DBBB1}" type="datetimeFigureOut">
              <a:rPr lang="en-US" smtClean="0"/>
              <a:t>7/1/2026</a:t>
            </a:fld>
            <a:endParaRPr lang="en-US"/>
          </a:p>
        </p:txBody>
      </p:sp>
      <p:sp>
        <p:nvSpPr>
          <p:cNvPr id="5" name="Footer Placeholder 4">
            <a:extLst>
              <a:ext uri="{FF2B5EF4-FFF2-40B4-BE49-F238E27FC236}">
                <a16:creationId xmlns:a16="http://schemas.microsoft.com/office/drawing/2014/main" id="{48778861-5BF5-4317-8936-AD570619F4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680EA6-0552-4C02-A849-CDBFD383282E}"/>
              </a:ext>
            </a:extLst>
          </p:cNvPr>
          <p:cNvSpPr>
            <a:spLocks noGrp="1"/>
          </p:cNvSpPr>
          <p:nvPr>
            <p:ph type="sldNum" sz="quarter" idx="12"/>
          </p:nvPr>
        </p:nvSpPr>
        <p:spPr/>
        <p:txBody>
          <a:bodyPr/>
          <a:lstStyle/>
          <a:p>
            <a:fld id="{0350AE78-CD10-4D00-A2C0-06CA6000B825}" type="slidenum">
              <a:rPr lang="en-US" smtClean="0"/>
              <a:t>‹#›</a:t>
            </a:fld>
            <a:endParaRPr lang="en-US"/>
          </a:p>
        </p:txBody>
      </p:sp>
    </p:spTree>
    <p:extLst>
      <p:ext uri="{BB962C8B-B14F-4D97-AF65-F5344CB8AC3E}">
        <p14:creationId xmlns:p14="http://schemas.microsoft.com/office/powerpoint/2010/main" val="182153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F8D10-7E47-4EDB-BA75-23A42E5759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38B9E6-664C-477B-9C0B-5CB9F0B065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9CE877-58ED-4435-930C-9A7DABB70EFD}"/>
              </a:ext>
            </a:extLst>
          </p:cNvPr>
          <p:cNvSpPr>
            <a:spLocks noGrp="1"/>
          </p:cNvSpPr>
          <p:nvPr>
            <p:ph type="dt" sz="half" idx="10"/>
          </p:nvPr>
        </p:nvSpPr>
        <p:spPr/>
        <p:txBody>
          <a:bodyPr/>
          <a:lstStyle/>
          <a:p>
            <a:fld id="{5EEF0999-84A0-4A19-ADA0-4A0D4F3DBBB1}" type="datetimeFigureOut">
              <a:rPr lang="en-US" smtClean="0"/>
              <a:t>7/1/2026</a:t>
            </a:fld>
            <a:endParaRPr lang="en-US"/>
          </a:p>
        </p:txBody>
      </p:sp>
      <p:sp>
        <p:nvSpPr>
          <p:cNvPr id="5" name="Footer Placeholder 4">
            <a:extLst>
              <a:ext uri="{FF2B5EF4-FFF2-40B4-BE49-F238E27FC236}">
                <a16:creationId xmlns:a16="http://schemas.microsoft.com/office/drawing/2014/main" id="{13BAC9BA-C3BE-4892-BF80-CAAE37EA0D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95D2B-DAF7-470B-AAAE-F4A793EC671B}"/>
              </a:ext>
            </a:extLst>
          </p:cNvPr>
          <p:cNvSpPr>
            <a:spLocks noGrp="1"/>
          </p:cNvSpPr>
          <p:nvPr>
            <p:ph type="sldNum" sz="quarter" idx="12"/>
          </p:nvPr>
        </p:nvSpPr>
        <p:spPr/>
        <p:txBody>
          <a:bodyPr/>
          <a:lstStyle/>
          <a:p>
            <a:fld id="{0350AE78-CD10-4D00-A2C0-06CA6000B825}" type="slidenum">
              <a:rPr lang="en-US" smtClean="0"/>
              <a:t>‹#›</a:t>
            </a:fld>
            <a:endParaRPr lang="en-US"/>
          </a:p>
        </p:txBody>
      </p:sp>
    </p:spTree>
    <p:extLst>
      <p:ext uri="{BB962C8B-B14F-4D97-AF65-F5344CB8AC3E}">
        <p14:creationId xmlns:p14="http://schemas.microsoft.com/office/powerpoint/2010/main" val="239272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CAD25-3994-4E48-8B67-0C41ED2E52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9E7BB6-AE32-4A63-B06B-83EFD81CF9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05E060-6853-4467-BF25-5A58F0A081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F7B310-986C-413D-AB90-23AEDD9D5661}"/>
              </a:ext>
            </a:extLst>
          </p:cNvPr>
          <p:cNvSpPr>
            <a:spLocks noGrp="1"/>
          </p:cNvSpPr>
          <p:nvPr>
            <p:ph type="dt" sz="half" idx="10"/>
          </p:nvPr>
        </p:nvSpPr>
        <p:spPr/>
        <p:txBody>
          <a:bodyPr/>
          <a:lstStyle/>
          <a:p>
            <a:fld id="{5EEF0999-84A0-4A19-ADA0-4A0D4F3DBBB1}" type="datetimeFigureOut">
              <a:rPr lang="en-US" smtClean="0"/>
              <a:t>7/1/2026</a:t>
            </a:fld>
            <a:endParaRPr lang="en-US"/>
          </a:p>
        </p:txBody>
      </p:sp>
      <p:sp>
        <p:nvSpPr>
          <p:cNvPr id="6" name="Footer Placeholder 5">
            <a:extLst>
              <a:ext uri="{FF2B5EF4-FFF2-40B4-BE49-F238E27FC236}">
                <a16:creationId xmlns:a16="http://schemas.microsoft.com/office/drawing/2014/main" id="{70819580-581C-4FD8-90EC-50E8CCF5B5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33F942-3E67-4701-A93B-F9C78565590E}"/>
              </a:ext>
            </a:extLst>
          </p:cNvPr>
          <p:cNvSpPr>
            <a:spLocks noGrp="1"/>
          </p:cNvSpPr>
          <p:nvPr>
            <p:ph type="sldNum" sz="quarter" idx="12"/>
          </p:nvPr>
        </p:nvSpPr>
        <p:spPr/>
        <p:txBody>
          <a:bodyPr/>
          <a:lstStyle/>
          <a:p>
            <a:fld id="{0350AE78-CD10-4D00-A2C0-06CA6000B825}" type="slidenum">
              <a:rPr lang="en-US" smtClean="0"/>
              <a:t>‹#›</a:t>
            </a:fld>
            <a:endParaRPr lang="en-US"/>
          </a:p>
        </p:txBody>
      </p:sp>
    </p:spTree>
    <p:extLst>
      <p:ext uri="{BB962C8B-B14F-4D97-AF65-F5344CB8AC3E}">
        <p14:creationId xmlns:p14="http://schemas.microsoft.com/office/powerpoint/2010/main" val="3500913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488D5-FDB6-44BA-84F3-290598AE18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8B012B-3920-4385-B689-5510BCB41D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25CCB3-D2BA-4678-912E-CA72B2B640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6766ED-FDEC-4169-B193-C01A3C0754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3F6A36-F512-49FD-92EF-6EF340E522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2948B2-E1CC-448B-93F2-CF7D987FF928}"/>
              </a:ext>
            </a:extLst>
          </p:cNvPr>
          <p:cNvSpPr>
            <a:spLocks noGrp="1"/>
          </p:cNvSpPr>
          <p:nvPr>
            <p:ph type="dt" sz="half" idx="10"/>
          </p:nvPr>
        </p:nvSpPr>
        <p:spPr/>
        <p:txBody>
          <a:bodyPr/>
          <a:lstStyle/>
          <a:p>
            <a:fld id="{5EEF0999-84A0-4A19-ADA0-4A0D4F3DBBB1}" type="datetimeFigureOut">
              <a:rPr lang="en-US" smtClean="0"/>
              <a:t>7/1/2026</a:t>
            </a:fld>
            <a:endParaRPr lang="en-US"/>
          </a:p>
        </p:txBody>
      </p:sp>
      <p:sp>
        <p:nvSpPr>
          <p:cNvPr id="8" name="Footer Placeholder 7">
            <a:extLst>
              <a:ext uri="{FF2B5EF4-FFF2-40B4-BE49-F238E27FC236}">
                <a16:creationId xmlns:a16="http://schemas.microsoft.com/office/drawing/2014/main" id="{167E746E-EB23-4205-BD06-9DF7B4FE7E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440BDA-58CD-4DC2-A9A3-FF95118B3E0B}"/>
              </a:ext>
            </a:extLst>
          </p:cNvPr>
          <p:cNvSpPr>
            <a:spLocks noGrp="1"/>
          </p:cNvSpPr>
          <p:nvPr>
            <p:ph type="sldNum" sz="quarter" idx="12"/>
          </p:nvPr>
        </p:nvSpPr>
        <p:spPr/>
        <p:txBody>
          <a:bodyPr/>
          <a:lstStyle/>
          <a:p>
            <a:fld id="{0350AE78-CD10-4D00-A2C0-06CA6000B825}" type="slidenum">
              <a:rPr lang="en-US" smtClean="0"/>
              <a:t>‹#›</a:t>
            </a:fld>
            <a:endParaRPr lang="en-US"/>
          </a:p>
        </p:txBody>
      </p:sp>
    </p:spTree>
    <p:extLst>
      <p:ext uri="{BB962C8B-B14F-4D97-AF65-F5344CB8AC3E}">
        <p14:creationId xmlns:p14="http://schemas.microsoft.com/office/powerpoint/2010/main" val="3595855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8B3A6-AB5B-4442-943C-8945495F05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3B8369-34CB-4507-B2B0-A439F4EA6A63}"/>
              </a:ext>
            </a:extLst>
          </p:cNvPr>
          <p:cNvSpPr>
            <a:spLocks noGrp="1"/>
          </p:cNvSpPr>
          <p:nvPr>
            <p:ph type="dt" sz="half" idx="10"/>
          </p:nvPr>
        </p:nvSpPr>
        <p:spPr/>
        <p:txBody>
          <a:bodyPr/>
          <a:lstStyle/>
          <a:p>
            <a:fld id="{5EEF0999-84A0-4A19-ADA0-4A0D4F3DBBB1}" type="datetimeFigureOut">
              <a:rPr lang="en-US" smtClean="0"/>
              <a:t>7/1/2026</a:t>
            </a:fld>
            <a:endParaRPr lang="en-US"/>
          </a:p>
        </p:txBody>
      </p:sp>
      <p:sp>
        <p:nvSpPr>
          <p:cNvPr id="4" name="Footer Placeholder 3">
            <a:extLst>
              <a:ext uri="{FF2B5EF4-FFF2-40B4-BE49-F238E27FC236}">
                <a16:creationId xmlns:a16="http://schemas.microsoft.com/office/drawing/2014/main" id="{246D4781-AB15-4785-9515-CD5FF722BB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102765-ED97-411C-9A58-433678B3CF39}"/>
              </a:ext>
            </a:extLst>
          </p:cNvPr>
          <p:cNvSpPr>
            <a:spLocks noGrp="1"/>
          </p:cNvSpPr>
          <p:nvPr>
            <p:ph type="sldNum" sz="quarter" idx="12"/>
          </p:nvPr>
        </p:nvSpPr>
        <p:spPr/>
        <p:txBody>
          <a:bodyPr/>
          <a:lstStyle/>
          <a:p>
            <a:fld id="{0350AE78-CD10-4D00-A2C0-06CA6000B825}" type="slidenum">
              <a:rPr lang="en-US" smtClean="0"/>
              <a:t>‹#›</a:t>
            </a:fld>
            <a:endParaRPr lang="en-US"/>
          </a:p>
        </p:txBody>
      </p:sp>
    </p:spTree>
    <p:extLst>
      <p:ext uri="{BB962C8B-B14F-4D97-AF65-F5344CB8AC3E}">
        <p14:creationId xmlns:p14="http://schemas.microsoft.com/office/powerpoint/2010/main" val="195004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6BB81B-2AFD-4C48-95EE-E7B415DD4529}"/>
              </a:ext>
            </a:extLst>
          </p:cNvPr>
          <p:cNvSpPr>
            <a:spLocks noGrp="1"/>
          </p:cNvSpPr>
          <p:nvPr>
            <p:ph type="dt" sz="half" idx="10"/>
          </p:nvPr>
        </p:nvSpPr>
        <p:spPr/>
        <p:txBody>
          <a:bodyPr/>
          <a:lstStyle/>
          <a:p>
            <a:fld id="{5EEF0999-84A0-4A19-ADA0-4A0D4F3DBBB1}" type="datetimeFigureOut">
              <a:rPr lang="en-US" smtClean="0"/>
              <a:t>7/1/2026</a:t>
            </a:fld>
            <a:endParaRPr lang="en-US"/>
          </a:p>
        </p:txBody>
      </p:sp>
      <p:sp>
        <p:nvSpPr>
          <p:cNvPr id="3" name="Footer Placeholder 2">
            <a:extLst>
              <a:ext uri="{FF2B5EF4-FFF2-40B4-BE49-F238E27FC236}">
                <a16:creationId xmlns:a16="http://schemas.microsoft.com/office/drawing/2014/main" id="{E3235D2A-AD15-4097-A5C0-0921DBD8CC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DA5981-C456-457F-84FF-6ED46BF6AD5B}"/>
              </a:ext>
            </a:extLst>
          </p:cNvPr>
          <p:cNvSpPr>
            <a:spLocks noGrp="1"/>
          </p:cNvSpPr>
          <p:nvPr>
            <p:ph type="sldNum" sz="quarter" idx="12"/>
          </p:nvPr>
        </p:nvSpPr>
        <p:spPr/>
        <p:txBody>
          <a:bodyPr/>
          <a:lstStyle/>
          <a:p>
            <a:fld id="{0350AE78-CD10-4D00-A2C0-06CA6000B825}" type="slidenum">
              <a:rPr lang="en-US" smtClean="0"/>
              <a:t>‹#›</a:t>
            </a:fld>
            <a:endParaRPr lang="en-US"/>
          </a:p>
        </p:txBody>
      </p:sp>
    </p:spTree>
    <p:extLst>
      <p:ext uri="{BB962C8B-B14F-4D97-AF65-F5344CB8AC3E}">
        <p14:creationId xmlns:p14="http://schemas.microsoft.com/office/powerpoint/2010/main" val="238686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BFA7F-32E3-4FDD-ABB8-C930381341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4104CC-17DA-434B-AF06-6075933C92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058F4B-8BEF-49D7-A720-1AD4CA3BA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B9DB43-D54E-4DA9-B82D-1381D93C9774}"/>
              </a:ext>
            </a:extLst>
          </p:cNvPr>
          <p:cNvSpPr>
            <a:spLocks noGrp="1"/>
          </p:cNvSpPr>
          <p:nvPr>
            <p:ph type="dt" sz="half" idx="10"/>
          </p:nvPr>
        </p:nvSpPr>
        <p:spPr/>
        <p:txBody>
          <a:bodyPr/>
          <a:lstStyle/>
          <a:p>
            <a:fld id="{5EEF0999-84A0-4A19-ADA0-4A0D4F3DBBB1}" type="datetimeFigureOut">
              <a:rPr lang="en-US" smtClean="0"/>
              <a:t>7/1/2026</a:t>
            </a:fld>
            <a:endParaRPr lang="en-US"/>
          </a:p>
        </p:txBody>
      </p:sp>
      <p:sp>
        <p:nvSpPr>
          <p:cNvPr id="6" name="Footer Placeholder 5">
            <a:extLst>
              <a:ext uri="{FF2B5EF4-FFF2-40B4-BE49-F238E27FC236}">
                <a16:creationId xmlns:a16="http://schemas.microsoft.com/office/drawing/2014/main" id="{7C899B39-B6EF-47F8-928F-CB9A8D3CC0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3C34A8-8B26-439D-9ACF-77E63D00A14B}"/>
              </a:ext>
            </a:extLst>
          </p:cNvPr>
          <p:cNvSpPr>
            <a:spLocks noGrp="1"/>
          </p:cNvSpPr>
          <p:nvPr>
            <p:ph type="sldNum" sz="quarter" idx="12"/>
          </p:nvPr>
        </p:nvSpPr>
        <p:spPr/>
        <p:txBody>
          <a:bodyPr/>
          <a:lstStyle/>
          <a:p>
            <a:fld id="{0350AE78-CD10-4D00-A2C0-06CA6000B825}" type="slidenum">
              <a:rPr lang="en-US" smtClean="0"/>
              <a:t>‹#›</a:t>
            </a:fld>
            <a:endParaRPr lang="en-US"/>
          </a:p>
        </p:txBody>
      </p:sp>
    </p:spTree>
    <p:extLst>
      <p:ext uri="{BB962C8B-B14F-4D97-AF65-F5344CB8AC3E}">
        <p14:creationId xmlns:p14="http://schemas.microsoft.com/office/powerpoint/2010/main" val="863133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75491-3471-44E5-9BD3-7C4AB5C0B8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9AC434-FC68-48B5-AC58-24063020E3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2030ECD-49DE-4E5B-B389-C5D023A0FF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CC9E53-A8DD-48A6-8158-9D45459D0CBC}"/>
              </a:ext>
            </a:extLst>
          </p:cNvPr>
          <p:cNvSpPr>
            <a:spLocks noGrp="1"/>
          </p:cNvSpPr>
          <p:nvPr>
            <p:ph type="dt" sz="half" idx="10"/>
          </p:nvPr>
        </p:nvSpPr>
        <p:spPr/>
        <p:txBody>
          <a:bodyPr/>
          <a:lstStyle/>
          <a:p>
            <a:fld id="{5EEF0999-84A0-4A19-ADA0-4A0D4F3DBBB1}" type="datetimeFigureOut">
              <a:rPr lang="en-US" smtClean="0"/>
              <a:t>7/1/2026</a:t>
            </a:fld>
            <a:endParaRPr lang="en-US"/>
          </a:p>
        </p:txBody>
      </p:sp>
      <p:sp>
        <p:nvSpPr>
          <p:cNvPr id="6" name="Footer Placeholder 5">
            <a:extLst>
              <a:ext uri="{FF2B5EF4-FFF2-40B4-BE49-F238E27FC236}">
                <a16:creationId xmlns:a16="http://schemas.microsoft.com/office/drawing/2014/main" id="{667977D4-4DBA-4A79-9857-BEF77B2A69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1458F8-FD1E-4B48-B6A9-E7BEE982ACAC}"/>
              </a:ext>
            </a:extLst>
          </p:cNvPr>
          <p:cNvSpPr>
            <a:spLocks noGrp="1"/>
          </p:cNvSpPr>
          <p:nvPr>
            <p:ph type="sldNum" sz="quarter" idx="12"/>
          </p:nvPr>
        </p:nvSpPr>
        <p:spPr/>
        <p:txBody>
          <a:bodyPr/>
          <a:lstStyle/>
          <a:p>
            <a:fld id="{0350AE78-CD10-4D00-A2C0-06CA6000B825}" type="slidenum">
              <a:rPr lang="en-US" smtClean="0"/>
              <a:t>‹#›</a:t>
            </a:fld>
            <a:endParaRPr lang="en-US"/>
          </a:p>
        </p:txBody>
      </p:sp>
    </p:spTree>
    <p:extLst>
      <p:ext uri="{BB962C8B-B14F-4D97-AF65-F5344CB8AC3E}">
        <p14:creationId xmlns:p14="http://schemas.microsoft.com/office/powerpoint/2010/main" val="2633481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CCEAD-1F4C-4873-A5D3-DC41D0B33E4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5E8629-3CDE-4171-8974-9810650119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AEDCE6-5A57-461A-9C18-20EF7CC70E0E}"/>
              </a:ext>
            </a:extLst>
          </p:cNvPr>
          <p:cNvSpPr>
            <a:spLocks noGrp="1"/>
          </p:cNvSpPr>
          <p:nvPr>
            <p:ph type="dt" sz="half" idx="10"/>
          </p:nvPr>
        </p:nvSpPr>
        <p:spPr/>
        <p:txBody>
          <a:bodyPr/>
          <a:lstStyle/>
          <a:p>
            <a:fld id="{5EEF0999-84A0-4A19-ADA0-4A0D4F3DBBB1}" type="datetimeFigureOut">
              <a:rPr lang="en-US" smtClean="0"/>
              <a:t>7/1/2026</a:t>
            </a:fld>
            <a:endParaRPr lang="en-US"/>
          </a:p>
        </p:txBody>
      </p:sp>
      <p:sp>
        <p:nvSpPr>
          <p:cNvPr id="5" name="Footer Placeholder 4">
            <a:extLst>
              <a:ext uri="{FF2B5EF4-FFF2-40B4-BE49-F238E27FC236}">
                <a16:creationId xmlns:a16="http://schemas.microsoft.com/office/drawing/2014/main" id="{708A50B8-297F-48E1-9AF5-0A338B2A48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F6951E-F0FE-4777-A8F2-6290DC475F43}"/>
              </a:ext>
            </a:extLst>
          </p:cNvPr>
          <p:cNvSpPr>
            <a:spLocks noGrp="1"/>
          </p:cNvSpPr>
          <p:nvPr>
            <p:ph type="sldNum" sz="quarter" idx="12"/>
          </p:nvPr>
        </p:nvSpPr>
        <p:spPr/>
        <p:txBody>
          <a:bodyPr/>
          <a:lstStyle/>
          <a:p>
            <a:fld id="{0350AE78-CD10-4D00-A2C0-06CA6000B825}" type="slidenum">
              <a:rPr lang="en-US" smtClean="0"/>
              <a:t>‹#›</a:t>
            </a:fld>
            <a:endParaRPr lang="en-US"/>
          </a:p>
        </p:txBody>
      </p:sp>
    </p:spTree>
    <p:extLst>
      <p:ext uri="{BB962C8B-B14F-4D97-AF65-F5344CB8AC3E}">
        <p14:creationId xmlns:p14="http://schemas.microsoft.com/office/powerpoint/2010/main" val="694127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F4021F-DF61-4E2F-A581-E0DB2EA97B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7E1AE8-EBB0-4E4E-92C7-EDA57A5DBE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0D46C-566D-43BA-A66E-334ACAC4DF02}"/>
              </a:ext>
            </a:extLst>
          </p:cNvPr>
          <p:cNvSpPr>
            <a:spLocks noGrp="1"/>
          </p:cNvSpPr>
          <p:nvPr>
            <p:ph type="dt" sz="half" idx="10"/>
          </p:nvPr>
        </p:nvSpPr>
        <p:spPr/>
        <p:txBody>
          <a:bodyPr/>
          <a:lstStyle/>
          <a:p>
            <a:fld id="{5EEF0999-84A0-4A19-ADA0-4A0D4F3DBBB1}" type="datetimeFigureOut">
              <a:rPr lang="en-US" smtClean="0"/>
              <a:t>7/1/2026</a:t>
            </a:fld>
            <a:endParaRPr lang="en-US"/>
          </a:p>
        </p:txBody>
      </p:sp>
      <p:sp>
        <p:nvSpPr>
          <p:cNvPr id="5" name="Footer Placeholder 4">
            <a:extLst>
              <a:ext uri="{FF2B5EF4-FFF2-40B4-BE49-F238E27FC236}">
                <a16:creationId xmlns:a16="http://schemas.microsoft.com/office/drawing/2014/main" id="{D8867159-04B0-42D9-9163-D6EF9388D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A01EB5-0AD2-4F37-9D80-56A4D1661B46}"/>
              </a:ext>
            </a:extLst>
          </p:cNvPr>
          <p:cNvSpPr>
            <a:spLocks noGrp="1"/>
          </p:cNvSpPr>
          <p:nvPr>
            <p:ph type="sldNum" sz="quarter" idx="12"/>
          </p:nvPr>
        </p:nvSpPr>
        <p:spPr/>
        <p:txBody>
          <a:bodyPr/>
          <a:lstStyle/>
          <a:p>
            <a:fld id="{0350AE78-CD10-4D00-A2C0-06CA6000B825}" type="slidenum">
              <a:rPr lang="en-US" smtClean="0"/>
              <a:t>‹#›</a:t>
            </a:fld>
            <a:endParaRPr lang="en-US"/>
          </a:p>
        </p:txBody>
      </p:sp>
    </p:spTree>
    <p:extLst>
      <p:ext uri="{BB962C8B-B14F-4D97-AF65-F5344CB8AC3E}">
        <p14:creationId xmlns:p14="http://schemas.microsoft.com/office/powerpoint/2010/main" val="2558362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9639E1-A566-4655-AB27-733A1C8B10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75AEF9-FFC9-456A-AB3E-1C15206F1C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4ABAB-F513-47C9-B254-FBC5EA481C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EF0999-84A0-4A19-ADA0-4A0D4F3DBBB1}" type="datetimeFigureOut">
              <a:rPr lang="en-US" smtClean="0"/>
              <a:t>7/1/2026</a:t>
            </a:fld>
            <a:endParaRPr lang="en-US"/>
          </a:p>
        </p:txBody>
      </p:sp>
      <p:sp>
        <p:nvSpPr>
          <p:cNvPr id="5" name="Footer Placeholder 4">
            <a:extLst>
              <a:ext uri="{FF2B5EF4-FFF2-40B4-BE49-F238E27FC236}">
                <a16:creationId xmlns:a16="http://schemas.microsoft.com/office/drawing/2014/main" id="{D4CFC858-1DDB-4BE9-B344-3A5DBD763A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57FBB60-CC80-43CE-AFB5-47742E98FC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0AE78-CD10-4D00-A2C0-06CA6000B825}" type="slidenum">
              <a:rPr lang="en-US" smtClean="0"/>
              <a:t>‹#›</a:t>
            </a:fld>
            <a:endParaRPr lang="en-US"/>
          </a:p>
        </p:txBody>
      </p:sp>
    </p:spTree>
    <p:extLst>
      <p:ext uri="{BB962C8B-B14F-4D97-AF65-F5344CB8AC3E}">
        <p14:creationId xmlns:p14="http://schemas.microsoft.com/office/powerpoint/2010/main" val="1109126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BA0E9-9693-41AA-8E8D-A6E8FEE72B81}"/>
              </a:ext>
            </a:extLst>
          </p:cNvPr>
          <p:cNvSpPr>
            <a:spLocks noGrp="1"/>
          </p:cNvSpPr>
          <p:nvPr>
            <p:ph type="ctrTitle"/>
          </p:nvPr>
        </p:nvSpPr>
        <p:spPr>
          <a:xfrm>
            <a:off x="1524000" y="1122363"/>
            <a:ext cx="9144000" cy="600420"/>
          </a:xfrm>
        </p:spPr>
        <p:txBody>
          <a:bodyPr>
            <a:normAutofit/>
          </a:bodyPr>
          <a:lstStyle/>
          <a:p>
            <a:r>
              <a:rPr lang="en-US" sz="3200" b="1" dirty="0">
                <a:latin typeface="Times New Roman" panose="02020603050405020304" pitchFamily="18" charset="0"/>
                <a:cs typeface="Times New Roman" panose="02020603050405020304" pitchFamily="18" charset="0"/>
              </a:rPr>
              <a:t>Environmental Sustainability Index (ESI)</a:t>
            </a:r>
          </a:p>
        </p:txBody>
      </p:sp>
      <p:sp>
        <p:nvSpPr>
          <p:cNvPr id="3" name="Subtitle 2">
            <a:extLst>
              <a:ext uri="{FF2B5EF4-FFF2-40B4-BE49-F238E27FC236}">
                <a16:creationId xmlns:a16="http://schemas.microsoft.com/office/drawing/2014/main" id="{582EE0B5-17F3-4B09-A23C-6354355598C6}"/>
              </a:ext>
            </a:extLst>
          </p:cNvPr>
          <p:cNvSpPr>
            <a:spLocks noGrp="1"/>
          </p:cNvSpPr>
          <p:nvPr>
            <p:ph type="subTitle" idx="1"/>
          </p:nvPr>
        </p:nvSpPr>
        <p:spPr>
          <a:xfrm>
            <a:off x="1524000" y="2001077"/>
            <a:ext cx="9144000" cy="3882887"/>
          </a:xfrm>
        </p:spPr>
        <p:txBody>
          <a:bodyPr>
            <a:normAutofit fontScale="92500" lnSpcReduction="10000"/>
          </a:bodyPr>
          <a:lstStyle/>
          <a:p>
            <a:pPr algn="just"/>
            <a:r>
              <a:rPr lang="en-US" b="1" dirty="0">
                <a:latin typeface="Times New Roman" panose="02020603050405020304" pitchFamily="18" charset="0"/>
                <a:cs typeface="Times New Roman" panose="02020603050405020304" pitchFamily="18" charset="0"/>
              </a:rPr>
              <a:t>1. Introduction: Why Measure Sustainability?</a:t>
            </a:r>
          </a:p>
          <a:p>
            <a:pPr algn="just"/>
            <a:r>
              <a:rPr lang="en-US" dirty="0">
                <a:latin typeface="Times New Roman" panose="02020603050405020304" pitchFamily="18" charset="0"/>
                <a:cs typeface="Times New Roman" panose="02020603050405020304" pitchFamily="18" charset="0"/>
              </a:rPr>
              <a:t>The Environmental Sustainability Index (ESI) is a measure that tells us how healthy a country's environment is. Environmental sustainability is about preserving natural resources and ecological systems so they can continue to support life and development in the future. </a:t>
            </a:r>
            <a:r>
              <a:rPr lang="en-US" sz="2400" dirty="0">
                <a:latin typeface="Times New Roman" panose="02020603050405020304" pitchFamily="18" charset="0"/>
                <a:cs typeface="Times New Roman" panose="02020603050405020304" pitchFamily="18" charset="0"/>
              </a:rPr>
              <a:t>The Environmental Sustainability Index (ESI) benchmarks the ability of nations to protect the environment over the next several decades.</a:t>
            </a:r>
          </a:p>
          <a:p>
            <a:pPr algn="just"/>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But how can we measure how well a country is doing in this regard?</a:t>
            </a:r>
          </a:p>
          <a:p>
            <a:pPr algn="just"/>
            <a:r>
              <a:rPr lang="en-US" dirty="0">
                <a:latin typeface="Times New Roman" panose="02020603050405020304" pitchFamily="18" charset="0"/>
                <a:cs typeface="Times New Roman" panose="02020603050405020304" pitchFamily="18" charset="0"/>
              </a:rPr>
              <a:t>That’s where </a:t>
            </a:r>
            <a:r>
              <a:rPr lang="en-US" b="1" dirty="0">
                <a:latin typeface="Times New Roman" panose="02020603050405020304" pitchFamily="18" charset="0"/>
                <a:cs typeface="Times New Roman" panose="02020603050405020304" pitchFamily="18" charset="0"/>
              </a:rPr>
              <a:t>composite indices</a:t>
            </a:r>
            <a:r>
              <a:rPr lang="en-US" dirty="0">
                <a:latin typeface="Times New Roman" panose="02020603050405020304" pitchFamily="18" charset="0"/>
                <a:cs typeface="Times New Roman" panose="02020603050405020304" pitchFamily="18" charset="0"/>
              </a:rPr>
              <a:t> like the </a:t>
            </a:r>
            <a:r>
              <a:rPr lang="en-US" b="1" dirty="0">
                <a:latin typeface="Times New Roman" panose="02020603050405020304" pitchFamily="18" charset="0"/>
                <a:cs typeface="Times New Roman" panose="02020603050405020304" pitchFamily="18" charset="0"/>
              </a:rPr>
              <a:t>Environmental Sustainability Index (ESI)</a:t>
            </a:r>
            <a:r>
              <a:rPr lang="en-US" dirty="0">
                <a:latin typeface="Times New Roman" panose="02020603050405020304" pitchFamily="18" charset="0"/>
                <a:cs typeface="Times New Roman" panose="02020603050405020304" pitchFamily="18" charset="0"/>
              </a:rPr>
              <a:t> come in — they turn complex environmental data into a single score for easier comparison and policy guidance.</a:t>
            </a:r>
          </a:p>
          <a:p>
            <a:endParaRPr lang="en-US" dirty="0"/>
          </a:p>
        </p:txBody>
      </p:sp>
    </p:spTree>
    <p:extLst>
      <p:ext uri="{BB962C8B-B14F-4D97-AF65-F5344CB8AC3E}">
        <p14:creationId xmlns:p14="http://schemas.microsoft.com/office/powerpoint/2010/main" val="1130341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4D3A-649C-46EA-8990-4D2CF6DBA5B1}"/>
              </a:ext>
            </a:extLst>
          </p:cNvPr>
          <p:cNvSpPr>
            <a:spLocks noGrp="1"/>
          </p:cNvSpPr>
          <p:nvPr>
            <p:ph type="title"/>
          </p:nvPr>
        </p:nvSpPr>
        <p:spPr>
          <a:xfrm>
            <a:off x="838200" y="365126"/>
            <a:ext cx="10515600" cy="602284"/>
          </a:xfrm>
        </p:spPr>
        <p:txBody>
          <a:bodyPr>
            <a:normAutofit/>
          </a:bodyPr>
          <a:lstStyle/>
          <a:p>
            <a:pPr algn="ctr"/>
            <a:r>
              <a:rPr lang="en-US" sz="3200" b="1" dirty="0" err="1">
                <a:latin typeface="Times New Roman" panose="02020603050405020304" pitchFamily="18" charset="0"/>
                <a:cs typeface="Times New Roman" panose="02020603050405020304" pitchFamily="18" charset="0"/>
              </a:rPr>
              <a:t>Cont</a:t>
            </a:r>
            <a:r>
              <a:rPr lang="en-US" sz="3200"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164F926F-4596-44F4-BBF5-7F631C5B923D}"/>
              </a:ext>
            </a:extLst>
          </p:cNvPr>
          <p:cNvSpPr>
            <a:spLocks noGrp="1"/>
          </p:cNvSpPr>
          <p:nvPr>
            <p:ph idx="1"/>
          </p:nvPr>
        </p:nvSpPr>
        <p:spPr>
          <a:xfrm>
            <a:off x="838200" y="1232452"/>
            <a:ext cx="10515600" cy="4944511"/>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2. What is the Environmental Sustainability Index (ESI)?</a:t>
            </a:r>
          </a:p>
          <a:p>
            <a:pPr algn="just"/>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ESI</a:t>
            </a:r>
            <a:r>
              <a:rPr lang="en-US" sz="2400" dirty="0">
                <a:latin typeface="Times New Roman" panose="02020603050405020304" pitchFamily="18" charset="0"/>
                <a:cs typeface="Times New Roman" panose="02020603050405020304" pitchFamily="18" charset="0"/>
              </a:rPr>
              <a:t> is a </a:t>
            </a:r>
            <a:r>
              <a:rPr lang="en-US" sz="2400" b="1" dirty="0">
                <a:latin typeface="Times New Roman" panose="02020603050405020304" pitchFamily="18" charset="0"/>
                <a:cs typeface="Times New Roman" panose="02020603050405020304" pitchFamily="18" charset="0"/>
              </a:rPr>
              <a:t>composite index</a:t>
            </a:r>
            <a:r>
              <a:rPr lang="en-US" sz="2400" dirty="0">
                <a:latin typeface="Times New Roman" panose="02020603050405020304" pitchFamily="18" charset="0"/>
                <a:cs typeface="Times New Roman" panose="02020603050405020304" pitchFamily="18" charset="0"/>
              </a:rPr>
              <a:t> that ranks countries based on their ability to sustain environmental resources over the long term.</a:t>
            </a:r>
          </a:p>
          <a:p>
            <a:pPr algn="just"/>
            <a:r>
              <a:rPr lang="en-US" sz="2400" dirty="0">
                <a:latin typeface="Times New Roman" panose="02020603050405020304" pitchFamily="18" charset="0"/>
                <a:cs typeface="Times New Roman" panose="02020603050405020304" pitchFamily="18" charset="0"/>
              </a:rPr>
              <a:t>It was developed by:</a:t>
            </a:r>
          </a:p>
          <a:p>
            <a:pPr algn="just">
              <a:buFont typeface="Courier New" panose="02070309020205020404" pitchFamily="49" charset="0"/>
              <a:buChar char="o"/>
            </a:pPr>
            <a:r>
              <a:rPr lang="en-US" sz="2400" i="1" dirty="0">
                <a:latin typeface="Times New Roman" panose="02020603050405020304" pitchFamily="18" charset="0"/>
                <a:cs typeface="Times New Roman" panose="02020603050405020304" pitchFamily="18" charset="0"/>
              </a:rPr>
              <a:t>Yale Center for Environmental Law and Policy</a:t>
            </a:r>
          </a:p>
          <a:p>
            <a:pPr algn="just">
              <a:buFont typeface="Courier New" panose="02070309020205020404" pitchFamily="49" charset="0"/>
              <a:buChar char="o"/>
            </a:pPr>
            <a:r>
              <a:rPr lang="en-US" sz="2400" i="1" dirty="0">
                <a:latin typeface="Times New Roman" panose="02020603050405020304" pitchFamily="18" charset="0"/>
                <a:cs typeface="Times New Roman" panose="02020603050405020304" pitchFamily="18" charset="0"/>
              </a:rPr>
              <a:t>Columbia University’s Earth Institute</a:t>
            </a:r>
          </a:p>
          <a:p>
            <a:pPr algn="just">
              <a:buFont typeface="Courier New" panose="02070309020205020404" pitchFamily="49" charset="0"/>
              <a:buChar char="o"/>
            </a:pPr>
            <a:r>
              <a:rPr lang="en-US" sz="2400" i="1" dirty="0">
                <a:latin typeface="Times New Roman" panose="02020603050405020304" pitchFamily="18" charset="0"/>
                <a:cs typeface="Times New Roman" panose="02020603050405020304" pitchFamily="18" charset="0"/>
              </a:rPr>
              <a:t>In collaboration with the </a:t>
            </a:r>
            <a:r>
              <a:rPr lang="en-US" sz="2400" b="1" i="1" dirty="0">
                <a:latin typeface="Times New Roman" panose="02020603050405020304" pitchFamily="18" charset="0"/>
                <a:cs typeface="Times New Roman" panose="02020603050405020304" pitchFamily="18" charset="0"/>
              </a:rPr>
              <a:t>World Economic Forum</a:t>
            </a:r>
            <a:r>
              <a:rPr lang="en-US" sz="2400" i="1" dirty="0">
                <a:latin typeface="Times New Roman" panose="02020603050405020304" pitchFamily="18" charset="0"/>
                <a:cs typeface="Times New Roman" panose="02020603050405020304" pitchFamily="18" charset="0"/>
              </a:rPr>
              <a:t> and the </a:t>
            </a:r>
            <a:r>
              <a:rPr lang="en-US" sz="2400" b="1" i="1" dirty="0">
                <a:latin typeface="Times New Roman" panose="02020603050405020304" pitchFamily="18" charset="0"/>
                <a:cs typeface="Times New Roman" panose="02020603050405020304" pitchFamily="18" charset="0"/>
              </a:rPr>
              <a:t>Joint Research Centre of the European Commission</a:t>
            </a:r>
          </a:p>
          <a:p>
            <a:pPr algn="just"/>
            <a:r>
              <a:rPr lang="en-US" sz="2400" b="1" dirty="0">
                <a:latin typeface="Times New Roman" panose="02020603050405020304" pitchFamily="18" charset="0"/>
                <a:cs typeface="Times New Roman" panose="02020603050405020304" pitchFamily="18" charset="0"/>
              </a:rPr>
              <a:t>First released</a:t>
            </a:r>
            <a:r>
              <a:rPr lang="en-US" sz="2400" dirty="0">
                <a:latin typeface="Times New Roman" panose="02020603050405020304" pitchFamily="18" charset="0"/>
                <a:cs typeface="Times New Roman" panose="02020603050405020304" pitchFamily="18" charset="0"/>
              </a:rPr>
              <a:t>: 2001</a:t>
            </a:r>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Last updated</a:t>
            </a:r>
            <a:r>
              <a:rPr lang="en-US" sz="2400" dirty="0">
                <a:latin typeface="Times New Roman" panose="02020603050405020304" pitchFamily="18" charset="0"/>
                <a:cs typeface="Times New Roman" panose="02020603050405020304" pitchFamily="18" charset="0"/>
              </a:rPr>
              <a:t>: 2005 — later replaced by the </a:t>
            </a:r>
            <a:r>
              <a:rPr lang="en-US" sz="2400" b="1" dirty="0">
                <a:latin typeface="Times New Roman" panose="02020603050405020304" pitchFamily="18" charset="0"/>
                <a:cs typeface="Times New Roman" panose="02020603050405020304" pitchFamily="18" charset="0"/>
              </a:rPr>
              <a:t>Environmental Performance Index (EPI)</a:t>
            </a:r>
          </a:p>
        </p:txBody>
      </p:sp>
    </p:spTree>
    <p:extLst>
      <p:ext uri="{BB962C8B-B14F-4D97-AF65-F5344CB8AC3E}">
        <p14:creationId xmlns:p14="http://schemas.microsoft.com/office/powerpoint/2010/main" val="932755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20EE8-419D-4416-80A6-BF55AB06BF69}"/>
              </a:ext>
            </a:extLst>
          </p:cNvPr>
          <p:cNvSpPr>
            <a:spLocks noGrp="1"/>
          </p:cNvSpPr>
          <p:nvPr>
            <p:ph type="title"/>
          </p:nvPr>
        </p:nvSpPr>
        <p:spPr>
          <a:xfrm>
            <a:off x="838200" y="365125"/>
            <a:ext cx="10515600" cy="668545"/>
          </a:xfrm>
        </p:spPr>
        <p:txBody>
          <a:bodyPr>
            <a:normAutofit fontScale="90000"/>
          </a:bodyPr>
          <a:lstStyle/>
          <a:p>
            <a:pPr algn="ctr"/>
            <a:r>
              <a:rPr lang="en-US" sz="4400" b="1" dirty="0">
                <a:latin typeface="Times New Roman" panose="02020603050405020304" pitchFamily="18" charset="0"/>
                <a:cs typeface="Times New Roman" panose="02020603050405020304" pitchFamily="18" charset="0"/>
              </a:rPr>
              <a:t>Conti……</a:t>
            </a:r>
            <a:endParaRPr lang="en-US" dirty="0"/>
          </a:p>
        </p:txBody>
      </p:sp>
      <p:sp>
        <p:nvSpPr>
          <p:cNvPr id="3" name="Content Placeholder 2">
            <a:extLst>
              <a:ext uri="{FF2B5EF4-FFF2-40B4-BE49-F238E27FC236}">
                <a16:creationId xmlns:a16="http://schemas.microsoft.com/office/drawing/2014/main" id="{BB1E816A-03D5-4165-994B-C037F613BD26}"/>
              </a:ext>
            </a:extLst>
          </p:cNvPr>
          <p:cNvSpPr>
            <a:spLocks noGrp="1"/>
          </p:cNvSpPr>
          <p:nvPr>
            <p:ph idx="1"/>
          </p:nvPr>
        </p:nvSpPr>
        <p:spPr>
          <a:xfrm>
            <a:off x="838200" y="1325217"/>
            <a:ext cx="10515600" cy="4851746"/>
          </a:xfrm>
        </p:spPr>
        <p:txBody>
          <a:bodyPr>
            <a:normAutofit lnSpcReduction="10000"/>
          </a:bodyPr>
          <a:lstStyle/>
          <a:p>
            <a:pPr marL="0" indent="0" algn="just">
              <a:buNone/>
            </a:pPr>
            <a:r>
              <a:rPr lang="en-US" sz="2400" b="1" dirty="0">
                <a:latin typeface="Times New Roman" panose="02020603050405020304" pitchFamily="18" charset="0"/>
                <a:cs typeface="Times New Roman" panose="02020603050405020304" pitchFamily="18" charset="0"/>
              </a:rPr>
              <a:t>3. Components and indicators of the ESI( 5 components &amp; 21 indicators)</a:t>
            </a:r>
          </a:p>
          <a:p>
            <a:pPr marL="0" indent="0" algn="just">
              <a:buNone/>
            </a:pPr>
            <a:r>
              <a:rPr lang="en-US" sz="2400" b="1" dirty="0">
                <a:solidFill>
                  <a:schemeClr val="accent1"/>
                </a:solidFill>
                <a:latin typeface="Times New Roman" panose="02020603050405020304" pitchFamily="18" charset="0"/>
                <a:cs typeface="Times New Roman" panose="02020603050405020304" pitchFamily="18" charset="0"/>
              </a:rPr>
              <a:t>a) Environmental Systems</a:t>
            </a:r>
          </a:p>
          <a:p>
            <a:pPr algn="just"/>
            <a:r>
              <a:rPr lang="en-US" sz="2400" dirty="0">
                <a:latin typeface="Times New Roman" panose="02020603050405020304" pitchFamily="18" charset="0"/>
                <a:cs typeface="Times New Roman" panose="02020603050405020304" pitchFamily="18" charset="0"/>
              </a:rPr>
              <a:t>Measures the state of natural systems: energy, water resources, pollution, biodiversity, environmental resilience, agriculture etc.</a:t>
            </a:r>
          </a:p>
          <a:p>
            <a:pPr algn="just"/>
            <a:r>
              <a:rPr lang="en-US" sz="2400" dirty="0">
                <a:latin typeface="Times New Roman" panose="02020603050405020304" pitchFamily="18" charset="0"/>
                <a:cs typeface="Times New Roman" panose="02020603050405020304" pitchFamily="18" charset="0"/>
              </a:rPr>
              <a:t>Example: % of threatened species, forest cover</a:t>
            </a:r>
          </a:p>
          <a:p>
            <a:pPr marL="0" indent="0" algn="just">
              <a:buNone/>
            </a:pPr>
            <a:r>
              <a:rPr lang="en-US" sz="2400" b="1" dirty="0">
                <a:solidFill>
                  <a:schemeClr val="accent1"/>
                </a:solidFill>
                <a:latin typeface="Times New Roman" panose="02020603050405020304" pitchFamily="18" charset="0"/>
                <a:cs typeface="Times New Roman" panose="02020603050405020304" pitchFamily="18" charset="0"/>
              </a:rPr>
              <a:t>b) Reducing Environmental Stresses</a:t>
            </a:r>
          </a:p>
          <a:p>
            <a:pPr algn="just"/>
            <a:r>
              <a:rPr lang="en-US" sz="2400" dirty="0">
                <a:latin typeface="Times New Roman" panose="02020603050405020304" pitchFamily="18" charset="0"/>
                <a:cs typeface="Times New Roman" panose="02020603050405020304" pitchFamily="18" charset="0"/>
              </a:rPr>
              <a:t>Assesses human pressures that degrade the environment.</a:t>
            </a:r>
          </a:p>
          <a:p>
            <a:pPr algn="just"/>
            <a:r>
              <a:rPr lang="en-US" sz="2400" dirty="0">
                <a:latin typeface="Times New Roman" panose="02020603050405020304" pitchFamily="18" charset="0"/>
                <a:cs typeface="Times New Roman" panose="02020603050405020304" pitchFamily="18" charset="0"/>
              </a:rPr>
              <a:t>Example: Urban air pollution, greenhouse gas emissions</a:t>
            </a:r>
          </a:p>
          <a:p>
            <a:pPr marL="0" indent="0" algn="just">
              <a:buNone/>
            </a:pPr>
            <a:r>
              <a:rPr lang="en-US" sz="2400" b="1" dirty="0">
                <a:solidFill>
                  <a:schemeClr val="accent1"/>
                </a:solidFill>
                <a:latin typeface="Times New Roman" panose="02020603050405020304" pitchFamily="18" charset="0"/>
                <a:cs typeface="Times New Roman" panose="02020603050405020304" pitchFamily="18" charset="0"/>
              </a:rPr>
              <a:t>c) Reducing Human Vulnerability</a:t>
            </a:r>
          </a:p>
          <a:p>
            <a:pPr algn="just"/>
            <a:r>
              <a:rPr lang="en-US" sz="2400" dirty="0">
                <a:latin typeface="Times New Roman" panose="02020603050405020304" pitchFamily="18" charset="0"/>
                <a:cs typeface="Times New Roman" panose="02020603050405020304" pitchFamily="18" charset="0"/>
              </a:rPr>
              <a:t>Looks at how environmental changes affect human health and well-being.</a:t>
            </a:r>
          </a:p>
          <a:p>
            <a:pPr algn="just"/>
            <a:r>
              <a:rPr lang="en-US" sz="2400" dirty="0">
                <a:latin typeface="Times New Roman" panose="02020603050405020304" pitchFamily="18" charset="0"/>
                <a:cs typeface="Times New Roman" panose="02020603050405020304" pitchFamily="18" charset="0"/>
              </a:rPr>
              <a:t>Example: Access to clean water, exposure to natural disasters</a:t>
            </a:r>
            <a:endParaRPr lang="en-US" sz="2400" b="1" dirty="0">
              <a:latin typeface="Times New Roman" panose="02020603050405020304" pitchFamily="18" charset="0"/>
              <a:cs typeface="Times New Roman" panose="02020603050405020304" pitchFamily="18" charset="0"/>
            </a:endParaRPr>
          </a:p>
          <a:p>
            <a:pPr algn="just"/>
            <a:endParaRPr lang="en-US" sz="24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1855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BFB93-16E3-4547-84CA-8CBEC06D9C0F}"/>
              </a:ext>
            </a:extLst>
          </p:cNvPr>
          <p:cNvSpPr>
            <a:spLocks noGrp="1"/>
          </p:cNvSpPr>
          <p:nvPr>
            <p:ph type="title"/>
          </p:nvPr>
        </p:nvSpPr>
        <p:spPr>
          <a:xfrm>
            <a:off x="838200" y="365126"/>
            <a:ext cx="10515600" cy="787814"/>
          </a:xfrm>
        </p:spPr>
        <p:txBody>
          <a:bodyPr/>
          <a:lstStyle/>
          <a:p>
            <a:pPr algn="ctr"/>
            <a:r>
              <a:rPr lang="en-US" sz="4400" b="1" dirty="0">
                <a:latin typeface="Times New Roman" panose="02020603050405020304" pitchFamily="18" charset="0"/>
                <a:cs typeface="Times New Roman" panose="02020603050405020304" pitchFamily="18" charset="0"/>
              </a:rPr>
              <a:t>Conti……</a:t>
            </a:r>
            <a:endParaRPr lang="en-US" dirty="0"/>
          </a:p>
        </p:txBody>
      </p:sp>
      <p:sp>
        <p:nvSpPr>
          <p:cNvPr id="3" name="Content Placeholder 2">
            <a:extLst>
              <a:ext uri="{FF2B5EF4-FFF2-40B4-BE49-F238E27FC236}">
                <a16:creationId xmlns:a16="http://schemas.microsoft.com/office/drawing/2014/main" id="{919E9DCE-FAB3-413C-B3C4-1D6A8C4ED80E}"/>
              </a:ext>
            </a:extLst>
          </p:cNvPr>
          <p:cNvSpPr>
            <a:spLocks noGrp="1"/>
          </p:cNvSpPr>
          <p:nvPr>
            <p:ph idx="1"/>
          </p:nvPr>
        </p:nvSpPr>
        <p:spPr>
          <a:xfrm>
            <a:off x="838200" y="1537252"/>
            <a:ext cx="10515600" cy="4639711"/>
          </a:xfrm>
        </p:spPr>
        <p:txBody>
          <a:bodyPr/>
          <a:lstStyle/>
          <a:p>
            <a:pPr marL="0" indent="0" algn="just">
              <a:buNone/>
            </a:pPr>
            <a:r>
              <a:rPr lang="en-US" sz="2400" b="1" dirty="0">
                <a:solidFill>
                  <a:schemeClr val="accent1"/>
                </a:solidFill>
                <a:latin typeface="Times New Roman" panose="02020603050405020304" pitchFamily="18" charset="0"/>
                <a:cs typeface="Times New Roman" panose="02020603050405020304" pitchFamily="18" charset="0"/>
              </a:rPr>
              <a:t>d) Social and Institutional Capacity</a:t>
            </a:r>
          </a:p>
          <a:p>
            <a:r>
              <a:rPr lang="en-US" sz="2400" dirty="0">
                <a:latin typeface="Times New Roman" panose="02020603050405020304" pitchFamily="18" charset="0"/>
                <a:cs typeface="Times New Roman" panose="02020603050405020304" pitchFamily="18" charset="0"/>
              </a:rPr>
              <a:t>Measures how well a society manages environmental problems.</a:t>
            </a:r>
          </a:p>
          <a:p>
            <a:r>
              <a:rPr lang="en-US" sz="2400" dirty="0">
                <a:latin typeface="Times New Roman" panose="02020603050405020304" pitchFamily="18" charset="0"/>
                <a:cs typeface="Times New Roman" panose="02020603050405020304" pitchFamily="18" charset="0"/>
              </a:rPr>
              <a:t>Example: Government effectiveness, environmental treaties participation</a:t>
            </a:r>
          </a:p>
          <a:p>
            <a:pPr marL="0" indent="0" algn="just">
              <a:buNone/>
            </a:pPr>
            <a:r>
              <a:rPr lang="en-US" sz="2400" b="1" dirty="0">
                <a:solidFill>
                  <a:schemeClr val="accent1"/>
                </a:solidFill>
                <a:latin typeface="Times New Roman" panose="02020603050405020304" pitchFamily="18" charset="0"/>
                <a:cs typeface="Times New Roman" panose="02020603050405020304" pitchFamily="18" charset="0"/>
              </a:rPr>
              <a:t>e) Global Stewardship</a:t>
            </a:r>
          </a:p>
          <a:p>
            <a:pPr algn="just"/>
            <a:r>
              <a:rPr lang="en-US" sz="2400" dirty="0">
                <a:latin typeface="Times New Roman" panose="02020603050405020304" pitchFamily="18" charset="0"/>
                <a:cs typeface="Times New Roman" panose="02020603050405020304" pitchFamily="18" charset="0"/>
              </a:rPr>
              <a:t>Focuses on international environmental efforts and cooperation.</a:t>
            </a:r>
          </a:p>
          <a:p>
            <a:pPr algn="just"/>
            <a:r>
              <a:rPr lang="en-US" sz="2400" dirty="0">
                <a:latin typeface="Times New Roman" panose="02020603050405020304" pitchFamily="18" charset="0"/>
                <a:cs typeface="Times New Roman" panose="02020603050405020304" pitchFamily="18" charset="0"/>
              </a:rPr>
              <a:t>Example: CO₂ emissions per capita, participation in biodiversity treaties</a:t>
            </a:r>
          </a:p>
        </p:txBody>
      </p:sp>
    </p:spTree>
    <p:extLst>
      <p:ext uri="{BB962C8B-B14F-4D97-AF65-F5344CB8AC3E}">
        <p14:creationId xmlns:p14="http://schemas.microsoft.com/office/powerpoint/2010/main" val="109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C3147-6C05-4D78-88DE-1C6BFD97E3CD}"/>
              </a:ext>
            </a:extLst>
          </p:cNvPr>
          <p:cNvSpPr>
            <a:spLocks noGrp="1"/>
          </p:cNvSpPr>
          <p:nvPr>
            <p:ph type="title"/>
          </p:nvPr>
        </p:nvSpPr>
        <p:spPr>
          <a:xfrm>
            <a:off x="838200" y="365125"/>
            <a:ext cx="10515600" cy="296057"/>
          </a:xfrm>
        </p:spPr>
        <p:txBody>
          <a:bodyPr>
            <a:noAutofit/>
          </a:bodyPr>
          <a:lstStyle/>
          <a:p>
            <a:pPr algn="ctr"/>
            <a:r>
              <a:rPr lang="en-US" sz="2400" dirty="0"/>
              <a:t>Conti….</a:t>
            </a:r>
          </a:p>
        </p:txBody>
      </p:sp>
      <p:graphicFrame>
        <p:nvGraphicFramePr>
          <p:cNvPr id="4" name="Table 4">
            <a:extLst>
              <a:ext uri="{FF2B5EF4-FFF2-40B4-BE49-F238E27FC236}">
                <a16:creationId xmlns:a16="http://schemas.microsoft.com/office/drawing/2014/main" id="{4F17F649-7626-46FF-8C98-937667D8FB31}"/>
              </a:ext>
            </a:extLst>
          </p:cNvPr>
          <p:cNvGraphicFramePr>
            <a:graphicFrameLocks noGrp="1"/>
          </p:cNvGraphicFramePr>
          <p:nvPr>
            <p:ph idx="1"/>
            <p:extLst>
              <p:ext uri="{D42A27DB-BD31-4B8C-83A1-F6EECF244321}">
                <p14:modId xmlns:p14="http://schemas.microsoft.com/office/powerpoint/2010/main" val="2134882250"/>
              </p:ext>
            </p:extLst>
          </p:nvPr>
        </p:nvGraphicFramePr>
        <p:xfrm>
          <a:off x="838200" y="761789"/>
          <a:ext cx="10479157" cy="6096211"/>
        </p:xfrm>
        <a:graphic>
          <a:graphicData uri="http://schemas.openxmlformats.org/drawingml/2006/table">
            <a:tbl>
              <a:tblPr firstRow="1" bandRow="1">
                <a:tableStyleId>{5C22544A-7EE6-4342-B048-85BDC9FD1C3A}</a:tableStyleId>
              </a:tblPr>
              <a:tblGrid>
                <a:gridCol w="5221357">
                  <a:extLst>
                    <a:ext uri="{9D8B030D-6E8A-4147-A177-3AD203B41FA5}">
                      <a16:colId xmlns:a16="http://schemas.microsoft.com/office/drawing/2014/main" val="1875313264"/>
                    </a:ext>
                  </a:extLst>
                </a:gridCol>
                <a:gridCol w="5257800">
                  <a:extLst>
                    <a:ext uri="{9D8B030D-6E8A-4147-A177-3AD203B41FA5}">
                      <a16:colId xmlns:a16="http://schemas.microsoft.com/office/drawing/2014/main" val="806412481"/>
                    </a:ext>
                  </a:extLst>
                </a:gridCol>
              </a:tblGrid>
              <a:tr h="384313">
                <a:tc>
                  <a:txBody>
                    <a:bodyPr/>
                    <a:lstStyle/>
                    <a:p>
                      <a:r>
                        <a:rPr lang="en-US" dirty="0"/>
                        <a:t>Components</a:t>
                      </a:r>
                    </a:p>
                  </a:txBody>
                  <a:tcPr/>
                </a:tc>
                <a:tc>
                  <a:txBody>
                    <a:bodyPr/>
                    <a:lstStyle/>
                    <a:p>
                      <a:r>
                        <a:rPr lang="en-US" dirty="0"/>
                        <a:t>Indicators</a:t>
                      </a:r>
                    </a:p>
                  </a:txBody>
                  <a:tcPr/>
                </a:tc>
                <a:extLst>
                  <a:ext uri="{0D108BD9-81ED-4DB2-BD59-A6C34878D82A}">
                    <a16:rowId xmlns:a16="http://schemas.microsoft.com/office/drawing/2014/main" val="364771896"/>
                  </a:ext>
                </a:extLst>
              </a:tr>
              <a:tr h="8899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 Environmental Systems</a:t>
                      </a:r>
                    </a:p>
                  </a:txBody>
                  <a:tcPr/>
                </a:tc>
                <a:tc>
                  <a:txBody>
                    <a:bodyPr/>
                    <a:lstStyle/>
                    <a:p>
                      <a:pPr marL="342900" indent="-342900">
                        <a:buAutoNum type="arabicPeriod"/>
                      </a:pPr>
                      <a:r>
                        <a:rPr lang="en-US" sz="1600" dirty="0"/>
                        <a:t>Air Quality</a:t>
                      </a:r>
                    </a:p>
                    <a:p>
                      <a:pPr marL="342900" indent="-342900">
                        <a:buAutoNum type="arabicPeriod"/>
                      </a:pPr>
                      <a:r>
                        <a:rPr lang="en-US" sz="1600" dirty="0"/>
                        <a:t>Biodiversity</a:t>
                      </a:r>
                    </a:p>
                    <a:p>
                      <a:pPr marL="342900" indent="-342900">
                        <a:buAutoNum type="arabicPeriod"/>
                      </a:pPr>
                      <a:r>
                        <a:rPr lang="en-US" sz="1600" dirty="0"/>
                        <a:t>Land</a:t>
                      </a:r>
                    </a:p>
                    <a:p>
                      <a:pPr marL="342900" indent="-342900">
                        <a:buAutoNum type="arabicPeriod"/>
                      </a:pPr>
                      <a:r>
                        <a:rPr lang="en-US" sz="1600" dirty="0"/>
                        <a:t>Water</a:t>
                      </a:r>
                      <a:r>
                        <a:rPr lang="en-US" sz="1600" baseline="0" dirty="0"/>
                        <a:t> Quality</a:t>
                      </a:r>
                    </a:p>
                    <a:p>
                      <a:pPr marL="342900" indent="-342900">
                        <a:buAutoNum type="arabicPeriod"/>
                      </a:pPr>
                      <a:r>
                        <a:rPr lang="en-US" sz="1600" baseline="0" dirty="0"/>
                        <a:t>Water Quantity</a:t>
                      </a:r>
                      <a:endParaRPr lang="en-US" sz="1600" dirty="0"/>
                    </a:p>
                  </a:txBody>
                  <a:tcPr/>
                </a:tc>
                <a:extLst>
                  <a:ext uri="{0D108BD9-81ED-4DB2-BD59-A6C34878D82A}">
                    <a16:rowId xmlns:a16="http://schemas.microsoft.com/office/drawing/2014/main" val="4048283047"/>
                  </a:ext>
                </a:extLst>
              </a:tr>
              <a:tr h="8899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b) Reducing Environmental Stresses</a:t>
                      </a:r>
                    </a:p>
                  </a:txBody>
                  <a:tcPr/>
                </a:tc>
                <a:tc>
                  <a:txBody>
                    <a:bodyPr/>
                    <a:lstStyle/>
                    <a:p>
                      <a:r>
                        <a:rPr lang="en-US" sz="1600" dirty="0"/>
                        <a:t>6.</a:t>
                      </a:r>
                      <a:r>
                        <a:rPr lang="en-US" sz="1600" baseline="0" dirty="0"/>
                        <a:t> Reducing Air Pollution</a:t>
                      </a:r>
                    </a:p>
                    <a:p>
                      <a:r>
                        <a:rPr lang="en-US" sz="1600" baseline="0" dirty="0"/>
                        <a:t>7. Reducing Ecosystem Stress</a:t>
                      </a:r>
                    </a:p>
                    <a:p>
                      <a:r>
                        <a:rPr lang="en-US" sz="1600" baseline="0" dirty="0"/>
                        <a:t>8. </a:t>
                      </a:r>
                      <a:r>
                        <a:rPr lang="en-US" sz="1600" dirty="0"/>
                        <a:t>Reducing Population Pressure</a:t>
                      </a:r>
                    </a:p>
                    <a:p>
                      <a:r>
                        <a:rPr lang="en-US" sz="1600" dirty="0"/>
                        <a:t>9. Reducing Waste &amp; Consumption Pressures</a:t>
                      </a:r>
                    </a:p>
                    <a:p>
                      <a:r>
                        <a:rPr lang="en-US" sz="1600" dirty="0"/>
                        <a:t>10. Reducing Water Stress</a:t>
                      </a:r>
                    </a:p>
                    <a:p>
                      <a:r>
                        <a:rPr lang="en-US" sz="1600" dirty="0"/>
                        <a:t>11. Natural Resource Management</a:t>
                      </a:r>
                    </a:p>
                  </a:txBody>
                  <a:tcPr/>
                </a:tc>
                <a:extLst>
                  <a:ext uri="{0D108BD9-81ED-4DB2-BD59-A6C34878D82A}">
                    <a16:rowId xmlns:a16="http://schemas.microsoft.com/office/drawing/2014/main" val="1809166088"/>
                  </a:ext>
                </a:extLst>
              </a:tr>
              <a:tr h="8899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 Reducing Human Vulnerability </a:t>
                      </a:r>
                    </a:p>
                  </a:txBody>
                  <a:tcPr/>
                </a:tc>
                <a:tc>
                  <a:txBody>
                    <a:bodyPr/>
                    <a:lstStyle/>
                    <a:p>
                      <a:r>
                        <a:rPr lang="en-US" sz="1600" dirty="0"/>
                        <a:t>12. Environmental Health </a:t>
                      </a:r>
                    </a:p>
                    <a:p>
                      <a:r>
                        <a:rPr lang="en-US" sz="1600" dirty="0"/>
                        <a:t>13. Basic Human Sustenance </a:t>
                      </a:r>
                    </a:p>
                    <a:p>
                      <a:r>
                        <a:rPr lang="en-US" sz="1600" dirty="0"/>
                        <a:t>14. Reducing Env</a:t>
                      </a:r>
                      <a:r>
                        <a:rPr lang="en-US" sz="1600" baseline="0" dirty="0"/>
                        <a:t> </a:t>
                      </a:r>
                      <a:r>
                        <a:rPr lang="en-US" sz="1600" dirty="0"/>
                        <a:t>Related Natural Disaster Vulnerability </a:t>
                      </a:r>
                    </a:p>
                  </a:txBody>
                  <a:tcPr/>
                </a:tc>
                <a:extLst>
                  <a:ext uri="{0D108BD9-81ED-4DB2-BD59-A6C34878D82A}">
                    <a16:rowId xmlns:a16="http://schemas.microsoft.com/office/drawing/2014/main" val="1324663124"/>
                  </a:ext>
                </a:extLst>
              </a:tr>
              <a:tr h="8899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 Social and Institutional Capacity </a:t>
                      </a:r>
                    </a:p>
                  </a:txBody>
                  <a:tcPr/>
                </a:tc>
                <a:tc>
                  <a:txBody>
                    <a:bodyPr/>
                    <a:lstStyle/>
                    <a:p>
                      <a:r>
                        <a:rPr lang="en-US" sz="1600" dirty="0"/>
                        <a:t>15. Environmental Governance </a:t>
                      </a:r>
                    </a:p>
                    <a:p>
                      <a:r>
                        <a:rPr lang="en-US" sz="1600" dirty="0"/>
                        <a:t>16. Eco-Efficiency</a:t>
                      </a:r>
                    </a:p>
                    <a:p>
                      <a:r>
                        <a:rPr lang="en-US" sz="1600" dirty="0"/>
                        <a:t>17. Private Sector Responsiveness </a:t>
                      </a:r>
                    </a:p>
                    <a:p>
                      <a:r>
                        <a:rPr lang="en-US" sz="1600" dirty="0"/>
                        <a:t>18. Science and Technology</a:t>
                      </a:r>
                    </a:p>
                  </a:txBody>
                  <a:tcPr/>
                </a:tc>
                <a:extLst>
                  <a:ext uri="{0D108BD9-81ED-4DB2-BD59-A6C34878D82A}">
                    <a16:rowId xmlns:a16="http://schemas.microsoft.com/office/drawing/2014/main" val="3882944414"/>
                  </a:ext>
                </a:extLst>
              </a:tr>
              <a:tr h="88998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 Global Stewardship</a:t>
                      </a:r>
                    </a:p>
                  </a:txBody>
                  <a:tcPr/>
                </a:tc>
                <a:tc>
                  <a:txBody>
                    <a:bodyPr/>
                    <a:lstStyle/>
                    <a:p>
                      <a:r>
                        <a:rPr lang="en-US" sz="1600" dirty="0"/>
                        <a:t>19. Participation in International Collaborative Efforts</a:t>
                      </a:r>
                    </a:p>
                    <a:p>
                      <a:r>
                        <a:rPr lang="en-US" sz="1600" dirty="0"/>
                        <a:t>20. Greenhouse Gas Emissions</a:t>
                      </a:r>
                    </a:p>
                    <a:p>
                      <a:r>
                        <a:rPr lang="en-US" sz="1600" dirty="0"/>
                        <a:t>21. Reducing Transboundary Environmental Pressures</a:t>
                      </a:r>
                    </a:p>
                  </a:txBody>
                  <a:tcPr/>
                </a:tc>
                <a:extLst>
                  <a:ext uri="{0D108BD9-81ED-4DB2-BD59-A6C34878D82A}">
                    <a16:rowId xmlns:a16="http://schemas.microsoft.com/office/drawing/2014/main" val="1208922016"/>
                  </a:ext>
                </a:extLst>
              </a:tr>
            </a:tbl>
          </a:graphicData>
        </a:graphic>
      </p:graphicFrame>
    </p:spTree>
    <p:extLst>
      <p:ext uri="{BB962C8B-B14F-4D97-AF65-F5344CB8AC3E}">
        <p14:creationId xmlns:p14="http://schemas.microsoft.com/office/powerpoint/2010/main" val="112577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CB06F-FC3F-4FB7-9C61-8E204F24A8B7}"/>
              </a:ext>
            </a:extLst>
          </p:cNvPr>
          <p:cNvSpPr>
            <a:spLocks noGrp="1"/>
          </p:cNvSpPr>
          <p:nvPr>
            <p:ph type="title"/>
          </p:nvPr>
        </p:nvSpPr>
        <p:spPr>
          <a:xfrm>
            <a:off x="838200" y="365125"/>
            <a:ext cx="10515600" cy="695049"/>
          </a:xfrm>
        </p:spPr>
        <p:txBody>
          <a:bodyPr/>
          <a:lstStyle/>
          <a:p>
            <a:pPr algn="ctr"/>
            <a:r>
              <a:rPr lang="en-US" dirty="0"/>
              <a:t>Conti……..</a:t>
            </a:r>
          </a:p>
        </p:txBody>
      </p:sp>
      <p:sp>
        <p:nvSpPr>
          <p:cNvPr id="3" name="Content Placeholder 2">
            <a:extLst>
              <a:ext uri="{FF2B5EF4-FFF2-40B4-BE49-F238E27FC236}">
                <a16:creationId xmlns:a16="http://schemas.microsoft.com/office/drawing/2014/main" id="{075EB8B1-6B1C-41B0-BA97-25AD5FF2CBAA}"/>
              </a:ext>
            </a:extLst>
          </p:cNvPr>
          <p:cNvSpPr>
            <a:spLocks noGrp="1"/>
          </p:cNvSpPr>
          <p:nvPr>
            <p:ph idx="1"/>
          </p:nvPr>
        </p:nvSpPr>
        <p:spPr>
          <a:xfrm>
            <a:off x="838200" y="1245704"/>
            <a:ext cx="10515600" cy="4931259"/>
          </a:xfrm>
        </p:spPr>
        <p:txBody>
          <a:bodyPr/>
          <a:lstStyle/>
          <a:p>
            <a:pPr marL="0" indent="0" algn="just">
              <a:buNone/>
            </a:pPr>
            <a:r>
              <a:rPr lang="en-US" sz="2800" b="1" dirty="0">
                <a:latin typeface="Times New Roman" panose="02020603050405020304" pitchFamily="18" charset="0"/>
                <a:cs typeface="Times New Roman" panose="02020603050405020304" pitchFamily="18" charset="0"/>
              </a:rPr>
              <a:t>4. Interpreting ESI Scores</a:t>
            </a:r>
          </a:p>
          <a:p>
            <a:pPr algn="just"/>
            <a:r>
              <a:rPr lang="en-US" sz="2800" dirty="0">
                <a:latin typeface="Times New Roman" panose="02020603050405020304" pitchFamily="18" charset="0"/>
                <a:cs typeface="Times New Roman" panose="02020603050405020304" pitchFamily="18" charset="0"/>
              </a:rPr>
              <a:t>ESI scores range from </a:t>
            </a:r>
            <a:r>
              <a:rPr lang="en-US" sz="2800" b="1" dirty="0">
                <a:latin typeface="Times New Roman" panose="02020603050405020304" pitchFamily="18" charset="0"/>
                <a:cs typeface="Times New Roman" panose="02020603050405020304" pitchFamily="18" charset="0"/>
              </a:rPr>
              <a:t>0 to 100</a:t>
            </a:r>
            <a:r>
              <a:rPr lang="en-US" sz="2800" dirty="0">
                <a:latin typeface="Times New Roman" panose="02020603050405020304" pitchFamily="18" charset="0"/>
                <a:cs typeface="Times New Roman" panose="02020603050405020304" pitchFamily="18" charset="0"/>
              </a:rPr>
              <a:t> (higher = better sustainability).</a:t>
            </a:r>
            <a:endParaRPr lang="en-US" sz="2800" b="1" dirty="0">
              <a:latin typeface="Times New Roman" panose="02020603050405020304" pitchFamily="18" charset="0"/>
              <a:cs typeface="Times New Roman" panose="02020603050405020304" pitchFamily="18" charset="0"/>
            </a:endParaRPr>
          </a:p>
          <a:p>
            <a:pPr marL="0" indent="0" algn="just">
              <a:buNone/>
            </a:pPr>
            <a:r>
              <a:rPr lang="en-US" sz="2800" b="1" dirty="0">
                <a:solidFill>
                  <a:schemeClr val="accent1"/>
                </a:solidFill>
                <a:latin typeface="Times New Roman" panose="02020603050405020304" pitchFamily="18" charset="0"/>
                <a:cs typeface="Times New Roman" panose="02020603050405020304" pitchFamily="18" charset="0"/>
              </a:rPr>
              <a:t>Top-ranking countries (2005 ESI):</a:t>
            </a:r>
          </a:p>
          <a:p>
            <a:pPr algn="just"/>
            <a:r>
              <a:rPr lang="en-US" sz="2800" dirty="0">
                <a:latin typeface="Times New Roman" panose="02020603050405020304" pitchFamily="18" charset="0"/>
                <a:cs typeface="Times New Roman" panose="02020603050405020304" pitchFamily="18" charset="0"/>
              </a:rPr>
              <a:t>Finland, Norway, Uruguay, Sweden</a:t>
            </a:r>
          </a:p>
          <a:p>
            <a:pPr marL="0" indent="0">
              <a:buNone/>
            </a:pPr>
            <a:r>
              <a:rPr lang="en-US" sz="2800" b="1" dirty="0">
                <a:solidFill>
                  <a:schemeClr val="accent1"/>
                </a:solidFill>
                <a:latin typeface="Times New Roman" panose="02020603050405020304" pitchFamily="18" charset="0"/>
                <a:cs typeface="Times New Roman" panose="02020603050405020304" pitchFamily="18" charset="0"/>
              </a:rPr>
              <a:t>Low-ranking countries:</a:t>
            </a:r>
          </a:p>
          <a:p>
            <a:pPr algn="just"/>
            <a:r>
              <a:rPr lang="en-US" sz="2800" dirty="0">
                <a:latin typeface="Times New Roman" panose="02020603050405020304" pitchFamily="18" charset="0"/>
                <a:cs typeface="Times New Roman" panose="02020603050405020304" pitchFamily="18" charset="0"/>
              </a:rPr>
              <a:t>North Korea, Iraq, Taiwan</a:t>
            </a:r>
          </a:p>
          <a:p>
            <a:pPr algn="just"/>
            <a:r>
              <a:rPr lang="en-US" sz="2800" dirty="0">
                <a:latin typeface="Times New Roman" panose="02020603050405020304" pitchFamily="18" charset="0"/>
                <a:cs typeface="Times New Roman" panose="02020603050405020304" pitchFamily="18" charset="0"/>
              </a:rPr>
              <a:t>Example: Finland scored high due to strong forest management, clean water, and robust governance.</a:t>
            </a:r>
          </a:p>
          <a:p>
            <a:pPr algn="just"/>
            <a:endParaRPr lang="en-US" sz="2800" b="1" dirty="0">
              <a:solidFill>
                <a:schemeClr val="accent1"/>
              </a:solidFill>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251853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E86F4-B327-4A48-9257-3090B7EE157C}"/>
              </a:ext>
            </a:extLst>
          </p:cNvPr>
          <p:cNvSpPr>
            <a:spLocks noGrp="1"/>
          </p:cNvSpPr>
          <p:nvPr>
            <p:ph type="title"/>
          </p:nvPr>
        </p:nvSpPr>
        <p:spPr>
          <a:xfrm>
            <a:off x="838200" y="365125"/>
            <a:ext cx="10515600" cy="708301"/>
          </a:xfrm>
        </p:spPr>
        <p:txBody>
          <a:bodyPr>
            <a:normAutofit/>
          </a:bodyPr>
          <a:lstStyle/>
          <a:p>
            <a:pPr algn="ctr"/>
            <a:r>
              <a:rPr lang="en-US" sz="3200" b="1" dirty="0" err="1">
                <a:latin typeface="Times New Roman" panose="02020603050405020304" pitchFamily="18" charset="0"/>
                <a:cs typeface="Times New Roman" panose="02020603050405020304" pitchFamily="18" charset="0"/>
              </a:rPr>
              <a:t>Cont</a:t>
            </a:r>
            <a:r>
              <a:rPr lang="en-US" sz="3200"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479C7334-A3E0-4C04-AAAB-DA511C13B4AD}"/>
              </a:ext>
            </a:extLst>
          </p:cNvPr>
          <p:cNvSpPr>
            <a:spLocks noGrp="1"/>
          </p:cNvSpPr>
          <p:nvPr>
            <p:ph idx="1"/>
          </p:nvPr>
        </p:nvSpPr>
        <p:spPr>
          <a:xfrm>
            <a:off x="838200" y="1311965"/>
            <a:ext cx="10515600" cy="4864998"/>
          </a:xfrm>
        </p:spPr>
        <p:txBody>
          <a:bodyPr/>
          <a:lstStyle/>
          <a:p>
            <a:pPr marL="0" indent="0" algn="just">
              <a:buNone/>
            </a:pPr>
            <a:r>
              <a:rPr lang="en-US" sz="2400" b="1" dirty="0">
                <a:latin typeface="Times New Roman" panose="02020603050405020304" pitchFamily="18" charset="0"/>
                <a:cs typeface="Times New Roman" panose="02020603050405020304" pitchFamily="18" charset="0"/>
              </a:rPr>
              <a:t>5. Case Study Comparison</a:t>
            </a:r>
          </a:p>
          <a:p>
            <a:pPr marL="0" indent="0" algn="just">
              <a:buNone/>
            </a:pPr>
            <a:endParaRPr lang="en-US" sz="2400" dirty="0">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E820BB37-093C-430E-B9AF-043FF3A03777}"/>
              </a:ext>
            </a:extLst>
          </p:cNvPr>
          <p:cNvGraphicFramePr>
            <a:graphicFrameLocks noGrp="1"/>
          </p:cNvGraphicFramePr>
          <p:nvPr>
            <p:extLst>
              <p:ext uri="{D42A27DB-BD31-4B8C-83A1-F6EECF244321}">
                <p14:modId xmlns:p14="http://schemas.microsoft.com/office/powerpoint/2010/main" val="2558418766"/>
              </p:ext>
            </p:extLst>
          </p:nvPr>
        </p:nvGraphicFramePr>
        <p:xfrm>
          <a:off x="1282148" y="2087941"/>
          <a:ext cx="10071652" cy="3441880"/>
        </p:xfrm>
        <a:graphic>
          <a:graphicData uri="http://schemas.openxmlformats.org/drawingml/2006/table">
            <a:tbl>
              <a:tblPr firstRow="1" bandRow="1">
                <a:tableStyleId>{5C22544A-7EE6-4342-B048-85BDC9FD1C3A}</a:tableStyleId>
              </a:tblPr>
              <a:tblGrid>
                <a:gridCol w="2097156">
                  <a:extLst>
                    <a:ext uri="{9D8B030D-6E8A-4147-A177-3AD203B41FA5}">
                      <a16:colId xmlns:a16="http://schemas.microsoft.com/office/drawing/2014/main" val="2234388521"/>
                    </a:ext>
                  </a:extLst>
                </a:gridCol>
                <a:gridCol w="2372139">
                  <a:extLst>
                    <a:ext uri="{9D8B030D-6E8A-4147-A177-3AD203B41FA5}">
                      <a16:colId xmlns:a16="http://schemas.microsoft.com/office/drawing/2014/main" val="3733174020"/>
                    </a:ext>
                  </a:extLst>
                </a:gridCol>
                <a:gridCol w="2835966">
                  <a:extLst>
                    <a:ext uri="{9D8B030D-6E8A-4147-A177-3AD203B41FA5}">
                      <a16:colId xmlns:a16="http://schemas.microsoft.com/office/drawing/2014/main" val="1707519895"/>
                    </a:ext>
                  </a:extLst>
                </a:gridCol>
                <a:gridCol w="2766391">
                  <a:extLst>
                    <a:ext uri="{9D8B030D-6E8A-4147-A177-3AD203B41FA5}">
                      <a16:colId xmlns:a16="http://schemas.microsoft.com/office/drawing/2014/main" val="2191306910"/>
                    </a:ext>
                  </a:extLst>
                </a:gridCol>
              </a:tblGrid>
              <a:tr h="486500">
                <a:tc>
                  <a:txBody>
                    <a:bodyPr/>
                    <a:lstStyle/>
                    <a:p>
                      <a:r>
                        <a:rPr lang="en-US" sz="2400" dirty="0">
                          <a:latin typeface="Times New Roman" panose="02020603050405020304" pitchFamily="18" charset="0"/>
                          <a:cs typeface="Times New Roman" panose="02020603050405020304" pitchFamily="18" charset="0"/>
                        </a:rPr>
                        <a:t>Country</a:t>
                      </a:r>
                    </a:p>
                  </a:txBody>
                  <a:tcPr anchor="ctr"/>
                </a:tc>
                <a:tc>
                  <a:txBody>
                    <a:bodyPr/>
                    <a:lstStyle/>
                    <a:p>
                      <a:r>
                        <a:rPr lang="en-US" sz="2400" dirty="0">
                          <a:latin typeface="Times New Roman" panose="02020603050405020304" pitchFamily="18" charset="0"/>
                          <a:cs typeface="Times New Roman" panose="02020603050405020304" pitchFamily="18" charset="0"/>
                        </a:rPr>
                        <a:t>ESI Score (2005)</a:t>
                      </a:r>
                    </a:p>
                  </a:txBody>
                  <a:tcPr/>
                </a:tc>
                <a:tc>
                  <a:txBody>
                    <a:bodyPr/>
                    <a:lstStyle/>
                    <a:p>
                      <a:r>
                        <a:rPr lang="en-US" sz="2400" dirty="0">
                          <a:latin typeface="Times New Roman" panose="02020603050405020304" pitchFamily="18" charset="0"/>
                          <a:cs typeface="Times New Roman" panose="02020603050405020304" pitchFamily="18" charset="0"/>
                        </a:rPr>
                        <a:t>Key Strengths</a:t>
                      </a:r>
                    </a:p>
                  </a:txBody>
                  <a:tcPr/>
                </a:tc>
                <a:tc>
                  <a:txBody>
                    <a:bodyPr/>
                    <a:lstStyle/>
                    <a:p>
                      <a:r>
                        <a:rPr lang="en-US" sz="2400" dirty="0">
                          <a:latin typeface="Times New Roman" panose="02020603050405020304" pitchFamily="18" charset="0"/>
                          <a:cs typeface="Times New Roman" panose="02020603050405020304" pitchFamily="18" charset="0"/>
                        </a:rPr>
                        <a:t>Weaknesses</a:t>
                      </a:r>
                    </a:p>
                  </a:txBody>
                  <a:tcPr/>
                </a:tc>
                <a:extLst>
                  <a:ext uri="{0D108BD9-81ED-4DB2-BD59-A6C34878D82A}">
                    <a16:rowId xmlns:a16="http://schemas.microsoft.com/office/drawing/2014/main" val="1643636752"/>
                  </a:ext>
                </a:extLst>
              </a:tr>
              <a:tr h="486500">
                <a:tc>
                  <a:txBody>
                    <a:bodyPr/>
                    <a:lstStyle/>
                    <a:p>
                      <a:r>
                        <a:rPr lang="en-US" sz="2400" dirty="0">
                          <a:latin typeface="Times New Roman" panose="02020603050405020304" pitchFamily="18" charset="0"/>
                          <a:cs typeface="Times New Roman" panose="02020603050405020304" pitchFamily="18" charset="0"/>
                        </a:rPr>
                        <a:t>Finland</a:t>
                      </a:r>
                    </a:p>
                  </a:txBody>
                  <a:tcPr/>
                </a:tc>
                <a:tc>
                  <a:txBody>
                    <a:bodyPr/>
                    <a:lstStyle/>
                    <a:p>
                      <a:r>
                        <a:rPr lang="en-US" sz="2400" dirty="0">
                          <a:latin typeface="Times New Roman" panose="02020603050405020304" pitchFamily="18" charset="0"/>
                          <a:cs typeface="Times New Roman" panose="02020603050405020304" pitchFamily="18" charset="0"/>
                        </a:rPr>
                        <a:t>75.1</a:t>
                      </a:r>
                    </a:p>
                  </a:txBody>
                  <a:tcPr/>
                </a:tc>
                <a:tc>
                  <a:txBody>
                    <a:bodyPr/>
                    <a:lstStyle/>
                    <a:p>
                      <a:r>
                        <a:rPr lang="en-US" sz="2400" dirty="0">
                          <a:latin typeface="Times New Roman" panose="02020603050405020304" pitchFamily="18" charset="0"/>
                          <a:cs typeface="Times New Roman" panose="02020603050405020304" pitchFamily="18" charset="0"/>
                        </a:rPr>
                        <a:t>Forests, water, governance</a:t>
                      </a:r>
                    </a:p>
                  </a:txBody>
                  <a:tcPr/>
                </a:tc>
                <a:tc>
                  <a:txBody>
                    <a:bodyPr/>
                    <a:lstStyle/>
                    <a:p>
                      <a:r>
                        <a:rPr lang="en-US" sz="2400" dirty="0">
                          <a:latin typeface="Times New Roman" panose="02020603050405020304" pitchFamily="18" charset="0"/>
                          <a:cs typeface="Times New Roman" panose="02020603050405020304" pitchFamily="18" charset="0"/>
                        </a:rPr>
                        <a:t>Moderate CO₂ emissions</a:t>
                      </a:r>
                    </a:p>
                  </a:txBody>
                  <a:tcPr/>
                </a:tc>
                <a:extLst>
                  <a:ext uri="{0D108BD9-81ED-4DB2-BD59-A6C34878D82A}">
                    <a16:rowId xmlns:a16="http://schemas.microsoft.com/office/drawing/2014/main" val="1776392116"/>
                  </a:ext>
                </a:extLst>
              </a:tr>
              <a:tr h="486500">
                <a:tc>
                  <a:txBody>
                    <a:bodyPr/>
                    <a:lstStyle/>
                    <a:p>
                      <a:r>
                        <a:rPr lang="en-US" sz="2400" dirty="0">
                          <a:latin typeface="Times New Roman" panose="02020603050405020304" pitchFamily="18" charset="0"/>
                          <a:cs typeface="Times New Roman" panose="02020603050405020304" pitchFamily="18" charset="0"/>
                        </a:rPr>
                        <a:t>USA</a:t>
                      </a:r>
                    </a:p>
                  </a:txBody>
                  <a:tcPr/>
                </a:tc>
                <a:tc>
                  <a:txBody>
                    <a:bodyPr/>
                    <a:lstStyle/>
                    <a:p>
                      <a:r>
                        <a:rPr lang="en-US" sz="2400" dirty="0">
                          <a:latin typeface="Times New Roman" panose="02020603050405020304" pitchFamily="18" charset="0"/>
                          <a:cs typeface="Times New Roman" panose="02020603050405020304" pitchFamily="18" charset="0"/>
                        </a:rPr>
                        <a:t>56.4</a:t>
                      </a:r>
                    </a:p>
                  </a:txBody>
                  <a:tcPr/>
                </a:tc>
                <a:tc>
                  <a:txBody>
                    <a:bodyPr/>
                    <a:lstStyle/>
                    <a:p>
                      <a:r>
                        <a:rPr lang="en-US" sz="2400" dirty="0">
                          <a:latin typeface="Times New Roman" panose="02020603050405020304" pitchFamily="18" charset="0"/>
                          <a:cs typeface="Times New Roman" panose="02020603050405020304" pitchFamily="18" charset="0"/>
                        </a:rPr>
                        <a:t>Technological capacity</a:t>
                      </a:r>
                    </a:p>
                  </a:txBody>
                  <a:tcPr/>
                </a:tc>
                <a:tc>
                  <a:txBody>
                    <a:bodyPr/>
                    <a:lstStyle/>
                    <a:p>
                      <a:r>
                        <a:rPr lang="en-US" sz="2400" dirty="0">
                          <a:latin typeface="Times New Roman" panose="02020603050405020304" pitchFamily="18" charset="0"/>
                          <a:cs typeface="Times New Roman" panose="02020603050405020304" pitchFamily="18" charset="0"/>
                        </a:rPr>
                        <a:t>High pollution levels</a:t>
                      </a:r>
                    </a:p>
                  </a:txBody>
                  <a:tcPr/>
                </a:tc>
                <a:extLst>
                  <a:ext uri="{0D108BD9-81ED-4DB2-BD59-A6C34878D82A}">
                    <a16:rowId xmlns:a16="http://schemas.microsoft.com/office/drawing/2014/main" val="1741744200"/>
                  </a:ext>
                </a:extLst>
              </a:tr>
              <a:tr h="486500">
                <a:tc>
                  <a:txBody>
                    <a:bodyPr/>
                    <a:lstStyle/>
                    <a:p>
                      <a:r>
                        <a:rPr lang="en-US" sz="2400" dirty="0">
                          <a:latin typeface="Times New Roman" panose="02020603050405020304" pitchFamily="18" charset="0"/>
                          <a:cs typeface="Times New Roman" panose="02020603050405020304" pitchFamily="18" charset="0"/>
                        </a:rPr>
                        <a:t>India</a:t>
                      </a:r>
                    </a:p>
                  </a:txBody>
                  <a:tcPr/>
                </a:tc>
                <a:tc>
                  <a:txBody>
                    <a:bodyPr/>
                    <a:lstStyle/>
                    <a:p>
                      <a:r>
                        <a:rPr lang="en-US" sz="2400" dirty="0">
                          <a:latin typeface="Times New Roman" panose="02020603050405020304" pitchFamily="18" charset="0"/>
                          <a:cs typeface="Times New Roman" panose="02020603050405020304" pitchFamily="18" charset="0"/>
                        </a:rPr>
                        <a:t>47.6</a:t>
                      </a:r>
                    </a:p>
                  </a:txBody>
                  <a:tcPr/>
                </a:tc>
                <a:tc>
                  <a:txBody>
                    <a:bodyPr/>
                    <a:lstStyle/>
                    <a:p>
                      <a:r>
                        <a:rPr lang="en-US" sz="2400" dirty="0">
                          <a:latin typeface="Times New Roman" panose="02020603050405020304" pitchFamily="18" charset="0"/>
                          <a:cs typeface="Times New Roman" panose="02020603050405020304" pitchFamily="18" charset="0"/>
                        </a:rPr>
                        <a:t>Biodiversity</a:t>
                      </a:r>
                    </a:p>
                  </a:txBody>
                  <a:tcPr/>
                </a:tc>
                <a:tc>
                  <a:txBody>
                    <a:bodyPr/>
                    <a:lstStyle/>
                    <a:p>
                      <a:r>
                        <a:rPr lang="en-US" sz="2400" dirty="0">
                          <a:latin typeface="Times New Roman" panose="02020603050405020304" pitchFamily="18" charset="0"/>
                          <a:cs typeface="Times New Roman" panose="02020603050405020304" pitchFamily="18" charset="0"/>
                        </a:rPr>
                        <a:t>Air &amp; water pollution</a:t>
                      </a:r>
                    </a:p>
                  </a:txBody>
                  <a:tcPr/>
                </a:tc>
                <a:extLst>
                  <a:ext uri="{0D108BD9-81ED-4DB2-BD59-A6C34878D82A}">
                    <a16:rowId xmlns:a16="http://schemas.microsoft.com/office/drawing/2014/main" val="3502868948"/>
                  </a:ext>
                </a:extLst>
              </a:tr>
              <a:tr h="486500">
                <a:tc>
                  <a:txBody>
                    <a:bodyPr/>
                    <a:lstStyle/>
                    <a:p>
                      <a:r>
                        <a:rPr lang="en-US" sz="2400" dirty="0">
                          <a:latin typeface="Times New Roman" panose="02020603050405020304" pitchFamily="18" charset="0"/>
                          <a:cs typeface="Times New Roman" panose="02020603050405020304" pitchFamily="18" charset="0"/>
                        </a:rPr>
                        <a:t>North Korea</a:t>
                      </a:r>
                    </a:p>
                  </a:txBody>
                  <a:tcPr/>
                </a:tc>
                <a:tc>
                  <a:txBody>
                    <a:bodyPr/>
                    <a:lstStyle/>
                    <a:p>
                      <a:r>
                        <a:rPr lang="en-US" sz="2400" dirty="0">
                          <a:latin typeface="Times New Roman" panose="02020603050405020304" pitchFamily="18" charset="0"/>
                          <a:cs typeface="Times New Roman" panose="02020603050405020304" pitchFamily="18" charset="0"/>
                        </a:rPr>
                        <a:t>29.2</a:t>
                      </a:r>
                    </a:p>
                  </a:txBody>
                  <a:tcPr/>
                </a:tc>
                <a:tc>
                  <a:txBody>
                    <a:bodyPr/>
                    <a:lstStyle/>
                    <a:p>
                      <a:r>
                        <a:rPr lang="en-US" sz="2400" dirty="0">
                          <a:latin typeface="Times New Roman" panose="02020603050405020304" pitchFamily="18" charset="0"/>
                          <a:cs typeface="Times New Roman" panose="02020603050405020304" pitchFamily="18" charset="0"/>
                        </a:rPr>
                        <a:t>N/A</a:t>
                      </a:r>
                    </a:p>
                  </a:txBody>
                  <a:tcPr/>
                </a:tc>
                <a:tc>
                  <a:txBody>
                    <a:bodyPr/>
                    <a:lstStyle/>
                    <a:p>
                      <a:r>
                        <a:rPr lang="en-US" sz="2400" dirty="0">
                          <a:latin typeface="Times New Roman" panose="02020603050405020304" pitchFamily="18" charset="0"/>
                          <a:cs typeface="Times New Roman" panose="02020603050405020304" pitchFamily="18" charset="0"/>
                        </a:rPr>
                        <a:t>Poor governance </a:t>
                      </a:r>
                    </a:p>
                  </a:txBody>
                  <a:tcPr anchor="ctr"/>
                </a:tc>
                <a:extLst>
                  <a:ext uri="{0D108BD9-81ED-4DB2-BD59-A6C34878D82A}">
                    <a16:rowId xmlns:a16="http://schemas.microsoft.com/office/drawing/2014/main" val="1129274793"/>
                  </a:ext>
                </a:extLst>
              </a:tr>
            </a:tbl>
          </a:graphicData>
        </a:graphic>
      </p:graphicFrame>
    </p:spTree>
    <p:extLst>
      <p:ext uri="{BB962C8B-B14F-4D97-AF65-F5344CB8AC3E}">
        <p14:creationId xmlns:p14="http://schemas.microsoft.com/office/powerpoint/2010/main" val="3616654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3B5A2-D450-466C-AC4F-A412E7CE671D}"/>
              </a:ext>
            </a:extLst>
          </p:cNvPr>
          <p:cNvSpPr>
            <a:spLocks noGrp="1"/>
          </p:cNvSpPr>
          <p:nvPr>
            <p:ph type="title"/>
          </p:nvPr>
        </p:nvSpPr>
        <p:spPr>
          <a:xfrm>
            <a:off x="838200" y="365125"/>
            <a:ext cx="10515600" cy="436733"/>
          </a:xfrm>
        </p:spPr>
        <p:txBody>
          <a:bodyPr>
            <a:normAutofit fontScale="90000"/>
          </a:bodyPr>
          <a:lstStyle/>
          <a:p>
            <a:pPr algn="ctr"/>
            <a:r>
              <a:rPr lang="en-US" dirty="0"/>
              <a:t>Conti…….</a:t>
            </a:r>
          </a:p>
        </p:txBody>
      </p:sp>
      <p:sp>
        <p:nvSpPr>
          <p:cNvPr id="3" name="Content Placeholder 2">
            <a:extLst>
              <a:ext uri="{FF2B5EF4-FFF2-40B4-BE49-F238E27FC236}">
                <a16:creationId xmlns:a16="http://schemas.microsoft.com/office/drawing/2014/main" id="{99EBD559-F5F3-4326-992F-BC2656BE06DD}"/>
              </a:ext>
            </a:extLst>
          </p:cNvPr>
          <p:cNvSpPr>
            <a:spLocks noGrp="1"/>
          </p:cNvSpPr>
          <p:nvPr>
            <p:ph idx="1"/>
          </p:nvPr>
        </p:nvSpPr>
        <p:spPr>
          <a:xfrm>
            <a:off x="838200" y="1041009"/>
            <a:ext cx="10515600" cy="5135954"/>
          </a:xfrm>
        </p:spPr>
        <p:txBody>
          <a:bodyPr/>
          <a:lstStyle/>
          <a:p>
            <a:pPr marL="0" indent="0" algn="just">
              <a:buNone/>
            </a:pPr>
            <a:r>
              <a:rPr lang="en-US" sz="2400" b="1" dirty="0">
                <a:latin typeface="Times New Roman" panose="02020603050405020304" pitchFamily="18" charset="0"/>
                <a:cs typeface="Times New Roman" panose="02020603050405020304" pitchFamily="18" charset="0"/>
              </a:rPr>
              <a:t>6. The 2005 ESI provide: </a:t>
            </a:r>
          </a:p>
          <a:p>
            <a:pPr marL="514350" indent="-514350" algn="just">
              <a:buAutoNum type="arabicParenBoth"/>
            </a:pPr>
            <a:r>
              <a:rPr lang="en-US" sz="2400" dirty="0">
                <a:latin typeface="Times New Roman" panose="02020603050405020304" pitchFamily="18" charset="0"/>
                <a:cs typeface="Times New Roman" panose="02020603050405020304" pitchFamily="18" charset="0"/>
              </a:rPr>
              <a:t>a powerful tool for putting environmental decision making on firmer analytical footing </a:t>
            </a:r>
          </a:p>
          <a:p>
            <a:pPr marL="0" indent="0" algn="just">
              <a:buNone/>
            </a:pPr>
            <a:r>
              <a:rPr lang="en-US" sz="2400" dirty="0">
                <a:latin typeface="Times New Roman" panose="02020603050405020304" pitchFamily="18" charset="0"/>
                <a:cs typeface="Times New Roman" panose="02020603050405020304" pitchFamily="18" charset="0"/>
              </a:rPr>
              <a:t>(2) an alternative to GDP and the Human Development Index for gauging country progress, and </a:t>
            </a:r>
          </a:p>
          <a:p>
            <a:pPr marL="0" indent="0" algn="just">
              <a:buNone/>
            </a:pPr>
            <a:r>
              <a:rPr lang="en-US" sz="2400" dirty="0">
                <a:latin typeface="Times New Roman" panose="02020603050405020304" pitchFamily="18" charset="0"/>
                <a:cs typeface="Times New Roman" panose="02020603050405020304" pitchFamily="18" charset="0"/>
              </a:rPr>
              <a:t>(3) a useful mechanism for benchmarking environmental performance. </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The overall ESI scores and rankings also help to ensure that countries are graded not only on their economic results (e.g., GDP growth or competitiveness rankings) but also on other policy goals including environmental performance.</a:t>
            </a:r>
          </a:p>
          <a:p>
            <a:endParaRPr lang="en-US" dirty="0"/>
          </a:p>
        </p:txBody>
      </p:sp>
    </p:spTree>
    <p:extLst>
      <p:ext uri="{BB962C8B-B14F-4D97-AF65-F5344CB8AC3E}">
        <p14:creationId xmlns:p14="http://schemas.microsoft.com/office/powerpoint/2010/main" val="1029862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A784A-4EC3-4A00-AF49-8A0F3958FCCC}"/>
              </a:ext>
            </a:extLst>
          </p:cNvPr>
          <p:cNvSpPr>
            <a:spLocks noGrp="1"/>
          </p:cNvSpPr>
          <p:nvPr>
            <p:ph type="title"/>
          </p:nvPr>
        </p:nvSpPr>
        <p:spPr>
          <a:xfrm>
            <a:off x="838200" y="365125"/>
            <a:ext cx="10515600" cy="734805"/>
          </a:xfrm>
        </p:spPr>
        <p:txBody>
          <a:bodyPr>
            <a:normAutofit/>
          </a:bodyPr>
          <a:lstStyle/>
          <a:p>
            <a:pPr algn="ctr"/>
            <a:r>
              <a:rPr lang="en-US" sz="3200" b="1" dirty="0">
                <a:latin typeface="Times New Roman" panose="02020603050405020304" pitchFamily="18" charset="0"/>
                <a:cs typeface="Times New Roman" panose="02020603050405020304" pitchFamily="18" charset="0"/>
              </a:rPr>
              <a:t>Conti…..</a:t>
            </a:r>
          </a:p>
        </p:txBody>
      </p:sp>
      <p:sp>
        <p:nvSpPr>
          <p:cNvPr id="3" name="Content Placeholder 2">
            <a:extLst>
              <a:ext uri="{FF2B5EF4-FFF2-40B4-BE49-F238E27FC236}">
                <a16:creationId xmlns:a16="http://schemas.microsoft.com/office/drawing/2014/main" id="{A9B384C4-36CA-4405-88A7-1496C30BCA9C}"/>
              </a:ext>
            </a:extLst>
          </p:cNvPr>
          <p:cNvSpPr>
            <a:spLocks noGrp="1"/>
          </p:cNvSpPr>
          <p:nvPr>
            <p:ph idx="1"/>
          </p:nvPr>
        </p:nvSpPr>
        <p:spPr>
          <a:xfrm>
            <a:off x="838200" y="1245704"/>
            <a:ext cx="10515600" cy="4931259"/>
          </a:xfrm>
        </p:spPr>
        <p:txBody>
          <a:bodyPr>
            <a:normAutofit/>
          </a:bodyPr>
          <a:lstStyle/>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7. Criticisms &amp; Limitations of ESI</a:t>
            </a:r>
          </a:p>
          <a:p>
            <a:pPr algn="just"/>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Data availability</a:t>
            </a:r>
            <a:r>
              <a:rPr lang="en-US" sz="2400" dirty="0">
                <a:latin typeface="Times New Roman" panose="02020603050405020304" pitchFamily="18" charset="0"/>
                <a:cs typeface="Times New Roman" panose="02020603050405020304" pitchFamily="18" charset="0"/>
              </a:rPr>
              <a:t>: Some countries lack reliable environmental data.</a:t>
            </a:r>
          </a:p>
          <a:p>
            <a:pPr algn="just"/>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Weighting</a:t>
            </a:r>
            <a:r>
              <a:rPr lang="en-US" sz="2400" dirty="0">
                <a:latin typeface="Times New Roman" panose="02020603050405020304" pitchFamily="18" charset="0"/>
                <a:cs typeface="Times New Roman" panose="02020603050405020304" pitchFamily="18" charset="0"/>
              </a:rPr>
              <a:t>: How indicators are weighted can be subjective.</a:t>
            </a:r>
          </a:p>
          <a:p>
            <a:pPr algn="just"/>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Outdated</a:t>
            </a:r>
            <a:r>
              <a:rPr lang="en-US" sz="2400" dirty="0">
                <a:latin typeface="Times New Roman" panose="02020603050405020304" pitchFamily="18" charset="0"/>
                <a:cs typeface="Times New Roman" panose="02020603050405020304" pitchFamily="18" charset="0"/>
              </a:rPr>
              <a:t>: The ESI was replaced by the </a:t>
            </a:r>
            <a:r>
              <a:rPr lang="en-US" sz="2400" b="1" dirty="0">
                <a:latin typeface="Times New Roman" panose="02020603050405020304" pitchFamily="18" charset="0"/>
                <a:cs typeface="Times New Roman" panose="02020603050405020304" pitchFamily="18" charset="0"/>
              </a:rPr>
              <a:t>Environmental Performance Index (EPI)</a:t>
            </a:r>
            <a:r>
              <a:rPr lang="en-US" sz="2400" dirty="0">
                <a:latin typeface="Times New Roman" panose="02020603050405020304" pitchFamily="18" charset="0"/>
                <a:cs typeface="Times New Roman" panose="02020603050405020304" pitchFamily="18" charset="0"/>
              </a:rPr>
              <a:t> in 2006.</a:t>
            </a:r>
          </a:p>
          <a:p>
            <a:pPr algn="just"/>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Composite nature</a:t>
            </a:r>
            <a:r>
              <a:rPr lang="en-US" sz="2400" dirty="0">
                <a:latin typeface="Times New Roman" panose="02020603050405020304" pitchFamily="18" charset="0"/>
                <a:cs typeface="Times New Roman" panose="02020603050405020304" pitchFamily="18" charset="0"/>
              </a:rPr>
              <a:t>: A single score may oversimplify complex environmental realities.</a:t>
            </a:r>
          </a:p>
          <a:p>
            <a:pPr algn="just"/>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8907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AB807-868B-4472-99C6-A18CB5BB0F62}"/>
              </a:ext>
            </a:extLst>
          </p:cNvPr>
          <p:cNvSpPr>
            <a:spLocks noGrp="1"/>
          </p:cNvSpPr>
          <p:nvPr>
            <p:ph type="title"/>
          </p:nvPr>
        </p:nvSpPr>
        <p:spPr>
          <a:xfrm>
            <a:off x="838200" y="365125"/>
            <a:ext cx="10515600" cy="827571"/>
          </a:xfrm>
        </p:spPr>
        <p:txBody>
          <a:bodyPr>
            <a:normAutofit/>
          </a:bodyPr>
          <a:lstStyle/>
          <a:p>
            <a:pPr algn="ctr"/>
            <a:r>
              <a:rPr lang="en-US" sz="3200" b="1" dirty="0">
                <a:latin typeface="Times New Roman" panose="02020603050405020304" pitchFamily="18" charset="0"/>
                <a:cs typeface="Times New Roman" panose="02020603050405020304" pitchFamily="18" charset="0"/>
              </a:rPr>
              <a:t>Conti…..</a:t>
            </a:r>
          </a:p>
        </p:txBody>
      </p:sp>
      <p:sp>
        <p:nvSpPr>
          <p:cNvPr id="3" name="Content Placeholder 2">
            <a:extLst>
              <a:ext uri="{FF2B5EF4-FFF2-40B4-BE49-F238E27FC236}">
                <a16:creationId xmlns:a16="http://schemas.microsoft.com/office/drawing/2014/main" id="{967A1C3F-E95F-4186-87E1-C421A3CD576E}"/>
              </a:ext>
            </a:extLst>
          </p:cNvPr>
          <p:cNvSpPr>
            <a:spLocks noGrp="1"/>
          </p:cNvSpPr>
          <p:nvPr>
            <p:ph idx="1"/>
          </p:nvPr>
        </p:nvSpPr>
        <p:spPr>
          <a:xfrm>
            <a:off x="838200" y="1497496"/>
            <a:ext cx="10515600" cy="4679467"/>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8. ESI vs. EPI: What Changed?</a:t>
            </a: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endParaRPr lang="en-US" sz="2400" b="1" dirty="0">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9AE09B2A-2044-4000-BCBA-546766B4EBE4}"/>
              </a:ext>
            </a:extLst>
          </p:cNvPr>
          <p:cNvGraphicFramePr>
            <a:graphicFrameLocks noGrp="1"/>
          </p:cNvGraphicFramePr>
          <p:nvPr>
            <p:extLst>
              <p:ext uri="{D42A27DB-BD31-4B8C-83A1-F6EECF244321}">
                <p14:modId xmlns:p14="http://schemas.microsoft.com/office/powerpoint/2010/main" val="1220293087"/>
              </p:ext>
            </p:extLst>
          </p:nvPr>
        </p:nvGraphicFramePr>
        <p:xfrm>
          <a:off x="1713948" y="2250109"/>
          <a:ext cx="8702262" cy="3926855"/>
        </p:xfrm>
        <a:graphic>
          <a:graphicData uri="http://schemas.openxmlformats.org/drawingml/2006/table">
            <a:tbl>
              <a:tblPr firstRow="1" bandRow="1">
                <a:tableStyleId>{5C22544A-7EE6-4342-B048-85BDC9FD1C3A}</a:tableStyleId>
              </a:tblPr>
              <a:tblGrid>
                <a:gridCol w="2900754">
                  <a:extLst>
                    <a:ext uri="{9D8B030D-6E8A-4147-A177-3AD203B41FA5}">
                      <a16:colId xmlns:a16="http://schemas.microsoft.com/office/drawing/2014/main" val="157150144"/>
                    </a:ext>
                  </a:extLst>
                </a:gridCol>
                <a:gridCol w="3045055">
                  <a:extLst>
                    <a:ext uri="{9D8B030D-6E8A-4147-A177-3AD203B41FA5}">
                      <a16:colId xmlns:a16="http://schemas.microsoft.com/office/drawing/2014/main" val="1972592476"/>
                    </a:ext>
                  </a:extLst>
                </a:gridCol>
                <a:gridCol w="2756453">
                  <a:extLst>
                    <a:ext uri="{9D8B030D-6E8A-4147-A177-3AD203B41FA5}">
                      <a16:colId xmlns:a16="http://schemas.microsoft.com/office/drawing/2014/main" val="3791958549"/>
                    </a:ext>
                  </a:extLst>
                </a:gridCol>
              </a:tblGrid>
              <a:tr h="530656">
                <a:tc>
                  <a:txBody>
                    <a:bodyPr/>
                    <a:lstStyle/>
                    <a:p>
                      <a:r>
                        <a:rPr lang="en-US" sz="2400" dirty="0">
                          <a:latin typeface="Times New Roman" panose="02020603050405020304" pitchFamily="18" charset="0"/>
                          <a:cs typeface="Times New Roman" panose="02020603050405020304" pitchFamily="18" charset="0"/>
                        </a:rPr>
                        <a:t>Feature</a:t>
                      </a:r>
                    </a:p>
                  </a:txBody>
                  <a:tcPr/>
                </a:tc>
                <a:tc>
                  <a:txBody>
                    <a:bodyPr/>
                    <a:lstStyle/>
                    <a:p>
                      <a:r>
                        <a:rPr lang="en-US" sz="2400" dirty="0">
                          <a:latin typeface="Times New Roman" panose="02020603050405020304" pitchFamily="18" charset="0"/>
                          <a:cs typeface="Times New Roman" panose="02020603050405020304" pitchFamily="18" charset="0"/>
                        </a:rPr>
                        <a:t>ESI</a:t>
                      </a:r>
                    </a:p>
                  </a:txBody>
                  <a:tcPr/>
                </a:tc>
                <a:tc>
                  <a:txBody>
                    <a:bodyPr/>
                    <a:lstStyle/>
                    <a:p>
                      <a:r>
                        <a:rPr lang="en-US" sz="2400" dirty="0">
                          <a:latin typeface="Times New Roman" panose="02020603050405020304" pitchFamily="18" charset="0"/>
                          <a:cs typeface="Times New Roman" panose="02020603050405020304" pitchFamily="18" charset="0"/>
                        </a:rPr>
                        <a:t>EPI</a:t>
                      </a:r>
                    </a:p>
                  </a:txBody>
                  <a:tcPr/>
                </a:tc>
                <a:extLst>
                  <a:ext uri="{0D108BD9-81ED-4DB2-BD59-A6C34878D82A}">
                    <a16:rowId xmlns:a16="http://schemas.microsoft.com/office/drawing/2014/main" val="570066881"/>
                  </a:ext>
                </a:extLst>
              </a:tr>
              <a:tr h="955181">
                <a:tc>
                  <a:txBody>
                    <a:bodyPr/>
                    <a:lstStyle/>
                    <a:p>
                      <a:r>
                        <a:rPr lang="en-US" sz="2400" dirty="0">
                          <a:latin typeface="Times New Roman" panose="02020603050405020304" pitchFamily="18" charset="0"/>
                          <a:cs typeface="Times New Roman" panose="02020603050405020304" pitchFamily="18" charset="0"/>
                        </a:rPr>
                        <a:t>Focus </a:t>
                      </a:r>
                    </a:p>
                  </a:txBody>
                  <a:tcPr/>
                </a:tc>
                <a:tc>
                  <a:txBody>
                    <a:bodyPr/>
                    <a:lstStyle/>
                    <a:p>
                      <a:r>
                        <a:rPr lang="en-US" sz="2400" dirty="0">
                          <a:latin typeface="Times New Roman" panose="02020603050405020304" pitchFamily="18" charset="0"/>
                          <a:cs typeface="Times New Roman" panose="02020603050405020304" pitchFamily="18" charset="0"/>
                        </a:rPr>
                        <a:t>Long-term sustainability</a:t>
                      </a:r>
                    </a:p>
                  </a:txBody>
                  <a:tcPr/>
                </a:tc>
                <a:tc>
                  <a:txBody>
                    <a:bodyPr/>
                    <a:lstStyle/>
                    <a:p>
                      <a:r>
                        <a:rPr lang="en-US" sz="2400" dirty="0">
                          <a:latin typeface="Times New Roman" panose="02020603050405020304" pitchFamily="18" charset="0"/>
                          <a:cs typeface="Times New Roman" panose="02020603050405020304" pitchFamily="18" charset="0"/>
                        </a:rPr>
                        <a:t>Policy performance</a:t>
                      </a:r>
                    </a:p>
                  </a:txBody>
                  <a:tcPr/>
                </a:tc>
                <a:extLst>
                  <a:ext uri="{0D108BD9-81ED-4DB2-BD59-A6C34878D82A}">
                    <a16:rowId xmlns:a16="http://schemas.microsoft.com/office/drawing/2014/main" val="1610193210"/>
                  </a:ext>
                </a:extLst>
              </a:tr>
              <a:tr h="955181">
                <a:tc>
                  <a:txBody>
                    <a:bodyPr/>
                    <a:lstStyle/>
                    <a:p>
                      <a:r>
                        <a:rPr lang="en-US" sz="2400" dirty="0">
                          <a:latin typeface="Times New Roman" panose="02020603050405020304" pitchFamily="18" charset="0"/>
                          <a:cs typeface="Times New Roman" panose="02020603050405020304" pitchFamily="18" charset="0"/>
                        </a:rPr>
                        <a:t>Indicators</a:t>
                      </a:r>
                    </a:p>
                  </a:txBody>
                  <a:tcPr/>
                </a:tc>
                <a:tc>
                  <a:txBody>
                    <a:bodyPr/>
                    <a:lstStyle/>
                    <a:p>
                      <a:r>
                        <a:rPr lang="en-US" sz="2400" dirty="0">
                          <a:latin typeface="Times New Roman" panose="02020603050405020304" pitchFamily="18" charset="0"/>
                          <a:cs typeface="Times New Roman" panose="02020603050405020304" pitchFamily="18" charset="0"/>
                        </a:rPr>
                        <a:t>76 data sets, 21 indicators</a:t>
                      </a:r>
                    </a:p>
                  </a:txBody>
                  <a:tcPr/>
                </a:tc>
                <a:tc>
                  <a:txBody>
                    <a:bodyPr/>
                    <a:lstStyle/>
                    <a:p>
                      <a:r>
                        <a:rPr lang="en-US" sz="2400" dirty="0">
                          <a:latin typeface="Times New Roman" panose="02020603050405020304" pitchFamily="18" charset="0"/>
                          <a:cs typeface="Times New Roman" panose="02020603050405020304" pitchFamily="18" charset="0"/>
                        </a:rPr>
                        <a:t>Fewer, more targeted</a:t>
                      </a:r>
                    </a:p>
                  </a:txBody>
                  <a:tcPr/>
                </a:tc>
                <a:extLst>
                  <a:ext uri="{0D108BD9-81ED-4DB2-BD59-A6C34878D82A}">
                    <a16:rowId xmlns:a16="http://schemas.microsoft.com/office/drawing/2014/main" val="1176628779"/>
                  </a:ext>
                </a:extLst>
              </a:tr>
              <a:tr h="530656">
                <a:tc>
                  <a:txBody>
                    <a:bodyPr/>
                    <a:lstStyle/>
                    <a:p>
                      <a:r>
                        <a:rPr lang="en-US" sz="2400" dirty="0">
                          <a:latin typeface="Times New Roman" panose="02020603050405020304" pitchFamily="18" charset="0"/>
                          <a:cs typeface="Times New Roman" panose="02020603050405020304" pitchFamily="18" charset="0"/>
                        </a:rPr>
                        <a:t>Last published</a:t>
                      </a:r>
                    </a:p>
                  </a:txBody>
                  <a:tcPr/>
                </a:tc>
                <a:tc>
                  <a:txBody>
                    <a:bodyPr/>
                    <a:lstStyle/>
                    <a:p>
                      <a:r>
                        <a:rPr lang="en-US" sz="2400" dirty="0">
                          <a:latin typeface="Times New Roman" panose="02020603050405020304" pitchFamily="18" charset="0"/>
                          <a:cs typeface="Times New Roman" panose="02020603050405020304" pitchFamily="18" charset="0"/>
                        </a:rPr>
                        <a:t>2005</a:t>
                      </a:r>
                    </a:p>
                  </a:txBody>
                  <a:tcPr/>
                </a:tc>
                <a:tc>
                  <a:txBody>
                    <a:bodyPr/>
                    <a:lstStyle/>
                    <a:p>
                      <a:r>
                        <a:rPr lang="en-US" sz="2400" dirty="0">
                          <a:latin typeface="Times New Roman" panose="02020603050405020304" pitchFamily="18" charset="0"/>
                          <a:cs typeface="Times New Roman" panose="02020603050405020304" pitchFamily="18" charset="0"/>
                        </a:rPr>
                        <a:t>Updated biannually</a:t>
                      </a:r>
                    </a:p>
                  </a:txBody>
                  <a:tcPr/>
                </a:tc>
                <a:extLst>
                  <a:ext uri="{0D108BD9-81ED-4DB2-BD59-A6C34878D82A}">
                    <a16:rowId xmlns:a16="http://schemas.microsoft.com/office/drawing/2014/main" val="4089541224"/>
                  </a:ext>
                </a:extLst>
              </a:tr>
              <a:tr h="955181">
                <a:tc>
                  <a:txBody>
                    <a:bodyPr/>
                    <a:lstStyle/>
                    <a:p>
                      <a:r>
                        <a:rPr lang="en-US" sz="2400" dirty="0">
                          <a:latin typeface="Times New Roman" panose="02020603050405020304" pitchFamily="18" charset="0"/>
                          <a:cs typeface="Times New Roman" panose="02020603050405020304" pitchFamily="18" charset="0"/>
                        </a:rPr>
                        <a:t>Measurement Style</a:t>
                      </a:r>
                    </a:p>
                  </a:txBody>
                  <a:tcPr/>
                </a:tc>
                <a:tc>
                  <a:txBody>
                    <a:bodyPr/>
                    <a:lstStyle/>
                    <a:p>
                      <a:r>
                        <a:rPr lang="en-US" sz="2400" dirty="0">
                          <a:latin typeface="Times New Roman" panose="02020603050405020304" pitchFamily="18" charset="0"/>
                          <a:cs typeface="Times New Roman" panose="02020603050405020304" pitchFamily="18" charset="0"/>
                        </a:rPr>
                        <a:t>Systems and pressures</a:t>
                      </a:r>
                    </a:p>
                  </a:txBody>
                  <a:tcPr/>
                </a:tc>
                <a:tc>
                  <a:txBody>
                    <a:bodyPr/>
                    <a:lstStyle/>
                    <a:p>
                      <a:r>
                        <a:rPr lang="en-US" sz="2400" dirty="0">
                          <a:latin typeface="Times New Roman" panose="02020603050405020304" pitchFamily="18" charset="0"/>
                          <a:cs typeface="Times New Roman" panose="02020603050405020304" pitchFamily="18" charset="0"/>
                        </a:rPr>
                        <a:t>Outcomes &amp; policy targets</a:t>
                      </a:r>
                    </a:p>
                  </a:txBody>
                  <a:tcPr/>
                </a:tc>
                <a:extLst>
                  <a:ext uri="{0D108BD9-81ED-4DB2-BD59-A6C34878D82A}">
                    <a16:rowId xmlns:a16="http://schemas.microsoft.com/office/drawing/2014/main" val="2636668754"/>
                  </a:ext>
                </a:extLst>
              </a:tr>
            </a:tbl>
          </a:graphicData>
        </a:graphic>
      </p:graphicFrame>
    </p:spTree>
    <p:extLst>
      <p:ext uri="{BB962C8B-B14F-4D97-AF65-F5344CB8AC3E}">
        <p14:creationId xmlns:p14="http://schemas.microsoft.com/office/powerpoint/2010/main" val="790678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20E6A-77E0-422F-AA3B-83F6883B3344}"/>
              </a:ext>
            </a:extLst>
          </p:cNvPr>
          <p:cNvSpPr>
            <a:spLocks noGrp="1"/>
          </p:cNvSpPr>
          <p:nvPr>
            <p:ph type="title"/>
          </p:nvPr>
        </p:nvSpPr>
        <p:spPr>
          <a:xfrm>
            <a:off x="838200" y="365126"/>
            <a:ext cx="10515600" cy="814318"/>
          </a:xfrm>
        </p:spPr>
        <p:txBody>
          <a:bodyPr>
            <a:normAutofit/>
          </a:bodyPr>
          <a:lstStyle/>
          <a:p>
            <a:pPr algn="ctr"/>
            <a:r>
              <a:rPr lang="en-US" sz="3200" b="1" dirty="0">
                <a:latin typeface="Times New Roman" panose="02020603050405020304" pitchFamily="18" charset="0"/>
                <a:cs typeface="Times New Roman" panose="02020603050405020304" pitchFamily="18" charset="0"/>
              </a:rPr>
              <a:t>Conti…….</a:t>
            </a:r>
          </a:p>
        </p:txBody>
      </p:sp>
      <p:sp>
        <p:nvSpPr>
          <p:cNvPr id="3" name="Content Placeholder 2">
            <a:extLst>
              <a:ext uri="{FF2B5EF4-FFF2-40B4-BE49-F238E27FC236}">
                <a16:creationId xmlns:a16="http://schemas.microsoft.com/office/drawing/2014/main" id="{0A548DB1-9B12-4D10-AB6A-508FB8177BD5}"/>
              </a:ext>
            </a:extLst>
          </p:cNvPr>
          <p:cNvSpPr>
            <a:spLocks noGrp="1"/>
          </p:cNvSpPr>
          <p:nvPr>
            <p:ph idx="1"/>
          </p:nvPr>
        </p:nvSpPr>
        <p:spPr>
          <a:xfrm>
            <a:off x="838200" y="1444487"/>
            <a:ext cx="10515600" cy="4732476"/>
          </a:xfrm>
        </p:spPr>
        <p:txBody>
          <a:bodyPr/>
          <a:lstStyle/>
          <a:p>
            <a:pPr marL="0" indent="0" algn="just">
              <a:buNone/>
            </a:pPr>
            <a:r>
              <a:rPr lang="en-US" sz="2400" b="1" dirty="0">
                <a:latin typeface="Times New Roman" panose="02020603050405020304" pitchFamily="18" charset="0"/>
                <a:cs typeface="Times New Roman" panose="02020603050405020304" pitchFamily="18" charset="0"/>
              </a:rPr>
              <a:t>9. Conclusion</a:t>
            </a:r>
          </a:p>
          <a:p>
            <a:pPr marL="0" indent="0" algn="just">
              <a:buNone/>
            </a:pPr>
            <a:r>
              <a:rPr lang="en-US" sz="2400" dirty="0">
                <a:latin typeface="Times New Roman" panose="02020603050405020304" pitchFamily="18" charset="0"/>
                <a:cs typeface="Times New Roman" panose="02020603050405020304" pitchFamily="18" charset="0"/>
              </a:rPr>
              <a:t>The Environmental Sustainability Index was a pioneering effort to </a:t>
            </a:r>
            <a:r>
              <a:rPr lang="en-US" sz="2400" b="1" dirty="0">
                <a:latin typeface="Times New Roman" panose="02020603050405020304" pitchFamily="18" charset="0"/>
                <a:cs typeface="Times New Roman" panose="02020603050405020304" pitchFamily="18" charset="0"/>
              </a:rPr>
              <a:t>quantify national environmental performance</a:t>
            </a:r>
            <a:r>
              <a:rPr lang="en-US" sz="2400" dirty="0">
                <a:latin typeface="Times New Roman" panose="02020603050405020304" pitchFamily="18" charset="0"/>
                <a:cs typeface="Times New Roman" panose="02020603050405020304" pitchFamily="18" charset="0"/>
              </a:rPr>
              <a:t> in a holistic way. While it had limitations and has since been replaced, it laid the groundwork for modern tools like the </a:t>
            </a:r>
            <a:r>
              <a:rPr lang="en-US" sz="2400" b="1" dirty="0">
                <a:latin typeface="Times New Roman" panose="02020603050405020304" pitchFamily="18" charset="0"/>
                <a:cs typeface="Times New Roman" panose="02020603050405020304" pitchFamily="18" charset="0"/>
              </a:rPr>
              <a:t>Environmental Performance Index (EPI)</a:t>
            </a:r>
            <a:r>
              <a:rPr lang="en-US" sz="2400" dirty="0">
                <a:latin typeface="Times New Roman" panose="02020603050405020304" pitchFamily="18" charset="0"/>
                <a:cs typeface="Times New Roman" panose="02020603050405020304" pitchFamily="18" charset="0"/>
              </a:rPr>
              <a:t> and helped bring global attention to the </a:t>
            </a:r>
            <a:r>
              <a:rPr lang="en-US" sz="2400" b="1" dirty="0">
                <a:latin typeface="Times New Roman" panose="02020603050405020304" pitchFamily="18" charset="0"/>
                <a:cs typeface="Times New Roman" panose="02020603050405020304" pitchFamily="18" charset="0"/>
              </a:rPr>
              <a:t>need for measurable sustainability goals</a:t>
            </a:r>
            <a:r>
              <a:rPr lang="en-US" sz="2400" dirty="0">
                <a:latin typeface="Times New Roman" panose="02020603050405020304" pitchFamily="18" charset="0"/>
                <a:cs typeface="Times New Roman" panose="02020603050405020304" pitchFamily="18" charset="0"/>
              </a:rPr>
              <a:t>.</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ctr">
              <a:buNone/>
            </a:pPr>
            <a:r>
              <a:rPr lang="en-US" sz="2400" dirty="0">
                <a:latin typeface="Times New Roman" panose="02020603050405020304" pitchFamily="18" charset="0"/>
                <a:cs typeface="Times New Roman" panose="02020603050405020304" pitchFamily="18" charset="0"/>
              </a:rPr>
              <a:t>THANKS</a:t>
            </a:r>
          </a:p>
          <a:p>
            <a:pPr marL="0" indent="0">
              <a:buNone/>
            </a:pPr>
            <a:endParaRPr lang="en-US" dirty="0"/>
          </a:p>
        </p:txBody>
      </p:sp>
    </p:spTree>
    <p:extLst>
      <p:ext uri="{BB962C8B-B14F-4D97-AF65-F5344CB8AC3E}">
        <p14:creationId xmlns:p14="http://schemas.microsoft.com/office/powerpoint/2010/main" val="40388167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TotalTime>
  <Words>851</Words>
  <Application>Microsoft Office PowerPoint</Application>
  <PresentationFormat>Widescreen</PresentationFormat>
  <Paragraphs>128</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Courier New</vt:lpstr>
      <vt:lpstr>Times New Roman</vt:lpstr>
      <vt:lpstr>Office Theme</vt:lpstr>
      <vt:lpstr>Environmental Sustainability Index (ESI)</vt:lpstr>
      <vt:lpstr>Cont…….</vt:lpstr>
      <vt:lpstr>Conti……</vt:lpstr>
      <vt:lpstr>Conti……</vt:lpstr>
      <vt:lpstr>Conti….</vt:lpstr>
      <vt:lpstr>Conti……..</vt:lpstr>
      <vt:lpstr>Cont……</vt:lpstr>
      <vt:lpstr>Conti…….</vt:lpstr>
      <vt:lpstr>Conti…..</vt:lpstr>
      <vt:lpstr>Conti…..</vt:lpstr>
      <vt:lpstr>Conti…….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Vostro</dc:creator>
  <cp:lastModifiedBy>user</cp:lastModifiedBy>
  <cp:revision>50</cp:revision>
  <dcterms:created xsi:type="dcterms:W3CDTF">2025-09-16T08:29:08Z</dcterms:created>
  <dcterms:modified xsi:type="dcterms:W3CDTF">2026-07-01T05:59:28Z</dcterms:modified>
</cp:coreProperties>
</file>